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 Ring"/>
          <p:cNvSpPr/>
          <p:nvPr/>
        </p:nvSpPr>
        <p:spPr>
          <a:xfrm>
            <a:off x="8382000" y="-1143000"/>
            <a:ext cx="5486400" cy="5486400"/>
          </a:xfrm>
          <a:prstGeom prst="donut">
            <a:avLst/>
          </a:prstGeom>
          <a:noFill/>
          <a:ln w="25400">
            <a:solidFill>
              <a:srgbClr val="3A3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o Circle"/>
          <p:cNvSpPr/>
          <p:nvPr/>
        </p:nvSpPr>
        <p:spPr>
          <a:xfrm>
            <a:off x="9144000" y="2743200"/>
            <a:ext cx="2286000" cy="2286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 Arc"/>
          <p:cNvSpPr/>
          <p:nvPr/>
        </p:nvSpPr>
        <p:spPr>
          <a:xfrm>
            <a:off x="7620000" y="1600200"/>
            <a:ext cx="3200400" cy="3200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mall Circle"/>
          <p:cNvSpPr/>
          <p:nvPr/>
        </p:nvSpPr>
        <p:spPr>
          <a:xfrm>
            <a:off x="457200" y="5486400"/>
            <a:ext cx="914400" cy="914400"/>
          </a:xfrm>
          <a:prstGeom prst="ellipse">
            <a:avLst/>
          </a:prstGeom>
          <a:noFill/>
          <a:ln w="25400">
            <a:solidFill>
              <a:srgbClr val="3A36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4864" cy="320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t 1"/>
          <p:cNvSpPr/>
          <p:nvPr/>
        </p:nvSpPr>
        <p:spPr>
          <a:xfrm>
            <a:off x="1097280" y="1097280"/>
            <a:ext cx="91440" cy="914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t 2"/>
          <p:cNvSpPr/>
          <p:nvPr/>
        </p:nvSpPr>
        <p:spPr>
          <a:xfrm>
            <a:off x="1371600" y="1097280"/>
            <a:ext cx="91440" cy="914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t 3"/>
          <p:cNvSpPr/>
          <p:nvPr/>
        </p:nvSpPr>
        <p:spPr>
          <a:xfrm>
            <a:off x="1645920" y="1097280"/>
            <a:ext cx="91440" cy="914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00" y="5486400"/>
            <a:ext cx="1828800" cy="9144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371600"/>
            <a:ext cx="6400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AF9F5"/>
                </a:solidFill>
                <a:latin typeface="Hiragino Sans"/>
              </a:rPr>
              <a:t>Claude Code</a:t>
            </a:r>
          </a:p>
          <a:p>
            <a:pPr algn="l"/>
            <a:r>
              <a:rPr sz="5200" b="1">
                <a:solidFill>
                  <a:srgbClr val="FAF9F5"/>
                </a:solidFill>
                <a:latin typeface="Hiragino Sans"/>
              </a:rPr>
              <a:t>プロジェクトに定着させる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09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D97757"/>
                </a:solidFill>
                <a:latin typeface="Hiragino Sans"/>
              </a:rPr>
              <a:t>〜 CLAUDE.md / Skills / Hooks 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7280" y="3840480"/>
            <a:ext cx="27432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97280" y="4023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AEA5"/>
                </a:solidFill>
                <a:latin typeface="Helvetica Neue"/>
              </a:rPr>
              <a:t>社内勉強会  |  第2回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6600" y="457200"/>
            <a:ext cx="7620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AF9F5"/>
                </a:solidFill>
                <a:latin typeface="Hiragino Sans"/>
              </a:rP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6600" y="1270000"/>
            <a:ext cx="3429000" cy="3937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6600" y="1270000"/>
            <a:ext cx="3429000" cy="63500"/>
          </a:xfrm>
          <a:prstGeom prst="rect">
            <a:avLst/>
          </a:prstGeom>
          <a:solidFill>
            <a:srgbClr val="B0A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5200" y="1574800"/>
            <a:ext cx="609600" cy="609600"/>
          </a:xfrm>
          <a:prstGeom prst="ellipse">
            <a:avLst/>
          </a:prstGeom>
          <a:solidFill>
            <a:srgbClr val="B0A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AF9F5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1800" y="16256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0AEA5"/>
                </a:solidFill>
                <a:latin typeface="Hiragino Sans"/>
              </a:rPr>
              <a:t>第1回（済）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2413000"/>
            <a:ext cx="298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AF9F5"/>
                </a:solidFill>
                <a:latin typeface="Hiragino Sans"/>
              </a:rPr>
              <a:t>理解する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5200" y="3746500"/>
            <a:ext cx="29845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5200" y="3924300"/>
            <a:ext cx="29845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5C3BB"/>
                </a:solidFill>
                <a:latin typeface="Hiragino Sans"/>
              </a:rPr>
              <a:t>基本 / コミュニケーション / Plan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4200" y="1270000"/>
            <a:ext cx="3429000" cy="3937000"/>
          </a:xfrm>
          <a:prstGeom prst="roundRect">
            <a:avLst>
              <a:gd name="adj" fmla="val 400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200" y="1270000"/>
            <a:ext cx="3429000" cy="635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2800" y="1574800"/>
            <a:ext cx="609600" cy="6096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AF9F5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9400" y="16256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757"/>
                </a:solidFill>
                <a:latin typeface="Hiragino Sans"/>
              </a:rPr>
              <a:t>第2回（今日）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2800" y="2413000"/>
            <a:ext cx="298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AF9F5"/>
                </a:solidFill>
                <a:latin typeface="Hiragino Sans"/>
              </a:rPr>
              <a:t>プロジェクトに</a:t>
            </a:r>
          </a:p>
          <a:p>
            <a:pPr algn="l"/>
            <a:r>
              <a:rPr sz="2200" b="1">
                <a:solidFill>
                  <a:srgbClr val="FAF9F5"/>
                </a:solidFill>
                <a:latin typeface="Hiragino Sans"/>
              </a:rPr>
              <a:t>定着させる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22800" y="3746500"/>
            <a:ext cx="29845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622800" y="3924300"/>
            <a:ext cx="29845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5C3BB"/>
                </a:solidFill>
                <a:latin typeface="Hiragino Sans"/>
              </a:rPr>
              <a:t>コンテキスト・CLAUDE.md・</a:t>
            </a:r>
          </a:p>
          <a:p>
            <a:pPr algn="l"/>
            <a:r>
              <a:rPr sz="1500" b="0">
                <a:solidFill>
                  <a:srgbClr val="C5C3BB"/>
                </a:solidFill>
                <a:latin typeface="Hiragino Sans"/>
              </a:rPr>
              <a:t>スラッシュコマンド &amp; Skills・Hooks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1270000"/>
            <a:ext cx="3429000" cy="3937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1800" y="1270000"/>
            <a:ext cx="3429000" cy="63500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0400" y="1574800"/>
            <a:ext cx="609600" cy="609600"/>
          </a:xfrm>
          <a:prstGeom prst="ellipse">
            <a:avLst/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AF9F5"/>
                </a:solidFill>
                <a:latin typeface="Helvetica Neu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0" y="16256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0AEA5"/>
                </a:solidFill>
                <a:latin typeface="Hiragino Sans"/>
              </a:rPr>
              <a:t>第3回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400" y="2413000"/>
            <a:ext cx="298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AF9F5"/>
                </a:solidFill>
                <a:latin typeface="Hiragino Sans"/>
              </a:rPr>
              <a:t>大規模開発に挑む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80400" y="3746500"/>
            <a:ext cx="29845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80400" y="3924300"/>
            <a:ext cx="29845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5C3BB"/>
                </a:solidFill>
                <a:latin typeface="Hiragino Sans"/>
              </a:rPr>
              <a:t>MCP / worktree / サブエージェント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600" y="5500000"/>
            <a:ext cx="1072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757"/>
                </a:solidFill>
                <a:latin typeface="Hiragino Sans"/>
              </a:rPr>
              <a:t>今日のゴール: Claude Codeをプロジェクト固有の「チームメンバー」として設定できるようになる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429000"/>
            <a:ext cx="18288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631680" y="3429000"/>
            <a:ext cx="18288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0" y="20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57"/>
                </a:solidFill>
                <a:latin typeface="Helvetica Neue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00000"/>
            <a:ext cx="12192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AF9F5"/>
                </a:solidFill>
                <a:latin typeface="Hiragino Sans"/>
              </a:rPr>
              <a:t>コンテキストとCLAUDE.md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5C3BB"/>
                </a:solidFill>
                <a:latin typeface="Hiragino Sans"/>
              </a:rPr>
              <a:t>毎回の説明、もう要らない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1 — コンテキストとCLAUDE.md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Claude Codeは何を見ているか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72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0AEA5"/>
                </a:solidFill>
                <a:latin typeface="Hiragino Sans"/>
              </a:rPr>
              <a:t>コンテキストウィンドウ = Claudeの作業メモリ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0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000000"/>
            <a:ext cx="1200000" cy="548640"/>
          </a:xfrm>
          <a:prstGeom prst="roundRect">
            <a:avLst>
              <a:gd name="adj" fmla="val 2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7160"/>
            <a:ext cx="11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AF9F5"/>
                </a:solidFill>
                <a:latin typeface="Hiragino Sans"/>
              </a:rPr>
              <a:t>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520" y="2000000"/>
            <a:ext cx="1600000" cy="548640"/>
          </a:xfrm>
          <a:prstGeom prst="roundRect">
            <a:avLst>
              <a:gd name="adj" fmla="val 2000"/>
            </a:avLst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77240" y="2137160"/>
            <a:ext cx="15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AF9F5"/>
                </a:solidFill>
                <a:latin typeface="Hiragino Sans"/>
              </a:rPr>
              <a:t>会話履歴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1520" y="2000000"/>
            <a:ext cx="1800000" cy="548640"/>
          </a:xfrm>
          <a:prstGeom prst="roundRect">
            <a:avLst>
              <a:gd name="adj" fmla="val 2000"/>
            </a:avLst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7240" y="2137160"/>
            <a:ext cx="17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AF9F5"/>
                </a:solidFill>
                <a:latin typeface="Hiragino Sans"/>
              </a:rPr>
              <a:t>読んだファイル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1520" y="2000000"/>
            <a:ext cx="1400000" cy="548640"/>
          </a:xfrm>
          <a:prstGeom prst="roundRect">
            <a:avLst>
              <a:gd name="adj" fmla="val 2000"/>
            </a:avLst>
          </a:prstGeom>
          <a:solidFill>
            <a:srgbClr val="CCA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7240" y="2137160"/>
            <a:ext cx="1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AF9F5"/>
                </a:solidFill>
                <a:latin typeface="Hiragino Sans"/>
              </a:rPr>
              <a:t>ツール結果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31520" y="2000000"/>
            <a:ext cx="4728960" cy="548640"/>
          </a:xfrm>
          <a:prstGeom prst="roundRect">
            <a:avLst>
              <a:gd name="adj" fmla="val 200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77240" y="2137160"/>
            <a:ext cx="463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AF9F5"/>
                </a:solidFill>
                <a:latin typeface="Hiragino Sans"/>
              </a:rPr>
              <a:t>空き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40080"/>
            <a:ext cx="1072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AEA5"/>
                </a:solidFill>
                <a:latin typeface="Helvetica Neue"/>
              </a:rPr>
              <a:t>約200,000トークン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セッション開始時にCLAUDE.mdが自動で読み込まれる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会話が進むにつれ、コンテキストが蓄積していく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ファイルの読み取り、コマンドの実行結果もコンテキストに入る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6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コンテキストウィンドウ = 「Claude Codeが今覚えていること」の総量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1 — コンテキストとCLAUDE.md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なぜ「忘れる」のか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97757"/>
                </a:solidFill>
                <a:latin typeface="Hiragino Sans"/>
              </a:rPr>
              <a:t>コンパクト: コンテキストの自動圧縮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0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AEA5"/>
                </a:solidFill>
                <a:latin typeface="Helvetica Neue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00000"/>
            <a:ext cx="182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0000"/>
            <a:ext cx="172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97240" y="1900000"/>
            <a:ext cx="74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42960" y="1940000"/>
            <a:ext cx="64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指示A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2960" y="1900000"/>
            <a:ext cx="128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8680" y="1940000"/>
            <a:ext cx="118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ファイル読み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8680" y="1900000"/>
            <a:ext cx="74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400" y="1940000"/>
            <a:ext cx="64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指示B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4400" y="1900000"/>
            <a:ext cx="56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40120" y="1940000"/>
            <a:ext cx="46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実装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0120" y="1900000"/>
            <a:ext cx="74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5840" y="1940000"/>
            <a:ext cx="64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テスト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85840" y="1900000"/>
            <a:ext cx="110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560" y="1940000"/>
            <a:ext cx="10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DED8"/>
                </a:solidFill>
                <a:latin typeface="Hiragino Sans"/>
              </a:rPr>
              <a:t>修正...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00" y="2350000"/>
            <a:ext cx="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97757"/>
                </a:solidFill>
                <a:latin typeface="Helvetica Neue"/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7000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AEA5"/>
                </a:solidFill>
                <a:latin typeface="Helvetica Neue"/>
              </a:rPr>
              <a:t>After（コンパクト発動後）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00000"/>
            <a:ext cx="192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040000"/>
            <a:ext cx="182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97757"/>
                </a:solidFill>
                <a:latin typeface="Hiragino Sans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240" y="3000000"/>
            <a:ext cx="174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2960" y="3040000"/>
            <a:ext cx="164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7070"/>
                </a:solidFill>
                <a:latin typeface="Hiragino Sans"/>
              </a:rPr>
              <a:t>要約: 古い会話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2960" y="3000000"/>
            <a:ext cx="156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8680" y="3040000"/>
            <a:ext cx="146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BC9A0"/>
                </a:solidFill>
                <a:latin typeface="Hiragino Sans"/>
              </a:rPr>
              <a:t>最近のやりとり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1520" y="355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1520" y="3700000"/>
            <a:ext cx="45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070"/>
                </a:solidFill>
                <a:latin typeface="Hiragino Sans"/>
              </a:rPr>
              <a:t>起きること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050000"/>
            <a:ext cx="4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最初の指示や制約が要約・削除される場合がある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370000"/>
            <a:ext cx="4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「このファイルは触らないで」と言ったのに忘れられる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690000"/>
            <a:ext cx="4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長いセッションほどリスクが高い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0000" y="37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BC9A0"/>
                </a:solidFill>
                <a:latin typeface="Hiragino Sans"/>
              </a:rPr>
              <a:t>対策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00000" y="405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重要な情報はCLAUDE.mdに書く（消えない）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0000" y="437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作業が変わるタイミングで /clear する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0000" y="469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長い作業はタスクを分割する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6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6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CLAUDE.mdは毎セッション読み込まれる「永続メモリ」として機能する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1 — コンテキストとCLAUDE.md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CLAUDE.mdとは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97757"/>
                </a:solidFill>
                <a:latin typeface="Hiragino Sans"/>
              </a:rPr>
              <a:t>人間のオンボーディング資料と同じ発想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5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このプロジェクトはこういう構成です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9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ビルドはこのコマンドで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こういうルールがあるので守ってください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0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0DED8"/>
                </a:solidFill>
                <a:latin typeface="Hiragino Sans"/>
              </a:rPr>
              <a:t>•  ここは触らないでください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1440"/>
            <a:ext cx="5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757"/>
                </a:solidFill>
                <a:latin typeface="Hiragino Sans"/>
              </a:rPr>
              <a:t>→ これをそのままCLAUDE.mdに書く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20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350000"/>
            <a:ext cx="5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AF9F5"/>
                </a:solidFill>
                <a:latin typeface="Hiragino Sans"/>
              </a:rPr>
              <a:t>配置場所と読み込みルール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00000"/>
            <a:ext cx="3600000" cy="4000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91440"/>
            <a:ext cx="34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場所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1520" y="3800000"/>
            <a:ext cx="2400000" cy="4000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2960" y="389144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読み込み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31520" y="3800000"/>
            <a:ext cx="4728960" cy="4000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2960" y="389144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用途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0000"/>
            <a:ext cx="36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68580"/>
            <a:ext cx="34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9F5"/>
                </a:solidFill>
                <a:latin typeface="SF Mono"/>
              </a:rPr>
              <a:t>~/.claude/CLAUDE.md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1520" y="4200000"/>
            <a:ext cx="24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2960" y="42685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常に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31520" y="4200000"/>
            <a:ext cx="472896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2960" y="426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個人の全プロジェクト共通設定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70000"/>
            <a:ext cx="36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38580"/>
            <a:ext cx="34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9F5"/>
                </a:solidFill>
                <a:latin typeface="SF Mono"/>
              </a:rPr>
              <a:t>プロジェクト/CLAUDE.md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1520" y="4570000"/>
            <a:ext cx="24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2960" y="46385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常に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31520" y="4570000"/>
            <a:ext cx="472896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2960" y="463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プロジェクト固有の設定（チーム共有）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940000"/>
            <a:ext cx="36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008580"/>
            <a:ext cx="34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9F5"/>
                </a:solidFill>
                <a:latin typeface="SF Mono"/>
              </a:rPr>
              <a:t>サブディレクトリ/CLAUDE.md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1520" y="4940000"/>
            <a:ext cx="24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22960" y="50085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作業時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31520" y="4940000"/>
            <a:ext cx="472896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2960" y="500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モジュール固有の注意事項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6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6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チームでバージョン管理すれば、全員が同じ「教え方」でClaude Codeを使える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1 — コンテキストとCLAUDE.md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CLAUDE.mdに書くべき内容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AEA5"/>
                </a:solidFill>
                <a:latin typeface="Hiragino Sans"/>
              </a:rPr>
              <a:t>4カテゴリに分けて考える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50000"/>
            <a:ext cx="5200000" cy="17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716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AF9F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8716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プロジェクト概要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44360"/>
            <a:ext cx="4925680" cy="96848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35800"/>
            <a:ext cx="4651360" cy="7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## リポジトリ概要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Zennに公開する技術記事を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管理するリポジトリ。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0120" y="1650000"/>
            <a:ext cx="5200000" cy="17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97280" y="178716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AF9F5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4480" y="178716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よく使うコマンド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7280" y="2244360"/>
            <a:ext cx="4925680" cy="96848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4440" y="2335800"/>
            <a:ext cx="4651360" cy="7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npm run preview  # プレビュー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npm run lint     # チェック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npm run lint:fix # 自動修正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78600"/>
            <a:ext cx="5200000" cy="17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71576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AF9F5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71576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コーディング規約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172960"/>
            <a:ext cx="4925680" cy="96848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64400"/>
            <a:ext cx="4651360" cy="7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## Python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Python を使う場合は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必ず uv を使う（pip は使わない）。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0120" y="3578600"/>
            <a:ext cx="5200000" cy="17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97280" y="371576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AF9F5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4480" y="371576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やってはいけないこと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7280" y="4172960"/>
            <a:ext cx="4925680" cy="96848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4440" y="4264400"/>
            <a:ext cx="4651360" cy="78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## 禁止事項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 mainに直接プッシュしない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 .envファイルを編集しない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6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6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PRでよく指摘される項目 = CLAUDE.mdに書くべき内容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1 — コンテキストとCLAUDE.md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CLAUDE.mdの始め方と育て方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AEA5"/>
                </a:solidFill>
                <a:latin typeface="Hiragino Sans"/>
              </a:rPr>
              <a:t>/init で自動生成 → 育てる → 刈り込む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00000"/>
            <a:ext cx="3429000" cy="28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00000"/>
            <a:ext cx="342900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37160"/>
            <a:ext cx="1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elvetica Neue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572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AF9F5"/>
                </a:solidFill>
                <a:latin typeface="Hiragino Sans"/>
              </a:rPr>
              <a:t>/init で自動生成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00000"/>
            <a:ext cx="306324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プロジェクトの技術スタック、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ディレクトリ構成を自動検出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CLAUDE.md のたたき台が生成される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00000"/>
            <a:ext cx="3429000" cy="28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00000"/>
            <a:ext cx="342900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37160"/>
            <a:ext cx="1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A9BCC"/>
                </a:solidFill>
                <a:latin typeface="Helvetica Neue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572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AF9F5"/>
                </a:solidFill>
                <a:latin typeface="Hiragino Sans"/>
              </a:rPr>
              <a:t>チーム固有の情報を追記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00000"/>
            <a:ext cx="306324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PRでよく指摘される項目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触ってはいけないファイル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チーム固有のコーディング規約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00000"/>
            <a:ext cx="3429000" cy="28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00000"/>
            <a:ext cx="3429000" cy="54864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837160"/>
            <a:ext cx="1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C9A0"/>
                </a:solidFill>
                <a:latin typeface="Helvetica Neue"/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1572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AF9F5"/>
                </a:solidFill>
                <a:latin typeface="Hiragino Sans"/>
              </a:rPr>
              <a:t>肥大化を防ぐ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700000"/>
            <a:ext cx="306324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目安は500行以下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詳細な仕様は別ファイルに分離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0DED8"/>
                </a:solidFill>
                <a:latin typeface="Hiragino Sans"/>
              </a:rPr>
              <a:t>不要になった情報は定期的に削除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0000"/>
            <a:ext cx="1072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AEA5"/>
                </a:solidFill>
                <a:latin typeface="Hiragino Sans"/>
              </a:rPr>
              <a:t>Tips: PART 2で紹介する /insights を使えば、改善提案も受けられる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00000"/>
            <a:ext cx="12192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D97757"/>
                </a:solidFill>
                <a:latin typeface="Helvetica Neue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0AEA5"/>
                </a:solidFill>
                <a:latin typeface="Hiragino Sans"/>
              </a:rPr>
              <a:t>CLAUDE.md &amp; 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1 — コンテキストとCLAUDE.md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コンテキスト管理チェックリスト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00000"/>
            <a:ext cx="3200000" cy="4572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91440"/>
            <a:ext cx="292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757"/>
                </a:solidFill>
                <a:latin typeface="Hiragino Sans"/>
              </a:rPr>
              <a:t>タイミング</a:t>
            </a:r>
          </a:p>
        </p:txBody>
      </p:sp>
      <p:sp>
        <p:nvSpPr>
          <p:cNvPr id="6" name="Rectangle 5"/>
          <p:cNvSpPr/>
          <p:nvPr/>
        </p:nvSpPr>
        <p:spPr>
          <a:xfrm>
            <a:off x="3931520" y="1300000"/>
            <a:ext cx="7528960" cy="4572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8680" y="1391440"/>
            <a:ext cx="725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757"/>
                </a:solidFill>
                <a:latin typeface="Hiragino Sans"/>
              </a:rPr>
              <a:t>やること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57200"/>
            <a:ext cx="3200000" cy="48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1500"/>
            <a:ext cx="2925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AF9F5"/>
                </a:solidFill>
                <a:latin typeface="Hiragino Sans"/>
              </a:rPr>
              <a:t>プロジェクト開始時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520" y="1757200"/>
            <a:ext cx="7528960" cy="48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8680" y="1871500"/>
            <a:ext cx="7254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0DED8"/>
                </a:solidFill>
                <a:latin typeface="Hiragino Sans"/>
              </a:rPr>
              <a:t>/init でCLAUDE.mdを生成。チーム固有の規約を追記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57200"/>
            <a:ext cx="3200000" cy="48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71500"/>
            <a:ext cx="2925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AF9F5"/>
                </a:solidFill>
                <a:latin typeface="Hiragino Sans"/>
              </a:rPr>
              <a:t>セッション開始時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520" y="2257200"/>
            <a:ext cx="7528960" cy="48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8680" y="2371500"/>
            <a:ext cx="7254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0DED8"/>
                </a:solidFill>
                <a:latin typeface="Hiragino Sans"/>
              </a:rPr>
              <a:t>新しい作業なら /clear で履歴リセット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57200"/>
            <a:ext cx="3200000" cy="48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71500"/>
            <a:ext cx="2925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AF9F5"/>
                </a:solidFill>
                <a:latin typeface="Hiragino Sans"/>
              </a:rPr>
              <a:t>作業中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520" y="2757200"/>
            <a:ext cx="7528960" cy="48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8680" y="2871500"/>
            <a:ext cx="7254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0DED8"/>
                </a:solidFill>
                <a:latin typeface="Hiragino Sans"/>
              </a:rPr>
              <a:t>重要な制約はCLAUDE.mdに書く（口頭指示はコンパクトで消える）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257200"/>
            <a:ext cx="3200000" cy="48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371500"/>
            <a:ext cx="2925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AF9F5"/>
                </a:solidFill>
                <a:latin typeface="Hiragino Sans"/>
              </a:rPr>
              <a:t>定期的に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520" y="3257200"/>
            <a:ext cx="7528960" cy="48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8680" y="3371500"/>
            <a:ext cx="7254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0DED8"/>
                </a:solidFill>
                <a:latin typeface="Hiragino Sans"/>
              </a:rPr>
              <a:t>CLAUDE.mdが肥大化していないか確認。/insights で改善点を確認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6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6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コンテキストを制するものが、Claude Codeを制する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429000"/>
            <a:ext cx="18288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631680" y="3429000"/>
            <a:ext cx="18288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0" y="20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57"/>
                </a:solidFill>
                <a:latin typeface="Helvetica Neue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00000"/>
            <a:ext cx="12192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AF9F5"/>
                </a:solidFill>
                <a:latin typeface="Hiragino Sans"/>
              </a:rPr>
              <a:t>スラッシュコマンド &amp;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5C3BB"/>
                </a:solidFill>
                <a:latin typeface="Hiragino Sans"/>
              </a:rPr>
              <a:t>同じ指示、何度も書かない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2 — スラッシュコマンド &amp;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組み込みスラッシュコマンド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AEA5"/>
                </a:solidFill>
                <a:latin typeface="Hiragino Sans"/>
              </a:rPr>
              <a:t>主要な組み込みコマンド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50000"/>
            <a:ext cx="1800000" cy="4000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4144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コマンド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2531520" y="1650000"/>
            <a:ext cx="4200000" cy="4000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22960" y="174144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731520" y="1650000"/>
            <a:ext cx="4728960" cy="40000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22960" y="174144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よく使う場面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050000"/>
            <a:ext cx="18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1858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SF Mono"/>
              </a:rPr>
              <a:t>/init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31520" y="2050000"/>
            <a:ext cx="42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2960" y="211858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CLAUDE.md を自動生成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31520" y="2050000"/>
            <a:ext cx="472896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2960" y="211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プロジェクト初期設定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430000"/>
            <a:ext cx="180000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49858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SF Mono"/>
              </a:rPr>
              <a:t>/clear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31520" y="2430000"/>
            <a:ext cx="420000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2960" y="249858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会話履歴をリセット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31520" y="2430000"/>
            <a:ext cx="472896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2960" y="249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作業の切り替え時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810000"/>
            <a:ext cx="18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287858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SF Mono"/>
              </a:rPr>
              <a:t>/config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31520" y="2810000"/>
            <a:ext cx="42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2960" y="287858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権限や設定の確認・変更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31520" y="2810000"/>
            <a:ext cx="472896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2960" y="287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許可リストの管理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190000"/>
            <a:ext cx="180000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25858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SF Mono"/>
              </a:rPr>
              <a:t>/insights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31520" y="3190000"/>
            <a:ext cx="420000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22960" y="325858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使い方の改善提案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1520" y="3190000"/>
            <a:ext cx="472896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2960" y="325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定期的な振り返り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570000"/>
            <a:ext cx="18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63858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SF Mono"/>
              </a:rPr>
              <a:t>/compact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31520" y="3570000"/>
            <a:ext cx="420000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22960" y="363858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コンテキストを手動で圧縮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31520" y="3570000"/>
            <a:ext cx="4728960" cy="36576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2960" y="363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メモリが逼迫したとき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950000"/>
            <a:ext cx="180000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018580"/>
            <a:ext cx="16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SF Mono"/>
              </a:rPr>
              <a:t>/review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31520" y="3950000"/>
            <a:ext cx="420000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2960" y="4018580"/>
            <a:ext cx="40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差分のレビュー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31520" y="3950000"/>
            <a:ext cx="4728960" cy="36576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2960" y="4018580"/>
            <a:ext cx="454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コミット前の確認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200000"/>
            <a:ext cx="5000000" cy="64008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291440"/>
            <a:ext cx="472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&gt; /clear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✓ 会話履歴をクリアしました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&gt; 新しいタスクの指示...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00000" y="44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AEA5"/>
                </a:solidFill>
                <a:latin typeface="Hiragino Sans"/>
              </a:rPr>
              <a:t>セッション中に / を入力すると</a:t>
            </a:r>
          </a:p>
          <a:p>
            <a:pPr algn="l"/>
            <a:r>
              <a:rPr sz="1500" b="0">
                <a:solidFill>
                  <a:srgbClr val="B0AEA5"/>
                </a:solidFill>
                <a:latin typeface="Hiragino Sans"/>
              </a:rPr>
              <a:t>候補が表示される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2 — スラッシュコマンド &amp;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カスタムスラッシュコマンド &amp;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97757"/>
                </a:solidFill>
                <a:latin typeface="Hiragino Sans"/>
              </a:rPr>
              <a:t>スキル = 自分で作るスラッシュコマンド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50000"/>
            <a:ext cx="5000000" cy="90000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41440"/>
            <a:ext cx="4725680" cy="717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.claude/skills/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├── review/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│   └── SKILL.md      # /review で呼び出せる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└── deploy.md          # /deploy で呼び出せる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75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50000"/>
            <a:ext cx="5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AF9F5"/>
                </a:solidFill>
                <a:latin typeface="Hiragino Sans"/>
              </a:rPr>
              <a:t>CLAUDE.mdとの違い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00000"/>
            <a:ext cx="2400000" cy="36576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685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131520" y="3300000"/>
            <a:ext cx="4164480" cy="36576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22960" y="33685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CLAUDE.md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96000" y="3300000"/>
            <a:ext cx="4164480" cy="365760"/>
          </a:xfrm>
          <a:prstGeom prst="rect">
            <a:avLst/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7440" y="33685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スキル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65760"/>
            <a:ext cx="2400000" cy="32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114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F9F5"/>
                </a:solidFill>
                <a:latin typeface="Hiragino Sans"/>
              </a:rPr>
              <a:t>読み込み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31520" y="3665760"/>
            <a:ext cx="4164480" cy="32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22960" y="371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常に自動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000" y="3665760"/>
            <a:ext cx="4164480" cy="32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7440" y="371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必要なときだけ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005760"/>
            <a:ext cx="2400000" cy="32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14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F9F5"/>
                </a:solidFill>
                <a:latin typeface="Hiragino Sans"/>
              </a:rPr>
              <a:t>内容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1520" y="4005760"/>
            <a:ext cx="4164480" cy="32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22960" y="405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プロジェクトの基本ルール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000" y="4005760"/>
            <a:ext cx="4164480" cy="32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87440" y="405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特定の作業手順・知識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345760"/>
            <a:ext cx="2400000" cy="32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914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F9F5"/>
                </a:solidFill>
                <a:latin typeface="Hiragino Sans"/>
              </a:rPr>
              <a:t>目安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31520" y="4345760"/>
            <a:ext cx="4164480" cy="32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22960" y="439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500行以下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96000" y="4345760"/>
            <a:ext cx="4164480" cy="32000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87440" y="439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必要に応じて分割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685760"/>
            <a:ext cx="2400000" cy="32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731480"/>
            <a:ext cx="221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F9F5"/>
                </a:solidFill>
                <a:latin typeface="Hiragino Sans"/>
              </a:rPr>
              <a:t>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31520" y="4685760"/>
            <a:ext cx="4164480" cy="32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22960" y="473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コーディング規約、ビルドコマンド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96000" y="4685760"/>
            <a:ext cx="4164480" cy="320000"/>
          </a:xfrm>
          <a:prstGeom prst="rect">
            <a:avLst/>
          </a:prstGeom>
          <a:solidFill>
            <a:srgbClr val="30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87440" y="4731480"/>
            <a:ext cx="398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デプロイ手順、レビュー観点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520" y="5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CLAUDE.md = 常識、スキル = 専門知識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2 — スラッシュコマンド &amp;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スキルの2タイプと実例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A9BCC"/>
                </a:solidFill>
                <a:latin typeface="Hiragino Sans"/>
              </a:rPr>
              <a:t>参照コンテンツ — 知識を渡す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57200"/>
            <a:ext cx="5200000" cy="228600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48640"/>
            <a:ext cx="492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---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name: api-conventions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description: APIエンドポイント作成時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         の設計パターン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---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/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APIエンドポイントを書くときは以下に従う。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 RESTfulな命名規則を使う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 一貫したエラーフォーマットを返す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 リクエストバリデーションを含める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5000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9BCC"/>
                </a:solidFill>
                <a:latin typeface="Hiragino Sans"/>
              </a:rPr>
              <a:t>→ 関連する作業を検知したとき、自動で読み込まれる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0000" y="120000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BC9A0"/>
                </a:solidFill>
                <a:latin typeface="Hiragino Sans"/>
              </a:rPr>
              <a:t>タスクコンテンツ — 手順を渡す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0000" y="1657200"/>
            <a:ext cx="5200000" cy="228600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7160" y="1748640"/>
            <a:ext cx="492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---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name: fix-issue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description: GitHubのIssueを修正する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disable-model-invocation: true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---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/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GitHubのIssue: $ARGUMENTS を分析して修正。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1. gh issue viewでIssue詳細を取得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2. 関連ファイルを検索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3. 修正を実装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4. テストを書いて実行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5. コミットしてPR作成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0000" y="405000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BC9A0"/>
                </a:solidFill>
                <a:latin typeface="Hiragino Sans"/>
              </a:rPr>
              <a:t>→ /fix-issue 42 のように明示的に呼び出す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00000"/>
            <a:ext cx="12192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D97757"/>
                </a:solidFill>
                <a:latin typeface="Helvetica Neue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0AEA5"/>
                </a:solidFill>
                <a:latin typeface="Hiragino Sans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429000"/>
            <a:ext cx="18288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631680" y="3429000"/>
            <a:ext cx="182880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0" y="20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57"/>
                </a:solidFill>
                <a:latin typeface="Helvetica Neue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00000"/>
            <a:ext cx="12192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AF9F5"/>
                </a:solidFill>
                <a:latin typeface="Hiragino Sans"/>
              </a:rPr>
              <a:t>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500000"/>
            <a:ext cx="1219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5C3BB"/>
                </a:solidFill>
                <a:latin typeface="Hiragino Sans"/>
              </a:rPr>
              <a:t>人間が忘れても、Hooksが動く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3 — Hooks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Hooksとは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000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97757"/>
                </a:solidFill>
                <a:latin typeface="Hiragino Sans"/>
              </a:rPr>
              <a:t>イベント駆動の自動化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00000"/>
            <a:ext cx="2400000" cy="4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91440"/>
            <a:ext cx="2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F9F5"/>
                </a:solidFill>
                <a:latin typeface="Hiragino Sans"/>
              </a:rPr>
              <a:t>ファイル編集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1520" y="1745720"/>
            <a:ext cx="914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AEA5"/>
                </a:solidFill>
                <a:latin typeface="Helvetica Neue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2960" y="1700000"/>
            <a:ext cx="2400000" cy="400000"/>
          </a:xfrm>
          <a:prstGeom prst="roundRect">
            <a:avLst>
              <a:gd name="adj" fmla="val 4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8680" y="1791440"/>
            <a:ext cx="2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F9F5"/>
                </a:solidFill>
                <a:latin typeface="Hiragino Sans"/>
              </a:rPr>
              <a:t>PostToolUse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960" y="1745720"/>
            <a:ext cx="914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AEA5"/>
                </a:solidFill>
                <a:latin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400" y="1700000"/>
            <a:ext cx="2400000" cy="400000"/>
          </a:xfrm>
          <a:prstGeom prst="roundRect">
            <a:avLst>
              <a:gd name="adj" fmla="val 4000"/>
            </a:avLst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120" y="1791440"/>
            <a:ext cx="2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F9F5"/>
                </a:solidFill>
                <a:latin typeface="Hiragino Sans"/>
              </a:rPr>
              <a:t>lint を自動実行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8640"/>
            <a:ext cx="2400000" cy="40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40080"/>
            <a:ext cx="2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F9F5"/>
                </a:solidFill>
                <a:latin typeface="Hiragino Sans"/>
              </a:rPr>
              <a:t>Bashコマンド実行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1520" y="2294360"/>
            <a:ext cx="914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AEA5"/>
                </a:solidFill>
                <a:latin typeface="Helvetica Neue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2960" y="2248640"/>
            <a:ext cx="2400000" cy="400000"/>
          </a:xfrm>
          <a:prstGeom prst="roundRect">
            <a:avLst>
              <a:gd name="adj" fmla="val 4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68680" y="2340080"/>
            <a:ext cx="2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F9F5"/>
                </a:solidFill>
                <a:latin typeface="Hiragino Sans"/>
              </a:rPr>
              <a:t>PreToolUse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2960" y="2294360"/>
            <a:ext cx="914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AEA5"/>
                </a:solidFill>
                <a:latin typeface="Helvetica Neue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4400" y="2248640"/>
            <a:ext cx="2400000" cy="400000"/>
          </a:xfrm>
          <a:prstGeom prst="roundRect">
            <a:avLst>
              <a:gd name="adj" fmla="val 4000"/>
            </a:avLst>
          </a:prstGeom>
          <a:solidFill>
            <a:srgbClr val="E0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120" y="2340080"/>
            <a:ext cx="230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F9F5"/>
                </a:solidFill>
                <a:latin typeface="Hiragino Sans"/>
              </a:rPr>
              <a:t>危険な操作をブロック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00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31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設定場所: .claude/settings.json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45000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5414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"hooks": 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"PostToolUse": [{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  "matcher": "Edit|Write",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  "hooks": [{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    "type": "command",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    "command": "npm run lint:fix"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  }]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}]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}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0000" y="31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主なイベント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00000" y="3500000"/>
            <a:ext cx="496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0000" y="3545720"/>
            <a:ext cx="16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SF Mono"/>
              </a:rPr>
              <a:t>PreToolUse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0000" y="3545720"/>
            <a:ext cx="3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DED8"/>
                </a:solidFill>
                <a:latin typeface="Hiragino Sans"/>
              </a:rPr>
              <a:t>ツール実行前 → 禁止操作のブロック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00000" y="3865760"/>
            <a:ext cx="496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0000" y="3911480"/>
            <a:ext cx="16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SF Mono"/>
              </a:rPr>
              <a:t>PostToolUse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0000" y="3911480"/>
            <a:ext cx="3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DED8"/>
                </a:solidFill>
                <a:latin typeface="Hiragino Sans"/>
              </a:rPr>
              <a:t>ツール実行後 → lint / formatterの自動実行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00000" y="4231520"/>
            <a:ext cx="496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0000" y="4277240"/>
            <a:ext cx="16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SF Mono"/>
              </a:rPr>
              <a:t>Notification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0000" y="4277240"/>
            <a:ext cx="3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DED8"/>
                </a:solidFill>
                <a:latin typeface="Hiragino Sans"/>
              </a:rPr>
              <a:t>通知時 → 外部への通知連携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00000" y="4597280"/>
            <a:ext cx="4960000" cy="3200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0000" y="4643000"/>
            <a:ext cx="16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SF Mono"/>
              </a:rPr>
              <a:t>Stop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0000" y="4643000"/>
            <a:ext cx="3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DED8"/>
                </a:solidFill>
                <a:latin typeface="Hiragino Sans"/>
              </a:rPr>
              <a:t>応答終了時 → レポート生成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6200000"/>
            <a:ext cx="10728960" cy="457200"/>
          </a:xfrm>
          <a:prstGeom prst="rect">
            <a:avLst/>
          </a:prstGeom>
          <a:solidFill>
            <a:srgbClr val="2C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6200000"/>
            <a:ext cx="54864" cy="457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6291440"/>
            <a:ext cx="10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57"/>
                </a:solidFill>
                <a:latin typeface="Hiragino Sans"/>
              </a:rPr>
              <a:t>→ CIのpre-commitフックに近い概念。Claude Codeの操作に品質ゲートを挟む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97757"/>
                </a:solidFill>
                <a:latin typeface="Helvetica Neue"/>
              </a:rPr>
              <a:t>PART 3 — Hooks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Hooksの実践例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757"/>
                </a:solidFill>
                <a:latin typeface="Hiragino Sans"/>
              </a:rPr>
              <a:t>例1: 編集後にlintを自動修正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5760"/>
            <a:ext cx="5200000" cy="54864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7200"/>
            <a:ext cx="492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"matcher": "Edit|Write",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"hooks": [{ "type": "command", "command": "npm run lint:fix" }]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0" y="1465760"/>
            <a:ext cx="5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Claudeがファイルを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編集するたび、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lint違反が自動修正される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070"/>
                </a:solidFill>
                <a:latin typeface="Hiragino Sans"/>
              </a:rPr>
              <a:t>例2: 危険なコマンドをブロック（PreToolUse）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65760"/>
            <a:ext cx="5200000" cy="54864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57200"/>
            <a:ext cx="492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"matcher": "Bash",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"hooks": [{ "type": "command",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  "command": "grep -q 'rm -rf' &amp;&amp; exit 1; exit 0" }]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2665760"/>
            <a:ext cx="5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hookコマンドにはツール入力が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stdinで渡される。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rm -rf を含む操作をブロック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00000"/>
            <a:ext cx="50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BC9A0"/>
                </a:solidFill>
                <a:latin typeface="Hiragino Sans"/>
              </a:rPr>
              <a:t>例3: Goファイル編集後に型チェック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65760"/>
            <a:ext cx="5200000" cy="548640"/>
          </a:xfrm>
          <a:prstGeom prst="roundRect">
            <a:avLst>
              <a:gd name="adj" fmla="val 4000"/>
            </a:avLst>
          </a:prstGeom>
          <a:solidFill>
            <a:srgbClr val="1B1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57200"/>
            <a:ext cx="492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{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"matcher": "Edit|Write",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  "hooks": [{ "type": "command", "command": "go vet ./..." }]</a:t>
            </a:r>
          </a:p>
          <a:p>
            <a:pPr algn="l"/>
            <a:r>
              <a:rPr sz="1200" b="0">
                <a:solidFill>
                  <a:srgbClr val="E0DED8"/>
                </a:solidFill>
                <a:latin typeface="SF Mono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0" y="3865760"/>
            <a:ext cx="5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言語に合わせた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品質チェックを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自動実行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0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4750000"/>
            <a:ext cx="10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7757"/>
                </a:solidFill>
                <a:latin typeface="Hiragino Sans"/>
              </a:rPr>
              <a:t>•  Hooksが失敗するとClaudeに通知 → Claudeが修正を試みる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0000"/>
            <a:ext cx="10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「lint実行して」と毎回指示する必要がなくなる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0000"/>
            <a:ext cx="10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•  チーム全員が同じチェックを自動実行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0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9F5"/>
                </a:solidFill>
                <a:latin typeface="Hiragino Sans"/>
              </a:rPr>
              <a:t>まとめ / 次回予告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0AEA5"/>
                </a:solidFill>
                <a:latin typeface="Hiragino Sans"/>
              </a:rPr>
              <a:t>3つの持ち帰り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42900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AF9F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CLAUDE.mdでプロジェクトの「常識」を教える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コンテキストの仕組みを理解し、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永続的な設定ファイルで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毎回の説明を不要にする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42900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AF9F5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Skillsで繰り返しの指示をテンプレート化する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参照コンテンツ（知識）と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タスクコンテンツ（手順）を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使い分ける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371600"/>
            <a:ext cx="3429000" cy="54864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600" y="1554480"/>
            <a:ext cx="548640" cy="548640"/>
          </a:xfrm>
          <a:prstGeom prst="ellipse">
            <a:avLst/>
          </a:prstGeom>
          <a:solidFill>
            <a:srgbClr val="7B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AF9F5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AF9F5"/>
                </a:solidFill>
                <a:latin typeface="Hiragino Sans"/>
              </a:rPr>
              <a:t>Hooksで品質チェックを自動化する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2608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人間が忘れても、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lint・テスト・型チェックが</a:t>
            </a:r>
          </a:p>
          <a:p>
            <a:pPr algn="l"/>
            <a:r>
              <a:rPr sz="1400" b="0">
                <a:solidFill>
                  <a:srgbClr val="E0DED8"/>
                </a:solidFill>
                <a:latin typeface="Hiragino Sans"/>
              </a:rPr>
              <a:t>自動で走る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0000"/>
            <a:ext cx="1072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97757"/>
                </a:solidFill>
                <a:latin typeface="Hiragino Sans"/>
              </a:rPr>
              <a:t>覚え方:  教える → 呼び出す → 自動化する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900000"/>
            <a:ext cx="10728960" cy="0"/>
          </a:xfrm>
          <a:prstGeom prst="line">
            <a:avLst/>
          </a:prstGeom>
          <a:ln w="9525">
            <a:solidFill>
              <a:srgbClr val="4A4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050000"/>
            <a:ext cx="1072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AEA5"/>
                </a:solidFill>
                <a:latin typeface="Hiragino Sans"/>
              </a:rPr>
              <a:t>次回予告: 第3回「大規模開発に挑む」— MCP / worktree / サブエージェント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92000" y="6458000"/>
            <a:ext cx="9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AEA5"/>
                </a:solidFill>
                <a:latin typeface="Helvetica Neue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