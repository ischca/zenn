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352" r:id="rId2"/>
    <p:sldId id="350" r:id="rId3"/>
    <p:sldId id="354" r:id="rId4"/>
    <p:sldId id="368" r:id="rId5"/>
    <p:sldId id="379" r:id="rId6"/>
    <p:sldId id="381" r:id="rId7"/>
    <p:sldId id="301" r:id="rId8"/>
    <p:sldId id="302" r:id="rId9"/>
    <p:sldId id="345" r:id="rId10"/>
    <p:sldId id="346" r:id="rId11"/>
    <p:sldId id="347" r:id="rId12"/>
    <p:sldId id="372" r:id="rId13"/>
    <p:sldId id="367" r:id="rId14"/>
    <p:sldId id="359" r:id="rId15"/>
    <p:sldId id="349"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F2F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86E496-6B44-E849-B792-437C17EEC151}" v="1" dt="2026-03-06T05:26:23.777"/>
    <p1510:client id="{93E2FFCC-F5CB-8340-828A-CA8022DE3617}" v="27" dt="2026-03-06T05:22:53.6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878"/>
    <p:restoredTop sz="60952"/>
  </p:normalViewPr>
  <p:slideViewPr>
    <p:cSldViewPr snapToGrid="0" snapToObjects="1">
      <p:cViewPr varScale="1">
        <p:scale>
          <a:sx n="57" d="100"/>
          <a:sy n="57" d="100"/>
        </p:scale>
        <p:origin x="2768" y="4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799318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dirty="0"/>
              <a:t>皆さんこんにちは。前回の第1回ではClaude Codeの基本的な使い方をお話ししました。</a:t>
            </a:r>
          </a:p>
          <a:p>
            <a:r>
              <a:rPr lang="ja-JP" altLang="en-US"/>
              <a:t>今回</a:t>
            </a:r>
            <a:r>
              <a:rPr lang="ja-JP"/>
              <a:t>は「</a:t>
            </a:r>
            <a:r>
              <a:rPr lang="ja-JP" altLang="ja-JP"/>
              <a:t>Claude Code</a:t>
            </a:r>
            <a:r>
              <a:rPr lang="ja-JP"/>
              <a:t>プロジェクト</a:t>
            </a:r>
            <a:r>
              <a:rPr lang="ja-JP" dirty="0"/>
              <a:t>に定着</a:t>
            </a:r>
            <a:r>
              <a:rPr lang="ja-JP"/>
              <a:t>させる」</a:t>
            </a:r>
            <a:r>
              <a:rPr lang="ja-JP" altLang="en-US"/>
              <a:t>というのが</a:t>
            </a:r>
            <a:r>
              <a:rPr lang="ja-JP" altLang="ja-JP"/>
              <a:t>テーマ</a:t>
            </a:r>
            <a:r>
              <a:rPr lang="ja-JP"/>
              <a:t>です</a:t>
            </a:r>
            <a:r>
              <a:rPr lang="ja-JP" dirty="0"/>
              <a:t>。</a:t>
            </a:r>
          </a:p>
          <a:p>
            <a:endParaRPr lang="ja-JP" dirty="0"/>
          </a:p>
          <a:p>
            <a:r>
              <a:rPr lang="ja-JP" dirty="0"/>
              <a:t>具体的には、皆さんが自分のプロジェクトにClaude Codeを導入するとき、最初にどういうセットアップをすればいい</a:t>
            </a:r>
            <a:r>
              <a:rPr lang="ja-JP"/>
              <a:t>のか</a:t>
            </a:r>
            <a:r>
              <a:rPr lang="ja-JP" altLang="en-US"/>
              <a:t>というの</a:t>
            </a:r>
            <a:r>
              <a:rPr lang="ja-JP"/>
              <a:t>をお伝えし</a:t>
            </a:r>
            <a:r>
              <a:rPr lang="ja-JP" altLang="en-US"/>
              <a:t>ていこうと思い</a:t>
            </a:r>
            <a:r>
              <a:rPr lang="ja-JP"/>
              <a:t>ます。</a:t>
            </a:r>
            <a:endParaRPr lang="en-US" altLang="ja-JP" dirty="0"/>
          </a:p>
          <a:p>
            <a:endParaRPr lang="ja-JP" dirty="0"/>
          </a:p>
          <a:p>
            <a:r>
              <a:rPr lang="ja-JP" altLang="en-US"/>
              <a:t>セットアップのための</a:t>
            </a:r>
            <a:r>
              <a:rPr lang="ja-JP"/>
              <a:t>前提として</a:t>
            </a:r>
            <a:r>
              <a:rPr lang="ja-JP" altLang="en-US"/>
              <a:t>、</a:t>
            </a:r>
            <a:r>
              <a:rPr lang="ja-JP"/>
              <a:t>知っておい</a:t>
            </a:r>
            <a:r>
              <a:rPr lang="ja-JP" altLang="en-US"/>
              <a:t>た方が良い</a:t>
            </a:r>
            <a:r>
              <a:rPr lang="ja-JP"/>
              <a:t>仕組み</a:t>
            </a:r>
            <a:r>
              <a:rPr lang="ja-JP" dirty="0"/>
              <a:t>がいくつかありますので、前半でそこを押さえた上で、後半で実際のセットアップ手順に入っていきます。</a:t>
            </a:r>
          </a:p>
          <a:p>
            <a:endParaRPr lang="ja-JP"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dirty="0"/>
              <a:t>この勉強会は全3回構成です。
第1回</a:t>
            </a:r>
            <a:r>
              <a:rPr lang="ja-JP"/>
              <a:t>の「</a:t>
            </a:r>
            <a:r>
              <a:rPr lang="ja-JP" altLang="en-US"/>
              <a:t>ことはじめ</a:t>
            </a:r>
            <a:r>
              <a:rPr lang="ja-JP"/>
              <a:t>」は</a:t>
            </a:r>
            <a:r>
              <a:rPr lang="ja-JP" altLang="en-US"/>
              <a:t>先週実施しました</a:t>
            </a:r>
            <a:r>
              <a:rPr lang="ja-JP"/>
              <a:t>。</a:t>
            </a:r>
            <a:r>
              <a:rPr lang="ja-JP" dirty="0"/>
              <a:t>Claude Codeの基本的な使い方</a:t>
            </a:r>
            <a:r>
              <a:rPr lang="ja-JP"/>
              <a:t>と、</a:t>
            </a:r>
            <a:r>
              <a:rPr lang="ja-JP" altLang="en-US"/>
              <a:t>コミュニケーション</a:t>
            </a:r>
            <a:r>
              <a:rPr lang="ja-JP"/>
              <a:t>の考え方</a:t>
            </a:r>
            <a:r>
              <a:rPr lang="ja-JP" altLang="en-US"/>
              <a:t>についてお話ししました</a:t>
            </a:r>
            <a:r>
              <a:rPr lang="ja-JP"/>
              <a:t>。</a:t>
            </a:r>
            <a:r>
              <a:rPr lang="ja-JP" dirty="0"/>
              <a:t>
</a:t>
            </a:r>
            <a:r>
              <a:rPr lang="ja-JP"/>
              <a:t>
</a:t>
            </a:r>
            <a:r>
              <a:rPr lang="ja-JP" altLang="en-US"/>
              <a:t>今回</a:t>
            </a:r>
            <a:r>
              <a:rPr lang="ja-JP"/>
              <a:t>は</a:t>
            </a:r>
            <a:r>
              <a:rPr lang="ja-JP" dirty="0"/>
              <a:t>「プロジェクトに定着させる」がテーマ</a:t>
            </a:r>
            <a:r>
              <a:rPr lang="ja-JP"/>
              <a:t>です。</a:t>
            </a:r>
            <a:r>
              <a:rPr lang="ja-JP" dirty="0"/>
              <a:t>
第3回では「ワークフローを自動化</a:t>
            </a:r>
            <a:r>
              <a:rPr lang="ja-JP"/>
              <a:t>する」</a:t>
            </a:r>
            <a:r>
              <a:rPr lang="ja-JP" altLang="en-US"/>
              <a:t>ための</a:t>
            </a:r>
            <a:r>
              <a:rPr lang="ja-JP"/>
              <a:t>、</a:t>
            </a:r>
            <a:r>
              <a:rPr lang="ja-JP" dirty="0"/>
              <a:t>Skills、Hooks</a:t>
            </a:r>
            <a:r>
              <a:rPr lang="ja-JP"/>
              <a:t>、MCP</a:t>
            </a:r>
            <a:r>
              <a:rPr lang="ja-JP" altLang="en-US"/>
              <a:t>などといった、開発効率を上げるための機能</a:t>
            </a:r>
            <a:r>
              <a:rPr lang="ja-JP"/>
              <a:t>を</a:t>
            </a:r>
            <a:r>
              <a:rPr lang="ja-JP" altLang="en-US"/>
              <a:t>扱う予定です</a:t>
            </a:r>
            <a:r>
              <a:rPr lang="ja-JP"/>
              <a:t>。</a:t>
            </a:r>
            <a:endParaRPr lang="en-US" altLang="ja-JP" dirty="0"/>
          </a:p>
          <a:p>
            <a:r>
              <a:rPr lang="ja-JP" altLang="en-US"/>
              <a:t>これらの機能は、</a:t>
            </a:r>
            <a:r>
              <a:rPr lang="ja-JP"/>
              <a:t>セットアップの基盤</a:t>
            </a:r>
            <a:r>
              <a:rPr lang="ja-JP" altLang="en-US"/>
              <a:t>をしっかりすることにより、ガードレールが敷けるので、安全かつ</a:t>
            </a:r>
            <a:r>
              <a:rPr lang="ja-JP"/>
              <a:t>効率</a:t>
            </a:r>
            <a:r>
              <a:rPr lang="ja-JP" altLang="en-US"/>
              <a:t>的に作業を自動化することができるようになります</a:t>
            </a:r>
            <a:r>
              <a:rPr lang="ja-JP"/>
              <a:t>。</a:t>
            </a:r>
            <a:r>
              <a:rPr lang="ja-JP" dirty="0"/>
              <a:t>
今日のゴールは、Claude Codeを自身のプロジェクトにセットアップできるようになること</a:t>
            </a:r>
            <a:r>
              <a:rPr lang="ja-JP"/>
              <a:t>です。</a:t>
            </a:r>
            <a:endParaRPr lang="en-US" altLang="ja-JP" dirty="0"/>
          </a:p>
          <a:p>
            <a:r>
              <a:rPr lang="ja-JP"/>
              <a:t>CLAUDE.mdの</a:t>
            </a:r>
            <a:r>
              <a:rPr lang="ja-JP" dirty="0"/>
              <a:t>書き方とsettings.jsonの設定方法を、実際にデモ</a:t>
            </a:r>
            <a:r>
              <a:rPr lang="ja-JP"/>
              <a:t>も交えながら</a:t>
            </a:r>
            <a:r>
              <a:rPr lang="ja-JP" altLang="en-US"/>
              <a:t>解説</a:t>
            </a:r>
            <a:r>
              <a:rPr lang="ja-JP"/>
              <a:t>して</a:t>
            </a:r>
            <a:r>
              <a:rPr lang="ja-JP" dirty="0"/>
              <a:t>いきます。</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今日の</a:t>
            </a:r>
            <a:r>
              <a:rPr lang="ja-JP"/>
              <a:t>流れを</a:t>
            </a:r>
            <a:r>
              <a:rPr lang="ja-JP" altLang="en-US"/>
              <a:t>簡単に</a:t>
            </a:r>
            <a:r>
              <a:rPr lang="ja-JP"/>
              <a:t>ご紹介</a:t>
            </a:r>
            <a:r>
              <a:rPr lang="ja-JP" dirty="0"/>
              <a:t>します。
PART 1では、まずコンテキストウィンドウの仕組みを押さえた上で、CLAUDE.mdの書き方を</a:t>
            </a:r>
            <a:r>
              <a:rPr lang="ja-JP"/>
              <a:t>学びます。</a:t>
            </a:r>
            <a:endParaRPr lang="en-US" altLang="ja-JP" dirty="0"/>
          </a:p>
          <a:p>
            <a:r>
              <a:rPr lang="ja-JP"/>
              <a:t>Claude</a:t>
            </a:r>
            <a:r>
              <a:rPr lang="ja-JP" dirty="0"/>
              <a:t>に「何を知っておいてもらうか」を永続的に伝える方法で、ここが今日の土台になります。
PART 2では、settings.jsonを使って権限や環境変数、モデル設定をチームで統一する方法をお伝え</a:t>
            </a:r>
            <a:r>
              <a:rPr lang="ja-JP"/>
              <a:t>します。</a:t>
            </a:r>
            <a:endParaRPr lang="en-US" altLang="ja-JP" dirty="0"/>
          </a:p>
          <a:p>
            <a:r>
              <a:rPr lang="ja-JP"/>
              <a:t>CLAUDE</a:t>
            </a:r>
            <a:r>
              <a:rPr lang="ja-JP" dirty="0"/>
              <a:t>.md</a:t>
            </a:r>
            <a:r>
              <a:rPr lang="ja-JP"/>
              <a:t>が「</a:t>
            </a:r>
            <a:r>
              <a:rPr lang="ja-JP" altLang="en-US"/>
              <a:t>指示書</a:t>
            </a:r>
            <a:r>
              <a:rPr lang="ja-JP"/>
              <a:t>」</a:t>
            </a:r>
            <a:r>
              <a:rPr lang="ja-JP" dirty="0"/>
              <a:t>なら、settings.jsonは「設定」にあたるファイル</a:t>
            </a:r>
            <a:r>
              <a:rPr lang="ja-JP"/>
              <a:t>です。</a:t>
            </a:r>
            <a:r>
              <a:rPr lang="ja-JP" dirty="0"/>
              <a:t>
では早速PART 1に入りましょう。</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a:t>まず</a:t>
            </a:r>
            <a:r>
              <a:rPr lang="ja-JP" dirty="0"/>
              <a:t>最初に「コンテキスト」という概念</a:t>
            </a:r>
            <a:r>
              <a:rPr lang="ja-JP"/>
              <a:t>を押さえ</a:t>
            </a:r>
            <a:r>
              <a:rPr lang="ja-JP" altLang="en-US"/>
              <a:t>ていきます</a:t>
            </a:r>
            <a:r>
              <a:rPr lang="ja-JP"/>
              <a:t>。</a:t>
            </a:r>
            <a:endParaRPr lang="en-US" altLang="ja-JP" dirty="0"/>
          </a:p>
          <a:p>
            <a:r>
              <a:rPr lang="ja-JP"/>
              <a:t>ここ</a:t>
            </a:r>
            <a:r>
              <a:rPr lang="ja-JP" dirty="0"/>
              <a:t>を理解しておくと、このあとのCLAUDE.mdやsettings.jsonの話がすんなり入ってきますので、少しだけお付き合いください。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dirty="0"/>
              <a:t>Claude Codeに何かをお願いするとき、Claude側には「一度に覚えていられる</a:t>
            </a:r>
            <a:r>
              <a:rPr lang="ja-JP"/>
              <a:t>量」</a:t>
            </a:r>
            <a:r>
              <a:rPr lang="ja-JP" altLang="en-US"/>
              <a:t>というもの</a:t>
            </a:r>
            <a:r>
              <a:rPr lang="ja-JP"/>
              <a:t>に</a:t>
            </a:r>
            <a:r>
              <a:rPr lang="ja-JP" dirty="0"/>
              <a:t>上限が</a:t>
            </a:r>
            <a:r>
              <a:rPr lang="ja-JP"/>
              <a:t>あります。</a:t>
            </a:r>
            <a:endParaRPr lang="en-US" altLang="ja-JP" dirty="0"/>
          </a:p>
          <a:p>
            <a:endParaRPr lang="ja-JP" dirty="0"/>
          </a:p>
          <a:p>
            <a:r>
              <a:rPr lang="ja-JP" dirty="0"/>
              <a:t>これをコンテキストウィンドウ</a:t>
            </a:r>
            <a:r>
              <a:rPr lang="ja-JP"/>
              <a:t>と呼びま</a:t>
            </a:r>
            <a:r>
              <a:rPr lang="ja-JP" altLang="en-US"/>
              <a:t>す。</a:t>
            </a:r>
            <a:r>
              <a:rPr lang="ja-JP"/>
              <a:t>だいたい20万トークン</a:t>
            </a:r>
            <a:r>
              <a:rPr lang="ja-JP" altLang="en-US"/>
              <a:t>で</a:t>
            </a:r>
            <a:r>
              <a:rPr lang="ja-JP"/>
              <a:t>、</a:t>
            </a:r>
            <a:r>
              <a:rPr lang="ja-JP" dirty="0"/>
              <a:t>日本語にする</a:t>
            </a:r>
            <a:r>
              <a:rPr lang="ja-JP"/>
              <a:t>とおよそ</a:t>
            </a:r>
            <a:r>
              <a:rPr lang="en-US" altLang="ja-JP" dirty="0"/>
              <a:t>25〜20</a:t>
            </a:r>
            <a:r>
              <a:rPr lang="ja-JP" altLang="en-US"/>
              <a:t>万字で、</a:t>
            </a:r>
            <a:r>
              <a:rPr kumimoji="1" lang="ja-JP" altLang="en-US" sz="1200" b="0" i="0" kern="1200">
                <a:solidFill>
                  <a:schemeClr val="tx1"/>
                </a:solidFill>
                <a:effectLst/>
                <a:latin typeface="+mn-lt"/>
                <a:ea typeface="+mn-ea"/>
                <a:cs typeface="+mn-cs"/>
              </a:rPr>
              <a:t>文庫本だったら</a:t>
            </a:r>
            <a:r>
              <a:rPr kumimoji="1" lang="en-US" altLang="ja-JP" sz="1200" b="1" i="0" kern="1200" dirty="0">
                <a:solidFill>
                  <a:schemeClr val="tx1"/>
                </a:solidFill>
                <a:effectLst/>
                <a:latin typeface="+mn-lt"/>
                <a:ea typeface="+mn-ea"/>
                <a:cs typeface="+mn-cs"/>
              </a:rPr>
              <a:t>1〜2</a:t>
            </a:r>
            <a:r>
              <a:rPr kumimoji="1" lang="ja-JP" altLang="en-US" sz="1200" b="1" i="0" kern="1200">
                <a:solidFill>
                  <a:schemeClr val="tx1"/>
                </a:solidFill>
                <a:effectLst/>
                <a:latin typeface="+mn-lt"/>
                <a:ea typeface="+mn-ea"/>
                <a:cs typeface="+mn-cs"/>
              </a:rPr>
              <a:t>冊分</a:t>
            </a:r>
            <a:r>
              <a:rPr lang="ja-JP"/>
              <a:t>くらいの分量</a:t>
            </a:r>
            <a:r>
              <a:rPr lang="ja-JP" altLang="en-US"/>
              <a:t>になります</a:t>
            </a:r>
            <a:r>
              <a:rPr lang="ja-JP"/>
              <a:t>。</a:t>
            </a:r>
            <a:endParaRPr lang="ja-JP" dirty="0"/>
          </a:p>
          <a:p>
            <a:endParaRPr lang="ja-JP" dirty="0"/>
          </a:p>
          <a:p>
            <a:r>
              <a:rPr lang="ja-JP" dirty="0"/>
              <a:t>この図がその中身のイメージです。</a:t>
            </a:r>
          </a:p>
          <a:p>
            <a:r>
              <a:rPr lang="ja-JP" dirty="0"/>
              <a:t>一番上のCLAUDE.mdはセッションを開くたびに自動で読み込まれる、いわば「</a:t>
            </a:r>
            <a:r>
              <a:rPr lang="ja-JP"/>
              <a:t>永続的な</a:t>
            </a:r>
            <a:r>
              <a:rPr lang="ja-JP" altLang="en-US"/>
              <a:t>指示書</a:t>
            </a:r>
            <a:r>
              <a:rPr lang="ja-JP"/>
              <a:t>」</a:t>
            </a:r>
            <a:r>
              <a:rPr lang="ja-JP" dirty="0"/>
              <a:t>です。</a:t>
            </a:r>
          </a:p>
          <a:p>
            <a:r>
              <a:rPr lang="ja-JP" dirty="0"/>
              <a:t>その下</a:t>
            </a:r>
            <a:r>
              <a:rPr lang="ja-JP"/>
              <a:t>に、</a:t>
            </a:r>
            <a:r>
              <a:rPr lang="en-US" altLang="ja-JP" dirty="0"/>
              <a:t>Claude</a:t>
            </a:r>
            <a:r>
              <a:rPr lang="ja-JP"/>
              <a:t>との</a:t>
            </a:r>
            <a:r>
              <a:rPr lang="ja-JP" dirty="0"/>
              <a:t>会話のやりとり、Claudeが読んだファイル、コマンドの実行結果といったものが、作業を進めるたびにどんどん積み重なっていきます。</a:t>
            </a:r>
          </a:p>
          <a:p>
            <a:endParaRPr lang="ja-JP" dirty="0"/>
          </a:p>
          <a:p>
            <a:r>
              <a:rPr lang="ja-JP" dirty="0"/>
              <a:t>そして一番下の「残り容量」が、Claudeがこれから新しい情報を受け取れる余裕の部分です。</a:t>
            </a:r>
          </a:p>
          <a:p>
            <a:r>
              <a:rPr lang="ja-JP" dirty="0"/>
              <a:t>作業が長引くほどこの余裕は減っていきまして、上限に近づく</a:t>
            </a:r>
            <a:r>
              <a:rPr lang="ja-JP"/>
              <a:t>と「</a:t>
            </a:r>
            <a:r>
              <a:rPr lang="ja-JP" altLang="en-US"/>
              <a:t>オート</a:t>
            </a:r>
            <a:r>
              <a:rPr lang="ja-JP"/>
              <a:t>コンパクト</a:t>
            </a:r>
            <a:r>
              <a:rPr lang="ja-JP" dirty="0"/>
              <a:t>」と</a:t>
            </a:r>
            <a:r>
              <a:rPr lang="ja-JP"/>
              <a:t>いう自動</a:t>
            </a:r>
            <a:r>
              <a:rPr lang="ja-JP" altLang="en-US"/>
              <a:t>的にコンテキストウィンドウを</a:t>
            </a:r>
            <a:r>
              <a:rPr lang="ja-JP"/>
              <a:t>圧縮</a:t>
            </a:r>
            <a:r>
              <a:rPr lang="ja-JP" altLang="en-US"/>
              <a:t>するための処理</a:t>
            </a:r>
            <a:r>
              <a:rPr lang="ja-JP"/>
              <a:t>が走ります。</a:t>
            </a:r>
            <a:endParaRPr lang="en-US" altLang="ja-JP" dirty="0"/>
          </a:p>
          <a:p>
            <a:endParaRPr lang="ja-JP" dirty="0"/>
          </a:p>
          <a:p>
            <a:r>
              <a:rPr lang="ja-JP" altLang="en-US"/>
              <a:t>オート</a:t>
            </a:r>
            <a:r>
              <a:rPr lang="ja-JP" altLang="ja-JP"/>
              <a:t>コンパクト</a:t>
            </a:r>
            <a:r>
              <a:rPr lang="ja-JP" altLang="en-US"/>
              <a:t>で、それまでのコンテキストを</a:t>
            </a:r>
            <a:r>
              <a:rPr lang="ja-JP"/>
              <a:t>要約</a:t>
            </a:r>
            <a:r>
              <a:rPr lang="ja-JP" dirty="0"/>
              <a:t>して容量</a:t>
            </a:r>
            <a:r>
              <a:rPr lang="ja-JP"/>
              <a:t>を空け</a:t>
            </a:r>
            <a:r>
              <a:rPr lang="ja-JP" altLang="en-US"/>
              <a:t>てくれ</a:t>
            </a:r>
            <a:r>
              <a:rPr lang="ja-JP"/>
              <a:t>るのです</a:t>
            </a:r>
            <a:r>
              <a:rPr lang="ja-JP" dirty="0"/>
              <a:t>が、この</a:t>
            </a:r>
            <a:r>
              <a:rPr lang="ja-JP"/>
              <a:t>とき最初に伝えた指示</a:t>
            </a:r>
            <a:r>
              <a:rPr lang="ja-JP" altLang="en-US"/>
              <a:t>だったり、</a:t>
            </a:r>
            <a:r>
              <a:rPr lang="ja-JP"/>
              <a:t>制約</a:t>
            </a:r>
            <a:r>
              <a:rPr lang="ja-JP" dirty="0"/>
              <a:t>が一緒に消えてしまうことがあります。</a:t>
            </a:r>
          </a:p>
          <a:p>
            <a:r>
              <a:rPr lang="ja-JP" dirty="0"/>
              <a:t>たとえば「このファイルは触らないで」と</a:t>
            </a:r>
            <a:r>
              <a:rPr lang="ja-JP"/>
              <a:t>お願いして</a:t>
            </a:r>
            <a:r>
              <a:rPr lang="ja-JP" altLang="en-US"/>
              <a:t>いても</a:t>
            </a:r>
            <a:r>
              <a:rPr lang="ja-JP"/>
              <a:t>、</a:t>
            </a:r>
            <a:r>
              <a:rPr lang="ja-JP" altLang="en-US"/>
              <a:t>コンパクトによって</a:t>
            </a:r>
            <a:r>
              <a:rPr lang="ja-JP"/>
              <a:t>忘れられて</a:t>
            </a:r>
            <a:r>
              <a:rPr lang="ja-JP" dirty="0"/>
              <a:t>しまう、という</a:t>
            </a:r>
            <a:r>
              <a:rPr lang="ja-JP"/>
              <a:t>ことが</a:t>
            </a:r>
            <a:r>
              <a:rPr lang="ja-JP" altLang="en-US"/>
              <a:t>あったりします</a:t>
            </a:r>
            <a:r>
              <a:rPr lang="ja-JP"/>
              <a:t>。</a:t>
            </a:r>
            <a:endParaRPr lang="ja-JP" dirty="0"/>
          </a:p>
          <a:p>
            <a:endParaRPr lang="ja-JP" dirty="0"/>
          </a:p>
          <a:p>
            <a:r>
              <a:rPr lang="ja-JP" dirty="0"/>
              <a:t>じゃあどうすればいい</a:t>
            </a:r>
            <a:r>
              <a:rPr lang="ja-JP"/>
              <a:t>のか</a:t>
            </a:r>
            <a:r>
              <a:rPr lang="ja-JP" altLang="en-US"/>
              <a:t>、ということなんですが、</a:t>
            </a:r>
            <a:endParaRPr lang="en-US" altLang="ja-JP" dirty="0"/>
          </a:p>
          <a:p>
            <a:r>
              <a:rPr lang="ja-JP"/>
              <a:t>消えたら困る情報</a:t>
            </a:r>
            <a:r>
              <a:rPr lang="ja-JP" altLang="en-US"/>
              <a:t>を、</a:t>
            </a:r>
            <a:r>
              <a:rPr lang="ja-JP"/>
              <a:t>CLAUDE</a:t>
            </a:r>
            <a:r>
              <a:rPr lang="ja-JP" dirty="0"/>
              <a:t>.mdに</a:t>
            </a:r>
            <a:r>
              <a:rPr lang="ja-JP"/>
              <a:t>書いておけば</a:t>
            </a:r>
            <a:r>
              <a:rPr lang="en-US" altLang="ja-JP" dirty="0"/>
              <a:t>OK</a:t>
            </a:r>
            <a:r>
              <a:rPr lang="ja-JP"/>
              <a:t>です。</a:t>
            </a:r>
            <a:endParaRPr lang="en-US" altLang="ja-JP" dirty="0"/>
          </a:p>
          <a:p>
            <a:endParaRPr lang="ja-JP" dirty="0"/>
          </a:p>
          <a:p>
            <a:r>
              <a:rPr lang="ja-JP" dirty="0"/>
              <a:t>CLAUDE.mdは毎回</a:t>
            </a:r>
            <a:r>
              <a:rPr lang="ja-JP"/>
              <a:t>必ず読み込まれ</a:t>
            </a:r>
            <a:r>
              <a:rPr lang="ja-JP" altLang="en-US"/>
              <a:t>る</a:t>
            </a:r>
            <a:r>
              <a:rPr lang="ja-JP"/>
              <a:t>ので</a:t>
            </a:r>
            <a:r>
              <a:rPr lang="ja-JP" dirty="0"/>
              <a:t>、コンパクト</a:t>
            </a:r>
            <a:r>
              <a:rPr lang="ja-JP"/>
              <a:t>されても</a:t>
            </a:r>
            <a:r>
              <a:rPr lang="ja-JP" altLang="en-US"/>
              <a:t>また読み込まれます</a:t>
            </a:r>
            <a:r>
              <a:rPr lang="ja-JP"/>
              <a:t>。</a:t>
            </a:r>
            <a:endParaRPr lang="en-US" altLang="ja-JP"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dirty="0"/>
              <a:t>ではCLAUDE.mdとは具体的に何なのか、</a:t>
            </a:r>
            <a:r>
              <a:rPr lang="ja-JP"/>
              <a:t>という</a:t>
            </a:r>
            <a:r>
              <a:rPr lang="ja-JP" altLang="en-US"/>
              <a:t>のを説明</a:t>
            </a:r>
            <a:r>
              <a:rPr lang="ja-JP"/>
              <a:t>を</a:t>
            </a:r>
            <a:r>
              <a:rPr lang="ja-JP" dirty="0"/>
              <a:t>します。</a:t>
            </a:r>
          </a:p>
          <a:p>
            <a:endParaRPr lang="ja-JP" dirty="0"/>
          </a:p>
          <a:p>
            <a:r>
              <a:rPr lang="ja-JP" dirty="0"/>
              <a:t>考え方はシンプルで、新しいメンバーがチームに入ったときに渡すオンボーディング資料と同じです。</a:t>
            </a:r>
          </a:p>
          <a:p>
            <a:r>
              <a:rPr lang="ja-JP" dirty="0"/>
              <a:t>「このプロジェクトはこういう構成です」「ビルドはこのコマンドで」「こういうルールがあります」「ここは</a:t>
            </a:r>
            <a:r>
              <a:rPr lang="ja-JP"/>
              <a:t>触らないで」</a:t>
            </a:r>
            <a:endParaRPr lang="ja-JP" dirty="0"/>
          </a:p>
          <a:p>
            <a:r>
              <a:rPr lang="ja-JP" altLang="en-US"/>
              <a:t>と</a:t>
            </a:r>
            <a:r>
              <a:rPr lang="ja-JP"/>
              <a:t>いった</a:t>
            </a:r>
            <a:r>
              <a:rPr lang="ja-JP" dirty="0"/>
              <a:t>内容</a:t>
            </a:r>
            <a:r>
              <a:rPr lang="ja-JP"/>
              <a:t>を、</a:t>
            </a:r>
            <a:r>
              <a:rPr lang="ja-JP" altLang="en-US"/>
              <a:t>自然言語で、</a:t>
            </a:r>
            <a:r>
              <a:rPr lang="ja-JP"/>
              <a:t>CLAUDE</a:t>
            </a:r>
            <a:r>
              <a:rPr lang="ja-JP" dirty="0"/>
              <a:t>.mdというファイルに書いておきます。</a:t>
            </a:r>
          </a:p>
          <a:p>
            <a:endParaRPr lang="ja-JP" dirty="0"/>
          </a:p>
          <a:p>
            <a:r>
              <a:rPr lang="ja-JP" dirty="0"/>
              <a:t>配置場所は3段階あります。</a:t>
            </a:r>
          </a:p>
          <a:p>
            <a:r>
              <a:rPr lang="en-US" altLang="ja-JP" dirty="0"/>
              <a:t>PC</a:t>
            </a:r>
            <a:r>
              <a:rPr lang="ja-JP" altLang="en-US"/>
              <a:t>の</a:t>
            </a:r>
            <a:r>
              <a:rPr lang="ja-JP"/>
              <a:t>ホームディレクトリに置けば</a:t>
            </a:r>
            <a:r>
              <a:rPr lang="ja-JP" altLang="en-US"/>
              <a:t>、</a:t>
            </a:r>
            <a:r>
              <a:rPr lang="ja-JP"/>
              <a:t>個人</a:t>
            </a:r>
            <a:r>
              <a:rPr lang="ja-JP" dirty="0"/>
              <a:t>の全プロジェクト</a:t>
            </a:r>
            <a:r>
              <a:rPr lang="ja-JP"/>
              <a:t>共通で</a:t>
            </a:r>
            <a:r>
              <a:rPr lang="ja-JP" altLang="en-US"/>
              <a:t>ロードされます。</a:t>
            </a:r>
            <a:endParaRPr lang="en-US" altLang="ja-JP" dirty="0"/>
          </a:p>
          <a:p>
            <a:r>
              <a:rPr lang="ja-JP"/>
              <a:t>プロジェクト</a:t>
            </a:r>
            <a:r>
              <a:rPr lang="ja-JP" dirty="0"/>
              <a:t>のルート</a:t>
            </a:r>
            <a:r>
              <a:rPr lang="ja-JP"/>
              <a:t>に置けば</a:t>
            </a:r>
            <a:r>
              <a:rPr lang="ja-JP" altLang="en-US"/>
              <a:t>、</a:t>
            </a:r>
            <a:r>
              <a:rPr lang="ja-JP"/>
              <a:t>チーム</a:t>
            </a:r>
            <a:r>
              <a:rPr lang="ja-JP" dirty="0"/>
              <a:t>全員で共有できます。</a:t>
            </a:r>
          </a:p>
          <a:p>
            <a:r>
              <a:rPr lang="ja-JP" altLang="ja-JP"/>
              <a:t>プロジェクトの</a:t>
            </a:r>
            <a:r>
              <a:rPr lang="ja-JP"/>
              <a:t>サブディレクトリ</a:t>
            </a:r>
            <a:r>
              <a:rPr lang="ja-JP" dirty="0"/>
              <a:t>に置くと</a:t>
            </a:r>
            <a:r>
              <a:rPr lang="ja-JP"/>
              <a:t>、その</a:t>
            </a:r>
            <a:r>
              <a:rPr lang="ja-JP" altLang="en-US"/>
              <a:t>ディレクトリ</a:t>
            </a:r>
            <a:r>
              <a:rPr lang="ja-JP"/>
              <a:t>で</a:t>
            </a:r>
            <a:r>
              <a:rPr lang="ja-JP" dirty="0"/>
              <a:t>作業する</a:t>
            </a:r>
            <a:r>
              <a:rPr lang="ja-JP"/>
              <a:t>ときだけ</a:t>
            </a:r>
            <a:r>
              <a:rPr lang="ja-JP" altLang="en-US"/>
              <a:t>ロードされ</a:t>
            </a:r>
            <a:r>
              <a:rPr lang="ja-JP"/>
              <a:t>ます。</a:t>
            </a:r>
            <a:r>
              <a:rPr lang="ja-JP" altLang="en-US"/>
              <a:t>その際、親ディレクトリや、</a:t>
            </a:r>
            <a:r>
              <a:rPr lang="ja-JP" altLang="ja-JP"/>
              <a:t>プロジェクトのルート</a:t>
            </a:r>
            <a:r>
              <a:rPr lang="ja-JP" altLang="en-US"/>
              <a:t>の</a:t>
            </a:r>
            <a:r>
              <a:rPr lang="en-US" altLang="ja-JP" dirty="0" err="1"/>
              <a:t>CLAUDE.md</a:t>
            </a:r>
            <a:r>
              <a:rPr lang="ja-JP" altLang="en-US"/>
              <a:t>も遡ってロードされるので、プロジェクト共通の内容を上位に記述しておき、サブディレクトリ固有の情報をサブディレクトリ内に閉じることができます。</a:t>
            </a:r>
            <a:endParaRPr lang="ja-JP" dirty="0"/>
          </a:p>
          <a:p>
            <a:endParaRPr lang="ja-JP" dirty="0"/>
          </a:p>
          <a:p>
            <a:r>
              <a:rPr lang="ja-JP" dirty="0"/>
              <a:t>大事なのは</a:t>
            </a:r>
            <a:r>
              <a:rPr lang="ja-JP"/>
              <a:t>、プロジェクト</a:t>
            </a:r>
            <a:r>
              <a:rPr lang="ja-JP" altLang="en-US"/>
              <a:t>内</a:t>
            </a:r>
            <a:r>
              <a:rPr lang="ja-JP"/>
              <a:t>の</a:t>
            </a:r>
            <a:r>
              <a:rPr lang="ja-JP" dirty="0"/>
              <a:t>CLAUDE.</a:t>
            </a:r>
            <a:r>
              <a:rPr lang="ja-JP"/>
              <a:t>mdを</a:t>
            </a:r>
            <a:r>
              <a:rPr lang="ja-JP" altLang="en-US"/>
              <a:t>バージョン</a:t>
            </a:r>
            <a:r>
              <a:rPr lang="ja-JP"/>
              <a:t>管理</a:t>
            </a:r>
            <a:r>
              <a:rPr lang="ja-JP" altLang="en-US"/>
              <a:t>に入れておけ</a:t>
            </a:r>
            <a:r>
              <a:rPr lang="ja-JP"/>
              <a:t>ば</a:t>
            </a:r>
            <a:r>
              <a:rPr lang="ja-JP" dirty="0"/>
              <a:t>、チーム全員が同じ設定でClaude Codeを使えるようになる</a:t>
            </a:r>
            <a:r>
              <a:rPr lang="ja-JP"/>
              <a:t>という</a:t>
            </a:r>
            <a:r>
              <a:rPr lang="ja-JP" altLang="en-US"/>
              <a:t>事</a:t>
            </a:r>
            <a:r>
              <a:rPr lang="ja-JP"/>
              <a:t>です。</a:t>
            </a:r>
            <a:endParaRPr lang="ja-JP"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altLang="en-US"/>
              <a:t>次に、</a:t>
            </a:r>
            <a:r>
              <a:rPr lang="en-US" altLang="ja-JP" dirty="0" err="1"/>
              <a:t>CLAUDE.md</a:t>
            </a:r>
            <a:r>
              <a:rPr lang="ja-JP" altLang="en-US"/>
              <a:t>に書くべき内容について</a:t>
            </a:r>
            <a:r>
              <a:rPr lang="ja-JP"/>
              <a:t>、</a:t>
            </a:r>
            <a:r>
              <a:rPr lang="ja-JP" dirty="0"/>
              <a:t>4つのカテゴリに分けて紹介します。</a:t>
            </a:r>
          </a:p>
          <a:p>
            <a:endParaRPr lang="ja-JP" dirty="0"/>
          </a:p>
          <a:p>
            <a:r>
              <a:rPr lang="ja-JP" dirty="0"/>
              <a:t>1つ目はプロジェクト概要</a:t>
            </a:r>
            <a:r>
              <a:rPr lang="ja-JP"/>
              <a:t>です。</a:t>
            </a:r>
            <a:r>
              <a:rPr lang="ja-JP" altLang="en-US"/>
              <a:t>そのプロジェクト</a:t>
            </a:r>
            <a:r>
              <a:rPr lang="ja-JP"/>
              <a:t>が</a:t>
            </a:r>
            <a:r>
              <a:rPr lang="ja-JP" dirty="0"/>
              <a:t>何をする</a:t>
            </a:r>
            <a:r>
              <a:rPr lang="ja-JP"/>
              <a:t>ものか</a:t>
            </a:r>
            <a:r>
              <a:rPr lang="ja-JP" altLang="en-US"/>
              <a:t>を</a:t>
            </a:r>
            <a:r>
              <a:rPr lang="ja-JP"/>
              <a:t>一言</a:t>
            </a:r>
            <a:r>
              <a:rPr lang="ja-JP" dirty="0"/>
              <a:t>で書いておきます。Claudeが最初に文脈を把握するのに役立ちます。</a:t>
            </a:r>
          </a:p>
          <a:p>
            <a:r>
              <a:rPr lang="ja-JP" dirty="0"/>
              <a:t>2つ目はよく使うコマンドです。ビルド、テスト、lintなど、毎回使うコマンドを書いておけば、Claudeが</a:t>
            </a:r>
            <a:r>
              <a:rPr lang="ja-JP"/>
              <a:t>自分で</a:t>
            </a:r>
            <a:r>
              <a:rPr lang="ja-JP" altLang="en-US"/>
              <a:t>プロジェクトを調査して使えるコマンドを確認する</a:t>
            </a:r>
            <a:r>
              <a:rPr lang="ja-JP"/>
              <a:t>手間が省けます</a:t>
            </a:r>
            <a:r>
              <a:rPr lang="ja-JP" altLang="en-US"/>
              <a:t>し、コンテキストも節約できます</a:t>
            </a:r>
            <a:r>
              <a:rPr lang="ja-JP"/>
              <a:t>。</a:t>
            </a:r>
            <a:endParaRPr lang="ja-JP" dirty="0"/>
          </a:p>
          <a:p>
            <a:r>
              <a:rPr lang="ja-JP" dirty="0"/>
              <a:t>3つ目はコーディング規約です。「Pythonではuvを使う」「pip禁止」のように、チーム固有のルールを明記しておきます。</a:t>
            </a:r>
          </a:p>
          <a:p>
            <a:r>
              <a:rPr lang="ja-JP" dirty="0"/>
              <a:t>4つ目は禁止事項です。「mainに直接プッシュしない」「.envは触らない」のような、やってはいけないことを書いておきます。</a:t>
            </a:r>
          </a:p>
          <a:p>
            <a:endParaRPr lang="ja-JP" dirty="0"/>
          </a:p>
          <a:p>
            <a:r>
              <a:rPr lang="ja-JP" dirty="0"/>
              <a:t>ひとつ実用的なコツをお伝えします</a:t>
            </a:r>
            <a:r>
              <a:rPr lang="ja-JP"/>
              <a:t>と、レビュー</a:t>
            </a:r>
            <a:r>
              <a:rPr lang="ja-JP" dirty="0"/>
              <a:t>で繰り返し</a:t>
            </a:r>
            <a:r>
              <a:rPr lang="ja-JP"/>
              <a:t>指摘される</a:t>
            </a:r>
            <a:r>
              <a:rPr lang="ja-JP" dirty="0"/>
              <a:t>項目があれば、それがそのままCLAUDE.mdに</a:t>
            </a:r>
            <a:r>
              <a:rPr lang="ja-JP"/>
              <a:t>書くべき</a:t>
            </a:r>
            <a:r>
              <a:rPr lang="ja-JP" altLang="en-US"/>
              <a:t>ナレッジだったりします</a:t>
            </a:r>
            <a:r>
              <a:rPr lang="ja-JP"/>
              <a:t>。</a:t>
            </a:r>
            <a:endParaRPr lang="en-US" altLang="ja-JP" dirty="0"/>
          </a:p>
          <a:p>
            <a:endParaRPr lang="ja-JP" dirty="0"/>
          </a:p>
          <a:p>
            <a:r>
              <a:rPr lang="ja-JP" dirty="0"/>
              <a:t>人間が毎回指摘していることをCLAUDE.mdに書いて</a:t>
            </a:r>
            <a:r>
              <a:rPr lang="ja-JP"/>
              <a:t>おけば、最初</a:t>
            </a:r>
            <a:r>
              <a:rPr lang="ja-JP" dirty="0"/>
              <a:t>からそのルールを守ってくれるようになります。</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ja-JP" altLang="en-US"/>
              <a:t>次に、</a:t>
            </a:r>
            <a:r>
              <a:rPr lang="ja-JP"/>
              <a:t>実際に</a:t>
            </a:r>
            <a:r>
              <a:rPr lang="en-US" altLang="ja-JP" dirty="0" err="1"/>
              <a:t>CLAUDE.md</a:t>
            </a:r>
            <a:r>
              <a:rPr lang="ja-JP" altLang="en-US"/>
              <a:t>を作り</a:t>
            </a:r>
            <a:r>
              <a:rPr lang="ja-JP"/>
              <a:t>始める</a:t>
            </a:r>
            <a:r>
              <a:rPr lang="ja-JP" dirty="0"/>
              <a:t>ときのステップをお話しします。</a:t>
            </a:r>
          </a:p>
          <a:p>
            <a:endParaRPr lang="ja-JP" dirty="0"/>
          </a:p>
          <a:p>
            <a:r>
              <a:rPr lang="ja-JP" dirty="0"/>
              <a:t>まずStep 1、/initコマンドを実行します。これだけでClaude Codeがプロジェクトを自動で解析して、技術スタックやディレクトリ構成をもとにCLAUDE.mdのたたき台を作ってくれます。</a:t>
            </a:r>
          </a:p>
          <a:p>
            <a:r>
              <a:rPr lang="ja-JP" dirty="0"/>
              <a:t>ゼロから書く必要はありません。</a:t>
            </a:r>
          </a:p>
          <a:p>
            <a:endParaRPr lang="ja-JP" dirty="0"/>
          </a:p>
          <a:p>
            <a:r>
              <a:rPr lang="ja-JP" dirty="0"/>
              <a:t>Step 2で、そのたたき台にチーム固有の情報を</a:t>
            </a:r>
            <a:r>
              <a:rPr lang="ja-JP"/>
              <a:t>書き足します。</a:t>
            </a:r>
            <a:r>
              <a:rPr lang="ja-JP" altLang="en-US"/>
              <a:t>レビュー</a:t>
            </a:r>
            <a:r>
              <a:rPr lang="ja-JP"/>
              <a:t>で</a:t>
            </a:r>
            <a:r>
              <a:rPr lang="ja-JP" dirty="0"/>
              <a:t>よく指摘される項目、触ってはいけないファイル、チームの</a:t>
            </a:r>
            <a:r>
              <a:rPr lang="ja-JP"/>
              <a:t>コーディング規約</a:t>
            </a:r>
            <a:r>
              <a:rPr lang="ja-JP" altLang="en-US"/>
              <a:t>などを書き足します。</a:t>
            </a:r>
            <a:endParaRPr lang="ja-JP" dirty="0"/>
          </a:p>
          <a:p>
            <a:endParaRPr lang="ja-JP" dirty="0"/>
          </a:p>
          <a:p>
            <a:r>
              <a:rPr lang="ja-JP" dirty="0"/>
              <a:t>そしてStep 3が意外と大事なのですが、CLAUDE.mdが大きくなりすぎない</a:t>
            </a:r>
            <a:r>
              <a:rPr lang="ja-JP"/>
              <a:t>ように</a:t>
            </a:r>
            <a:r>
              <a:rPr lang="ja-JP" altLang="en-US"/>
              <a:t>注意し</a:t>
            </a:r>
            <a:r>
              <a:rPr lang="ja-JP"/>
              <a:t>て</a:t>
            </a:r>
            <a:r>
              <a:rPr lang="ja-JP" dirty="0"/>
              <a:t>ください。</a:t>
            </a:r>
          </a:p>
          <a:p>
            <a:r>
              <a:rPr lang="ja-JP" altLang="en-US"/>
              <a:t>大体</a:t>
            </a:r>
            <a:r>
              <a:rPr lang="ja-JP"/>
              <a:t>500行以下</a:t>
            </a:r>
            <a:r>
              <a:rPr lang="ja-JP" altLang="en-US"/>
              <a:t>ぐらいがベストかなと思います</a:t>
            </a:r>
            <a:r>
              <a:rPr lang="ja-JP"/>
              <a:t>。</a:t>
            </a:r>
            <a:r>
              <a:rPr lang="ja-JP" altLang="en-US"/>
              <a:t>プロジェクトの詳細な</a:t>
            </a:r>
            <a:r>
              <a:rPr lang="ja-JP"/>
              <a:t>仕様</a:t>
            </a:r>
            <a:r>
              <a:rPr lang="ja-JP" altLang="en-US"/>
              <a:t>など</a:t>
            </a:r>
            <a:r>
              <a:rPr lang="ja-JP"/>
              <a:t>は</a:t>
            </a:r>
            <a:r>
              <a:rPr lang="ja-JP" dirty="0"/>
              <a:t>別ファイルに切り出して、CLAUDE.mdからは参照だけにするのがコツ</a:t>
            </a:r>
            <a:r>
              <a:rPr lang="ja-JP"/>
              <a:t>です。</a:t>
            </a:r>
            <a:endParaRPr lang="en-US" altLang="ja-JP" dirty="0"/>
          </a:p>
          <a:p>
            <a:endParaRPr lang="ja-JP" dirty="0"/>
          </a:p>
          <a:p>
            <a:r>
              <a:rPr lang="ja-JP" altLang="en-US"/>
              <a:t>それから、</a:t>
            </a:r>
            <a:r>
              <a:rPr lang="ja-JP"/>
              <a:t>不要</a:t>
            </a:r>
            <a:r>
              <a:rPr lang="ja-JP" dirty="0"/>
              <a:t>になった情報は定期的に消して</a:t>
            </a:r>
            <a:r>
              <a:rPr lang="ja-JP"/>
              <a:t>いきましょう。</a:t>
            </a:r>
            <a:endParaRPr lang="en-US" altLang="ja-JP" dirty="0"/>
          </a:p>
          <a:p>
            <a:endParaRPr lang="en-US" altLang="ja-JP" dirty="0"/>
          </a:p>
          <a:p>
            <a:r>
              <a:rPr lang="ja-JP" altLang="en-US"/>
              <a:t>そういった感じで、「最初から完璧につくりこむ」というよりは、「使っていく中で内容を更新していったり、整理していく」ことで、「</a:t>
            </a:r>
            <a:r>
              <a:rPr lang="ja-JP" altLang="ja-JP"/>
              <a:t>CLAUDE.md</a:t>
            </a:r>
            <a:r>
              <a:rPr lang="ja-JP" altLang="en-US"/>
              <a:t>を育てる」ということが何よりも大事になってきます。</a:t>
            </a:r>
            <a:endParaRPr lang="en-US" altLang="ja-JP" dirty="0"/>
          </a:p>
          <a:p>
            <a:endParaRPr lang="en-US" altLang="ja-JP" dirty="0"/>
          </a:p>
          <a:p>
            <a:endParaRPr lang="ja-JP"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dirty="0"/>
              <a:t>ここからPART 2</a:t>
            </a:r>
            <a:r>
              <a:rPr lang="ja-JP"/>
              <a:t>です。</a:t>
            </a:r>
            <a:endParaRPr lang="en-US" altLang="ja-JP" dirty="0"/>
          </a:p>
          <a:p>
            <a:endParaRPr lang="en-US" altLang="ja-JP" dirty="0"/>
          </a:p>
          <a:p>
            <a:r>
              <a:rPr lang="ja-JP"/>
              <a:t>PART </a:t>
            </a:r>
            <a:r>
              <a:rPr lang="ja-JP" dirty="0"/>
              <a:t>1ではCLAUDE.mdを使って「Claudeに何を知っておいてもらう</a:t>
            </a:r>
            <a:r>
              <a:rPr lang="ja-JP"/>
              <a:t>か」</a:t>
            </a:r>
            <a:r>
              <a:rPr lang="ja-JP" altLang="en-US"/>
              <a:t>という</a:t>
            </a:r>
            <a:r>
              <a:rPr lang="ja-JP"/>
              <a:t>設定</a:t>
            </a:r>
            <a:r>
              <a:rPr lang="ja-JP" altLang="en-US"/>
              <a:t>の仕方を紹介</a:t>
            </a:r>
            <a:r>
              <a:rPr lang="ja-JP"/>
              <a:t>しました。</a:t>
            </a:r>
            <a:endParaRPr lang="en-US" altLang="ja-JP" dirty="0"/>
          </a:p>
          <a:p>
            <a:endParaRPr lang="en-US" altLang="ja-JP" dirty="0"/>
          </a:p>
          <a:p>
            <a:r>
              <a:rPr lang="ja-JP"/>
              <a:t>PART </a:t>
            </a:r>
            <a:r>
              <a:rPr lang="ja-JP" dirty="0"/>
              <a:t>2では、もう1つの重要なファイルであるsettings.jsonを扱います。
settings.</a:t>
            </a:r>
            <a:r>
              <a:rPr lang="ja-JP"/>
              <a:t>jsonは</a:t>
            </a:r>
            <a:r>
              <a:rPr lang="ja-JP" altLang="en-US"/>
              <a:t>主に</a:t>
            </a:r>
            <a:r>
              <a:rPr lang="ja-JP"/>
              <a:t>「</a:t>
            </a:r>
            <a:r>
              <a:rPr lang="ja-JP" dirty="0"/>
              <a:t>Claudeに何をさせるか・させないか」を定義するファイル</a:t>
            </a:r>
            <a:r>
              <a:rPr lang="ja-JP"/>
              <a:t>です。</a:t>
            </a:r>
            <a:endParaRPr lang="en-US" altLang="ja-JP" dirty="0"/>
          </a:p>
          <a:p>
            <a:endParaRPr lang="en-US" altLang="ja-JP" dirty="0"/>
          </a:p>
          <a:p>
            <a:r>
              <a:rPr lang="ja-JP"/>
              <a:t>たとえば</a:t>
            </a:r>
            <a:r>
              <a:rPr lang="ja-JP" dirty="0"/>
              <a:t>ファイルの読み書きの</a:t>
            </a:r>
            <a:r>
              <a:rPr lang="ja-JP"/>
              <a:t>許可、環境</a:t>
            </a:r>
            <a:r>
              <a:rPr lang="ja-JP" dirty="0"/>
              <a:t>変数の設定などを一箇所にまとめて管理</a:t>
            </a:r>
            <a:r>
              <a:rPr lang="ja-JP"/>
              <a:t>できます。</a:t>
            </a:r>
            <a:endParaRPr lang="en-US" altLang="ja-JP" dirty="0"/>
          </a:p>
          <a:p>
            <a:r>
              <a:rPr lang="en-US" altLang="ja-JP" dirty="0" err="1"/>
              <a:t>CLAUDE.md</a:t>
            </a:r>
            <a:r>
              <a:rPr lang="ja-JP" altLang="en-US"/>
              <a:t>で、指示として禁止許可を伝えるとの違い、システム側の仕組みとしてそれらを制御してくれます。</a:t>
            </a:r>
            <a:endParaRPr lang="en-US" altLang="ja-JP" dirty="0"/>
          </a:p>
          <a:p>
            <a:r>
              <a:rPr lang="ja-JP" dirty="0"/>
              <a:t>
特にチームで導入する場合、メンバー全員が同じ</a:t>
            </a:r>
            <a:r>
              <a:rPr lang="ja-JP"/>
              <a:t>権限設定で</a:t>
            </a:r>
            <a:r>
              <a:rPr lang="ja-JP" dirty="0"/>
              <a:t>動いていること</a:t>
            </a:r>
            <a:r>
              <a:rPr lang="ja-JP"/>
              <a:t>が重要</a:t>
            </a:r>
            <a:r>
              <a:rPr lang="ja-JP" altLang="en-US"/>
              <a:t>だと思います</a:t>
            </a:r>
            <a:r>
              <a:rPr lang="ja-JP"/>
              <a:t>。</a:t>
            </a:r>
            <a:endParaRPr lang="en-US" altLang="ja-JP" dirty="0"/>
          </a:p>
          <a:p>
            <a:endParaRPr lang="en-US" altLang="ja-JP" dirty="0"/>
          </a:p>
          <a:p>
            <a:r>
              <a:rPr lang="ja-JP"/>
              <a:t>settings</a:t>
            </a:r>
            <a:r>
              <a:rPr lang="ja-JP" dirty="0"/>
              <a:t>.</a:t>
            </a:r>
            <a:r>
              <a:rPr lang="ja-JP"/>
              <a:t>jsonをリポジトリ</a:t>
            </a:r>
            <a:r>
              <a:rPr lang="ja-JP" dirty="0"/>
              <a:t>に含めておけば、クローンするだけで設定が</a:t>
            </a:r>
            <a:r>
              <a:rPr lang="ja-JP"/>
              <a:t>揃います。</a:t>
            </a:r>
            <a:endParaRPr lang="en-US" altLang="ja-JP" dirty="0"/>
          </a:p>
          <a:p>
            <a:endParaRPr lang="en-US" altLang="ja-JP" dirty="0"/>
          </a:p>
          <a:p>
            <a:endParaRPr lang="ja-JP"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dirty="0"/>
              <a:t>settings.jsonには大きく6つのカテゴリの設定を書くことができます。画面に表示されている通り、permissions、env、hooks、model、sandbox、attributionです。
permissionsは、Claudeがファイルを読んだり、Bashコマンドを実行したりする際のルールを定義します。これが一番重要で、後ほど詳しく説明します。
envは環境変数</a:t>
            </a:r>
            <a:r>
              <a:rPr lang="ja-JP"/>
              <a:t>です。</a:t>
            </a:r>
            <a:r>
              <a:rPr lang="ja-JP" altLang="en-US"/>
              <a:t>特に社内の</a:t>
            </a:r>
            <a:r>
              <a:rPr lang="ja-JP"/>
              <a:t>Vertex </a:t>
            </a:r>
            <a:r>
              <a:rPr lang="ja-JP" dirty="0"/>
              <a:t>AIを使う場合のプロジェクトIDやリージョンの指定がここに入ります。
</a:t>
            </a:r>
            <a:r>
              <a:rPr lang="ja-JP"/>
              <a:t>
</a:t>
            </a:r>
            <a:r>
              <a:rPr lang="en-US" altLang="ja-JP" dirty="0"/>
              <a:t>H</a:t>
            </a:r>
            <a:r>
              <a:rPr lang="ja-JP"/>
              <a:t>ooks</a:t>
            </a:r>
            <a:r>
              <a:rPr lang="ja-JP" dirty="0"/>
              <a:t>は</a:t>
            </a:r>
            <a:r>
              <a:rPr lang="ja-JP"/>
              <a:t>Claude Cod</a:t>
            </a:r>
            <a:r>
              <a:rPr lang="en-US" altLang="ja-JP" dirty="0"/>
              <a:t>e</a:t>
            </a:r>
            <a:r>
              <a:rPr lang="ja-JP" altLang="en-US"/>
              <a:t>内の</a:t>
            </a:r>
            <a:r>
              <a:rPr lang="ja-JP"/>
              <a:t>イベント</a:t>
            </a:r>
            <a:r>
              <a:rPr lang="ja-JP" dirty="0"/>
              <a:t>に</a:t>
            </a:r>
            <a:r>
              <a:rPr lang="ja-JP"/>
              <a:t>応じて自動</a:t>
            </a:r>
            <a:r>
              <a:rPr lang="ja-JP" altLang="en-US"/>
              <a:t>で</a:t>
            </a:r>
            <a:r>
              <a:rPr lang="ja-JP"/>
              <a:t>実行されるコマンド</a:t>
            </a:r>
            <a:r>
              <a:rPr lang="ja-JP" altLang="en-US"/>
              <a:t>を</a:t>
            </a:r>
            <a:r>
              <a:rPr lang="ja-JP"/>
              <a:t>定義</a:t>
            </a:r>
            <a:r>
              <a:rPr lang="ja-JP" altLang="en-US"/>
              <a:t>できます。</a:t>
            </a:r>
            <a:endParaRPr lang="en-US" altLang="ja-JP" dirty="0"/>
          </a:p>
          <a:p>
            <a:r>
              <a:rPr lang="ja-JP" dirty="0"/>
              <a:t>
modelは使用するモデルの</a:t>
            </a:r>
            <a:r>
              <a:rPr lang="ja-JP"/>
              <a:t>指定で</a:t>
            </a:r>
            <a:r>
              <a:rPr lang="ja-JP" altLang="en-US"/>
              <a:t>、</a:t>
            </a:r>
            <a:r>
              <a:rPr lang="ja-JP"/>
              <a:t>チーム</a:t>
            </a:r>
            <a:r>
              <a:rPr lang="ja-JP" dirty="0"/>
              <a:t>全員が同じモデルバージョンを使うことで、挙動のばらつき</a:t>
            </a:r>
            <a:r>
              <a:rPr lang="ja-JP"/>
              <a:t>を防</a:t>
            </a:r>
            <a:r>
              <a:rPr lang="ja-JP" altLang="en-US"/>
              <a:t>いだりできます</a:t>
            </a:r>
            <a:r>
              <a:rPr lang="ja-JP"/>
              <a:t>。</a:t>
            </a:r>
            <a:r>
              <a:rPr lang="ja-JP" dirty="0"/>
              <a:t>
sandboxとattributionは使う頻度は低いです</a:t>
            </a:r>
            <a:r>
              <a:rPr lang="ja-JP"/>
              <a:t>が、</a:t>
            </a:r>
            <a:r>
              <a:rPr lang="ja-JP" altLang="ja-JP"/>
              <a:t>sandbox</a:t>
            </a:r>
            <a:r>
              <a:rPr lang="ja-JP" altLang="en-US"/>
              <a:t>は、</a:t>
            </a:r>
            <a:r>
              <a:rPr lang="ja-JP" altLang="ja-JP"/>
              <a:t>sandbox</a:t>
            </a:r>
            <a:r>
              <a:rPr lang="ja-JP" altLang="en-US"/>
              <a:t>モードを使う際のさらに厳密なネットワーク制御などの設定だったりで、</a:t>
            </a:r>
            <a:r>
              <a:rPr lang="ja-JP" altLang="ja-JP"/>
              <a:t>attribution</a:t>
            </a:r>
            <a:r>
              <a:rPr lang="ja-JP" altLang="en-US"/>
              <a:t>は、</a:t>
            </a:r>
            <a:r>
              <a:rPr lang="en-US" altLang="ja-JP" dirty="0"/>
              <a:t>Claude Code</a:t>
            </a:r>
            <a:r>
              <a:rPr lang="ja-JP" altLang="en-US"/>
              <a:t>に</a:t>
            </a:r>
            <a:r>
              <a:rPr lang="ja-JP"/>
              <a:t>コミット</a:t>
            </a:r>
            <a:r>
              <a:rPr lang="ja-JP" altLang="en-US"/>
              <a:t>をさせる際に末尾に付く</a:t>
            </a:r>
            <a:r>
              <a:rPr lang="ja-JP"/>
              <a:t>author</a:t>
            </a:r>
            <a:r>
              <a:rPr lang="ja-JP" altLang="en-US"/>
              <a:t>の文言</a:t>
            </a:r>
            <a:r>
              <a:rPr lang="ja-JP"/>
              <a:t>設定</a:t>
            </a:r>
            <a:r>
              <a:rPr lang="ja-JP" altLang="en-US"/>
              <a:t>などです。</a:t>
            </a:r>
            <a:r>
              <a:rPr lang="ja-JP" dirty="0"/>
              <a:t>
</a:t>
            </a:r>
            <a:r>
              <a:rPr lang="ja-JP"/>
              <a:t>
今日</a:t>
            </a:r>
            <a:r>
              <a:rPr lang="ja-JP" dirty="0"/>
              <a:t>はpermissionsとenvを中心に見ていきます。hooksは</a:t>
            </a:r>
            <a:r>
              <a:rPr lang="ja-JP"/>
              <a:t>第3回でご紹介</a:t>
            </a:r>
            <a:r>
              <a:rPr lang="ja-JP" dirty="0"/>
              <a:t>します。</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dirty="0"/>
              <a:t>permissionsの設定は3つのカテゴリに分かれます。allow、deny、askです。
allowは、Claudeがユーザーに確認を取らずに自動で実行できる操作を定義します。たとえば「ファイルの読み取りは全て許可</a:t>
            </a:r>
            <a:r>
              <a:rPr lang="ja-JP"/>
              <a:t>」「ビルド</a:t>
            </a:r>
            <a:r>
              <a:rPr lang="ja-JP" altLang="en-US"/>
              <a:t>の</a:t>
            </a:r>
            <a:r>
              <a:rPr lang="ja-JP"/>
              <a:t>コマンド</a:t>
            </a:r>
            <a:r>
              <a:rPr lang="ja-JP" dirty="0"/>
              <a:t>は許可」</a:t>
            </a:r>
            <a:r>
              <a:rPr lang="ja-JP"/>
              <a:t>といった</a:t>
            </a:r>
            <a:r>
              <a:rPr lang="ja-JP" altLang="en-US"/>
              <a:t>感じ</a:t>
            </a:r>
            <a:r>
              <a:rPr lang="ja-JP"/>
              <a:t>です</a:t>
            </a:r>
            <a:r>
              <a:rPr lang="ja-JP" dirty="0"/>
              <a:t>。
denyは逆に、絶対に実行させたくない操作を定義します。rm -rfのような破壊的コマンドや、git pushのようにリモートに影響を与える操作はここに入れておくと安心</a:t>
            </a:r>
            <a:r>
              <a:rPr lang="ja-JP"/>
              <a:t>です。</a:t>
            </a:r>
            <a:endParaRPr lang="en-US" altLang="ja-JP" dirty="0"/>
          </a:p>
          <a:p>
            <a:endParaRPr lang="en-US" altLang="ja-JP" dirty="0"/>
          </a:p>
          <a:p>
            <a:r>
              <a:rPr lang="ja-JP"/>
              <a:t>deny</a:t>
            </a:r>
            <a:r>
              <a:rPr lang="ja-JP" dirty="0"/>
              <a:t>は他のどのルールよりも</a:t>
            </a:r>
            <a:r>
              <a:rPr lang="ja-JP"/>
              <a:t>優先され</a:t>
            </a:r>
            <a:r>
              <a:rPr lang="ja-JP" altLang="en-US"/>
              <a:t>る</a:t>
            </a:r>
            <a:r>
              <a:rPr lang="ja-JP"/>
              <a:t>ので</a:t>
            </a:r>
            <a:r>
              <a:rPr lang="ja-JP" dirty="0"/>
              <a:t>、</a:t>
            </a:r>
            <a:r>
              <a:rPr lang="ja-JP"/>
              <a:t>allowに</a:t>
            </a:r>
            <a:r>
              <a:rPr lang="ja-JP" altLang="en-US"/>
              <a:t>同じ定義が</a:t>
            </a:r>
            <a:r>
              <a:rPr lang="ja-JP"/>
              <a:t>入って</a:t>
            </a:r>
            <a:r>
              <a:rPr lang="ja-JP" dirty="0"/>
              <a:t>いても</a:t>
            </a:r>
            <a:r>
              <a:rPr lang="ja-JP"/>
              <a:t>denyが</a:t>
            </a:r>
            <a:r>
              <a:rPr lang="ja-JP" altLang="en-US"/>
              <a:t>優先されます</a:t>
            </a:r>
            <a:r>
              <a:rPr lang="ja-JP"/>
              <a:t>。</a:t>
            </a:r>
            <a:r>
              <a:rPr lang="ja-JP" dirty="0"/>
              <a:t>
askは、毎回確認を求める操作です。Dockerコマンドなど、場合によっては実行したいけど無条件には許可したくない操作に使います。</a:t>
            </a:r>
            <a:r>
              <a:rPr lang="ja-JP"/>
              <a:t>
</a:t>
            </a:r>
            <a:endParaRPr lang="en-US" altLang="ja-JP" dirty="0"/>
          </a:p>
          <a:p>
            <a:r>
              <a:rPr lang="ja-JP" dirty="0"/>
              <a:t>
評価順序が</a:t>
            </a:r>
            <a:r>
              <a:rPr lang="ja-JP"/>
              <a:t>重要で</a:t>
            </a:r>
            <a:r>
              <a:rPr lang="ja-JP" altLang="en-US"/>
              <a:t>、</a:t>
            </a:r>
            <a:r>
              <a:rPr lang="ja-JP"/>
              <a:t>Claude</a:t>
            </a:r>
            <a:r>
              <a:rPr lang="ja-JP" dirty="0"/>
              <a:t>が何か操作をしようとすると、まずdenyリストをチェックし、次にaskリストをチェックし、最後にallowリストをチェック</a:t>
            </a:r>
            <a:r>
              <a:rPr lang="ja-JP"/>
              <a:t>します。</a:t>
            </a:r>
            <a:endParaRPr lang="en-US" altLang="ja-JP" dirty="0"/>
          </a:p>
          <a:p>
            <a:r>
              <a:rPr lang="ja-JP"/>
              <a:t>どれ</a:t>
            </a:r>
            <a:r>
              <a:rPr lang="ja-JP" dirty="0"/>
              <a:t>にもマッチしなければデフォルトでask</a:t>
            </a:r>
            <a:r>
              <a:rPr lang="ja-JP"/>
              <a:t>になります</a:t>
            </a:r>
            <a:r>
              <a:rPr lang="ja-JP" altLang="en-US"/>
              <a:t>が、その際、「以後自動で許可する」という選択肢が含まれているので、明示的に</a:t>
            </a:r>
            <a:r>
              <a:rPr lang="en-US" altLang="ja-JP" dirty="0"/>
              <a:t>ask</a:t>
            </a:r>
            <a:r>
              <a:rPr lang="ja-JP" altLang="en-US"/>
              <a:t>にしておかないと、知らない内に意図せず自動でコマンドが実行される可能性があるため、注意です。</a:t>
            </a:r>
            <a:r>
              <a:rPr lang="ja-JP"/>
              <a:t>
</a:t>
            </a:r>
            <a:r>
              <a:rPr lang="ja-JP" dirty="0"/>
              <a:t>
設定方法として</a:t>
            </a:r>
            <a:r>
              <a:rPr lang="ja-JP"/>
              <a:t>は、</a:t>
            </a:r>
            <a:r>
              <a:rPr lang="ja-JP" altLang="en-US"/>
              <a:t>基本的には、</a:t>
            </a:r>
            <a:r>
              <a:rPr lang="ja-JP"/>
              <a:t>JSON</a:t>
            </a:r>
            <a:r>
              <a:rPr lang="ja-JP" dirty="0"/>
              <a:t>ファイルを</a:t>
            </a:r>
            <a:r>
              <a:rPr lang="ja-JP"/>
              <a:t>直接編集</a:t>
            </a:r>
            <a:r>
              <a:rPr lang="ja-JP" altLang="en-US"/>
              <a:t>します</a:t>
            </a:r>
            <a:r>
              <a:rPr lang="ja-JP"/>
              <a:t>。</a:t>
            </a:r>
            <a:endParaRPr lang="en-US" altLang="ja-JP" dirty="0"/>
          </a:p>
          <a:p>
            <a:r>
              <a:rPr lang="ja-JP" altLang="en-US"/>
              <a:t>スラッシュコマンド</a:t>
            </a:r>
            <a:r>
              <a:rPr lang="ja-JP" altLang="ja-JP" sz="1200" b="0">
                <a:solidFill>
                  <a:srgbClr val="C5C3BB"/>
                </a:solidFill>
                <a:latin typeface="Hiragino Sans"/>
              </a:rPr>
              <a:t>で対話的に設定</a:t>
            </a:r>
            <a:r>
              <a:rPr lang="ja-JP" altLang="en-US" sz="1200" b="0">
                <a:solidFill>
                  <a:srgbClr val="C5C3BB"/>
                </a:solidFill>
                <a:latin typeface="Hiragino Sans"/>
              </a:rPr>
              <a:t>することも可能です。</a:t>
            </a:r>
            <a:endParaRPr lang="en-US" altLang="ja-JP" sz="1200" b="0" dirty="0">
              <a:solidFill>
                <a:srgbClr val="C5C3BB"/>
              </a:solidFill>
              <a:latin typeface="Hiragino Sans"/>
            </a:endParaRPr>
          </a:p>
          <a:p>
            <a:endParaRPr lang="en-US" altLang="ja-JP"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dirty="0"/>
              <a:t>社内でVertex AI経由でClaude Codeを</a:t>
            </a:r>
            <a:r>
              <a:rPr lang="ja-JP"/>
              <a:t>使う場合</a:t>
            </a:r>
            <a:r>
              <a:rPr lang="ja-JP" altLang="en-US"/>
              <a:t>は</a:t>
            </a:r>
            <a:r>
              <a:rPr lang="ja-JP"/>
              <a:t>、</a:t>
            </a:r>
            <a:r>
              <a:rPr lang="ja-JP" dirty="0"/>
              <a:t>settings.jsonのenvセクションに環境変数を設定します。
</a:t>
            </a:r>
            <a:r>
              <a:rPr lang="ja-JP"/>
              <a:t>
</a:t>
            </a:r>
            <a:r>
              <a:rPr lang="ja-JP" altLang="en-US"/>
              <a:t>スライド</a:t>
            </a:r>
            <a:r>
              <a:rPr lang="ja-JP"/>
              <a:t>の</a:t>
            </a:r>
            <a:r>
              <a:rPr lang="ja-JP" dirty="0"/>
              <a:t>通り、CLAUDE_CODE_USE_VERTEXを1にし、CLOUD_ML_REGIONでリージョン、</a:t>
            </a:r>
            <a:r>
              <a:rPr lang="ja-JP"/>
              <a:t>ANTHROPIC_VERTEX_PROJECT_ID</a:t>
            </a:r>
            <a:r>
              <a:rPr lang="ja-JP" altLang="en-US"/>
              <a:t>に</a:t>
            </a:r>
            <a:r>
              <a:rPr lang="en-US" altLang="ja-JP" dirty="0" err="1"/>
              <a:t>GoogleCloud</a:t>
            </a:r>
            <a:r>
              <a:rPr lang="ja-JP" altLang="en-US"/>
              <a:t>の</a:t>
            </a:r>
            <a:r>
              <a:rPr lang="ja-JP"/>
              <a:t>プロジェクト</a:t>
            </a:r>
            <a:r>
              <a:rPr lang="ja-JP" dirty="0"/>
              <a:t>IDを指定</a:t>
            </a:r>
            <a:r>
              <a:rPr lang="ja-JP"/>
              <a:t>します。</a:t>
            </a:r>
            <a:endParaRPr lang="en-US" altLang="ja-JP" dirty="0"/>
          </a:p>
          <a:p>
            <a:endParaRPr lang="en-US" altLang="ja-JP" dirty="0"/>
          </a:p>
          <a:p>
            <a:r>
              <a:rPr lang="ja-JP"/>
              <a:t>これ</a:t>
            </a:r>
            <a:r>
              <a:rPr lang="ja-JP" dirty="0"/>
              <a:t>を</a:t>
            </a:r>
            <a:r>
              <a:rPr lang="ja-JP"/>
              <a:t>プロジェクトのsettings</a:t>
            </a:r>
            <a:r>
              <a:rPr lang="ja-JP" dirty="0"/>
              <a:t>.jsonに書いておけば、チーム全員がcloneする</a:t>
            </a:r>
            <a:r>
              <a:rPr lang="ja-JP"/>
              <a:t>だけで</a:t>
            </a:r>
            <a:r>
              <a:rPr lang="ja-JP" altLang="en-US"/>
              <a:t>認証設定をせずに</a:t>
            </a:r>
            <a:r>
              <a:rPr lang="ja-JP" altLang="ja-JP"/>
              <a:t>Claude Code</a:t>
            </a:r>
            <a:r>
              <a:rPr lang="ja-JP" altLang="en-US"/>
              <a:t>を使い始めることができます。</a:t>
            </a:r>
            <a:r>
              <a:rPr lang="ja-JP"/>
              <a:t>
</a:t>
            </a:r>
            <a:endParaRPr lang="ja-JP"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altLang="en-US"/>
              <a:t>おすすめの</a:t>
            </a:r>
            <a:r>
              <a:rPr lang="en-US" altLang="ja-JP" dirty="0"/>
              <a:t>Config</a:t>
            </a:r>
            <a:r>
              <a:rPr lang="ja-JP" altLang="en-US"/>
              <a:t>の設定を少し紹介します。</a:t>
            </a:r>
            <a:endParaRPr lang="en-US" altLang="ja-JP" dirty="0"/>
          </a:p>
          <a:p>
            <a:endParaRPr lang="en-US" altLang="ja-JP" dirty="0"/>
          </a:p>
          <a:p>
            <a:r>
              <a:rPr lang="ja-JP" altLang="en-US"/>
              <a:t>というのも、</a:t>
            </a:r>
            <a:r>
              <a:rPr lang="ja-JP"/>
              <a:t>settings</a:t>
            </a:r>
            <a:r>
              <a:rPr lang="ja-JP" dirty="0"/>
              <a:t>.jsonに</a:t>
            </a:r>
            <a:r>
              <a:rPr lang="ja-JP"/>
              <a:t>は、</a:t>
            </a:r>
            <a:r>
              <a:rPr lang="en-US" altLang="ja-JP" dirty="0"/>
              <a:t>Claude Code</a:t>
            </a:r>
            <a:r>
              <a:rPr lang="ja-JP" altLang="en-US"/>
              <a:t>の設定値をしているする</a:t>
            </a:r>
            <a:r>
              <a:rPr lang="ja-JP"/>
              <a:t>項目</a:t>
            </a:r>
            <a:r>
              <a:rPr lang="ja-JP" altLang="en-US"/>
              <a:t>も含められます。</a:t>
            </a:r>
            <a:r>
              <a:rPr lang="ja-JP" dirty="0"/>
              <a:t>
languageは応答の言語を指定します</a:t>
            </a:r>
            <a:r>
              <a:rPr lang="ja-JP"/>
              <a:t>。日本</a:t>
            </a:r>
            <a:r>
              <a:rPr lang="ja-JP" altLang="en-US"/>
              <a:t>人</a:t>
            </a:r>
            <a:r>
              <a:rPr lang="ja-JP"/>
              <a:t>であれば”</a:t>
            </a:r>
            <a:r>
              <a:rPr lang="en-US" altLang="ja-JP" dirty="0" err="1"/>
              <a:t>japanese</a:t>
            </a:r>
            <a:r>
              <a:rPr lang="ja-JP"/>
              <a:t>“を</a:t>
            </a:r>
            <a:r>
              <a:rPr lang="ja-JP" dirty="0"/>
              <a:t>設定しておくと、</a:t>
            </a:r>
            <a:r>
              <a:rPr lang="ja-JP"/>
              <a:t>Claudeが</a:t>
            </a:r>
            <a:r>
              <a:rPr lang="ja-JP" altLang="en-US"/>
              <a:t>勝手に英語で話すといったことが起きづらくなると思います</a:t>
            </a:r>
            <a:r>
              <a:rPr lang="ja-JP"/>
              <a:t>。</a:t>
            </a:r>
            <a:r>
              <a:rPr lang="ja-JP" dirty="0"/>
              <a:t>
plansDirectoryはClaudeが作成するプランファイルの保存先</a:t>
            </a:r>
            <a:r>
              <a:rPr lang="ja-JP"/>
              <a:t>です。</a:t>
            </a:r>
            <a:r>
              <a:rPr lang="ja-JP" altLang="en-US"/>
              <a:t>前回プランモードから始めましょうという話をしましたが、まさにその時作られるプランファイルのことです。</a:t>
            </a:r>
            <a:endParaRPr lang="en-US" altLang="ja-JP" dirty="0"/>
          </a:p>
          <a:p>
            <a:r>
              <a:rPr lang="ja-JP"/>
              <a:t>デフォルト</a:t>
            </a:r>
            <a:r>
              <a:rPr lang="ja-JP" dirty="0"/>
              <a:t>で</a:t>
            </a:r>
            <a:r>
              <a:rPr lang="ja-JP"/>
              <a:t>はホームディレクトリに</a:t>
            </a:r>
            <a:r>
              <a:rPr lang="ja-JP" dirty="0"/>
              <a:t>保存されます</a:t>
            </a:r>
            <a:r>
              <a:rPr lang="ja-JP"/>
              <a:t>が、プロジェクト内のディレクトリ</a:t>
            </a:r>
            <a:r>
              <a:rPr lang="ja-JP" altLang="en-US"/>
              <a:t>を指定することで</a:t>
            </a:r>
            <a:r>
              <a:rPr lang="ja-JP" altLang="ja-JP"/>
              <a:t>プロジェクト</a:t>
            </a:r>
            <a:r>
              <a:rPr lang="ja-JP" altLang="en-US"/>
              <a:t>に含めることができます。</a:t>
            </a:r>
            <a:endParaRPr lang="en-US" altLang="ja-JP" dirty="0"/>
          </a:p>
          <a:p>
            <a:r>
              <a:rPr lang="ja-JP" altLang="en-US"/>
              <a:t>実装の際の計画書なので、その機能を実装した際の計画書を</a:t>
            </a:r>
            <a:r>
              <a:rPr lang="ja-JP"/>
              <a:t>チームで共有</a:t>
            </a:r>
            <a:r>
              <a:rPr lang="ja-JP" altLang="en-US"/>
              <a:t>すると、後々助かることがあるかもしれません。</a:t>
            </a:r>
            <a:r>
              <a:rPr lang="ja-JP"/>
              <a:t>
</a:t>
            </a:r>
            <a:r>
              <a:rPr lang="ja-JP" dirty="0"/>
              <a:t>
preferredNotifChannelはClaude Codeの処理が完了した際の通知</a:t>
            </a:r>
            <a:r>
              <a:rPr lang="ja-JP"/>
              <a:t>方法です。</a:t>
            </a:r>
            <a:r>
              <a:rPr lang="en-US" altLang="ja-JP" dirty="0"/>
              <a:t>PC</a:t>
            </a:r>
            <a:r>
              <a:rPr lang="ja-JP" altLang="en-US"/>
              <a:t>の通知や音をならすといったことを</a:t>
            </a:r>
            <a:r>
              <a:rPr lang="ja-JP"/>
              <a:t>を</a:t>
            </a:r>
            <a:r>
              <a:rPr lang="ja-JP" dirty="0"/>
              <a:t>指定</a:t>
            </a:r>
            <a:r>
              <a:rPr lang="ja-JP"/>
              <a:t>できます。</a:t>
            </a:r>
            <a:r>
              <a:rPr lang="ja-JP" altLang="en-US"/>
              <a:t>裏側で</a:t>
            </a:r>
            <a:r>
              <a:rPr lang="ja-JP"/>
              <a:t>長時間タスク</a:t>
            </a:r>
            <a:r>
              <a:rPr lang="ja-JP" dirty="0"/>
              <a:t>を走らせているときに便利です。
modelは使用するモデルの</a:t>
            </a:r>
            <a:r>
              <a:rPr lang="ja-JP"/>
              <a:t>指定で</a:t>
            </a:r>
            <a:r>
              <a:rPr lang="ja-JP" altLang="en-US"/>
              <a:t>、</a:t>
            </a:r>
            <a:r>
              <a:rPr lang="ja-JP"/>
              <a:t>チーム</a:t>
            </a:r>
            <a:r>
              <a:rPr lang="ja-JP" dirty="0"/>
              <a:t>で同じモデルを使いたい場合はここで揃えます。</a:t>
            </a:r>
            <a:r>
              <a:rPr lang="ja-JP"/>
              <a:t>
</a:t>
            </a:r>
            <a:endParaRPr lang="ja-JP"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dirty="0"/>
              <a:t>settings.</a:t>
            </a:r>
            <a:r>
              <a:rPr lang="ja-JP"/>
              <a:t>jsonは</a:t>
            </a:r>
            <a:r>
              <a:rPr lang="en-US" altLang="ja-JP" dirty="0" err="1"/>
              <a:t>CLAUDE.md</a:t>
            </a:r>
            <a:r>
              <a:rPr lang="ja-JP" altLang="en-US"/>
              <a:t>同様、</a:t>
            </a:r>
            <a:r>
              <a:rPr lang="ja-JP"/>
              <a:t>3つ</a:t>
            </a:r>
            <a:r>
              <a:rPr lang="ja-JP" dirty="0"/>
              <a:t>の場所に置くことができます。
1つ目はホームディレクトリの ~/.claude/settings.json です。これはユーザー全体のデフォルト設定で、すべてのプロジェクトに共通で適用</a:t>
            </a:r>
            <a:r>
              <a:rPr lang="ja-JP"/>
              <a:t>されます。</a:t>
            </a:r>
            <a:endParaRPr lang="en-US" altLang="ja-JP" dirty="0"/>
          </a:p>
          <a:p>
            <a:r>
              <a:rPr lang="ja-JP"/>
              <a:t>個人</a:t>
            </a:r>
            <a:r>
              <a:rPr lang="ja-JP" dirty="0"/>
              <a:t>の好みの設定をここに入れておくと便利です。
2つ目はプロジェクトルートの .claude/settings.</a:t>
            </a:r>
            <a:r>
              <a:rPr lang="ja-JP"/>
              <a:t>json です。</a:t>
            </a:r>
            <a:r>
              <a:rPr lang="ja-JP" dirty="0"/>
              <a:t>cloneするだけでチーム全員に同じ設定が行き渡ります。
3つ目は .claude/settings.local.json です。これは個人×プロジェクト固有の設定で、.gitignoreに入れて管理</a:t>
            </a:r>
            <a:r>
              <a:rPr lang="ja-JP"/>
              <a:t>します。</a:t>
            </a:r>
            <a:r>
              <a:rPr lang="ja-JP" altLang="en-US"/>
              <a:t>プロジェクト内に置ける、</a:t>
            </a:r>
            <a:r>
              <a:rPr lang="ja-JP"/>
              <a:t>個人の追加</a:t>
            </a:r>
            <a:r>
              <a:rPr lang="ja-JP" dirty="0"/>
              <a:t>設定を書く場所です。</a:t>
            </a:r>
            <a:r>
              <a:rPr lang="ja-JP"/>
              <a:t>
</a:t>
            </a:r>
            <a:endParaRPr lang="en-US" altLang="ja-JP" dirty="0"/>
          </a:p>
          <a:p>
            <a:r>
              <a:rPr lang="ja-JP" dirty="0"/>
              <a:t>
ここで非常に重要な注意点が</a:t>
            </a:r>
            <a:r>
              <a:rPr lang="ja-JP"/>
              <a:t>あります。</a:t>
            </a:r>
            <a:r>
              <a:rPr lang="en-US" altLang="ja-JP" dirty="0" err="1"/>
              <a:t>CLAUDE.md</a:t>
            </a:r>
            <a:r>
              <a:rPr lang="ja-JP" altLang="en-US"/>
              <a:t>と違い</a:t>
            </a:r>
            <a:r>
              <a:rPr lang="ja-JP"/>
              <a:t>、</a:t>
            </a:r>
            <a:r>
              <a:rPr lang="ja-JP" dirty="0"/>
              <a:t>settings.jsonはディレクトリ</a:t>
            </a:r>
            <a:r>
              <a:rPr lang="ja-JP"/>
              <a:t>の上下</a:t>
            </a:r>
            <a:r>
              <a:rPr lang="ja-JP" altLang="en-US"/>
              <a:t>の</a:t>
            </a:r>
            <a:r>
              <a:rPr lang="ja-JP"/>
              <a:t>階層で自動</a:t>
            </a:r>
            <a:r>
              <a:rPr lang="ja-JP" altLang="en-US"/>
              <a:t>読み込まれ</a:t>
            </a:r>
            <a:r>
              <a:rPr lang="ja-JP"/>
              <a:t>ません。</a:t>
            </a:r>
            <a:endParaRPr lang="en-US" altLang="ja-JP" dirty="0"/>
          </a:p>
          <a:p>
            <a:r>
              <a:rPr lang="ja-JP"/>
              <a:t>CLAUDE</a:t>
            </a:r>
            <a:r>
              <a:rPr lang="ja-JP" dirty="0"/>
              <a:t>.mdは</a:t>
            </a:r>
            <a:r>
              <a:rPr lang="ja-JP"/>
              <a:t>親ディレクトリ内容</a:t>
            </a:r>
            <a:r>
              <a:rPr lang="ja-JP" dirty="0"/>
              <a:t>が自動的にマージされましたが、settings.jsonにはその仕組みが</a:t>
            </a:r>
            <a:r>
              <a:rPr lang="ja-JP"/>
              <a:t>ありません。</a:t>
            </a:r>
            <a:endParaRPr lang="en-US" altLang="ja-JP" dirty="0"/>
          </a:p>
          <a:p>
            <a:r>
              <a:rPr lang="ja-JP"/>
              <a:t>各階層</a:t>
            </a:r>
            <a:r>
              <a:rPr lang="ja-JP" dirty="0"/>
              <a:t>の設定ファイルは</a:t>
            </a:r>
            <a:r>
              <a:rPr lang="ja-JP"/>
              <a:t>独立して</a:t>
            </a:r>
            <a:r>
              <a:rPr lang="en-US" altLang="ja-JP" dirty="0"/>
              <a:t>1</a:t>
            </a:r>
            <a:r>
              <a:rPr lang="ja-JP" altLang="en-US"/>
              <a:t>つだけが読み込まれ</a:t>
            </a:r>
            <a:r>
              <a:rPr lang="ja-JP"/>
              <a:t>ます</a:t>
            </a:r>
            <a:r>
              <a:rPr lang="ja-JP" dirty="0"/>
              <a:t>。
</a:t>
            </a:r>
            <a:r>
              <a:rPr lang="ja-JP"/>
              <a:t>たとえば、</a:t>
            </a:r>
            <a:r>
              <a:rPr lang="ja-JP" altLang="en-US"/>
              <a:t>プロジェクトルート</a:t>
            </a:r>
            <a:r>
              <a:rPr lang="ja-JP"/>
              <a:t>の</a:t>
            </a:r>
            <a:r>
              <a:rPr lang="ja-JP" dirty="0"/>
              <a:t>settings.</a:t>
            </a:r>
            <a:r>
              <a:rPr lang="ja-JP"/>
              <a:t>jsonで</a:t>
            </a:r>
            <a:r>
              <a:rPr lang="ja-JP" altLang="en-US"/>
              <a:t>禁止</a:t>
            </a:r>
            <a:r>
              <a:rPr lang="ja-JP"/>
              <a:t>ルールが、</a:t>
            </a:r>
            <a:r>
              <a:rPr lang="ja-JP" altLang="en-US"/>
              <a:t>サブディレクトリで</a:t>
            </a:r>
            <a:r>
              <a:rPr lang="en-US" altLang="ja-JP" dirty="0"/>
              <a:t>Claude Code</a:t>
            </a:r>
            <a:r>
              <a:rPr lang="ja-JP" altLang="en-US"/>
              <a:t>を実行していると、普通に使われてしまう。ということになっています。</a:t>
            </a:r>
            <a:endParaRPr lang="en-US" altLang="ja-JP" dirty="0"/>
          </a:p>
          <a:p>
            <a:r>
              <a:rPr lang="ja-JP" altLang="en-US"/>
              <a:t>これは結構不便なので、そのうち修正されると思いますが、現状はこうなっているので、</a:t>
            </a:r>
            <a:r>
              <a:rPr lang="ja-JP"/>
              <a:t>ぜひ</a:t>
            </a:r>
            <a:r>
              <a:rPr lang="ja-JP" dirty="0"/>
              <a:t>覚えておいてください。</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ja-JP" dirty="0"/>
              <a:t>最後にまとめです。今日の勉強会では2つのパートを通じて、Claude Codeのプロジェクトセットアップの基礎を学びました。
PART 1では、コンテキストウィンドウの仕組みを理解した上で、CLAUDE.mdを使ってClaudeに「何を知っておくべきか」を伝える方法を紹介しました。プロジェクトの構成、コーディング規約、ワークフローのルールなどを書いておくことで、毎回同じ説明をしなくてよくなります。
PART 2では、settings.jsonを使って「Claudeに何をさせるか・させないか」を制御する方法を見ました。permissionsによる権限管理、Vertex AI環境での接続設定、そして設定ファイルの3層構造と、CLAUDE.mdとは違ってマージされないという注意点をお伝えしました。
この2つのファイルを正しく設定すれば、Claude Codeをチームのプロジェクトに安全かつ再現性のある形でセットアップできます。新しいメンバーがリポジトリをcloneするだけで、同じ設定でClaude Codeを使い始められるわけです。
次回の第3回では、さらに一歩進んで、SkillsやHooks、MCPといったワークフローの自動化・拡張の仕組みを紹介します。セットアップの基盤が整った上で、チームの生産性をさらに高める方法を扱いますので、ぜひお楽しみにしてください。
本日はありがとうございました。</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Deco Ring"/>
          <p:cNvSpPr/>
          <p:nvPr/>
        </p:nvSpPr>
        <p:spPr>
          <a:xfrm>
            <a:off x="8382000" y="-1143000"/>
            <a:ext cx="5486400" cy="5486400"/>
          </a:xfrm>
          <a:prstGeom prst="donut">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eco Circle"/>
          <p:cNvSpPr/>
          <p:nvPr/>
        </p:nvSpPr>
        <p:spPr>
          <a:xfrm>
            <a:off x="9144000" y="2743200"/>
            <a:ext cx="2286000" cy="2286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Deco Arc"/>
          <p:cNvSpPr/>
          <p:nvPr/>
        </p:nvSpPr>
        <p:spPr>
          <a:xfrm>
            <a:off x="7620000" y="1600200"/>
            <a:ext cx="3200400" cy="32004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mall Circle"/>
          <p:cNvSpPr/>
          <p:nvPr/>
        </p:nvSpPr>
        <p:spPr>
          <a:xfrm>
            <a:off x="457200" y="5486400"/>
            <a:ext cx="914400" cy="914400"/>
          </a:xfrm>
          <a:prstGeom prst="ellipse">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371600"/>
            <a:ext cx="54864" cy="32004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Dot 1"/>
          <p:cNvSpPr/>
          <p:nvPr/>
        </p:nvSpPr>
        <p:spPr>
          <a:xfrm>
            <a:off x="109728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2"/>
          <p:cNvSpPr/>
          <p:nvPr/>
        </p:nvSpPr>
        <p:spPr>
          <a:xfrm>
            <a:off x="137160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ot 3"/>
          <p:cNvSpPr/>
          <p:nvPr/>
        </p:nvSpPr>
        <p:spPr>
          <a:xfrm>
            <a:off x="164592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058400" y="5486400"/>
            <a:ext cx="1828800" cy="9144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7280" y="1371600"/>
            <a:ext cx="6400800" cy="2492990"/>
          </a:xfrm>
          <a:prstGeom prst="rect">
            <a:avLst/>
          </a:prstGeom>
          <a:noFill/>
        </p:spPr>
        <p:txBody>
          <a:bodyPr wrap="square">
            <a:spAutoFit/>
          </a:bodyPr>
          <a:lstStyle/>
          <a:p>
            <a:pPr algn="l"/>
            <a:r>
              <a:rPr sz="5200" b="1">
                <a:solidFill>
                  <a:srgbClr val="FAF9F5"/>
                </a:solidFill>
                <a:latin typeface="Hiragino Sans"/>
              </a:rPr>
              <a:t>Claude Code</a:t>
            </a:r>
          </a:p>
          <a:p>
            <a:pPr algn="l"/>
            <a:r>
              <a:rPr sz="5200" b="1">
                <a:solidFill>
                  <a:srgbClr val="FAF9F5"/>
                </a:solidFill>
                <a:latin typeface="Hiragino Sans"/>
              </a:rPr>
              <a:t>プロジェクトに定着させる</a:t>
            </a:r>
          </a:p>
        </p:txBody>
      </p:sp>
      <p:sp>
        <p:nvSpPr>
          <p:cNvPr id="12" name="TextBox 11"/>
          <p:cNvSpPr txBox="1"/>
          <p:nvPr/>
        </p:nvSpPr>
        <p:spPr>
          <a:xfrm>
            <a:off x="1097280" y="4000500"/>
            <a:ext cx="6400800" cy="548640"/>
          </a:xfrm>
          <a:prstGeom prst="rect">
            <a:avLst/>
          </a:prstGeom>
          <a:noFill/>
        </p:spPr>
        <p:txBody>
          <a:bodyPr wrap="square">
            <a:spAutoFit/>
          </a:bodyPr>
          <a:lstStyle/>
          <a:p>
            <a:pPr algn="l"/>
            <a:r>
              <a:rPr sz="2400" b="0" dirty="0">
                <a:solidFill>
                  <a:srgbClr val="D97757"/>
                </a:solidFill>
                <a:latin typeface="Hiragino Sans"/>
              </a:rPr>
              <a:t>〜 </a:t>
            </a:r>
            <a:r>
              <a:rPr sz="2400" b="0" dirty="0" err="1">
                <a:solidFill>
                  <a:srgbClr val="D97757"/>
                </a:solidFill>
                <a:latin typeface="Hiragino Sans"/>
              </a:rPr>
              <a:t>CLAUDE.md</a:t>
            </a:r>
            <a:r>
              <a:rPr sz="2400" b="0" dirty="0">
                <a:solidFill>
                  <a:srgbClr val="D97757"/>
                </a:solidFill>
                <a:latin typeface="Hiragino Sans"/>
              </a:rPr>
              <a:t> / </a:t>
            </a:r>
            <a:r>
              <a:rPr sz="2400" b="0" dirty="0" err="1">
                <a:solidFill>
                  <a:srgbClr val="D97757"/>
                </a:solidFill>
                <a:latin typeface="Hiragino Sans"/>
              </a:rPr>
              <a:t>settings.json</a:t>
            </a:r>
            <a:r>
              <a:rPr sz="2400" b="0" dirty="0">
                <a:solidFill>
                  <a:srgbClr val="D97757"/>
                </a:solidFill>
                <a:latin typeface="Hiragino Sans"/>
              </a:rPr>
              <a:t> 〜</a:t>
            </a:r>
          </a:p>
        </p:txBody>
      </p:sp>
      <p:cxnSp>
        <p:nvCxnSpPr>
          <p:cNvPr id="13" name="Connector 12"/>
          <p:cNvCxnSpPr/>
          <p:nvPr/>
        </p:nvCxnSpPr>
        <p:spPr>
          <a:xfrm>
            <a:off x="1097280" y="4533900"/>
            <a:ext cx="27432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97280" y="4635500"/>
            <a:ext cx="6400800" cy="457200"/>
          </a:xfrm>
          <a:prstGeom prst="rect">
            <a:avLst/>
          </a:prstGeom>
          <a:noFill/>
        </p:spPr>
        <p:txBody>
          <a:bodyPr wrap="square">
            <a:spAutoFit/>
          </a:bodyPr>
          <a:lstStyle/>
          <a:p>
            <a:pPr algn="l"/>
            <a:r>
              <a:rPr sz="1600" b="0">
                <a:solidFill>
                  <a:srgbClr val="B0AEA5"/>
                </a:solidFill>
                <a:latin typeface="Helvetica Neue"/>
              </a:rPr>
              <a:t>社内勉強会  |  第2回 / 全3回  |  20 min</a:t>
            </a:r>
          </a:p>
        </p:txBody>
      </p:sp>
    </p:spTree>
    <p:extLst>
      <p:ext uri="{BB962C8B-B14F-4D97-AF65-F5344CB8AC3E}">
        <p14:creationId xmlns:p14="http://schemas.microsoft.com/office/powerpoint/2010/main" val="472491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extBox 1"/>
          <p:cNvSpPr txBox="1"/>
          <p:nvPr/>
        </p:nvSpPr>
        <p:spPr>
          <a:xfrm>
            <a:off x="736600" y="457200"/>
            <a:ext cx="7620000" cy="635000"/>
          </a:xfrm>
          <a:prstGeom prst="rect">
            <a:avLst/>
          </a:prstGeom>
          <a:noFill/>
        </p:spPr>
        <p:txBody>
          <a:bodyPr wrap="square">
            <a:spAutoFit/>
          </a:bodyPr>
          <a:lstStyle/>
          <a:p>
            <a:pPr algn="l"/>
            <a:r>
              <a:rPr lang="en-US" sz="3200" b="1" noProof="1">
                <a:solidFill>
                  <a:srgbClr val="FAF9F5"/>
                </a:solidFill>
                <a:latin typeface="Hiragino Sans"/>
              </a:rPr>
              <a:t>全3回のロードマップ</a:t>
            </a:r>
          </a:p>
        </p:txBody>
      </p:sp>
      <p:sp>
        <p:nvSpPr>
          <p:cNvPr id="3" name="Rounded Rectangle 2"/>
          <p:cNvSpPr/>
          <p:nvPr/>
        </p:nvSpPr>
        <p:spPr>
          <a:xfrm>
            <a:off x="7366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Rectangle 3"/>
          <p:cNvSpPr/>
          <p:nvPr/>
        </p:nvSpPr>
        <p:spPr>
          <a:xfrm>
            <a:off x="7366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5" name="Oval 4"/>
          <p:cNvSpPr/>
          <p:nvPr/>
        </p:nvSpPr>
        <p:spPr>
          <a:xfrm>
            <a:off x="9652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noProof="1">
                <a:solidFill>
                  <a:srgbClr val="FAF9F5"/>
                </a:solidFill>
                <a:latin typeface="Helvetica Neue"/>
              </a:rPr>
              <a:t>1</a:t>
            </a:r>
          </a:p>
        </p:txBody>
      </p:sp>
      <p:sp>
        <p:nvSpPr>
          <p:cNvPr id="6" name="TextBox 5"/>
          <p:cNvSpPr txBox="1"/>
          <p:nvPr/>
        </p:nvSpPr>
        <p:spPr>
          <a:xfrm>
            <a:off x="1701800" y="1625600"/>
            <a:ext cx="2286000" cy="508000"/>
          </a:xfrm>
          <a:prstGeom prst="rect">
            <a:avLst/>
          </a:prstGeom>
          <a:noFill/>
        </p:spPr>
        <p:txBody>
          <a:bodyPr wrap="square">
            <a:spAutoFit/>
          </a:bodyPr>
          <a:lstStyle/>
          <a:p>
            <a:pPr algn="l"/>
            <a:r>
              <a:rPr lang="en-US" sz="1600" b="1" noProof="1">
                <a:solidFill>
                  <a:srgbClr val="B0AEA5"/>
                </a:solidFill>
                <a:latin typeface="Hiragino Sans"/>
              </a:rPr>
              <a:t>第1回（済）</a:t>
            </a:r>
          </a:p>
        </p:txBody>
      </p:sp>
      <p:sp>
        <p:nvSpPr>
          <p:cNvPr id="7" name="TextBox 6"/>
          <p:cNvSpPr txBox="1"/>
          <p:nvPr/>
        </p:nvSpPr>
        <p:spPr>
          <a:xfrm>
            <a:off x="965200" y="2413000"/>
            <a:ext cx="2984500" cy="1143000"/>
          </a:xfrm>
          <a:prstGeom prst="rect">
            <a:avLst/>
          </a:prstGeom>
          <a:noFill/>
        </p:spPr>
        <p:txBody>
          <a:bodyPr wrap="square">
            <a:spAutoFit/>
          </a:bodyPr>
          <a:lstStyle/>
          <a:p>
            <a:pPr algn="l"/>
            <a:r>
              <a:rPr lang="en-US" sz="2200" b="1" noProof="1">
                <a:solidFill>
                  <a:srgbClr val="FAF9F5"/>
                </a:solidFill>
                <a:latin typeface="Hiragino Sans"/>
              </a:rPr>
              <a:t>理解する</a:t>
            </a:r>
          </a:p>
        </p:txBody>
      </p:sp>
      <p:cxnSp>
        <p:nvCxnSpPr>
          <p:cNvPr id="8" name="Connector 7"/>
          <p:cNvCxnSpPr/>
          <p:nvPr/>
        </p:nvCxnSpPr>
        <p:spPr>
          <a:xfrm>
            <a:off x="9652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5200" y="3924300"/>
            <a:ext cx="2984500" cy="1016000"/>
          </a:xfrm>
          <a:prstGeom prst="rect">
            <a:avLst/>
          </a:prstGeom>
          <a:noFill/>
        </p:spPr>
        <p:txBody>
          <a:bodyPr wrap="square">
            <a:spAutoFit/>
          </a:bodyPr>
          <a:lstStyle/>
          <a:p>
            <a:pPr algn="l"/>
            <a:r>
              <a:rPr lang="en-US" sz="1500" b="0" noProof="1">
                <a:solidFill>
                  <a:srgbClr val="C5C3BB"/>
                </a:solidFill>
                <a:latin typeface="Hiragino Sans"/>
              </a:rPr>
              <a:t>基本 / コミュニケーション / Plan Mode</a:t>
            </a:r>
          </a:p>
        </p:txBody>
      </p:sp>
      <p:sp>
        <p:nvSpPr>
          <p:cNvPr id="10" name="Rounded Rectangle 9"/>
          <p:cNvSpPr/>
          <p:nvPr/>
        </p:nvSpPr>
        <p:spPr>
          <a:xfrm>
            <a:off x="4394200" y="1270000"/>
            <a:ext cx="3429000" cy="39370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p:cNvSpPr/>
          <p:nvPr/>
        </p:nvSpPr>
        <p:spPr>
          <a:xfrm>
            <a:off x="4394200" y="1270000"/>
            <a:ext cx="3429000" cy="635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Oval 11"/>
          <p:cNvSpPr/>
          <p:nvPr/>
        </p:nvSpPr>
        <p:spPr>
          <a:xfrm>
            <a:off x="4622800" y="1574800"/>
            <a:ext cx="609600" cy="6096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noProof="1">
                <a:solidFill>
                  <a:srgbClr val="FAF9F5"/>
                </a:solidFill>
                <a:latin typeface="Helvetica Neue"/>
              </a:rPr>
              <a:t>2</a:t>
            </a:r>
          </a:p>
        </p:txBody>
      </p:sp>
      <p:sp>
        <p:nvSpPr>
          <p:cNvPr id="13" name="TextBox 12"/>
          <p:cNvSpPr txBox="1"/>
          <p:nvPr/>
        </p:nvSpPr>
        <p:spPr>
          <a:xfrm>
            <a:off x="5359400" y="1625600"/>
            <a:ext cx="2286000" cy="508000"/>
          </a:xfrm>
          <a:prstGeom prst="rect">
            <a:avLst/>
          </a:prstGeom>
          <a:noFill/>
        </p:spPr>
        <p:txBody>
          <a:bodyPr wrap="square">
            <a:spAutoFit/>
          </a:bodyPr>
          <a:lstStyle/>
          <a:p>
            <a:pPr algn="l"/>
            <a:r>
              <a:rPr lang="en-US" sz="1600" b="1" noProof="1">
                <a:solidFill>
                  <a:srgbClr val="D97757"/>
                </a:solidFill>
                <a:latin typeface="Hiragino Sans"/>
              </a:rPr>
              <a:t>第2回（今日）</a:t>
            </a:r>
          </a:p>
        </p:txBody>
      </p:sp>
      <p:sp>
        <p:nvSpPr>
          <p:cNvPr id="14" name="TextBox 13"/>
          <p:cNvSpPr txBox="1"/>
          <p:nvPr/>
        </p:nvSpPr>
        <p:spPr>
          <a:xfrm>
            <a:off x="4622800" y="2413000"/>
            <a:ext cx="2984500" cy="1143000"/>
          </a:xfrm>
          <a:prstGeom prst="rect">
            <a:avLst/>
          </a:prstGeom>
          <a:noFill/>
        </p:spPr>
        <p:txBody>
          <a:bodyPr wrap="square">
            <a:spAutoFit/>
          </a:bodyPr>
          <a:lstStyle/>
          <a:p>
            <a:pPr algn="l"/>
            <a:r>
              <a:rPr lang="en-US" sz="2200" b="1" noProof="1">
                <a:solidFill>
                  <a:srgbClr val="FAF9F5"/>
                </a:solidFill>
                <a:latin typeface="Hiragino Sans"/>
              </a:rPr>
              <a:t>プロジェクトに</a:t>
            </a:r>
          </a:p>
          <a:p>
            <a:pPr algn="l"/>
            <a:r>
              <a:rPr lang="en-US" sz="2200" b="1" noProof="1">
                <a:solidFill>
                  <a:srgbClr val="FAF9F5"/>
                </a:solidFill>
                <a:latin typeface="Hiragino Sans"/>
              </a:rPr>
              <a:t>定着させる</a:t>
            </a:r>
          </a:p>
        </p:txBody>
      </p:sp>
      <p:cxnSp>
        <p:nvCxnSpPr>
          <p:cNvPr id="15" name="Connector 14"/>
          <p:cNvCxnSpPr/>
          <p:nvPr/>
        </p:nvCxnSpPr>
        <p:spPr>
          <a:xfrm>
            <a:off x="46228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22800" y="3924300"/>
            <a:ext cx="2984500" cy="784830"/>
          </a:xfrm>
          <a:prstGeom prst="rect">
            <a:avLst/>
          </a:prstGeom>
          <a:noFill/>
        </p:spPr>
        <p:txBody>
          <a:bodyPr wrap="square">
            <a:spAutoFit/>
          </a:bodyPr>
          <a:lstStyle/>
          <a:p>
            <a:r>
              <a:rPr lang="en-US" sz="1500" b="0" noProof="1">
                <a:solidFill>
                  <a:srgbClr val="C5C3BB"/>
                </a:solidFill>
                <a:latin typeface="Hiragino Sans"/>
              </a:rPr>
              <a:t>CLAUDE.md / settings.json</a:t>
            </a:r>
          </a:p>
        </p:txBody>
      </p:sp>
      <p:sp>
        <p:nvSpPr>
          <p:cNvPr id="17" name="Rounded Rectangle 16"/>
          <p:cNvSpPr/>
          <p:nvPr/>
        </p:nvSpPr>
        <p:spPr>
          <a:xfrm>
            <a:off x="80518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Rectangle 17"/>
          <p:cNvSpPr/>
          <p:nvPr/>
        </p:nvSpPr>
        <p:spPr>
          <a:xfrm>
            <a:off x="8051800" y="1270000"/>
            <a:ext cx="3429000" cy="63500"/>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9" name="Oval 18"/>
          <p:cNvSpPr/>
          <p:nvPr/>
        </p:nvSpPr>
        <p:spPr>
          <a:xfrm>
            <a:off x="8280400" y="1574800"/>
            <a:ext cx="609600" cy="60960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noProof="1">
                <a:solidFill>
                  <a:srgbClr val="FAF9F5"/>
                </a:solidFill>
                <a:latin typeface="Helvetica Neue"/>
              </a:rPr>
              <a:t>3</a:t>
            </a:r>
          </a:p>
        </p:txBody>
      </p:sp>
      <p:sp>
        <p:nvSpPr>
          <p:cNvPr id="20" name="TextBox 19"/>
          <p:cNvSpPr txBox="1"/>
          <p:nvPr/>
        </p:nvSpPr>
        <p:spPr>
          <a:xfrm>
            <a:off x="9017000" y="1625600"/>
            <a:ext cx="2286000" cy="508000"/>
          </a:xfrm>
          <a:prstGeom prst="rect">
            <a:avLst/>
          </a:prstGeom>
          <a:noFill/>
        </p:spPr>
        <p:txBody>
          <a:bodyPr wrap="square">
            <a:spAutoFit/>
          </a:bodyPr>
          <a:lstStyle/>
          <a:p>
            <a:pPr algn="l"/>
            <a:r>
              <a:rPr lang="en-US" sz="1600" b="1" noProof="1">
                <a:solidFill>
                  <a:srgbClr val="B0AEA5"/>
                </a:solidFill>
                <a:latin typeface="Hiragino Sans"/>
              </a:rPr>
              <a:t>第3回</a:t>
            </a:r>
          </a:p>
        </p:txBody>
      </p:sp>
      <p:sp>
        <p:nvSpPr>
          <p:cNvPr id="21" name="TextBox 20"/>
          <p:cNvSpPr txBox="1"/>
          <p:nvPr/>
        </p:nvSpPr>
        <p:spPr>
          <a:xfrm>
            <a:off x="8280400" y="2413000"/>
            <a:ext cx="2984500" cy="1143000"/>
          </a:xfrm>
          <a:prstGeom prst="rect">
            <a:avLst/>
          </a:prstGeom>
          <a:noFill/>
        </p:spPr>
        <p:txBody>
          <a:bodyPr wrap="square">
            <a:spAutoFit/>
          </a:bodyPr>
          <a:lstStyle/>
          <a:p>
            <a:pPr algn="l"/>
            <a:r>
              <a:rPr lang="en-US" sz="2200" b="1" noProof="1">
                <a:solidFill>
                  <a:srgbClr val="FAF9F5"/>
                </a:solidFill>
                <a:latin typeface="Hiragino Sans"/>
              </a:rPr>
              <a:t>ワークフローを</a:t>
            </a:r>
          </a:p>
          <a:p>
            <a:pPr algn="l"/>
            <a:r>
              <a:rPr lang="en-US" sz="2200" b="1" noProof="1">
                <a:solidFill>
                  <a:srgbClr val="FAF9F5"/>
                </a:solidFill>
                <a:latin typeface="Hiragino Sans"/>
              </a:rPr>
              <a:t>自動化する</a:t>
            </a:r>
          </a:p>
        </p:txBody>
      </p:sp>
      <p:cxnSp>
        <p:nvCxnSpPr>
          <p:cNvPr id="22" name="Connector 21"/>
          <p:cNvCxnSpPr/>
          <p:nvPr/>
        </p:nvCxnSpPr>
        <p:spPr>
          <a:xfrm>
            <a:off x="82804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80400" y="3924300"/>
            <a:ext cx="2984500" cy="1016000"/>
          </a:xfrm>
          <a:prstGeom prst="rect">
            <a:avLst/>
          </a:prstGeom>
          <a:noFill/>
        </p:spPr>
        <p:txBody>
          <a:bodyPr wrap="square">
            <a:spAutoFit/>
          </a:bodyPr>
          <a:lstStyle/>
          <a:p>
            <a:pPr algn="l"/>
            <a:r>
              <a:rPr lang="en-US" sz="1500" b="0" noProof="1">
                <a:solidFill>
                  <a:srgbClr val="C5C3BB"/>
                </a:solidFill>
                <a:latin typeface="Hiragino Sans"/>
              </a:rPr>
              <a:t>Skills / Hooks / MCP</a:t>
            </a:r>
          </a:p>
        </p:txBody>
      </p:sp>
      <p:sp>
        <p:nvSpPr>
          <p:cNvPr id="24" name="TextBox 23"/>
          <p:cNvSpPr txBox="1"/>
          <p:nvPr/>
        </p:nvSpPr>
        <p:spPr>
          <a:xfrm>
            <a:off x="736600" y="5334000"/>
            <a:ext cx="10728960" cy="400110"/>
          </a:xfrm>
          <a:prstGeom prst="rect">
            <a:avLst/>
          </a:prstGeom>
          <a:noFill/>
        </p:spPr>
        <p:txBody>
          <a:bodyPr wrap="square">
            <a:spAutoFit/>
          </a:bodyPr>
          <a:lstStyle/>
          <a:p>
            <a:r>
              <a:rPr lang="en-US" sz="2000" b="1" dirty="0">
                <a:solidFill>
                  <a:srgbClr val="D97757"/>
                </a:solidFill>
                <a:latin typeface="Hiragino Sans"/>
              </a:rPr>
              <a:t>今日のゴール: Claude Code</a:t>
            </a:r>
            <a:r>
              <a:rPr lang="ja-JP" altLang="en-US" sz="2000" b="1" dirty="0">
                <a:solidFill>
                  <a:srgbClr val="D97757"/>
                </a:solidFill>
                <a:latin typeface="Hiragino Sans"/>
              </a:rPr>
              <a:t>を自身のプロジェクトにセットアップできるようになる</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lang="en-US" sz="1100" b="0" noProof="1">
                <a:solidFill>
                  <a:srgbClr val="B0AEA5"/>
                </a:solidFill>
                <a:latin typeface="Helvetica Neue"/>
              </a:rPr>
              <a:t>2 / 18</a:t>
            </a:r>
          </a:p>
        </p:txBody>
      </p:sp>
    </p:spTree>
    <p:extLst>
      <p:ext uri="{BB962C8B-B14F-4D97-AF65-F5344CB8AC3E}">
        <p14:creationId xmlns:p14="http://schemas.microsoft.com/office/powerpoint/2010/main" val="4060845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50" name="Title"/>
          <p:cNvSpPr/>
          <p:nvPr/>
        </p:nvSpPr>
        <p:spPr>
          <a:xfrm>
            <a:off x="736600" y="698500"/>
            <a:ext cx="7620000" cy="635000"/>
          </a:xfrm>
          <a:prstGeom prst="rect">
            <a:avLst/>
          </a:prstGeom>
        </p:spPr>
        <p:txBody>
          <a:bodyPr wrap="square" lIns="0" tIns="0" rIns="0" bIns="0" anchor="t"/>
          <a:lstStyle/>
          <a:p>
            <a:pPr algn="l"/>
            <a:r>
              <a:rPr lang="ja-JP" sz="3200" b="1" noProof="1">
                <a:solidFill>
                  <a:srgbClr val="FAF9F5"/>
                </a:solidFill>
                <a:latin typeface="Hiragino Sans"/>
              </a:rPr>
              <a:t>今日のアジェンダ</a:t>
            </a:r>
          </a:p>
        </p:txBody>
      </p:sp>
      <p:sp>
        <p:nvSpPr>
          <p:cNvPr id="100" name="Label0"/>
          <p:cNvSpPr/>
          <p:nvPr/>
        </p:nvSpPr>
        <p:spPr>
          <a:xfrm>
            <a:off x="736600" y="2540000"/>
            <a:ext cx="1206500" cy="406400"/>
          </a:xfrm>
          <a:prstGeom prst="rect">
            <a:avLst/>
          </a:prstGeom>
        </p:spPr>
        <p:txBody>
          <a:bodyPr wrap="square" lIns="0" tIns="0" rIns="0" bIns="0" anchor="t"/>
          <a:lstStyle/>
          <a:p>
            <a:pPr algn="l"/>
            <a:r>
              <a:rPr lang="en-US" sz="1600" b="1" noProof="1">
                <a:solidFill>
                  <a:srgbClr val="D97757"/>
                </a:solidFill>
                <a:latin typeface="Helvetica Neue"/>
              </a:rPr>
              <a:t>PART 1</a:t>
            </a:r>
          </a:p>
        </p:txBody>
      </p:sp>
      <p:sp>
        <p:nvSpPr>
          <p:cNvPr id="101" name="PTitle0"/>
          <p:cNvSpPr/>
          <p:nvPr/>
        </p:nvSpPr>
        <p:spPr>
          <a:xfrm>
            <a:off x="2159000" y="2540000"/>
            <a:ext cx="9271000" cy="406400"/>
          </a:xfrm>
          <a:prstGeom prst="rect">
            <a:avLst/>
          </a:prstGeom>
        </p:spPr>
        <p:txBody>
          <a:bodyPr wrap="square" lIns="0" tIns="0" rIns="0" bIns="0" anchor="t"/>
          <a:lstStyle/>
          <a:p>
            <a:pPr algn="l"/>
            <a:r>
              <a:rPr lang="ja-JP" sz="2200" b="1" noProof="1">
                <a:solidFill>
                  <a:srgbClr val="FAF9F5"/>
                </a:solidFill>
                <a:latin typeface="Hiragino Sans"/>
              </a:rPr>
              <a:t>コンテキストと CLAUDE.md</a:t>
            </a:r>
          </a:p>
        </p:txBody>
      </p:sp>
      <p:sp>
        <p:nvSpPr>
          <p:cNvPr id="102" name="Desc0"/>
          <p:cNvSpPr/>
          <p:nvPr/>
        </p:nvSpPr>
        <p:spPr>
          <a:xfrm>
            <a:off x="2159000" y="3048000"/>
            <a:ext cx="9271000" cy="355600"/>
          </a:xfrm>
          <a:prstGeom prst="rect">
            <a:avLst/>
          </a:prstGeom>
        </p:spPr>
        <p:txBody>
          <a:bodyPr wrap="square" lIns="0" tIns="0" rIns="0" bIns="0" anchor="t"/>
          <a:lstStyle/>
          <a:p>
            <a:pPr algn="l"/>
            <a:r>
              <a:rPr lang="ja-JP" sz="1600" b="0" noProof="1">
                <a:solidFill>
                  <a:srgbClr val="C5C3BB"/>
                </a:solidFill>
                <a:latin typeface="Hiragino Sans"/>
              </a:rPr>
              <a:t>コンテキストウィンドウの仕組みを理解し、CLAUDE.mdでプロジェクトの「常識」を設定する</a:t>
            </a:r>
          </a:p>
        </p:txBody>
      </p:sp>
      <p:cxnSp>
        <p:nvCxnSpPr>
          <p:cNvPr id="103" name="Div0"/>
          <p:cNvCxnSpPr/>
          <p:nvPr/>
        </p:nvCxnSpPr>
        <p:spPr>
          <a:xfrm>
            <a:off x="736600" y="3771900"/>
            <a:ext cx="10731500" cy="0"/>
          </a:xfrm>
          <a:prstGeom prst="line">
            <a:avLst/>
          </a:prstGeom>
          <a:ln w="6350">
            <a:solidFill>
              <a:srgbClr val="3A3632"/>
            </a:solidFill>
          </a:ln>
        </p:spPr>
      </p:cxnSp>
      <p:sp>
        <p:nvSpPr>
          <p:cNvPr id="110" name="Label1"/>
          <p:cNvSpPr/>
          <p:nvPr/>
        </p:nvSpPr>
        <p:spPr>
          <a:xfrm>
            <a:off x="736600" y="4000500"/>
            <a:ext cx="1206500" cy="406400"/>
          </a:xfrm>
          <a:prstGeom prst="rect">
            <a:avLst/>
          </a:prstGeom>
        </p:spPr>
        <p:txBody>
          <a:bodyPr wrap="square" lIns="0" tIns="0" rIns="0" bIns="0" anchor="t"/>
          <a:lstStyle/>
          <a:p>
            <a:pPr algn="l"/>
            <a:r>
              <a:rPr lang="en-US" sz="1600" b="1" noProof="1">
                <a:solidFill>
                  <a:srgbClr val="D97757"/>
                </a:solidFill>
                <a:latin typeface="Helvetica Neue"/>
              </a:rPr>
              <a:t>PART 2</a:t>
            </a:r>
          </a:p>
        </p:txBody>
      </p:sp>
      <p:sp>
        <p:nvSpPr>
          <p:cNvPr id="111" name="PTitle1"/>
          <p:cNvSpPr/>
          <p:nvPr/>
        </p:nvSpPr>
        <p:spPr>
          <a:xfrm>
            <a:off x="2159000" y="4000500"/>
            <a:ext cx="9271000" cy="406400"/>
          </a:xfrm>
          <a:prstGeom prst="rect">
            <a:avLst/>
          </a:prstGeom>
        </p:spPr>
        <p:txBody>
          <a:bodyPr wrap="square" lIns="0" tIns="0" rIns="0" bIns="0" anchor="t"/>
          <a:lstStyle/>
          <a:p>
            <a:pPr algn="l"/>
            <a:r>
              <a:rPr lang="ja-JP" sz="2200" b="1" noProof="1">
                <a:solidFill>
                  <a:srgbClr val="FAF9F5"/>
                </a:solidFill>
                <a:latin typeface="Hiragino Sans"/>
              </a:rPr>
              <a:t>settings.json</a:t>
            </a:r>
          </a:p>
        </p:txBody>
      </p:sp>
      <p:sp>
        <p:nvSpPr>
          <p:cNvPr id="112" name="Desc1"/>
          <p:cNvSpPr/>
          <p:nvPr/>
        </p:nvSpPr>
        <p:spPr>
          <a:xfrm>
            <a:off x="2159000" y="4508500"/>
            <a:ext cx="9271000" cy="355600"/>
          </a:xfrm>
          <a:prstGeom prst="rect">
            <a:avLst/>
          </a:prstGeom>
        </p:spPr>
        <p:txBody>
          <a:bodyPr wrap="square" lIns="0" tIns="0" rIns="0" bIns="0" anchor="t"/>
          <a:lstStyle/>
          <a:p>
            <a:pPr algn="l"/>
            <a:r>
              <a:rPr lang="ja-JP" sz="1600" b="0" noProof="1">
                <a:solidFill>
                  <a:srgbClr val="C5C3BB"/>
                </a:solidFill>
                <a:latin typeface="Hiragino Sans"/>
              </a:rPr>
              <a:t>権限・環境変数・モデル設定をチームで統一する</a:t>
            </a:r>
          </a:p>
        </p:txBody>
      </p:sp>
      <p:sp>
        <p:nvSpPr>
          <p:cNvPr id="201" name="PageNum"/>
          <p:cNvSpPr/>
          <p:nvPr/>
        </p:nvSpPr>
        <p:spPr>
          <a:xfrm>
            <a:off x="10998200" y="6464300"/>
            <a:ext cx="901700" cy="279400"/>
          </a:xfrm>
          <a:prstGeom prst="rect">
            <a:avLst/>
          </a:prstGeom>
        </p:spPr>
        <p:txBody>
          <a:bodyPr wrap="square" lIns="0" tIns="0" rIns="0" bIns="0" anchor="t"/>
          <a:lstStyle/>
          <a:p>
            <a:pPr algn="r"/>
            <a:r>
              <a:rPr lang="en-US" sz="1100" b="0" noProof="1">
                <a:solidFill>
                  <a:srgbClr val="B0AEA5"/>
                </a:solidFill>
                <a:latin typeface="Helvetica Neue"/>
              </a:rPr>
              <a:t>3 / 18</a:t>
            </a:r>
          </a:p>
        </p:txBody>
      </p:sp>
    </p:spTree>
    <p:extLst>
      <p:ext uri="{BB962C8B-B14F-4D97-AF65-F5344CB8AC3E}">
        <p14:creationId xmlns:p14="http://schemas.microsoft.com/office/powerpoint/2010/main" val="41644247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31F1D"/>
        </a:solidFill>
        <a:effectLst/>
      </p:bgPr>
    </p:bg>
    <p:spTree>
      <p:nvGrpSpPr>
        <p:cNvPr id="1" name=""/>
        <p:cNvGrpSpPr/>
        <p:nvPr/>
      </p:nvGrpSpPr>
      <p:grpSpPr>
        <a:xfrm>
          <a:off x="0" y="0"/>
          <a:ext cx="0" cy="0"/>
          <a:chOff x="0" y="0"/>
          <a:chExt cx="0" cy="0"/>
        </a:xfrm>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1</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コンテキストとCLAUDE.md</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毎回の説明、もう要らない</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lang="en-US" altLang="ja-JP" sz="1100" b="0">
                <a:solidFill>
                  <a:srgbClr val="B0AEA5"/>
                </a:solidFill>
                <a:latin typeface="Helvetica Neue"/>
              </a:rPr>
              <a:t>4 / 18</a:t>
            </a:r>
            <a:endParaRPr sz="1100" b="0">
              <a:solidFill>
                <a:srgbClr val="B0AEA5"/>
              </a:solidFill>
              <a:latin typeface="Helvetica Neue"/>
            </a:endParaRPr>
          </a:p>
        </p:txBody>
      </p:sp>
    </p:spTree>
    <p:extLst>
      <p:ext uri="{BB962C8B-B14F-4D97-AF65-F5344CB8AC3E}">
        <p14:creationId xmlns:p14="http://schemas.microsoft.com/office/powerpoint/2010/main" val="3685500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コンテキストとCLAUDE.md</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Claude Codeは何を見ているか</a:t>
            </a:r>
          </a:p>
        </p:txBody>
      </p:sp>
      <p:sp>
        <p:nvSpPr>
          <p:cNvPr id="4" name="TextBox 3"/>
          <p:cNvSpPr txBox="1"/>
          <p:nvPr/>
        </p:nvSpPr>
        <p:spPr>
          <a:xfrm>
            <a:off x="731520" y="1200000"/>
            <a:ext cx="10728960" cy="548640"/>
          </a:xfrm>
          <a:prstGeom prst="rect">
            <a:avLst/>
          </a:prstGeom>
          <a:noFill/>
        </p:spPr>
        <p:txBody>
          <a:bodyPr wrap="square">
            <a:spAutoFit/>
          </a:bodyPr>
          <a:lstStyle/>
          <a:p>
            <a:pPr algn="l"/>
            <a:r>
              <a:rPr sz="2000" b="1">
                <a:solidFill>
                  <a:srgbClr val="B0AEA5"/>
                </a:solidFill>
                <a:latin typeface="Hiragino Sans"/>
              </a:rPr>
              <a:t>コンテキストウィンドウ = Claudeの作業メモリ</a:t>
            </a:r>
          </a:p>
        </p:txBody>
      </p:sp>
      <p:sp>
        <p:nvSpPr>
          <p:cNvPr id="20" name="Rectangle 19"/>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6291440"/>
            <a:ext cx="10400000" cy="365760"/>
          </a:xfrm>
          <a:prstGeom prst="rect">
            <a:avLst/>
          </a:prstGeom>
          <a:noFill/>
        </p:spPr>
        <p:txBody>
          <a:bodyPr wrap="square">
            <a:spAutoFit/>
          </a:bodyPr>
          <a:lstStyle/>
          <a:p>
            <a:pPr algn="l"/>
            <a:r>
              <a:rPr sz="1400" b="1" dirty="0">
                <a:solidFill>
                  <a:srgbClr val="D97757"/>
                </a:solidFill>
                <a:latin typeface="Hiragino Sans"/>
              </a:rPr>
              <a:t>→ コンテキストウィンドウ（約200,000トークン）= 「Claude Codeが今覚えていること」の総量</a:t>
            </a:r>
          </a:p>
        </p:txBody>
      </p:sp>
      <p:sp>
        <p:nvSpPr>
          <p:cNvPr id="23" name="TextBox 22"/>
          <p:cNvSpPr txBox="1"/>
          <p:nvPr/>
        </p:nvSpPr>
        <p:spPr>
          <a:xfrm>
            <a:off x="10992000" y="6458000"/>
            <a:ext cx="900000" cy="274320"/>
          </a:xfrm>
          <a:prstGeom prst="rect">
            <a:avLst/>
          </a:prstGeom>
          <a:noFill/>
        </p:spPr>
        <p:txBody>
          <a:bodyPr wrap="square">
            <a:spAutoFit/>
          </a:bodyPr>
          <a:lstStyle/>
          <a:p>
            <a:pPr algn="r"/>
            <a:r>
              <a:rPr lang="en-US" altLang="ja-JP" sz="1100" b="0">
                <a:solidFill>
                  <a:srgbClr val="B0AEA5"/>
                </a:solidFill>
                <a:latin typeface="Helvetica Neue"/>
              </a:rPr>
              <a:t>5 / 18</a:t>
            </a:r>
            <a:endParaRPr sz="1100" b="0">
              <a:solidFill>
                <a:srgbClr val="B0AEA5"/>
              </a:solidFill>
              <a:latin typeface="Helvetica Neue"/>
            </a:endParaRPr>
          </a:p>
        </p:txBody>
      </p:sp>
      <p:cxnSp>
        <p:nvCxnSpPr>
          <p:cNvPr id="80" name="Sep"/>
          <p:cNvCxnSpPr/>
          <p:nvPr/>
        </p:nvCxnSpPr>
        <p:spPr>
          <a:xfrm>
            <a:off x="736600" y="1549400"/>
            <a:ext cx="10731500" cy="0"/>
          </a:xfrm>
          <a:prstGeom prst="line">
            <a:avLst/>
          </a:prstGeom>
          <a:ln w="9525">
            <a:solidFill>
              <a:srgbClr val="4A4845"/>
            </a:solidFill>
          </a:ln>
        </p:spPr>
      </p:cxnSp>
      <p:sp>
        <p:nvSpPr>
          <p:cNvPr id="81" name="Label CLAUDE.md"/>
          <p:cNvSpPr/>
          <p:nvPr/>
        </p:nvSpPr>
        <p:spPr>
          <a:xfrm>
            <a:off x="736600" y="1676400"/>
            <a:ext cx="2286000" cy="482600"/>
          </a:xfrm>
          <a:prstGeom prst="rect">
            <a:avLst/>
          </a:prstGeom>
          <a:solidFill>
            <a:srgbClr val="D97757"/>
          </a:solidFill>
          <a:ln>
            <a:noFill/>
          </a:ln>
        </p:spPr>
        <p:txBody>
          <a:bodyPr wrap="square" lIns="91440" tIns="0" rIns="91440" bIns="0" anchor="ctr" anchorCtr="0"/>
          <a:lstStyle/>
          <a:p>
            <a:pPr algn="ctr"/>
            <a:r>
              <a:rPr sz="1600" b="1" dirty="0">
                <a:solidFill>
                  <a:srgbClr val="EFF2F2"/>
                </a:solidFill>
                <a:latin typeface="Hiragino Sans"/>
              </a:rPr>
              <a:t>CLAUDE.md</a:t>
            </a:r>
          </a:p>
        </p:txBody>
      </p:sp>
      <p:sp>
        <p:nvSpPr>
          <p:cNvPr id="82" name="Band CLAUDE.md"/>
          <p:cNvSpPr/>
          <p:nvPr/>
        </p:nvSpPr>
        <p:spPr>
          <a:xfrm>
            <a:off x="3022600" y="1676400"/>
            <a:ext cx="7874000" cy="482600"/>
          </a:xfrm>
          <a:prstGeom prst="rect">
            <a:avLst/>
          </a:prstGeom>
          <a:solidFill>
            <a:srgbClr val="3D2E28"/>
          </a:solidFill>
          <a:ln>
            <a:noFill/>
          </a:ln>
        </p:spPr>
        <p:txBody>
          <a:bodyPr wrap="square" lIns="137160" tIns="0" rIns="91440" bIns="0" anchor="ctr" anchorCtr="0"/>
          <a:lstStyle/>
          <a:p>
            <a:pPr algn="l"/>
            <a:r>
              <a:rPr sz="1600" b="1" dirty="0">
                <a:solidFill>
                  <a:srgbClr val="D97757"/>
                </a:solidFill>
                <a:latin typeface="Hiragino Sans"/>
              </a:rPr>
              <a:t>📌 永続的な指示書 — セッションを開くたびに自動で読み込まれる</a:t>
            </a:r>
          </a:p>
        </p:txBody>
      </p:sp>
      <p:sp>
        <p:nvSpPr>
          <p:cNvPr id="83" name="Label 会話履歴"/>
          <p:cNvSpPr/>
          <p:nvPr/>
        </p:nvSpPr>
        <p:spPr>
          <a:xfrm>
            <a:off x="736600" y="2209800"/>
            <a:ext cx="2286000" cy="762000"/>
          </a:xfrm>
          <a:prstGeom prst="rect">
            <a:avLst/>
          </a:prstGeom>
          <a:solidFill>
            <a:srgbClr val="7BC9A0"/>
          </a:solidFill>
          <a:ln>
            <a:noFill/>
          </a:ln>
        </p:spPr>
        <p:txBody>
          <a:bodyPr wrap="square" lIns="91440" tIns="0" rIns="91440" bIns="0" anchor="ctr" anchorCtr="0"/>
          <a:lstStyle/>
          <a:p>
            <a:pPr algn="ctr"/>
            <a:r>
              <a:rPr sz="1600" b="1" dirty="0">
                <a:solidFill>
                  <a:srgbClr val="EFF2F2"/>
                </a:solidFill>
                <a:latin typeface="Hiragino Sans"/>
              </a:rPr>
              <a:t>会話履歴</a:t>
            </a:r>
          </a:p>
        </p:txBody>
      </p:sp>
      <p:sp>
        <p:nvSpPr>
          <p:cNvPr id="84" name="Band 会話履歴"/>
          <p:cNvSpPr/>
          <p:nvPr/>
        </p:nvSpPr>
        <p:spPr>
          <a:xfrm>
            <a:off x="3022600" y="2209800"/>
            <a:ext cx="7874000" cy="762000"/>
          </a:xfrm>
          <a:prstGeom prst="rect">
            <a:avLst/>
          </a:prstGeom>
          <a:solidFill>
            <a:srgbClr val="2A3930"/>
          </a:solidFill>
          <a:ln>
            <a:noFill/>
          </a:ln>
        </p:spPr>
        <p:txBody>
          <a:bodyPr wrap="square" lIns="137160" tIns="0" rIns="91440" bIns="0" anchor="ctr" anchorCtr="0"/>
          <a:lstStyle/>
          <a:p>
            <a:pPr algn="l"/>
            <a:r>
              <a:rPr b="0" dirty="0">
                <a:solidFill>
                  <a:srgbClr val="E0DED8"/>
                </a:solidFill>
                <a:latin typeface="Hiragino Sans"/>
              </a:rPr>
              <a:t>ユーザーの指示とClaudeの応答が交互に蓄積</a:t>
            </a:r>
          </a:p>
        </p:txBody>
      </p:sp>
      <p:sp>
        <p:nvSpPr>
          <p:cNvPr id="85" name="Label 読んだファイル"/>
          <p:cNvSpPr/>
          <p:nvPr/>
        </p:nvSpPr>
        <p:spPr>
          <a:xfrm>
            <a:off x="736600" y="3022600"/>
            <a:ext cx="2286000" cy="762000"/>
          </a:xfrm>
          <a:prstGeom prst="rect">
            <a:avLst/>
          </a:prstGeom>
          <a:solidFill>
            <a:srgbClr val="6BADE0"/>
          </a:solidFill>
          <a:ln>
            <a:noFill/>
          </a:ln>
        </p:spPr>
        <p:txBody>
          <a:bodyPr wrap="square" lIns="91440" tIns="0" rIns="91440" bIns="0" anchor="ctr" anchorCtr="0"/>
          <a:lstStyle/>
          <a:p>
            <a:pPr algn="ctr"/>
            <a:r>
              <a:rPr sz="1600" b="1" dirty="0">
                <a:solidFill>
                  <a:srgbClr val="EFF2F2"/>
                </a:solidFill>
                <a:latin typeface="Hiragino Sans"/>
              </a:rPr>
              <a:t>読んだファイル</a:t>
            </a:r>
          </a:p>
        </p:txBody>
      </p:sp>
      <p:sp>
        <p:nvSpPr>
          <p:cNvPr id="86" name="Band 読んだファイル"/>
          <p:cNvSpPr/>
          <p:nvPr/>
        </p:nvSpPr>
        <p:spPr>
          <a:xfrm>
            <a:off x="3022600" y="3022600"/>
            <a:ext cx="7874000" cy="762000"/>
          </a:xfrm>
          <a:prstGeom prst="rect">
            <a:avLst/>
          </a:prstGeom>
          <a:solidFill>
            <a:srgbClr val="283540"/>
          </a:solidFill>
          <a:ln>
            <a:noFill/>
          </a:ln>
        </p:spPr>
        <p:txBody>
          <a:bodyPr wrap="square" lIns="137160" tIns="0" rIns="91440" bIns="0" anchor="ctr" anchorCtr="0"/>
          <a:lstStyle/>
          <a:p>
            <a:pPr algn="l"/>
            <a:r>
              <a:rPr b="0" dirty="0">
                <a:solidFill>
                  <a:srgbClr val="E0DED8"/>
                </a:solidFill>
                <a:latin typeface="Hiragino Sans"/>
              </a:rPr>
              <a:t>Claudeがコードや設定を読み取った結果</a:t>
            </a:r>
          </a:p>
        </p:txBody>
      </p:sp>
      <p:sp>
        <p:nvSpPr>
          <p:cNvPr id="87" name="Label ツール結果"/>
          <p:cNvSpPr/>
          <p:nvPr/>
        </p:nvSpPr>
        <p:spPr>
          <a:xfrm>
            <a:off x="736600" y="3835400"/>
            <a:ext cx="2286000" cy="558800"/>
          </a:xfrm>
          <a:prstGeom prst="rect">
            <a:avLst/>
          </a:prstGeom>
          <a:solidFill>
            <a:srgbClr val="C4A6E0"/>
          </a:solidFill>
          <a:ln>
            <a:noFill/>
          </a:ln>
        </p:spPr>
        <p:txBody>
          <a:bodyPr wrap="square" lIns="91440" tIns="0" rIns="91440" bIns="0" anchor="ctr" anchorCtr="0"/>
          <a:lstStyle/>
          <a:p>
            <a:pPr algn="ctr"/>
            <a:r>
              <a:rPr sz="1600" b="1" dirty="0">
                <a:solidFill>
                  <a:srgbClr val="EFF2F2"/>
                </a:solidFill>
                <a:latin typeface="Hiragino Sans"/>
              </a:rPr>
              <a:t>ツール結果</a:t>
            </a:r>
          </a:p>
        </p:txBody>
      </p:sp>
      <p:sp>
        <p:nvSpPr>
          <p:cNvPr id="88" name="Band ツール結果"/>
          <p:cNvSpPr/>
          <p:nvPr/>
        </p:nvSpPr>
        <p:spPr>
          <a:xfrm>
            <a:off x="3022600" y="3835400"/>
            <a:ext cx="7874000" cy="558800"/>
          </a:xfrm>
          <a:prstGeom prst="rect">
            <a:avLst/>
          </a:prstGeom>
          <a:solidFill>
            <a:srgbClr val="332D3D"/>
          </a:solidFill>
          <a:ln>
            <a:noFill/>
          </a:ln>
        </p:spPr>
        <p:txBody>
          <a:bodyPr wrap="square" lIns="137160" tIns="0" rIns="91440" bIns="0" anchor="ctr" anchorCtr="0"/>
          <a:lstStyle/>
          <a:p>
            <a:pPr algn="l"/>
            <a:r>
              <a:rPr b="0" dirty="0">
                <a:solidFill>
                  <a:srgbClr val="E0DED8"/>
                </a:solidFill>
                <a:latin typeface="Hiragino Sans"/>
              </a:rPr>
              <a:t>コマンド実行やテスト結果など</a:t>
            </a:r>
          </a:p>
        </p:txBody>
      </p:sp>
      <p:sp>
        <p:nvSpPr>
          <p:cNvPr id="89" name="Label 空き"/>
          <p:cNvSpPr/>
          <p:nvPr/>
        </p:nvSpPr>
        <p:spPr>
          <a:xfrm>
            <a:off x="736600" y="4445000"/>
            <a:ext cx="2286000" cy="1270000"/>
          </a:xfrm>
          <a:prstGeom prst="rect">
            <a:avLst/>
          </a:prstGeom>
          <a:solidFill>
            <a:srgbClr val="5A5850"/>
          </a:solidFill>
          <a:ln>
            <a:noFill/>
          </a:ln>
        </p:spPr>
        <p:txBody>
          <a:bodyPr wrap="square" lIns="91440" tIns="0" rIns="91440" bIns="0" anchor="ctr" anchorCtr="0"/>
          <a:lstStyle/>
          <a:p>
            <a:pPr algn="ctr"/>
            <a:r>
              <a:rPr sz="1600" b="1" dirty="0">
                <a:solidFill>
                  <a:srgbClr val="EFF2F2"/>
                </a:solidFill>
                <a:latin typeface="Hiragino Sans"/>
              </a:rPr>
              <a:t>残り容量</a:t>
            </a:r>
          </a:p>
        </p:txBody>
      </p:sp>
      <p:sp>
        <p:nvSpPr>
          <p:cNvPr id="90" name="Band 空き"/>
          <p:cNvSpPr/>
          <p:nvPr/>
        </p:nvSpPr>
        <p:spPr>
          <a:xfrm>
            <a:off x="3022600" y="4445000"/>
            <a:ext cx="7874000" cy="1270000"/>
          </a:xfrm>
          <a:prstGeom prst="rect">
            <a:avLst/>
          </a:prstGeom>
          <a:solidFill>
            <a:srgbClr val="35342F"/>
          </a:solidFill>
          <a:ln>
            <a:noFill/>
          </a:ln>
        </p:spPr>
        <p:txBody>
          <a:bodyPr wrap="square" lIns="137160" tIns="0" rIns="91440" bIns="0" anchor="ctr" anchorCtr="0"/>
          <a:lstStyle/>
          <a:p>
            <a:pPr algn="l"/>
            <a:r>
              <a:rPr b="0" dirty="0">
                <a:solidFill>
                  <a:srgbClr val="E0DED8"/>
                </a:solidFill>
                <a:latin typeface="Hiragino Sans"/>
              </a:rPr>
              <a:t>上限に近づくと自動でコンパクト（圧縮）される</a:t>
            </a:r>
          </a:p>
        </p:txBody>
      </p:sp>
      <p:sp>
        <p:nvSpPr>
          <p:cNvPr id="200" name="Brace"/>
          <p:cNvSpPr/>
          <p:nvPr/>
        </p:nvSpPr>
        <p:spPr>
          <a:xfrm>
            <a:off x="11023600" y="2209800"/>
            <a:ext cx="228600" cy="2184400"/>
          </a:xfrm>
          <a:prstGeom prst="rightBrace">
            <a:avLst>
              <a:gd name="adj1" fmla="val 23000"/>
              <a:gd name="adj2" fmla="val 50000"/>
            </a:avLst>
          </a:prstGeom>
          <a:noFill/>
          <a:ln w="19050">
            <a:solidFill>
              <a:srgbClr val="7A7870"/>
            </a:solidFill>
          </a:ln>
        </p:spPr>
        <p:txBody>
          <a:bodyPr/>
          <a:lstStyle/>
          <a:p>
            <a:endParaRPr/>
          </a:p>
        </p:txBody>
      </p:sp>
      <p:sp>
        <p:nvSpPr>
          <p:cNvPr id="202" name="SepLine"/>
          <p:cNvSpPr/>
          <p:nvPr/>
        </p:nvSpPr>
        <p:spPr>
          <a:xfrm>
            <a:off x="736600" y="2197100"/>
            <a:ext cx="10731500" cy="0"/>
          </a:xfrm>
          <a:prstGeom prst="line">
            <a:avLst/>
          </a:prstGeom>
          <a:ln w="12700">
            <a:solidFill>
              <a:srgbClr val="5A5850"/>
            </a:solidFill>
          </a:ln>
        </p:spPr>
        <p:txBody>
          <a:bodyPr/>
          <a:lstStyle/>
          <a:p>
            <a:endParaRPr/>
          </a:p>
        </p:txBody>
      </p:sp>
      <p:sp>
        <p:nvSpPr>
          <p:cNvPr id="201" name="AccumLabel"/>
          <p:cNvSpPr txBox="1"/>
          <p:nvPr/>
        </p:nvSpPr>
        <p:spPr>
          <a:xfrm>
            <a:off x="11254971" y="2780101"/>
            <a:ext cx="900000" cy="1043798"/>
          </a:xfrm>
          <a:prstGeom prst="rect">
            <a:avLst/>
          </a:prstGeom>
          <a:noFill/>
          <a:ln>
            <a:noFill/>
          </a:ln>
        </p:spPr>
        <p:txBody>
          <a:bodyPr wrap="square" lIns="0" tIns="0" rIns="0" bIns="0" anchor="ctr"/>
          <a:lstStyle/>
          <a:p>
            <a:pPr algn="ctr"/>
            <a:r>
              <a:rPr lang="ja-JP" sz="1600" b="0">
                <a:solidFill>
                  <a:srgbClr val="7A7870"/>
                </a:solidFill>
                <a:ea typeface="Hiragino Sans"/>
              </a:rPr>
              <a:t>作業中</a:t>
            </a:r>
          </a:p>
          <a:p>
            <a:pPr algn="ctr"/>
            <a:r>
              <a:rPr lang="ja-JP" sz="1600" b="0">
                <a:solidFill>
                  <a:srgbClr val="7A7870"/>
                </a:solidFill>
                <a:ea typeface="Hiragino Sans"/>
              </a:rPr>
              <a:t>に</a:t>
            </a:r>
          </a:p>
          <a:p>
            <a:pPr algn="ctr"/>
            <a:r>
              <a:rPr lang="ja-JP" sz="1600" b="0">
                <a:solidFill>
                  <a:srgbClr val="7A7870"/>
                </a:solidFill>
                <a:ea typeface="Hiragino Sans"/>
              </a:rPr>
              <a:t>蓄積</a:t>
            </a:r>
            <a:endParaRPr lang="ja-JP" sz="1600" b="0" dirty="0">
              <a:solidFill>
                <a:srgbClr val="7A7870"/>
              </a:solidFill>
              <a:ea typeface="Hiragino Sans"/>
            </a:endParaRPr>
          </a:p>
        </p:txBody>
      </p:sp>
    </p:spTree>
    <p:extLst>
      <p:ext uri="{BB962C8B-B14F-4D97-AF65-F5344CB8AC3E}">
        <p14:creationId xmlns:p14="http://schemas.microsoft.com/office/powerpoint/2010/main" val="1252918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コンテキストとCLAUDE.md</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CLAUDE.mdとは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人間のオンボーディング資料と同じ発想</a:t>
            </a:r>
          </a:p>
        </p:txBody>
      </p:sp>
      <p:sp>
        <p:nvSpPr>
          <p:cNvPr id="5" name="TextBox 4"/>
          <p:cNvSpPr txBox="1"/>
          <p:nvPr/>
        </p:nvSpPr>
        <p:spPr>
          <a:xfrm>
            <a:off x="914400" y="1650000"/>
            <a:ext cx="5000000" cy="274320"/>
          </a:xfrm>
          <a:prstGeom prst="rect">
            <a:avLst/>
          </a:prstGeom>
          <a:noFill/>
        </p:spPr>
        <p:txBody>
          <a:bodyPr wrap="square">
            <a:spAutoFit/>
          </a:bodyPr>
          <a:lstStyle/>
          <a:p>
            <a:pPr algn="l"/>
            <a:r>
              <a:rPr sz="1600" b="0">
                <a:solidFill>
                  <a:srgbClr val="E0DED8"/>
                </a:solidFill>
                <a:latin typeface="Hiragino Sans"/>
              </a:rPr>
              <a:t>•  このプロジェクトはこういう構成です</a:t>
            </a:r>
          </a:p>
        </p:txBody>
      </p:sp>
      <p:sp>
        <p:nvSpPr>
          <p:cNvPr id="6" name="TextBox 5"/>
          <p:cNvSpPr txBox="1"/>
          <p:nvPr/>
        </p:nvSpPr>
        <p:spPr>
          <a:xfrm>
            <a:off x="914400" y="1990000"/>
            <a:ext cx="5000000" cy="274320"/>
          </a:xfrm>
          <a:prstGeom prst="rect">
            <a:avLst/>
          </a:prstGeom>
          <a:noFill/>
        </p:spPr>
        <p:txBody>
          <a:bodyPr wrap="square">
            <a:spAutoFit/>
          </a:bodyPr>
          <a:lstStyle/>
          <a:p>
            <a:pPr algn="l"/>
            <a:r>
              <a:rPr sz="1600" b="0">
                <a:solidFill>
                  <a:srgbClr val="E0DED8"/>
                </a:solidFill>
                <a:latin typeface="Hiragino Sans"/>
              </a:rPr>
              <a:t>•  ビルドはこのコマンドで</a:t>
            </a:r>
          </a:p>
        </p:txBody>
      </p:sp>
      <p:sp>
        <p:nvSpPr>
          <p:cNvPr id="7" name="TextBox 6"/>
          <p:cNvSpPr txBox="1"/>
          <p:nvPr/>
        </p:nvSpPr>
        <p:spPr>
          <a:xfrm>
            <a:off x="914400" y="2330000"/>
            <a:ext cx="5000000" cy="274320"/>
          </a:xfrm>
          <a:prstGeom prst="rect">
            <a:avLst/>
          </a:prstGeom>
          <a:noFill/>
        </p:spPr>
        <p:txBody>
          <a:bodyPr wrap="square">
            <a:spAutoFit/>
          </a:bodyPr>
          <a:lstStyle/>
          <a:p>
            <a:pPr algn="l"/>
            <a:r>
              <a:rPr sz="1600" b="0">
                <a:solidFill>
                  <a:srgbClr val="E0DED8"/>
                </a:solidFill>
                <a:latin typeface="Hiragino Sans"/>
              </a:rPr>
              <a:t>•  こういうルールがあるので守ってください</a:t>
            </a:r>
          </a:p>
        </p:txBody>
      </p:sp>
      <p:sp>
        <p:nvSpPr>
          <p:cNvPr id="8" name="TextBox 7"/>
          <p:cNvSpPr txBox="1"/>
          <p:nvPr/>
        </p:nvSpPr>
        <p:spPr>
          <a:xfrm>
            <a:off x="914400" y="2670000"/>
            <a:ext cx="5000000" cy="274320"/>
          </a:xfrm>
          <a:prstGeom prst="rect">
            <a:avLst/>
          </a:prstGeom>
          <a:noFill/>
        </p:spPr>
        <p:txBody>
          <a:bodyPr wrap="square">
            <a:spAutoFit/>
          </a:bodyPr>
          <a:lstStyle/>
          <a:p>
            <a:pPr algn="l"/>
            <a:r>
              <a:rPr sz="1600" b="0">
                <a:solidFill>
                  <a:srgbClr val="E0DED8"/>
                </a:solidFill>
                <a:latin typeface="Hiragino Sans"/>
              </a:rPr>
              <a:t>•  ここは触らないでください</a:t>
            </a:r>
          </a:p>
        </p:txBody>
      </p:sp>
      <p:sp>
        <p:nvSpPr>
          <p:cNvPr id="9" name="TextBox 8"/>
          <p:cNvSpPr txBox="1"/>
          <p:nvPr/>
        </p:nvSpPr>
        <p:spPr>
          <a:xfrm>
            <a:off x="914400" y="3101440"/>
            <a:ext cx="5000000" cy="274320"/>
          </a:xfrm>
          <a:prstGeom prst="rect">
            <a:avLst/>
          </a:prstGeom>
          <a:noFill/>
        </p:spPr>
        <p:txBody>
          <a:bodyPr wrap="square">
            <a:spAutoFit/>
          </a:bodyPr>
          <a:lstStyle/>
          <a:p>
            <a:pPr algn="l"/>
            <a:r>
              <a:rPr sz="1600" b="1">
                <a:solidFill>
                  <a:srgbClr val="D97757"/>
                </a:solidFill>
                <a:latin typeface="Hiragino Sans"/>
              </a:rPr>
              <a:t>→ これをそのままCLAUDE.mdに書く</a:t>
            </a:r>
          </a:p>
        </p:txBody>
      </p:sp>
      <p:cxnSp>
        <p:nvCxnSpPr>
          <p:cNvPr id="10" name="Connector 9"/>
          <p:cNvCxnSpPr/>
          <p:nvPr/>
        </p:nvCxnSpPr>
        <p:spPr>
          <a:xfrm>
            <a:off x="713040" y="3643346"/>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3779100"/>
            <a:ext cx="5000000" cy="365760"/>
          </a:xfrm>
          <a:prstGeom prst="rect">
            <a:avLst/>
          </a:prstGeom>
          <a:noFill/>
        </p:spPr>
        <p:txBody>
          <a:bodyPr wrap="square">
            <a:spAutoFit/>
          </a:bodyPr>
          <a:lstStyle/>
          <a:p>
            <a:pPr algn="l"/>
            <a:r>
              <a:rPr sz="1800" b="1" dirty="0" err="1">
                <a:solidFill>
                  <a:srgbClr val="FAF9F5"/>
                </a:solidFill>
                <a:latin typeface="Hiragino Sans"/>
              </a:rPr>
              <a:t>配置場所と読み込みルール</a:t>
            </a:r>
            <a:endParaRPr sz="1800" b="1" dirty="0">
              <a:solidFill>
                <a:srgbClr val="FAF9F5"/>
              </a:solidFill>
              <a:latin typeface="Hiragino Sans"/>
            </a:endParaRPr>
          </a:p>
        </p:txBody>
      </p:sp>
      <p:sp>
        <p:nvSpPr>
          <p:cNvPr id="12" name="Rectangle 11"/>
          <p:cNvSpPr/>
          <p:nvPr/>
        </p:nvSpPr>
        <p:spPr>
          <a:xfrm>
            <a:off x="731520" y="4219980"/>
            <a:ext cx="3600000" cy="4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4311420"/>
            <a:ext cx="3417120" cy="274320"/>
          </a:xfrm>
          <a:prstGeom prst="rect">
            <a:avLst/>
          </a:prstGeom>
          <a:noFill/>
        </p:spPr>
        <p:txBody>
          <a:bodyPr wrap="square">
            <a:spAutoFit/>
          </a:bodyPr>
          <a:lstStyle/>
          <a:p>
            <a:pPr algn="l"/>
            <a:r>
              <a:rPr sz="1400" b="1">
                <a:solidFill>
                  <a:srgbClr val="D97757"/>
                </a:solidFill>
                <a:latin typeface="Hiragino Sans"/>
              </a:rPr>
              <a:t>場所</a:t>
            </a:r>
          </a:p>
        </p:txBody>
      </p:sp>
      <p:sp>
        <p:nvSpPr>
          <p:cNvPr id="14" name="Rectangle 13"/>
          <p:cNvSpPr/>
          <p:nvPr/>
        </p:nvSpPr>
        <p:spPr>
          <a:xfrm>
            <a:off x="4331520" y="4219980"/>
            <a:ext cx="2400000" cy="4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22960" y="4311420"/>
            <a:ext cx="2217120" cy="274320"/>
          </a:xfrm>
          <a:prstGeom prst="rect">
            <a:avLst/>
          </a:prstGeom>
          <a:noFill/>
        </p:spPr>
        <p:txBody>
          <a:bodyPr wrap="square">
            <a:spAutoFit/>
          </a:bodyPr>
          <a:lstStyle/>
          <a:p>
            <a:pPr algn="l"/>
            <a:r>
              <a:rPr sz="1400" b="1">
                <a:solidFill>
                  <a:srgbClr val="D97757"/>
                </a:solidFill>
                <a:latin typeface="Hiragino Sans"/>
              </a:rPr>
              <a:t>読み込み</a:t>
            </a:r>
          </a:p>
        </p:txBody>
      </p:sp>
      <p:sp>
        <p:nvSpPr>
          <p:cNvPr id="16" name="Rectangle 15"/>
          <p:cNvSpPr/>
          <p:nvPr/>
        </p:nvSpPr>
        <p:spPr>
          <a:xfrm>
            <a:off x="6731520" y="4219980"/>
            <a:ext cx="4728960" cy="4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22960" y="4311420"/>
            <a:ext cx="4546080" cy="274320"/>
          </a:xfrm>
          <a:prstGeom prst="rect">
            <a:avLst/>
          </a:prstGeom>
          <a:noFill/>
        </p:spPr>
        <p:txBody>
          <a:bodyPr wrap="square">
            <a:spAutoFit/>
          </a:bodyPr>
          <a:lstStyle/>
          <a:p>
            <a:pPr algn="l"/>
            <a:r>
              <a:rPr sz="1400" b="1">
                <a:solidFill>
                  <a:srgbClr val="D97757"/>
                </a:solidFill>
                <a:latin typeface="Hiragino Sans"/>
              </a:rPr>
              <a:t>用途</a:t>
            </a:r>
          </a:p>
        </p:txBody>
      </p:sp>
      <p:sp>
        <p:nvSpPr>
          <p:cNvPr id="18" name="Rectangle 17"/>
          <p:cNvSpPr/>
          <p:nvPr/>
        </p:nvSpPr>
        <p:spPr>
          <a:xfrm>
            <a:off x="731520" y="4619980"/>
            <a:ext cx="3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688560"/>
            <a:ext cx="3417120" cy="274320"/>
          </a:xfrm>
          <a:prstGeom prst="rect">
            <a:avLst/>
          </a:prstGeom>
          <a:noFill/>
        </p:spPr>
        <p:txBody>
          <a:bodyPr wrap="square">
            <a:spAutoFit/>
          </a:bodyPr>
          <a:lstStyle/>
          <a:p>
            <a:pPr algn="l"/>
            <a:r>
              <a:rPr sz="1400" b="0">
                <a:solidFill>
                  <a:srgbClr val="FAF9F5"/>
                </a:solidFill>
                <a:latin typeface="SF Mono"/>
              </a:rPr>
              <a:t>~/.claude/CLAUDE.md</a:t>
            </a:r>
          </a:p>
        </p:txBody>
      </p:sp>
      <p:sp>
        <p:nvSpPr>
          <p:cNvPr id="20" name="Rectangle 19"/>
          <p:cNvSpPr/>
          <p:nvPr/>
        </p:nvSpPr>
        <p:spPr>
          <a:xfrm>
            <a:off x="4331520" y="4619980"/>
            <a:ext cx="24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422960" y="4688560"/>
            <a:ext cx="2217120" cy="274320"/>
          </a:xfrm>
          <a:prstGeom prst="rect">
            <a:avLst/>
          </a:prstGeom>
          <a:noFill/>
        </p:spPr>
        <p:txBody>
          <a:bodyPr wrap="square">
            <a:spAutoFit/>
          </a:bodyPr>
          <a:lstStyle/>
          <a:p>
            <a:pPr algn="l"/>
            <a:r>
              <a:rPr sz="1400" b="0">
                <a:solidFill>
                  <a:srgbClr val="E0DED8"/>
                </a:solidFill>
                <a:latin typeface="Hiragino Sans"/>
              </a:rPr>
              <a:t>常に</a:t>
            </a:r>
          </a:p>
        </p:txBody>
      </p:sp>
      <p:sp>
        <p:nvSpPr>
          <p:cNvPr id="22" name="Rectangle 21"/>
          <p:cNvSpPr/>
          <p:nvPr/>
        </p:nvSpPr>
        <p:spPr>
          <a:xfrm>
            <a:off x="6731520" y="4619980"/>
            <a:ext cx="4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22960" y="4688560"/>
            <a:ext cx="4546080" cy="274320"/>
          </a:xfrm>
          <a:prstGeom prst="rect">
            <a:avLst/>
          </a:prstGeom>
          <a:noFill/>
        </p:spPr>
        <p:txBody>
          <a:bodyPr wrap="square">
            <a:spAutoFit/>
          </a:bodyPr>
          <a:lstStyle/>
          <a:p>
            <a:pPr algn="l"/>
            <a:r>
              <a:rPr sz="1400" b="0">
                <a:solidFill>
                  <a:srgbClr val="E0DED8"/>
                </a:solidFill>
                <a:latin typeface="Hiragino Sans"/>
              </a:rPr>
              <a:t>個人の全プロジェクト共通設定</a:t>
            </a:r>
          </a:p>
        </p:txBody>
      </p:sp>
      <p:sp>
        <p:nvSpPr>
          <p:cNvPr id="24" name="Rectangle 23"/>
          <p:cNvSpPr/>
          <p:nvPr/>
        </p:nvSpPr>
        <p:spPr>
          <a:xfrm>
            <a:off x="731520" y="4989980"/>
            <a:ext cx="3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5058560"/>
            <a:ext cx="3417120" cy="307777"/>
          </a:xfrm>
          <a:prstGeom prst="rect">
            <a:avLst/>
          </a:prstGeom>
          <a:noFill/>
        </p:spPr>
        <p:txBody>
          <a:bodyPr wrap="square">
            <a:spAutoFit/>
          </a:bodyPr>
          <a:lstStyle/>
          <a:p>
            <a:pPr algn="l"/>
            <a:r>
              <a:rPr lang="en-US" sz="1400" b="0" dirty="0">
                <a:solidFill>
                  <a:srgbClr val="FAF9F5"/>
                </a:solidFill>
                <a:latin typeface="SF Mono"/>
              </a:rPr>
              <a:t>&lt;</a:t>
            </a:r>
            <a:r>
              <a:rPr sz="1400" b="0" dirty="0" err="1">
                <a:solidFill>
                  <a:srgbClr val="FAF9F5"/>
                </a:solidFill>
                <a:latin typeface="SF Mono"/>
              </a:rPr>
              <a:t>プロジェクト</a:t>
            </a:r>
            <a:r>
              <a:rPr lang="en-US" sz="1400" b="0" dirty="0">
                <a:solidFill>
                  <a:srgbClr val="FAF9F5"/>
                </a:solidFill>
                <a:latin typeface="SF Mono"/>
              </a:rPr>
              <a:t>&gt;</a:t>
            </a:r>
            <a:r>
              <a:rPr sz="1400" b="0" dirty="0">
                <a:solidFill>
                  <a:srgbClr val="FAF9F5"/>
                </a:solidFill>
                <a:latin typeface="SF Mono"/>
              </a:rPr>
              <a:t>/</a:t>
            </a:r>
            <a:r>
              <a:rPr sz="1400" b="0" dirty="0" err="1">
                <a:solidFill>
                  <a:srgbClr val="FAF9F5"/>
                </a:solidFill>
                <a:latin typeface="SF Mono"/>
              </a:rPr>
              <a:t>CLAUDE.md</a:t>
            </a:r>
            <a:endParaRPr sz="1400" b="0" dirty="0">
              <a:solidFill>
                <a:srgbClr val="FAF9F5"/>
              </a:solidFill>
              <a:latin typeface="SF Mono"/>
            </a:endParaRPr>
          </a:p>
        </p:txBody>
      </p:sp>
      <p:sp>
        <p:nvSpPr>
          <p:cNvPr id="26" name="Rectangle 25"/>
          <p:cNvSpPr/>
          <p:nvPr/>
        </p:nvSpPr>
        <p:spPr>
          <a:xfrm>
            <a:off x="4331520" y="4989980"/>
            <a:ext cx="24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22960" y="5058560"/>
            <a:ext cx="2217120" cy="274320"/>
          </a:xfrm>
          <a:prstGeom prst="rect">
            <a:avLst/>
          </a:prstGeom>
          <a:noFill/>
        </p:spPr>
        <p:txBody>
          <a:bodyPr wrap="square">
            <a:spAutoFit/>
          </a:bodyPr>
          <a:lstStyle/>
          <a:p>
            <a:pPr algn="l"/>
            <a:r>
              <a:rPr sz="1400" b="0">
                <a:solidFill>
                  <a:srgbClr val="E0DED8"/>
                </a:solidFill>
                <a:latin typeface="Hiragino Sans"/>
              </a:rPr>
              <a:t>常に</a:t>
            </a:r>
          </a:p>
        </p:txBody>
      </p:sp>
      <p:sp>
        <p:nvSpPr>
          <p:cNvPr id="28" name="Rectangle 27"/>
          <p:cNvSpPr/>
          <p:nvPr/>
        </p:nvSpPr>
        <p:spPr>
          <a:xfrm>
            <a:off x="6731520" y="4989980"/>
            <a:ext cx="4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822960" y="5058560"/>
            <a:ext cx="4546080" cy="274320"/>
          </a:xfrm>
          <a:prstGeom prst="rect">
            <a:avLst/>
          </a:prstGeom>
          <a:noFill/>
        </p:spPr>
        <p:txBody>
          <a:bodyPr wrap="square">
            <a:spAutoFit/>
          </a:bodyPr>
          <a:lstStyle/>
          <a:p>
            <a:pPr algn="l"/>
            <a:r>
              <a:rPr sz="1400" b="0">
                <a:solidFill>
                  <a:srgbClr val="E0DED8"/>
                </a:solidFill>
                <a:latin typeface="Hiragino Sans"/>
              </a:rPr>
              <a:t>プロジェクト固有の設定（チーム共有）</a:t>
            </a:r>
          </a:p>
        </p:txBody>
      </p:sp>
      <p:sp>
        <p:nvSpPr>
          <p:cNvPr id="30" name="Rectangle 29"/>
          <p:cNvSpPr/>
          <p:nvPr/>
        </p:nvSpPr>
        <p:spPr>
          <a:xfrm>
            <a:off x="731520" y="5359980"/>
            <a:ext cx="3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428560"/>
            <a:ext cx="3417120" cy="307777"/>
          </a:xfrm>
          <a:prstGeom prst="rect">
            <a:avLst/>
          </a:prstGeom>
          <a:noFill/>
        </p:spPr>
        <p:txBody>
          <a:bodyPr wrap="square">
            <a:spAutoFit/>
          </a:bodyPr>
          <a:lstStyle/>
          <a:p>
            <a:pPr algn="l"/>
            <a:r>
              <a:rPr lang="en-US" sz="1400" b="0" dirty="0">
                <a:solidFill>
                  <a:srgbClr val="FAF9F5"/>
                </a:solidFill>
                <a:latin typeface="SF Mono"/>
              </a:rPr>
              <a:t>&lt;</a:t>
            </a:r>
            <a:r>
              <a:rPr sz="1400" b="0" dirty="0" err="1">
                <a:solidFill>
                  <a:srgbClr val="FAF9F5"/>
                </a:solidFill>
                <a:latin typeface="SF Mono"/>
              </a:rPr>
              <a:t>サブディレクトリ</a:t>
            </a:r>
            <a:r>
              <a:rPr lang="en-US" sz="1400" b="0" dirty="0">
                <a:solidFill>
                  <a:srgbClr val="FAF9F5"/>
                </a:solidFill>
                <a:latin typeface="SF Mono"/>
              </a:rPr>
              <a:t>&gt;</a:t>
            </a:r>
            <a:r>
              <a:rPr sz="1400" b="0" dirty="0">
                <a:solidFill>
                  <a:srgbClr val="FAF9F5"/>
                </a:solidFill>
                <a:latin typeface="SF Mono"/>
              </a:rPr>
              <a:t>/</a:t>
            </a:r>
            <a:r>
              <a:rPr sz="1400" b="0" dirty="0" err="1">
                <a:solidFill>
                  <a:srgbClr val="FAF9F5"/>
                </a:solidFill>
                <a:latin typeface="SF Mono"/>
              </a:rPr>
              <a:t>CLAUDE.md</a:t>
            </a:r>
            <a:endParaRPr sz="1400" b="0" dirty="0">
              <a:solidFill>
                <a:srgbClr val="FAF9F5"/>
              </a:solidFill>
              <a:latin typeface="SF Mono"/>
            </a:endParaRPr>
          </a:p>
        </p:txBody>
      </p:sp>
      <p:sp>
        <p:nvSpPr>
          <p:cNvPr id="32" name="Rectangle 31"/>
          <p:cNvSpPr/>
          <p:nvPr/>
        </p:nvSpPr>
        <p:spPr>
          <a:xfrm>
            <a:off x="4331520" y="5359980"/>
            <a:ext cx="24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22960" y="5428560"/>
            <a:ext cx="2217120" cy="274320"/>
          </a:xfrm>
          <a:prstGeom prst="rect">
            <a:avLst/>
          </a:prstGeom>
          <a:noFill/>
        </p:spPr>
        <p:txBody>
          <a:bodyPr wrap="square">
            <a:spAutoFit/>
          </a:bodyPr>
          <a:lstStyle/>
          <a:p>
            <a:pPr algn="l"/>
            <a:r>
              <a:rPr sz="1400" b="0">
                <a:solidFill>
                  <a:srgbClr val="E0DED8"/>
                </a:solidFill>
                <a:latin typeface="Hiragino Sans"/>
                <a:ea typeface="Hiragino Sans"/>
              </a:rPr>
              <a:t>作業時に追加</a:t>
            </a:r>
          </a:p>
        </p:txBody>
      </p:sp>
      <p:sp>
        <p:nvSpPr>
          <p:cNvPr id="34" name="Rectangle 33"/>
          <p:cNvSpPr/>
          <p:nvPr/>
        </p:nvSpPr>
        <p:spPr>
          <a:xfrm>
            <a:off x="6731520" y="5359980"/>
            <a:ext cx="4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22960" y="5428560"/>
            <a:ext cx="4546080" cy="274320"/>
          </a:xfrm>
          <a:prstGeom prst="rect">
            <a:avLst/>
          </a:prstGeom>
          <a:noFill/>
        </p:spPr>
        <p:txBody>
          <a:bodyPr wrap="square">
            <a:spAutoFit/>
          </a:bodyPr>
          <a:lstStyle/>
          <a:p>
            <a:pPr algn="l"/>
            <a:r>
              <a:rPr sz="1400" b="0">
                <a:solidFill>
                  <a:srgbClr val="E0DED8"/>
                </a:solidFill>
                <a:latin typeface="Hiragino Sans"/>
                <a:ea typeface="Hiragino Sans"/>
              </a:rPr>
              <a:t>上位 + モジュール固有の指示</a:t>
            </a:r>
          </a:p>
        </p:txBody>
      </p:sp>
      <p:sp>
        <p:nvSpPr>
          <p:cNvPr id="36" name="Rectangle 35"/>
          <p:cNvSpPr/>
          <p:nvPr/>
        </p:nvSpPr>
        <p:spPr>
          <a:xfrm>
            <a:off x="731520" y="6058304"/>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31520" y="6062172"/>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14400" y="6149744"/>
            <a:ext cx="10400000" cy="365760"/>
          </a:xfrm>
          <a:prstGeom prst="rect">
            <a:avLst/>
          </a:prstGeom>
          <a:noFill/>
        </p:spPr>
        <p:txBody>
          <a:bodyPr wrap="square">
            <a:spAutoFit/>
          </a:bodyPr>
          <a:lstStyle/>
          <a:p>
            <a:pPr algn="l"/>
            <a:r>
              <a:rPr sz="1400" b="1">
                <a:solidFill>
                  <a:srgbClr val="D97757"/>
                </a:solidFill>
                <a:latin typeface="Hiragino Sans"/>
              </a:rPr>
              <a:t>→ チームでバージョン管理すれば、全員が同じ「教え方」でClaude Codeを使える</a:t>
            </a:r>
          </a:p>
        </p:txBody>
      </p:sp>
      <p:sp>
        <p:nvSpPr>
          <p:cNvPr id="39" name="TextBox 38"/>
          <p:cNvSpPr txBox="1"/>
          <p:nvPr/>
        </p:nvSpPr>
        <p:spPr>
          <a:xfrm>
            <a:off x="10992000" y="6458000"/>
            <a:ext cx="900000" cy="274320"/>
          </a:xfrm>
          <a:prstGeom prst="rect">
            <a:avLst/>
          </a:prstGeom>
          <a:noFill/>
        </p:spPr>
        <p:txBody>
          <a:bodyPr wrap="square">
            <a:spAutoFit/>
          </a:bodyPr>
          <a:lstStyle/>
          <a:p>
            <a:pPr algn="r"/>
            <a:r>
              <a:rPr lang="en-US" altLang="ja-JP" sz="1100" b="0">
                <a:solidFill>
                  <a:srgbClr val="B0AEA5"/>
                </a:solidFill>
                <a:latin typeface="Helvetica Neue"/>
              </a:rPr>
              <a:t>7 / 18</a:t>
            </a:r>
            <a:endParaRPr sz="1100" b="0">
              <a:solidFill>
                <a:srgbClr val="B0AEA5"/>
              </a:solidFill>
              <a:latin typeface="Helvetica Neue"/>
            </a:endParaRPr>
          </a:p>
        </p:txBody>
      </p:sp>
      <p:sp>
        <p:nvSpPr>
          <p:cNvPr id="300" name="Footnote"/>
          <p:cNvSpPr txBox="1"/>
          <p:nvPr/>
        </p:nvSpPr>
        <p:spPr>
          <a:xfrm>
            <a:off x="736600" y="5778500"/>
            <a:ext cx="10731500" cy="254000"/>
          </a:xfrm>
          <a:prstGeom prst="rect">
            <a:avLst/>
          </a:prstGeom>
          <a:noFill/>
          <a:ln>
            <a:noFill/>
          </a:ln>
        </p:spPr>
        <p:txBody>
          <a:bodyPr wrap="square" lIns="0" tIns="0" rIns="0" bIns="0" anchor="t"/>
          <a:lstStyle/>
          <a:p>
            <a:pPr algn="l"/>
            <a:r>
              <a:rPr lang="ja-JP" sz="1200" b="0" dirty="0">
                <a:solidFill>
                  <a:srgbClr val="7A7870"/>
                </a:solidFill>
                <a:latin typeface="Hiragino Sans"/>
                <a:ea typeface="Hiragino Sans"/>
              </a:rPr>
              <a:t>※ サブディレクトリで作業時は、上位のCLAUDE.mdもすべて遍って読み込まれる</a:t>
            </a:r>
          </a:p>
        </p:txBody>
      </p:sp>
    </p:spTree>
    <p:extLst>
      <p:ext uri="{BB962C8B-B14F-4D97-AF65-F5344CB8AC3E}">
        <p14:creationId xmlns:p14="http://schemas.microsoft.com/office/powerpoint/2010/main" val="72672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コンテキストとCLAUDE.md</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dirty="0" err="1">
                <a:solidFill>
                  <a:srgbClr val="FAF9F5"/>
                </a:solidFill>
                <a:latin typeface="Hiragino Sans"/>
              </a:rPr>
              <a:t>CLAUDE.mdに書くべき内容</a:t>
            </a:r>
            <a:endParaRPr sz="2800" b="1" dirty="0">
              <a:solidFill>
                <a:srgbClr val="FAF9F5"/>
              </a:solidFill>
              <a:latin typeface="Hiragino Sans"/>
            </a:endParaRP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B0AEA5"/>
                </a:solidFill>
                <a:latin typeface="Hiragino Sans"/>
              </a:rPr>
              <a:t>4カテゴリに分けて考える</a:t>
            </a:r>
          </a:p>
        </p:txBody>
      </p:sp>
      <p:sp>
        <p:nvSpPr>
          <p:cNvPr id="5" name="Rounded Rectangle 4"/>
          <p:cNvSpPr/>
          <p:nvPr/>
        </p:nvSpPr>
        <p:spPr>
          <a:xfrm>
            <a:off x="731520" y="1650000"/>
            <a:ext cx="5200000" cy="17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68680" y="178716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1</a:t>
            </a:r>
          </a:p>
        </p:txBody>
      </p:sp>
      <p:sp>
        <p:nvSpPr>
          <p:cNvPr id="7" name="TextBox 6"/>
          <p:cNvSpPr txBox="1"/>
          <p:nvPr/>
        </p:nvSpPr>
        <p:spPr>
          <a:xfrm>
            <a:off x="1325880" y="1787160"/>
            <a:ext cx="4200000" cy="365760"/>
          </a:xfrm>
          <a:prstGeom prst="rect">
            <a:avLst/>
          </a:prstGeom>
          <a:noFill/>
        </p:spPr>
        <p:txBody>
          <a:bodyPr wrap="square">
            <a:spAutoFit/>
          </a:bodyPr>
          <a:lstStyle/>
          <a:p>
            <a:pPr algn="l"/>
            <a:r>
              <a:rPr sz="1600" b="1">
                <a:solidFill>
                  <a:srgbClr val="FAF9F5"/>
                </a:solidFill>
                <a:latin typeface="Hiragino Sans"/>
              </a:rPr>
              <a:t>プロジェクト概要</a:t>
            </a:r>
          </a:p>
        </p:txBody>
      </p:sp>
      <p:sp>
        <p:nvSpPr>
          <p:cNvPr id="8" name="Rounded Rectangle 7"/>
          <p:cNvSpPr/>
          <p:nvPr/>
        </p:nvSpPr>
        <p:spPr>
          <a:xfrm>
            <a:off x="868680" y="2244360"/>
            <a:ext cx="4925680" cy="96848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2335800"/>
            <a:ext cx="4651360" cy="785600"/>
          </a:xfrm>
          <a:prstGeom prst="rect">
            <a:avLst/>
          </a:prstGeom>
          <a:noFill/>
        </p:spPr>
        <p:txBody>
          <a:bodyPr wrap="square">
            <a:spAutoFit/>
          </a:bodyPr>
          <a:lstStyle/>
          <a:p>
            <a:pPr algn="l"/>
            <a:r>
              <a:rPr sz="1200" b="0" dirty="0">
                <a:solidFill>
                  <a:srgbClr val="E0DED8"/>
                </a:solidFill>
                <a:latin typeface="SF Mono"/>
              </a:rPr>
              <a:t>## </a:t>
            </a:r>
            <a:r>
              <a:rPr sz="1200" b="0" dirty="0" err="1">
                <a:solidFill>
                  <a:srgbClr val="E0DED8"/>
                </a:solidFill>
                <a:latin typeface="SF Mono"/>
              </a:rPr>
              <a:t>リポジトリ概要</a:t>
            </a:r>
            <a:endParaRPr sz="1200" b="0" dirty="0">
              <a:solidFill>
                <a:srgbClr val="E0DED8"/>
              </a:solidFill>
              <a:latin typeface="SF Mono"/>
            </a:endParaRPr>
          </a:p>
          <a:p>
            <a:pPr algn="l"/>
            <a:r>
              <a:rPr lang="en-US" sz="1200" b="0" dirty="0" err="1">
                <a:solidFill>
                  <a:srgbClr val="E0DED8"/>
                </a:solidFill>
                <a:latin typeface="SF Mono"/>
              </a:rPr>
              <a:t>Zenn</a:t>
            </a:r>
            <a:r>
              <a:rPr sz="1200" b="0" dirty="0" err="1">
                <a:solidFill>
                  <a:srgbClr val="E0DED8"/>
                </a:solidFill>
                <a:latin typeface="SF Mono"/>
              </a:rPr>
              <a:t>に公開する技術記事を</a:t>
            </a:r>
            <a:endParaRPr sz="1200" b="0" dirty="0">
              <a:solidFill>
                <a:srgbClr val="E0DED8"/>
              </a:solidFill>
              <a:latin typeface="SF Mono"/>
            </a:endParaRPr>
          </a:p>
          <a:p>
            <a:pPr algn="l"/>
            <a:r>
              <a:rPr sz="1200" b="0" dirty="0" err="1">
                <a:solidFill>
                  <a:srgbClr val="E0DED8"/>
                </a:solidFill>
                <a:latin typeface="SF Mono"/>
              </a:rPr>
              <a:t>管理するリポジトリ</a:t>
            </a:r>
            <a:r>
              <a:rPr sz="1200" b="0" dirty="0">
                <a:solidFill>
                  <a:srgbClr val="E0DED8"/>
                </a:solidFill>
                <a:latin typeface="SF Mono"/>
              </a:rPr>
              <a:t>。</a:t>
            </a:r>
          </a:p>
        </p:txBody>
      </p:sp>
      <p:sp>
        <p:nvSpPr>
          <p:cNvPr id="10" name="Rounded Rectangle 9"/>
          <p:cNvSpPr/>
          <p:nvPr/>
        </p:nvSpPr>
        <p:spPr>
          <a:xfrm>
            <a:off x="6160120" y="1650000"/>
            <a:ext cx="5200000" cy="17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297280" y="178716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2</a:t>
            </a:r>
          </a:p>
        </p:txBody>
      </p:sp>
      <p:sp>
        <p:nvSpPr>
          <p:cNvPr id="12" name="TextBox 11"/>
          <p:cNvSpPr txBox="1"/>
          <p:nvPr/>
        </p:nvSpPr>
        <p:spPr>
          <a:xfrm>
            <a:off x="6754480" y="1787160"/>
            <a:ext cx="4200000" cy="365760"/>
          </a:xfrm>
          <a:prstGeom prst="rect">
            <a:avLst/>
          </a:prstGeom>
          <a:noFill/>
        </p:spPr>
        <p:txBody>
          <a:bodyPr wrap="square">
            <a:spAutoFit/>
          </a:bodyPr>
          <a:lstStyle/>
          <a:p>
            <a:pPr algn="l"/>
            <a:r>
              <a:rPr sz="1600" b="1">
                <a:solidFill>
                  <a:srgbClr val="FAF9F5"/>
                </a:solidFill>
                <a:latin typeface="Hiragino Sans"/>
              </a:rPr>
              <a:t>よく使うコマンド</a:t>
            </a:r>
          </a:p>
        </p:txBody>
      </p:sp>
      <p:sp>
        <p:nvSpPr>
          <p:cNvPr id="13" name="Rounded Rectangle 12"/>
          <p:cNvSpPr/>
          <p:nvPr/>
        </p:nvSpPr>
        <p:spPr>
          <a:xfrm>
            <a:off x="6297280" y="2244360"/>
            <a:ext cx="4925680" cy="96848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34440" y="2335800"/>
            <a:ext cx="4651360" cy="785600"/>
          </a:xfrm>
          <a:prstGeom prst="rect">
            <a:avLst/>
          </a:prstGeom>
          <a:noFill/>
        </p:spPr>
        <p:txBody>
          <a:bodyPr wrap="square">
            <a:spAutoFit/>
          </a:bodyPr>
          <a:lstStyle/>
          <a:p>
            <a:pPr algn="l"/>
            <a:r>
              <a:rPr sz="1200" b="0" dirty="0" err="1">
                <a:solidFill>
                  <a:srgbClr val="E0DED8"/>
                </a:solidFill>
                <a:latin typeface="SF Mono"/>
              </a:rPr>
              <a:t>npm</a:t>
            </a:r>
            <a:r>
              <a:rPr sz="1200" b="0" dirty="0">
                <a:solidFill>
                  <a:srgbClr val="E0DED8"/>
                </a:solidFill>
                <a:latin typeface="SF Mono"/>
              </a:rPr>
              <a:t> run preview  # </a:t>
            </a:r>
            <a:r>
              <a:rPr sz="1200" b="0" dirty="0" err="1">
                <a:solidFill>
                  <a:srgbClr val="E0DED8"/>
                </a:solidFill>
                <a:latin typeface="SF Mono"/>
              </a:rPr>
              <a:t>プレビュ</a:t>
            </a:r>
            <a:r>
              <a:rPr sz="1200" b="0" dirty="0">
                <a:solidFill>
                  <a:srgbClr val="E0DED8"/>
                </a:solidFill>
                <a:latin typeface="SF Mono"/>
              </a:rPr>
              <a:t>ー</a:t>
            </a:r>
          </a:p>
          <a:p>
            <a:pPr algn="l"/>
            <a:r>
              <a:rPr sz="1200" b="0" dirty="0" err="1">
                <a:solidFill>
                  <a:srgbClr val="E0DED8"/>
                </a:solidFill>
                <a:latin typeface="SF Mono"/>
              </a:rPr>
              <a:t>npm</a:t>
            </a:r>
            <a:r>
              <a:rPr sz="1200" b="0" dirty="0">
                <a:solidFill>
                  <a:srgbClr val="E0DED8"/>
                </a:solidFill>
                <a:latin typeface="SF Mono"/>
              </a:rPr>
              <a:t> run lint     # </a:t>
            </a:r>
            <a:r>
              <a:rPr sz="1200" b="0" dirty="0" err="1">
                <a:solidFill>
                  <a:srgbClr val="E0DED8"/>
                </a:solidFill>
                <a:latin typeface="SF Mono"/>
              </a:rPr>
              <a:t>チェック</a:t>
            </a:r>
            <a:endParaRPr sz="1200" b="0" dirty="0">
              <a:solidFill>
                <a:srgbClr val="E0DED8"/>
              </a:solidFill>
              <a:latin typeface="SF Mono"/>
            </a:endParaRPr>
          </a:p>
          <a:p>
            <a:pPr algn="l"/>
            <a:r>
              <a:rPr sz="1200" b="0" dirty="0" err="1">
                <a:solidFill>
                  <a:srgbClr val="E0DED8"/>
                </a:solidFill>
                <a:latin typeface="SF Mono"/>
              </a:rPr>
              <a:t>npm</a:t>
            </a:r>
            <a:r>
              <a:rPr sz="1200" b="0" dirty="0">
                <a:solidFill>
                  <a:srgbClr val="E0DED8"/>
                </a:solidFill>
                <a:latin typeface="SF Mono"/>
              </a:rPr>
              <a:t> run </a:t>
            </a:r>
            <a:r>
              <a:rPr sz="1200" b="0" dirty="0" err="1">
                <a:solidFill>
                  <a:srgbClr val="E0DED8"/>
                </a:solidFill>
                <a:latin typeface="SF Mono"/>
              </a:rPr>
              <a:t>lint:fix</a:t>
            </a:r>
            <a:r>
              <a:rPr sz="1200" b="0" dirty="0">
                <a:solidFill>
                  <a:srgbClr val="E0DED8"/>
                </a:solidFill>
                <a:latin typeface="SF Mono"/>
              </a:rPr>
              <a:t> # </a:t>
            </a:r>
            <a:r>
              <a:rPr sz="1200" b="0" dirty="0" err="1">
                <a:solidFill>
                  <a:srgbClr val="E0DED8"/>
                </a:solidFill>
                <a:latin typeface="SF Mono"/>
              </a:rPr>
              <a:t>自動修正</a:t>
            </a:r>
            <a:endParaRPr sz="1200" b="0" dirty="0">
              <a:solidFill>
                <a:srgbClr val="E0DED8"/>
              </a:solidFill>
              <a:latin typeface="SF Mono"/>
            </a:endParaRPr>
          </a:p>
        </p:txBody>
      </p:sp>
      <p:sp>
        <p:nvSpPr>
          <p:cNvPr id="15" name="Rounded Rectangle 14"/>
          <p:cNvSpPr/>
          <p:nvPr/>
        </p:nvSpPr>
        <p:spPr>
          <a:xfrm>
            <a:off x="731520" y="3578600"/>
            <a:ext cx="5200000" cy="17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68680" y="371576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3</a:t>
            </a:r>
          </a:p>
        </p:txBody>
      </p:sp>
      <p:sp>
        <p:nvSpPr>
          <p:cNvPr id="17" name="TextBox 16"/>
          <p:cNvSpPr txBox="1"/>
          <p:nvPr/>
        </p:nvSpPr>
        <p:spPr>
          <a:xfrm>
            <a:off x="1325880" y="3715760"/>
            <a:ext cx="4200000" cy="365760"/>
          </a:xfrm>
          <a:prstGeom prst="rect">
            <a:avLst/>
          </a:prstGeom>
          <a:noFill/>
        </p:spPr>
        <p:txBody>
          <a:bodyPr wrap="square">
            <a:spAutoFit/>
          </a:bodyPr>
          <a:lstStyle/>
          <a:p>
            <a:pPr algn="l"/>
            <a:r>
              <a:rPr sz="1600" b="1">
                <a:solidFill>
                  <a:srgbClr val="FAF9F5"/>
                </a:solidFill>
                <a:latin typeface="Hiragino Sans"/>
              </a:rPr>
              <a:t>コーディング規約</a:t>
            </a:r>
          </a:p>
        </p:txBody>
      </p:sp>
      <p:sp>
        <p:nvSpPr>
          <p:cNvPr id="18" name="Rounded Rectangle 17"/>
          <p:cNvSpPr/>
          <p:nvPr/>
        </p:nvSpPr>
        <p:spPr>
          <a:xfrm>
            <a:off x="868680" y="4172960"/>
            <a:ext cx="4925680" cy="96848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4264400"/>
            <a:ext cx="4651360" cy="785600"/>
          </a:xfrm>
          <a:prstGeom prst="rect">
            <a:avLst/>
          </a:prstGeom>
          <a:noFill/>
        </p:spPr>
        <p:txBody>
          <a:bodyPr wrap="square">
            <a:spAutoFit/>
          </a:bodyPr>
          <a:lstStyle/>
          <a:p>
            <a:pPr algn="l"/>
            <a:r>
              <a:rPr sz="1200" b="0">
                <a:solidFill>
                  <a:srgbClr val="E0DED8"/>
                </a:solidFill>
                <a:latin typeface="SF Mono"/>
              </a:rPr>
              <a:t>## Python</a:t>
            </a:r>
          </a:p>
          <a:p>
            <a:pPr algn="l"/>
            <a:r>
              <a:rPr sz="1200" b="0">
                <a:solidFill>
                  <a:srgbClr val="E0DED8"/>
                </a:solidFill>
                <a:latin typeface="SF Mono"/>
              </a:rPr>
              <a:t>Python を使う場合は</a:t>
            </a:r>
          </a:p>
          <a:p>
            <a:pPr algn="l"/>
            <a:r>
              <a:rPr sz="1200" b="0">
                <a:solidFill>
                  <a:srgbClr val="E0DED8"/>
                </a:solidFill>
                <a:latin typeface="SF Mono"/>
              </a:rPr>
              <a:t>必ず uv を使う（pip は使わない）。</a:t>
            </a:r>
          </a:p>
        </p:txBody>
      </p:sp>
      <p:sp>
        <p:nvSpPr>
          <p:cNvPr id="20" name="Rounded Rectangle 19"/>
          <p:cNvSpPr/>
          <p:nvPr/>
        </p:nvSpPr>
        <p:spPr>
          <a:xfrm>
            <a:off x="6160120" y="3578600"/>
            <a:ext cx="5200000" cy="17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297280" y="371576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4</a:t>
            </a:r>
          </a:p>
        </p:txBody>
      </p:sp>
      <p:sp>
        <p:nvSpPr>
          <p:cNvPr id="22" name="TextBox 21"/>
          <p:cNvSpPr txBox="1"/>
          <p:nvPr/>
        </p:nvSpPr>
        <p:spPr>
          <a:xfrm>
            <a:off x="6754480" y="3715760"/>
            <a:ext cx="4200000" cy="365760"/>
          </a:xfrm>
          <a:prstGeom prst="rect">
            <a:avLst/>
          </a:prstGeom>
          <a:noFill/>
        </p:spPr>
        <p:txBody>
          <a:bodyPr wrap="square">
            <a:spAutoFit/>
          </a:bodyPr>
          <a:lstStyle/>
          <a:p>
            <a:pPr algn="l"/>
            <a:r>
              <a:rPr sz="1600" b="1">
                <a:solidFill>
                  <a:srgbClr val="FAF9F5"/>
                </a:solidFill>
                <a:latin typeface="Hiragino Sans"/>
              </a:rPr>
              <a:t>やってはいけないこと</a:t>
            </a:r>
          </a:p>
        </p:txBody>
      </p:sp>
      <p:sp>
        <p:nvSpPr>
          <p:cNvPr id="23" name="Rounded Rectangle 22"/>
          <p:cNvSpPr/>
          <p:nvPr/>
        </p:nvSpPr>
        <p:spPr>
          <a:xfrm>
            <a:off x="6297280" y="4172960"/>
            <a:ext cx="4925680" cy="96848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34440" y="4264400"/>
            <a:ext cx="4651360" cy="785600"/>
          </a:xfrm>
          <a:prstGeom prst="rect">
            <a:avLst/>
          </a:prstGeom>
          <a:noFill/>
        </p:spPr>
        <p:txBody>
          <a:bodyPr wrap="square">
            <a:spAutoFit/>
          </a:bodyPr>
          <a:lstStyle/>
          <a:p>
            <a:pPr algn="l"/>
            <a:r>
              <a:rPr sz="1200" b="0">
                <a:solidFill>
                  <a:srgbClr val="E0DED8"/>
                </a:solidFill>
                <a:latin typeface="SF Mono"/>
              </a:rPr>
              <a:t>## 禁止事項</a:t>
            </a:r>
          </a:p>
          <a:p>
            <a:pPr algn="l"/>
            <a:r>
              <a:rPr sz="1200" b="0">
                <a:solidFill>
                  <a:srgbClr val="E0DED8"/>
                </a:solidFill>
                <a:latin typeface="SF Mono"/>
              </a:rPr>
              <a:t>- mainに直接プッシュしない</a:t>
            </a:r>
          </a:p>
          <a:p>
            <a:pPr algn="l"/>
            <a:r>
              <a:rPr sz="1200" b="0">
                <a:solidFill>
                  <a:srgbClr val="E0DED8"/>
                </a:solidFill>
                <a:latin typeface="SF Mono"/>
              </a:rPr>
              <a:t>- .envファイルを編集しない</a:t>
            </a:r>
          </a:p>
        </p:txBody>
      </p:sp>
      <p:sp>
        <p:nvSpPr>
          <p:cNvPr id="25" name="Rectangle 24"/>
          <p:cNvSpPr/>
          <p:nvPr/>
        </p:nvSpPr>
        <p:spPr>
          <a:xfrm>
            <a:off x="731520" y="5910143"/>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31520" y="5910143"/>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6001583"/>
            <a:ext cx="10400000" cy="307777"/>
          </a:xfrm>
          <a:prstGeom prst="rect">
            <a:avLst/>
          </a:prstGeom>
          <a:noFill/>
        </p:spPr>
        <p:txBody>
          <a:bodyPr wrap="square">
            <a:spAutoFit/>
          </a:bodyPr>
          <a:lstStyle/>
          <a:p>
            <a:pPr algn="l"/>
            <a:r>
              <a:rPr sz="1400" b="1" dirty="0">
                <a:solidFill>
                  <a:srgbClr val="D97757"/>
                </a:solidFill>
                <a:latin typeface="Hiragino Sans"/>
              </a:rPr>
              <a:t>→ </a:t>
            </a:r>
            <a:r>
              <a:rPr lang="ja-JP" altLang="en-US" sz="1400" b="1">
                <a:solidFill>
                  <a:srgbClr val="D97757"/>
                </a:solidFill>
                <a:latin typeface="Hiragino Sans"/>
              </a:rPr>
              <a:t>レビュー</a:t>
            </a:r>
            <a:r>
              <a:rPr sz="1400" b="1" dirty="0" err="1">
                <a:solidFill>
                  <a:srgbClr val="D97757"/>
                </a:solidFill>
                <a:latin typeface="Hiragino Sans"/>
              </a:rPr>
              <a:t>でよく指摘される項目</a:t>
            </a:r>
            <a:r>
              <a:rPr sz="1400" b="1" dirty="0">
                <a:solidFill>
                  <a:srgbClr val="D97757"/>
                </a:solidFill>
                <a:latin typeface="Hiragino Sans"/>
              </a:rPr>
              <a:t> = </a:t>
            </a:r>
            <a:r>
              <a:rPr sz="1400" b="1" dirty="0" err="1">
                <a:solidFill>
                  <a:srgbClr val="D97757"/>
                </a:solidFill>
                <a:latin typeface="Hiragino Sans"/>
              </a:rPr>
              <a:t>CLAUDE.mdに書くべき内容</a:t>
            </a:r>
            <a:endParaRPr sz="1400" b="1" dirty="0">
              <a:solidFill>
                <a:srgbClr val="D97757"/>
              </a:solidFill>
              <a:latin typeface="Hiragino Sans"/>
            </a:endParaRPr>
          </a:p>
        </p:txBody>
      </p:sp>
      <p:sp>
        <p:nvSpPr>
          <p:cNvPr id="28" name="TextBox 27"/>
          <p:cNvSpPr txBox="1"/>
          <p:nvPr/>
        </p:nvSpPr>
        <p:spPr>
          <a:xfrm>
            <a:off x="10992000" y="6458000"/>
            <a:ext cx="900000" cy="274320"/>
          </a:xfrm>
          <a:prstGeom prst="rect">
            <a:avLst/>
          </a:prstGeom>
          <a:noFill/>
        </p:spPr>
        <p:txBody>
          <a:bodyPr wrap="square">
            <a:spAutoFit/>
          </a:bodyPr>
          <a:lstStyle/>
          <a:p>
            <a:pPr algn="r"/>
            <a:r>
              <a:rPr lang="en-US" altLang="ja-JP" sz="1100" b="0">
                <a:solidFill>
                  <a:srgbClr val="B0AEA5"/>
                </a:solidFill>
                <a:latin typeface="Helvetica Neue"/>
              </a:rPr>
              <a:t>8 / 18</a:t>
            </a:r>
            <a:endParaRPr sz="1100" b="0">
              <a:solidFill>
                <a:srgbClr val="B0AEA5"/>
              </a:solidFill>
              <a:latin typeface="Helvetica Neue"/>
            </a:endParaRPr>
          </a:p>
        </p:txBody>
      </p:sp>
    </p:spTree>
    <p:extLst>
      <p:ext uri="{BB962C8B-B14F-4D97-AF65-F5344CB8AC3E}">
        <p14:creationId xmlns:p14="http://schemas.microsoft.com/office/powerpoint/2010/main" val="2414800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コンテキストとCLAUDE.md</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dirty="0" err="1">
                <a:solidFill>
                  <a:srgbClr val="FAF9F5"/>
                </a:solidFill>
                <a:latin typeface="Hiragino Sans"/>
              </a:rPr>
              <a:t>CLAUDE.mdの始め方と育て方</a:t>
            </a:r>
            <a:endParaRPr sz="2800" b="1" dirty="0">
              <a:solidFill>
                <a:srgbClr val="FAF9F5"/>
              </a:solidFill>
              <a:latin typeface="Hiragino Sans"/>
            </a:endParaRPr>
          </a:p>
        </p:txBody>
      </p:sp>
      <p:sp>
        <p:nvSpPr>
          <p:cNvPr id="4" name="TextBox 3"/>
          <p:cNvSpPr txBox="1"/>
          <p:nvPr/>
        </p:nvSpPr>
        <p:spPr>
          <a:xfrm>
            <a:off x="731520" y="1380109"/>
            <a:ext cx="10000000" cy="365760"/>
          </a:xfrm>
          <a:prstGeom prst="rect">
            <a:avLst/>
          </a:prstGeom>
          <a:noFill/>
        </p:spPr>
        <p:txBody>
          <a:bodyPr wrap="square">
            <a:spAutoFit/>
          </a:bodyPr>
          <a:lstStyle/>
          <a:p>
            <a:pPr algn="l"/>
            <a:r>
              <a:rPr sz="1800" b="1">
                <a:solidFill>
                  <a:srgbClr val="B0AEA5"/>
                </a:solidFill>
                <a:latin typeface="Hiragino Sans"/>
              </a:rPr>
              <a:t>/init で自動生成 → 育てる → 刈り込む</a:t>
            </a:r>
          </a:p>
        </p:txBody>
      </p:sp>
      <p:sp>
        <p:nvSpPr>
          <p:cNvPr id="5" name="Rounded Rectangle 4"/>
          <p:cNvSpPr/>
          <p:nvPr/>
        </p:nvSpPr>
        <p:spPr>
          <a:xfrm>
            <a:off x="723900" y="2198764"/>
            <a:ext cx="3429000" cy="2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23900" y="2198764"/>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06780" y="2335924"/>
            <a:ext cx="1200000" cy="320000"/>
          </a:xfrm>
          <a:prstGeom prst="rect">
            <a:avLst/>
          </a:prstGeom>
          <a:noFill/>
        </p:spPr>
        <p:txBody>
          <a:bodyPr wrap="square">
            <a:spAutoFit/>
          </a:bodyPr>
          <a:lstStyle/>
          <a:p>
            <a:pPr algn="l"/>
            <a:r>
              <a:rPr sz="1400" b="1">
                <a:solidFill>
                  <a:srgbClr val="D97757"/>
                </a:solidFill>
                <a:latin typeface="Helvetica Neue"/>
              </a:rPr>
              <a:t>Step 1</a:t>
            </a:r>
          </a:p>
        </p:txBody>
      </p:sp>
      <p:sp>
        <p:nvSpPr>
          <p:cNvPr id="8" name="TextBox 7"/>
          <p:cNvSpPr txBox="1"/>
          <p:nvPr/>
        </p:nvSpPr>
        <p:spPr>
          <a:xfrm>
            <a:off x="906780" y="2655964"/>
            <a:ext cx="3063240" cy="457200"/>
          </a:xfrm>
          <a:prstGeom prst="rect">
            <a:avLst/>
          </a:prstGeom>
          <a:noFill/>
        </p:spPr>
        <p:txBody>
          <a:bodyPr wrap="square">
            <a:spAutoFit/>
          </a:bodyPr>
          <a:lstStyle/>
          <a:p>
            <a:pPr algn="l"/>
            <a:r>
              <a:rPr sz="1800" b="1">
                <a:solidFill>
                  <a:srgbClr val="FAF9F5"/>
                </a:solidFill>
                <a:latin typeface="Hiragino Sans"/>
              </a:rPr>
              <a:t>/init で自動生成</a:t>
            </a:r>
          </a:p>
        </p:txBody>
      </p:sp>
      <p:sp>
        <p:nvSpPr>
          <p:cNvPr id="9" name="TextBox 8"/>
          <p:cNvSpPr txBox="1"/>
          <p:nvPr/>
        </p:nvSpPr>
        <p:spPr>
          <a:xfrm>
            <a:off x="906780" y="3198764"/>
            <a:ext cx="3063240" cy="1600000"/>
          </a:xfrm>
          <a:prstGeom prst="rect">
            <a:avLst/>
          </a:prstGeom>
          <a:noFill/>
        </p:spPr>
        <p:txBody>
          <a:bodyPr wrap="square">
            <a:spAutoFit/>
          </a:bodyPr>
          <a:lstStyle/>
          <a:p>
            <a:pPr algn="l">
              <a:spcAft>
                <a:spcPts val="600"/>
              </a:spcAft>
            </a:pPr>
            <a:r>
              <a:rPr sz="1400" b="0">
                <a:solidFill>
                  <a:srgbClr val="E0DED8"/>
                </a:solidFill>
                <a:latin typeface="Hiragino Sans"/>
              </a:rPr>
              <a:t>プロジェクトの技術スタック、</a:t>
            </a:r>
          </a:p>
          <a:p>
            <a:pPr algn="l">
              <a:spcAft>
                <a:spcPts val="600"/>
              </a:spcAft>
            </a:pPr>
            <a:r>
              <a:rPr sz="1400" b="0">
                <a:solidFill>
                  <a:srgbClr val="E0DED8"/>
                </a:solidFill>
                <a:latin typeface="Hiragino Sans"/>
              </a:rPr>
              <a:t>ディレクトリ構成を自動検出</a:t>
            </a:r>
          </a:p>
          <a:p>
            <a:pPr algn="l">
              <a:spcAft>
                <a:spcPts val="600"/>
              </a:spcAft>
            </a:pPr>
            <a:r>
              <a:rPr sz="1400" b="0">
                <a:solidFill>
                  <a:srgbClr val="E0DED8"/>
                </a:solidFill>
                <a:latin typeface="Hiragino Sans"/>
              </a:rPr>
              <a:t>CLAUDE.md のたたき台が生成される</a:t>
            </a:r>
          </a:p>
        </p:txBody>
      </p:sp>
      <p:sp>
        <p:nvSpPr>
          <p:cNvPr id="10" name="Rounded Rectangle 9"/>
          <p:cNvSpPr/>
          <p:nvPr/>
        </p:nvSpPr>
        <p:spPr>
          <a:xfrm>
            <a:off x="4381500" y="2198764"/>
            <a:ext cx="3429000" cy="2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1500" y="2198764"/>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64380" y="2335924"/>
            <a:ext cx="1200000" cy="320000"/>
          </a:xfrm>
          <a:prstGeom prst="rect">
            <a:avLst/>
          </a:prstGeom>
          <a:noFill/>
        </p:spPr>
        <p:txBody>
          <a:bodyPr wrap="square">
            <a:spAutoFit/>
          </a:bodyPr>
          <a:lstStyle/>
          <a:p>
            <a:pPr algn="l"/>
            <a:r>
              <a:rPr sz="1400" b="1">
                <a:solidFill>
                  <a:srgbClr val="6A9BCC"/>
                </a:solidFill>
                <a:latin typeface="Helvetica Neue"/>
              </a:rPr>
              <a:t>Step 2</a:t>
            </a:r>
          </a:p>
        </p:txBody>
      </p:sp>
      <p:sp>
        <p:nvSpPr>
          <p:cNvPr id="13" name="TextBox 12"/>
          <p:cNvSpPr txBox="1"/>
          <p:nvPr/>
        </p:nvSpPr>
        <p:spPr>
          <a:xfrm>
            <a:off x="4564380" y="2655964"/>
            <a:ext cx="3063240" cy="457200"/>
          </a:xfrm>
          <a:prstGeom prst="rect">
            <a:avLst/>
          </a:prstGeom>
          <a:noFill/>
        </p:spPr>
        <p:txBody>
          <a:bodyPr wrap="square">
            <a:spAutoFit/>
          </a:bodyPr>
          <a:lstStyle/>
          <a:p>
            <a:pPr algn="l"/>
            <a:r>
              <a:rPr sz="1800" b="1">
                <a:solidFill>
                  <a:srgbClr val="FAF9F5"/>
                </a:solidFill>
                <a:latin typeface="Hiragino Sans"/>
              </a:rPr>
              <a:t>チーム固有の情報を追記</a:t>
            </a:r>
          </a:p>
        </p:txBody>
      </p:sp>
      <p:sp>
        <p:nvSpPr>
          <p:cNvPr id="14" name="TextBox 13"/>
          <p:cNvSpPr txBox="1"/>
          <p:nvPr/>
        </p:nvSpPr>
        <p:spPr>
          <a:xfrm>
            <a:off x="4564380" y="3198764"/>
            <a:ext cx="3063240" cy="892552"/>
          </a:xfrm>
          <a:prstGeom prst="rect">
            <a:avLst/>
          </a:prstGeom>
          <a:noFill/>
        </p:spPr>
        <p:txBody>
          <a:bodyPr wrap="square">
            <a:spAutoFit/>
          </a:bodyPr>
          <a:lstStyle/>
          <a:p>
            <a:pPr>
              <a:spcAft>
                <a:spcPts val="600"/>
              </a:spcAft>
            </a:pPr>
            <a:r>
              <a:rPr lang="ja-JP" altLang="en-US" sz="1400" b="0">
                <a:solidFill>
                  <a:srgbClr val="E0DED8"/>
                </a:solidFill>
                <a:latin typeface="Hiragino Sans"/>
              </a:rPr>
              <a:t>レビュー</a:t>
            </a:r>
            <a:r>
              <a:rPr sz="1400" b="0" dirty="0" err="1">
                <a:solidFill>
                  <a:srgbClr val="E0DED8"/>
                </a:solidFill>
                <a:latin typeface="Hiragino Sans"/>
              </a:rPr>
              <a:t>でよく指摘される項目</a:t>
            </a:r>
            <a:endParaRPr sz="1400" b="0" dirty="0">
              <a:solidFill>
                <a:srgbClr val="E0DED8"/>
              </a:solidFill>
              <a:latin typeface="Hiragino Sans"/>
            </a:endParaRPr>
          </a:p>
          <a:p>
            <a:pPr algn="l">
              <a:spcAft>
                <a:spcPts val="600"/>
              </a:spcAft>
            </a:pPr>
            <a:r>
              <a:rPr sz="1400" b="0" dirty="0" err="1">
                <a:solidFill>
                  <a:srgbClr val="E0DED8"/>
                </a:solidFill>
                <a:latin typeface="Hiragino Sans"/>
              </a:rPr>
              <a:t>触ってはいけないファイル</a:t>
            </a:r>
            <a:endParaRPr sz="1400" b="0" dirty="0">
              <a:solidFill>
                <a:srgbClr val="E0DED8"/>
              </a:solidFill>
              <a:latin typeface="Hiragino Sans"/>
            </a:endParaRPr>
          </a:p>
          <a:p>
            <a:pPr algn="l">
              <a:spcAft>
                <a:spcPts val="600"/>
              </a:spcAft>
            </a:pPr>
            <a:r>
              <a:rPr sz="1400" b="0" dirty="0" err="1">
                <a:solidFill>
                  <a:srgbClr val="E0DED8"/>
                </a:solidFill>
                <a:latin typeface="Hiragino Sans"/>
              </a:rPr>
              <a:t>チーム固有のコーディング規約</a:t>
            </a:r>
            <a:endParaRPr sz="1400" b="0" dirty="0">
              <a:solidFill>
                <a:srgbClr val="E0DED8"/>
              </a:solidFill>
              <a:latin typeface="Hiragino Sans"/>
            </a:endParaRPr>
          </a:p>
        </p:txBody>
      </p:sp>
      <p:sp>
        <p:nvSpPr>
          <p:cNvPr id="15" name="Rounded Rectangle 14"/>
          <p:cNvSpPr/>
          <p:nvPr/>
        </p:nvSpPr>
        <p:spPr>
          <a:xfrm>
            <a:off x="8039100" y="2198764"/>
            <a:ext cx="3429000" cy="2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39100" y="2198764"/>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1980" y="2335924"/>
            <a:ext cx="1200000" cy="320000"/>
          </a:xfrm>
          <a:prstGeom prst="rect">
            <a:avLst/>
          </a:prstGeom>
          <a:noFill/>
        </p:spPr>
        <p:txBody>
          <a:bodyPr wrap="square">
            <a:spAutoFit/>
          </a:bodyPr>
          <a:lstStyle/>
          <a:p>
            <a:pPr algn="l"/>
            <a:r>
              <a:rPr sz="1400" b="1">
                <a:solidFill>
                  <a:srgbClr val="7BC9A0"/>
                </a:solidFill>
                <a:latin typeface="Helvetica Neue"/>
              </a:rPr>
              <a:t>Step 3</a:t>
            </a:r>
          </a:p>
        </p:txBody>
      </p:sp>
      <p:sp>
        <p:nvSpPr>
          <p:cNvPr id="18" name="TextBox 17"/>
          <p:cNvSpPr txBox="1"/>
          <p:nvPr/>
        </p:nvSpPr>
        <p:spPr>
          <a:xfrm>
            <a:off x="8221980" y="2655964"/>
            <a:ext cx="3063240" cy="457200"/>
          </a:xfrm>
          <a:prstGeom prst="rect">
            <a:avLst/>
          </a:prstGeom>
          <a:noFill/>
        </p:spPr>
        <p:txBody>
          <a:bodyPr wrap="square">
            <a:spAutoFit/>
          </a:bodyPr>
          <a:lstStyle/>
          <a:p>
            <a:pPr algn="l"/>
            <a:r>
              <a:rPr sz="1800" b="1">
                <a:solidFill>
                  <a:srgbClr val="FAF9F5"/>
                </a:solidFill>
                <a:latin typeface="Hiragino Sans"/>
              </a:rPr>
              <a:t>肥大化を防ぐ</a:t>
            </a:r>
          </a:p>
        </p:txBody>
      </p:sp>
      <p:sp>
        <p:nvSpPr>
          <p:cNvPr id="19" name="TextBox 18"/>
          <p:cNvSpPr txBox="1"/>
          <p:nvPr/>
        </p:nvSpPr>
        <p:spPr>
          <a:xfrm>
            <a:off x="8221980" y="3198764"/>
            <a:ext cx="3063240" cy="1600000"/>
          </a:xfrm>
          <a:prstGeom prst="rect">
            <a:avLst/>
          </a:prstGeom>
          <a:noFill/>
        </p:spPr>
        <p:txBody>
          <a:bodyPr wrap="square">
            <a:spAutoFit/>
          </a:bodyPr>
          <a:lstStyle/>
          <a:p>
            <a:pPr algn="l">
              <a:spcAft>
                <a:spcPts val="600"/>
              </a:spcAft>
            </a:pPr>
            <a:r>
              <a:rPr sz="1400" b="0">
                <a:solidFill>
                  <a:srgbClr val="E0DED8"/>
                </a:solidFill>
                <a:latin typeface="Hiragino Sans"/>
              </a:rPr>
              <a:t>目安は500行以下</a:t>
            </a:r>
          </a:p>
          <a:p>
            <a:pPr algn="l">
              <a:spcAft>
                <a:spcPts val="600"/>
              </a:spcAft>
            </a:pPr>
            <a:r>
              <a:rPr sz="1400" b="0">
                <a:solidFill>
                  <a:srgbClr val="E0DED8"/>
                </a:solidFill>
                <a:latin typeface="Hiragino Sans"/>
              </a:rPr>
              <a:t>詳細な仕様は別ファイルに分離</a:t>
            </a:r>
          </a:p>
          <a:p>
            <a:pPr algn="l">
              <a:spcAft>
                <a:spcPts val="600"/>
              </a:spcAft>
            </a:pPr>
            <a:r>
              <a:rPr sz="1400" b="0">
                <a:solidFill>
                  <a:srgbClr val="E0DED8"/>
                </a:solidFill>
                <a:latin typeface="Hiragino Sans"/>
              </a:rPr>
              <a:t>不要になった情報は定期的に削除</a:t>
            </a:r>
          </a:p>
        </p:txBody>
      </p:sp>
      <p:sp>
        <p:nvSpPr>
          <p:cNvPr id="21" name="TextBox 20"/>
          <p:cNvSpPr txBox="1"/>
          <p:nvPr/>
        </p:nvSpPr>
        <p:spPr>
          <a:xfrm>
            <a:off x="10992000" y="6458000"/>
            <a:ext cx="900000" cy="274320"/>
          </a:xfrm>
          <a:prstGeom prst="rect">
            <a:avLst/>
          </a:prstGeom>
          <a:noFill/>
        </p:spPr>
        <p:txBody>
          <a:bodyPr wrap="square">
            <a:spAutoFit/>
          </a:bodyPr>
          <a:lstStyle/>
          <a:p>
            <a:pPr algn="r"/>
            <a:r>
              <a:rPr lang="en-US" altLang="ja-JP" sz="1100" b="0">
                <a:solidFill>
                  <a:srgbClr val="B0AEA5"/>
                </a:solidFill>
                <a:latin typeface="Helvetica Neue"/>
              </a:rPr>
              <a:t>9 / 18</a:t>
            </a:r>
            <a:endParaRPr sz="1100" b="0">
              <a:solidFill>
                <a:srgbClr val="B0AEA5"/>
              </a:solidFill>
              <a:latin typeface="Helvetica Neue"/>
            </a:endParaRPr>
          </a:p>
        </p:txBody>
      </p:sp>
    </p:spTree>
    <p:extLst>
      <p:ext uri="{BB962C8B-B14F-4D97-AF65-F5344CB8AC3E}">
        <p14:creationId xmlns:p14="http://schemas.microsoft.com/office/powerpoint/2010/main" val="326778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31F1D"/>
        </a:solidFill>
        <a:effectLst/>
      </p:bgPr>
    </p:bg>
    <p:spTree>
      <p:nvGrpSpPr>
        <p:cNvPr id="1" name=""/>
        <p:cNvGrpSpPr/>
        <p:nvPr/>
      </p:nvGrpSpPr>
      <p:grpSpPr>
        <a:xfrm>
          <a:off x="0" y="0"/>
          <a:ext cx="0" cy="0"/>
          <a:chOff x="0" y="0"/>
          <a:chExt cx="0" cy="0"/>
        </a:xfrm>
      </p:grpSpPr>
      <p:cxnSp>
        <p:nvCxnSpPr>
          <p:cNvPr id="2" name="Line1"/>
          <p:cNvCxnSpPr/>
          <p:nvPr/>
        </p:nvCxnSpPr>
        <p:spPr>
          <a:xfrm>
            <a:off x="736600" y="3429000"/>
            <a:ext cx="1828800" cy="0"/>
          </a:xfrm>
          <a:prstGeom prst="line">
            <a:avLst/>
          </a:prstGeom>
          <a:ln w="9525">
            <a:solidFill>
              <a:srgbClr val="4A4742"/>
            </a:solidFill>
          </a:ln>
        </p:spPr>
      </p:cxnSp>
      <p:cxnSp>
        <p:nvCxnSpPr>
          <p:cNvPr id="3" name="Line2"/>
          <p:cNvCxnSpPr/>
          <p:nvPr/>
        </p:nvCxnSpPr>
        <p:spPr>
          <a:xfrm>
            <a:off x="9626600" y="3429000"/>
            <a:ext cx="1828800" cy="0"/>
          </a:xfrm>
          <a:prstGeom prst="line">
            <a:avLst/>
          </a:prstGeom>
          <a:ln w="9525">
            <a:solidFill>
              <a:srgbClr val="4A4742"/>
            </a:solidFill>
          </a:ln>
        </p:spPr>
      </p:cxnSp>
      <p:sp>
        <p:nvSpPr>
          <p:cNvPr id="4" name="PartLabel"/>
          <p:cNvSpPr/>
          <p:nvPr/>
        </p:nvSpPr>
        <p:spPr>
          <a:xfrm>
            <a:off x="0" y="1993900"/>
            <a:ext cx="12192000" cy="457200"/>
          </a:xfrm>
          <a:prstGeom prst="rect">
            <a:avLst/>
          </a:prstGeom>
        </p:spPr>
        <p:txBody>
          <a:bodyPr wrap="square" lIns="0" tIns="0" rIns="0" bIns="0" anchor="ctr"/>
          <a:lstStyle/>
          <a:p>
            <a:pPr algn="ctr"/>
            <a:r>
              <a:rPr sz="1800" b="1">
                <a:solidFill>
                  <a:srgbClr val="D97757"/>
                </a:solidFill>
                <a:latin typeface="Helvetica Neue"/>
              </a:rPr>
              <a:t>PART 2</a:t>
            </a:r>
          </a:p>
        </p:txBody>
      </p:sp>
      <p:sp>
        <p:nvSpPr>
          <p:cNvPr id="5" name="Title"/>
          <p:cNvSpPr/>
          <p:nvPr/>
        </p:nvSpPr>
        <p:spPr>
          <a:xfrm>
            <a:off x="0" y="2603500"/>
            <a:ext cx="12192000" cy="762000"/>
          </a:xfrm>
          <a:prstGeom prst="rect">
            <a:avLst/>
          </a:prstGeom>
        </p:spPr>
        <p:txBody>
          <a:bodyPr wrap="square" lIns="0" tIns="0" rIns="0" bIns="0" anchor="ctr"/>
          <a:lstStyle/>
          <a:p>
            <a:pPr algn="ctr"/>
            <a:r>
              <a:rPr sz="4000" b="1">
                <a:solidFill>
                  <a:srgbClr val="FAF9F5"/>
                </a:solidFill>
                <a:latin typeface="Hiragino Sans"/>
              </a:rPr>
              <a:t>settings.json</a:t>
            </a:r>
          </a:p>
        </p:txBody>
      </p:sp>
      <p:sp>
        <p:nvSpPr>
          <p:cNvPr id="6" name="Subtitle"/>
          <p:cNvSpPr/>
          <p:nvPr/>
        </p:nvSpPr>
        <p:spPr>
          <a:xfrm>
            <a:off x="0" y="3505200"/>
            <a:ext cx="12192000" cy="457200"/>
          </a:xfrm>
          <a:prstGeom prst="rect">
            <a:avLst/>
          </a:prstGeom>
        </p:spPr>
        <p:txBody>
          <a:bodyPr wrap="square" lIns="0" tIns="0" rIns="0" bIns="0" anchor="ctr"/>
          <a:lstStyle/>
          <a:p>
            <a:pPr algn="ctr"/>
            <a:r>
              <a:rPr sz="2400" b="0">
                <a:solidFill>
                  <a:srgbClr val="C5C3BB"/>
                </a:solidFill>
                <a:latin typeface="Hiragino Sans"/>
              </a:rPr>
              <a:t>権限と環境を、チームで揃える</a:t>
            </a:r>
          </a:p>
        </p:txBody>
      </p:sp>
      <p:sp>
        <p:nvSpPr>
          <p:cNvPr id="7" name="PageNum"/>
          <p:cNvSpPr/>
          <p:nvPr/>
        </p:nvSpPr>
        <p:spPr>
          <a:xfrm>
            <a:off x="10998200" y="6464300"/>
            <a:ext cx="901700" cy="279400"/>
          </a:xfrm>
          <a:prstGeom prst="rect">
            <a:avLst/>
          </a:prstGeom>
        </p:spPr>
        <p:txBody>
          <a:bodyPr wrap="square" lIns="0" tIns="0" rIns="0" bIns="0" anchor="t"/>
          <a:lstStyle/>
          <a:p>
            <a:pPr algn="r"/>
            <a:r>
              <a:rPr lang="en-US" altLang="ja-JP" sz="1100" b="0">
                <a:solidFill>
                  <a:srgbClr val="B0AEA5"/>
                </a:solidFill>
                <a:latin typeface="Helvetica Neue"/>
              </a:rPr>
              <a:t>12 / 18</a:t>
            </a:r>
          </a:p>
        </p:txBody>
      </p:sp>
    </p:spTree>
    <p:extLst>
      <p:ext uri="{BB962C8B-B14F-4D97-AF65-F5344CB8AC3E}">
        <p14:creationId xmlns:p14="http://schemas.microsoft.com/office/powerpoint/2010/main" val="1616644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artLabel"/>
          <p:cNvSpPr/>
          <p:nvPr/>
        </p:nvSpPr>
        <p:spPr>
          <a:xfrm>
            <a:off x="736600" y="368300"/>
            <a:ext cx="8001000" cy="279400"/>
          </a:xfrm>
          <a:prstGeom prst="rect">
            <a:avLst/>
          </a:prstGeom>
        </p:spPr>
        <p:txBody>
          <a:bodyPr wrap="square" lIns="0" tIns="0" rIns="0" bIns="0" anchor="t"/>
          <a:lstStyle/>
          <a:p>
            <a:pPr algn="l"/>
            <a:r>
              <a:rPr lang="en-US" sz="1200" b="1" dirty="0">
                <a:solidFill>
                  <a:srgbClr val="D97757"/>
                </a:solidFill>
                <a:latin typeface="Helvetica Neue"/>
              </a:rPr>
              <a:t>PART 2 — settings.json</a:t>
            </a:r>
          </a:p>
        </p:txBody>
      </p:sp>
      <p:sp>
        <p:nvSpPr>
          <p:cNvPr id="3" name="Title"/>
          <p:cNvSpPr/>
          <p:nvPr/>
        </p:nvSpPr>
        <p:spPr>
          <a:xfrm>
            <a:off x="736600" y="546100"/>
            <a:ext cx="7620000" cy="546100"/>
          </a:xfrm>
          <a:prstGeom prst="rect">
            <a:avLst/>
          </a:prstGeom>
        </p:spPr>
        <p:txBody>
          <a:bodyPr wrap="square" lIns="0" tIns="0" rIns="0" bIns="0" anchor="t"/>
          <a:lstStyle/>
          <a:p>
            <a:pPr algn="l"/>
            <a:r>
              <a:rPr lang="ja-JP" sz="2800" b="1" dirty="0">
                <a:solidFill>
                  <a:srgbClr val="FAF9F5"/>
                </a:solidFill>
                <a:latin typeface="Hiragino Sans"/>
              </a:rPr>
              <a:t>settings.jsonの全体像</a:t>
            </a:r>
          </a:p>
        </p:txBody>
      </p:sp>
      <p:sp>
        <p:nvSpPr>
          <p:cNvPr id="4" name="Sub"/>
          <p:cNvSpPr/>
          <p:nvPr/>
        </p:nvSpPr>
        <p:spPr>
          <a:xfrm>
            <a:off x="736600" y="1143000"/>
            <a:ext cx="10731500" cy="304800"/>
          </a:xfrm>
          <a:prstGeom prst="rect">
            <a:avLst/>
          </a:prstGeom>
        </p:spPr>
        <p:txBody>
          <a:bodyPr wrap="square" lIns="0" tIns="0" rIns="0" bIns="0" anchor="t"/>
          <a:lstStyle/>
          <a:p>
            <a:pPr algn="l"/>
            <a:r>
              <a:rPr lang="ja-JP" sz="1600" b="0" dirty="0">
                <a:solidFill>
                  <a:srgbClr val="C5C3BB"/>
                </a:solidFill>
                <a:latin typeface="Hiragino Sans"/>
              </a:rPr>
              <a:t>CLAUDE.md = 「何を知っておくべきか」/ settings.json = 「何ができるか」</a:t>
            </a:r>
          </a:p>
        </p:txBody>
      </p:sp>
      <p:sp>
        <p:nvSpPr>
          <p:cNvPr id="10" name="Key0"/>
          <p:cNvSpPr/>
          <p:nvPr/>
        </p:nvSpPr>
        <p:spPr>
          <a:xfrm>
            <a:off x="736600" y="1714500"/>
            <a:ext cx="5080000" cy="330200"/>
          </a:xfrm>
          <a:prstGeom prst="rect">
            <a:avLst/>
          </a:prstGeom>
        </p:spPr>
        <p:txBody>
          <a:bodyPr wrap="square" lIns="0" tIns="0" rIns="0" bIns="0" anchor="t"/>
          <a:lstStyle/>
          <a:p>
            <a:pPr algn="l"/>
            <a:r>
              <a:rPr lang="en-US" sz="1800" b="1" dirty="0">
                <a:solidFill>
                  <a:srgbClr val="D97757"/>
                </a:solidFill>
                <a:latin typeface="Menlo"/>
              </a:rPr>
              <a:t>permissions</a:t>
            </a:r>
          </a:p>
        </p:txBody>
      </p:sp>
      <p:sp>
        <p:nvSpPr>
          <p:cNvPr id="11" name="Desc0"/>
          <p:cNvSpPr/>
          <p:nvPr/>
        </p:nvSpPr>
        <p:spPr>
          <a:xfrm>
            <a:off x="736600" y="2095500"/>
            <a:ext cx="5080000" cy="304800"/>
          </a:xfrm>
          <a:prstGeom prst="rect">
            <a:avLst/>
          </a:prstGeom>
        </p:spPr>
        <p:txBody>
          <a:bodyPr wrap="square" lIns="0" tIns="0" rIns="0" bIns="0" anchor="t"/>
          <a:lstStyle/>
          <a:p>
            <a:pPr algn="l"/>
            <a:r>
              <a:rPr lang="ja-JP" sz="1500" b="0" dirty="0">
                <a:solidFill>
                  <a:srgbClr val="FAF9F5"/>
                </a:solidFill>
                <a:latin typeface="Hiragino Sans"/>
              </a:rPr>
              <a:t>ツールの許可 / 拒否 / 確認ルール</a:t>
            </a:r>
          </a:p>
        </p:txBody>
      </p:sp>
      <p:sp>
        <p:nvSpPr>
          <p:cNvPr id="13" name="Key1"/>
          <p:cNvSpPr/>
          <p:nvPr/>
        </p:nvSpPr>
        <p:spPr>
          <a:xfrm>
            <a:off x="736600" y="2667000"/>
            <a:ext cx="5080000" cy="330200"/>
          </a:xfrm>
          <a:prstGeom prst="rect">
            <a:avLst/>
          </a:prstGeom>
        </p:spPr>
        <p:txBody>
          <a:bodyPr wrap="square" lIns="0" tIns="0" rIns="0" bIns="0" anchor="t"/>
          <a:lstStyle/>
          <a:p>
            <a:pPr algn="l"/>
            <a:r>
              <a:rPr lang="en-US" sz="1800" b="1" dirty="0">
                <a:solidFill>
                  <a:srgbClr val="D97757"/>
                </a:solidFill>
                <a:latin typeface="Menlo"/>
              </a:rPr>
              <a:t>env</a:t>
            </a:r>
          </a:p>
        </p:txBody>
      </p:sp>
      <p:sp>
        <p:nvSpPr>
          <p:cNvPr id="14" name="Desc1"/>
          <p:cNvSpPr/>
          <p:nvPr/>
        </p:nvSpPr>
        <p:spPr>
          <a:xfrm>
            <a:off x="736600" y="3048000"/>
            <a:ext cx="5080000" cy="304800"/>
          </a:xfrm>
          <a:prstGeom prst="rect">
            <a:avLst/>
          </a:prstGeom>
        </p:spPr>
        <p:txBody>
          <a:bodyPr wrap="square" lIns="0" tIns="0" rIns="0" bIns="0" anchor="t"/>
          <a:lstStyle/>
          <a:p>
            <a:pPr algn="l"/>
            <a:r>
              <a:rPr lang="ja-JP" sz="1500" b="0" dirty="0">
                <a:solidFill>
                  <a:srgbClr val="FAF9F5"/>
                </a:solidFill>
                <a:latin typeface="Hiragino Sans"/>
              </a:rPr>
              <a:t>環境変数（Vertex AI接続等）</a:t>
            </a:r>
          </a:p>
        </p:txBody>
      </p:sp>
      <p:sp>
        <p:nvSpPr>
          <p:cNvPr id="16" name="Key2"/>
          <p:cNvSpPr/>
          <p:nvPr/>
        </p:nvSpPr>
        <p:spPr>
          <a:xfrm>
            <a:off x="736600" y="3619500"/>
            <a:ext cx="5080000" cy="330200"/>
          </a:xfrm>
          <a:prstGeom prst="rect">
            <a:avLst/>
          </a:prstGeom>
        </p:spPr>
        <p:txBody>
          <a:bodyPr wrap="square" lIns="0" tIns="0" rIns="0" bIns="0" anchor="t"/>
          <a:lstStyle/>
          <a:p>
            <a:pPr algn="l"/>
            <a:r>
              <a:rPr lang="en-US" sz="1800" b="1" dirty="0">
                <a:solidFill>
                  <a:srgbClr val="D97757"/>
                </a:solidFill>
                <a:latin typeface="Menlo"/>
              </a:rPr>
              <a:t>hooks</a:t>
            </a:r>
          </a:p>
        </p:txBody>
      </p:sp>
      <p:sp>
        <p:nvSpPr>
          <p:cNvPr id="17" name="Desc2"/>
          <p:cNvSpPr/>
          <p:nvPr/>
        </p:nvSpPr>
        <p:spPr>
          <a:xfrm>
            <a:off x="736600" y="4000500"/>
            <a:ext cx="5080000" cy="304800"/>
          </a:xfrm>
          <a:prstGeom prst="rect">
            <a:avLst/>
          </a:prstGeom>
        </p:spPr>
        <p:txBody>
          <a:bodyPr wrap="square" lIns="0" tIns="0" rIns="0" bIns="0" anchor="t"/>
          <a:lstStyle/>
          <a:p>
            <a:pPr algn="l"/>
            <a:r>
              <a:rPr lang="ja-JP" sz="1500" b="0" dirty="0">
                <a:solidFill>
                  <a:srgbClr val="FAF9F5"/>
                </a:solidFill>
                <a:latin typeface="Hiragino Sans"/>
              </a:rPr>
              <a:t>イベント駆動の自動実行コマンド</a:t>
            </a:r>
          </a:p>
        </p:txBody>
      </p:sp>
      <p:sp>
        <p:nvSpPr>
          <p:cNvPr id="19" name="Key3"/>
          <p:cNvSpPr/>
          <p:nvPr/>
        </p:nvSpPr>
        <p:spPr>
          <a:xfrm>
            <a:off x="6350000" y="1714500"/>
            <a:ext cx="5080000" cy="330200"/>
          </a:xfrm>
          <a:prstGeom prst="rect">
            <a:avLst/>
          </a:prstGeom>
        </p:spPr>
        <p:txBody>
          <a:bodyPr wrap="square" lIns="0" tIns="0" rIns="0" bIns="0" anchor="t"/>
          <a:lstStyle/>
          <a:p>
            <a:pPr algn="l"/>
            <a:r>
              <a:rPr lang="en-US" sz="1800" b="1" dirty="0">
                <a:solidFill>
                  <a:srgbClr val="D97757"/>
                </a:solidFill>
                <a:latin typeface="Menlo"/>
              </a:rPr>
              <a:t>model</a:t>
            </a:r>
          </a:p>
        </p:txBody>
      </p:sp>
      <p:sp>
        <p:nvSpPr>
          <p:cNvPr id="20" name="Desc3"/>
          <p:cNvSpPr/>
          <p:nvPr/>
        </p:nvSpPr>
        <p:spPr>
          <a:xfrm>
            <a:off x="6350000" y="2095500"/>
            <a:ext cx="5080000" cy="304800"/>
          </a:xfrm>
          <a:prstGeom prst="rect">
            <a:avLst/>
          </a:prstGeom>
        </p:spPr>
        <p:txBody>
          <a:bodyPr wrap="square" lIns="0" tIns="0" rIns="0" bIns="0" anchor="t"/>
          <a:lstStyle/>
          <a:p>
            <a:pPr algn="l"/>
            <a:r>
              <a:rPr lang="ja-JP" sz="1500" b="0" dirty="0">
                <a:solidFill>
                  <a:srgbClr val="FAF9F5"/>
                </a:solidFill>
                <a:latin typeface="Hiragino Sans"/>
              </a:rPr>
              <a:t>使用モデルの指定・ピン留め</a:t>
            </a:r>
          </a:p>
        </p:txBody>
      </p:sp>
      <p:sp>
        <p:nvSpPr>
          <p:cNvPr id="22" name="Key4"/>
          <p:cNvSpPr/>
          <p:nvPr/>
        </p:nvSpPr>
        <p:spPr>
          <a:xfrm>
            <a:off x="6350000" y="2667000"/>
            <a:ext cx="5080000" cy="330200"/>
          </a:xfrm>
          <a:prstGeom prst="rect">
            <a:avLst/>
          </a:prstGeom>
        </p:spPr>
        <p:txBody>
          <a:bodyPr wrap="square" lIns="0" tIns="0" rIns="0" bIns="0" anchor="t"/>
          <a:lstStyle/>
          <a:p>
            <a:pPr algn="l"/>
            <a:r>
              <a:rPr lang="en-US" sz="1800" b="1" dirty="0">
                <a:solidFill>
                  <a:srgbClr val="D97757"/>
                </a:solidFill>
                <a:latin typeface="Menlo"/>
              </a:rPr>
              <a:t>sandbox</a:t>
            </a:r>
          </a:p>
        </p:txBody>
      </p:sp>
      <p:sp>
        <p:nvSpPr>
          <p:cNvPr id="23" name="Desc4"/>
          <p:cNvSpPr/>
          <p:nvPr/>
        </p:nvSpPr>
        <p:spPr>
          <a:xfrm>
            <a:off x="6350000" y="3048000"/>
            <a:ext cx="5080000" cy="304800"/>
          </a:xfrm>
          <a:prstGeom prst="rect">
            <a:avLst/>
          </a:prstGeom>
        </p:spPr>
        <p:txBody>
          <a:bodyPr wrap="square" lIns="0" tIns="0" rIns="0" bIns="0" anchor="t"/>
          <a:lstStyle/>
          <a:p>
            <a:pPr algn="l"/>
            <a:r>
              <a:rPr lang="ja-JP" sz="1500" b="0" dirty="0">
                <a:solidFill>
                  <a:srgbClr val="FAF9F5"/>
                </a:solidFill>
                <a:latin typeface="Hiragino Sans"/>
              </a:rPr>
              <a:t>Bashコマンドの分離設定</a:t>
            </a:r>
          </a:p>
        </p:txBody>
      </p:sp>
      <p:sp>
        <p:nvSpPr>
          <p:cNvPr id="25" name="Key5"/>
          <p:cNvSpPr/>
          <p:nvPr/>
        </p:nvSpPr>
        <p:spPr>
          <a:xfrm>
            <a:off x="6350000" y="3619500"/>
            <a:ext cx="5080000" cy="330200"/>
          </a:xfrm>
          <a:prstGeom prst="rect">
            <a:avLst/>
          </a:prstGeom>
        </p:spPr>
        <p:txBody>
          <a:bodyPr wrap="square" lIns="0" tIns="0" rIns="0" bIns="0" anchor="t"/>
          <a:lstStyle/>
          <a:p>
            <a:pPr algn="l"/>
            <a:r>
              <a:rPr lang="en-US" sz="1800" b="1" dirty="0">
                <a:solidFill>
                  <a:srgbClr val="D97757"/>
                </a:solidFill>
                <a:latin typeface="Menlo"/>
              </a:rPr>
              <a:t>attribution</a:t>
            </a:r>
          </a:p>
        </p:txBody>
      </p:sp>
      <p:sp>
        <p:nvSpPr>
          <p:cNvPr id="26" name="Desc5"/>
          <p:cNvSpPr/>
          <p:nvPr/>
        </p:nvSpPr>
        <p:spPr>
          <a:xfrm>
            <a:off x="6350000" y="4000500"/>
            <a:ext cx="5080000" cy="304800"/>
          </a:xfrm>
          <a:prstGeom prst="rect">
            <a:avLst/>
          </a:prstGeom>
        </p:spPr>
        <p:txBody>
          <a:bodyPr wrap="square" lIns="0" tIns="0" rIns="0" bIns="0" anchor="t"/>
          <a:lstStyle/>
          <a:p>
            <a:pPr algn="l"/>
            <a:r>
              <a:rPr lang="ja-JP" sz="1500" b="0" dirty="0">
                <a:solidFill>
                  <a:srgbClr val="FAF9F5"/>
                </a:solidFill>
                <a:latin typeface="Hiragino Sans"/>
              </a:rPr>
              <a:t>Git co-author表記の制御</a:t>
            </a:r>
          </a:p>
        </p:txBody>
      </p:sp>
      <p:sp>
        <p:nvSpPr>
          <p:cNvPr id="40" name="Note"/>
          <p:cNvSpPr/>
          <p:nvPr/>
        </p:nvSpPr>
        <p:spPr>
          <a:xfrm>
            <a:off x="736600" y="5016500"/>
            <a:ext cx="10731500" cy="698500"/>
          </a:xfrm>
          <a:prstGeom prst="roundRect">
            <a:avLst>
              <a:gd name="adj" fmla="val 5000"/>
            </a:avLst>
          </a:prstGeom>
          <a:solidFill>
            <a:srgbClr val="2A2725"/>
          </a:solidFill>
          <a:ln>
            <a:noFill/>
          </a:ln>
        </p:spPr>
        <p:txBody>
          <a:bodyPr wrap="square" lIns="190500" tIns="127000" rIns="190500" bIns="127000" anchor="ctr"/>
          <a:lstStyle/>
          <a:p>
            <a:pPr algn="l"/>
            <a:r>
              <a:rPr lang="ja-JP" sz="1500" b="0" dirty="0">
                <a:solidFill>
                  <a:srgbClr val="C5C3BB"/>
                </a:solidFill>
                <a:latin typeface="Hiragino Sans"/>
              </a:rPr>
              <a:t>💡 今日は permissions と env を中心に扱います。hooks は第3回で詳しく紹介します</a:t>
            </a:r>
          </a:p>
        </p:txBody>
      </p:sp>
      <p:sp>
        <p:nvSpPr>
          <p:cNvPr id="50" name="PageNum"/>
          <p:cNvSpPr/>
          <p:nvPr/>
        </p:nvSpPr>
        <p:spPr>
          <a:xfrm>
            <a:off x="10998200" y="6464300"/>
            <a:ext cx="901700" cy="279400"/>
          </a:xfrm>
          <a:prstGeom prst="rect">
            <a:avLst/>
          </a:prstGeom>
        </p:spPr>
        <p:txBody>
          <a:bodyPr wrap="square" lIns="0" tIns="0" rIns="0" bIns="0" anchor="t"/>
          <a:lstStyle/>
          <a:p>
            <a:pPr algn="r"/>
            <a:r>
              <a:rPr lang="en-US" sz="1100" b="0">
                <a:solidFill>
                  <a:srgbClr val="B0AEA5"/>
                </a:solidFill>
                <a:latin typeface="Helvetica Neue"/>
              </a:rPr>
              <a:t>13 / 18</a:t>
            </a:r>
            <a:endParaRPr lang="en-US" sz="1100" b="0" dirty="0">
              <a:solidFill>
                <a:srgbClr val="B0AEA5"/>
              </a:solidFill>
              <a:latin typeface="Helvetica Neue"/>
            </a:endParaRPr>
          </a:p>
        </p:txBody>
      </p:sp>
    </p:spTree>
    <p:extLst>
      <p:ext uri="{BB962C8B-B14F-4D97-AF65-F5344CB8AC3E}">
        <p14:creationId xmlns:p14="http://schemas.microsoft.com/office/powerpoint/2010/main" val="1320411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L"/>
          <p:cNvSpPr/>
          <p:nvPr/>
        </p:nvSpPr>
        <p:spPr>
          <a:xfrm>
            <a:off x="736600" y="368300"/>
            <a:ext cx="8001000" cy="279400"/>
          </a:xfrm>
          <a:prstGeom prst="rect">
            <a:avLst/>
          </a:prstGeom>
        </p:spPr>
        <p:txBody>
          <a:bodyPr wrap="square" lIns="0" tIns="0" rIns="0" bIns="0" anchor="t"/>
          <a:lstStyle/>
          <a:p>
            <a:pPr algn="l"/>
            <a:r>
              <a:rPr lang="en-US" sz="1200" b="1" dirty="0">
                <a:solidFill>
                  <a:srgbClr val="D97757"/>
                </a:solidFill>
                <a:latin typeface="Helvetica Neue"/>
              </a:rPr>
              <a:t>PART 2 — settings.json</a:t>
            </a:r>
          </a:p>
        </p:txBody>
      </p:sp>
      <p:sp>
        <p:nvSpPr>
          <p:cNvPr id="3" name="Title"/>
          <p:cNvSpPr/>
          <p:nvPr/>
        </p:nvSpPr>
        <p:spPr>
          <a:xfrm>
            <a:off x="736600" y="546100"/>
            <a:ext cx="9994900" cy="546100"/>
          </a:xfrm>
          <a:prstGeom prst="rect">
            <a:avLst/>
          </a:prstGeom>
        </p:spPr>
        <p:txBody>
          <a:bodyPr wrap="square" lIns="0" tIns="0" rIns="0" bIns="0" anchor="t"/>
          <a:lstStyle/>
          <a:p>
            <a:pPr algn="l"/>
            <a:r>
              <a:rPr lang="ja-JP" sz="2800" b="1" dirty="0">
                <a:solidFill>
                  <a:srgbClr val="FAF9F5"/>
                </a:solidFill>
                <a:latin typeface="Hiragino Sans"/>
              </a:rPr>
              <a:t>権限設定 — allow / deny / ask</a:t>
            </a:r>
          </a:p>
        </p:txBody>
      </p:sp>
      <p:sp>
        <p:nvSpPr>
          <p:cNvPr id="10" name="Dot0"/>
          <p:cNvSpPr/>
          <p:nvPr/>
        </p:nvSpPr>
        <p:spPr>
          <a:xfrm>
            <a:off x="736600" y="1422400"/>
            <a:ext cx="177800" cy="177800"/>
          </a:xfrm>
          <a:prstGeom prst="ellipse">
            <a:avLst/>
          </a:prstGeom>
          <a:solidFill>
            <a:srgbClr val="7BC9A0"/>
          </a:solidFill>
          <a:ln>
            <a:noFill/>
          </a:ln>
        </p:spPr>
        <p:txBody>
          <a:bodyPr/>
          <a:lstStyle/>
          <a:p>
            <a:endParaRPr lang="ja-JP"/>
          </a:p>
        </p:txBody>
      </p:sp>
      <p:sp>
        <p:nvSpPr>
          <p:cNvPr id="11" name="Label0"/>
          <p:cNvSpPr/>
          <p:nvPr/>
        </p:nvSpPr>
        <p:spPr>
          <a:xfrm>
            <a:off x="1016000" y="1371600"/>
            <a:ext cx="1270000" cy="304800"/>
          </a:xfrm>
          <a:prstGeom prst="rect">
            <a:avLst/>
          </a:prstGeom>
        </p:spPr>
        <p:txBody>
          <a:bodyPr wrap="square" lIns="0" tIns="0" rIns="0" bIns="0" anchor="t"/>
          <a:lstStyle/>
          <a:p>
            <a:pPr algn="l"/>
            <a:r>
              <a:rPr lang="en-US" sz="1800" b="1" dirty="0">
                <a:solidFill>
                  <a:srgbClr val="7BC9A0"/>
                </a:solidFill>
                <a:latin typeface="Menlo"/>
              </a:rPr>
              <a:t>allow</a:t>
            </a:r>
          </a:p>
        </p:txBody>
      </p:sp>
      <p:sp>
        <p:nvSpPr>
          <p:cNvPr id="12" name="Desc0"/>
          <p:cNvSpPr/>
          <p:nvPr/>
        </p:nvSpPr>
        <p:spPr>
          <a:xfrm>
            <a:off x="2387600" y="1371600"/>
            <a:ext cx="2540000" cy="304800"/>
          </a:xfrm>
          <a:prstGeom prst="rect">
            <a:avLst/>
          </a:prstGeom>
        </p:spPr>
        <p:txBody>
          <a:bodyPr wrap="square" lIns="0" tIns="0" rIns="0" bIns="0" anchor="t"/>
          <a:lstStyle/>
          <a:p>
            <a:pPr algn="l"/>
            <a:r>
              <a:rPr lang="ja-JP" sz="1500" b="0" dirty="0">
                <a:solidFill>
                  <a:srgbClr val="C5C3BB"/>
                </a:solidFill>
                <a:latin typeface="Hiragino Sans"/>
              </a:rPr>
              <a:t>確認なしで自動許可</a:t>
            </a:r>
          </a:p>
        </p:txBody>
      </p:sp>
      <p:sp>
        <p:nvSpPr>
          <p:cNvPr id="13" name="Ex0"/>
          <p:cNvSpPr/>
          <p:nvPr/>
        </p:nvSpPr>
        <p:spPr>
          <a:xfrm>
            <a:off x="1016000" y="1752600"/>
            <a:ext cx="4826000" cy="825500"/>
          </a:xfrm>
          <a:prstGeom prst="roundRect">
            <a:avLst>
              <a:gd name="adj" fmla="val 5000"/>
            </a:avLst>
          </a:prstGeom>
          <a:solidFill>
            <a:srgbClr val="2A2725"/>
          </a:solidFill>
          <a:ln>
            <a:noFill/>
          </a:ln>
        </p:spPr>
        <p:txBody>
          <a:bodyPr wrap="square" lIns="127000" tIns="101600" rIns="127000" bIns="101600" anchor="t"/>
          <a:lstStyle/>
          <a:p>
            <a:pPr algn="l">
              <a:lnSpc>
                <a:spcPts val="1800"/>
              </a:lnSpc>
            </a:pPr>
            <a:r>
              <a:rPr lang="en-US" sz="1300" b="0" dirty="0">
                <a:solidFill>
                  <a:srgbClr val="E0DED8"/>
                </a:solidFill>
                <a:latin typeface="Menlo"/>
              </a:rPr>
              <a:t>Read(*)
Bash(npm run *)
Bash(git diff *)</a:t>
            </a:r>
          </a:p>
        </p:txBody>
      </p:sp>
      <p:sp>
        <p:nvSpPr>
          <p:cNvPr id="15" name="Dot1"/>
          <p:cNvSpPr/>
          <p:nvPr/>
        </p:nvSpPr>
        <p:spPr>
          <a:xfrm>
            <a:off x="736600" y="2819400"/>
            <a:ext cx="177800" cy="177800"/>
          </a:xfrm>
          <a:prstGeom prst="ellipse">
            <a:avLst/>
          </a:prstGeom>
          <a:solidFill>
            <a:srgbClr val="E06060"/>
          </a:solidFill>
          <a:ln>
            <a:noFill/>
          </a:ln>
        </p:spPr>
        <p:txBody>
          <a:bodyPr/>
          <a:lstStyle/>
          <a:p>
            <a:endParaRPr lang="ja-JP"/>
          </a:p>
        </p:txBody>
      </p:sp>
      <p:sp>
        <p:nvSpPr>
          <p:cNvPr id="16" name="Label1"/>
          <p:cNvSpPr/>
          <p:nvPr/>
        </p:nvSpPr>
        <p:spPr>
          <a:xfrm>
            <a:off x="1016000" y="2768600"/>
            <a:ext cx="1270000" cy="304800"/>
          </a:xfrm>
          <a:prstGeom prst="rect">
            <a:avLst/>
          </a:prstGeom>
        </p:spPr>
        <p:txBody>
          <a:bodyPr wrap="square" lIns="0" tIns="0" rIns="0" bIns="0" anchor="t"/>
          <a:lstStyle/>
          <a:p>
            <a:pPr algn="l"/>
            <a:r>
              <a:rPr lang="en-US" sz="1800" b="1" dirty="0">
                <a:solidFill>
                  <a:srgbClr val="E06060"/>
                </a:solidFill>
                <a:latin typeface="Menlo"/>
              </a:rPr>
              <a:t>deny</a:t>
            </a:r>
          </a:p>
        </p:txBody>
      </p:sp>
      <p:sp>
        <p:nvSpPr>
          <p:cNvPr id="17" name="Desc1"/>
          <p:cNvSpPr/>
          <p:nvPr/>
        </p:nvSpPr>
        <p:spPr>
          <a:xfrm>
            <a:off x="2387600" y="2768600"/>
            <a:ext cx="2540000" cy="304800"/>
          </a:xfrm>
          <a:prstGeom prst="rect">
            <a:avLst/>
          </a:prstGeom>
        </p:spPr>
        <p:txBody>
          <a:bodyPr wrap="square" lIns="0" tIns="0" rIns="0" bIns="0" anchor="t"/>
          <a:lstStyle/>
          <a:p>
            <a:pPr algn="l"/>
            <a:r>
              <a:rPr lang="ja-JP" sz="1500" b="0" dirty="0">
                <a:solidFill>
                  <a:srgbClr val="C5C3BB"/>
                </a:solidFill>
                <a:latin typeface="Hiragino Sans"/>
              </a:rPr>
              <a:t>常にブロック（最優先）</a:t>
            </a:r>
          </a:p>
        </p:txBody>
      </p:sp>
      <p:sp>
        <p:nvSpPr>
          <p:cNvPr id="18" name="Ex1"/>
          <p:cNvSpPr/>
          <p:nvPr/>
        </p:nvSpPr>
        <p:spPr>
          <a:xfrm>
            <a:off x="1016000" y="3149600"/>
            <a:ext cx="4826000" cy="825500"/>
          </a:xfrm>
          <a:prstGeom prst="roundRect">
            <a:avLst>
              <a:gd name="adj" fmla="val 5000"/>
            </a:avLst>
          </a:prstGeom>
          <a:solidFill>
            <a:srgbClr val="2A2725"/>
          </a:solidFill>
          <a:ln>
            <a:noFill/>
          </a:ln>
        </p:spPr>
        <p:txBody>
          <a:bodyPr wrap="square" lIns="127000" tIns="101600" rIns="127000" bIns="101600" anchor="t"/>
          <a:lstStyle/>
          <a:p>
            <a:pPr algn="l">
              <a:lnSpc>
                <a:spcPts val="1800"/>
              </a:lnSpc>
            </a:pPr>
            <a:r>
              <a:rPr lang="en-US" sz="1300" b="0" dirty="0">
                <a:solidFill>
                  <a:srgbClr val="E0DED8"/>
                </a:solidFill>
                <a:latin typeface="Menlo"/>
              </a:rPr>
              <a:t>Bash(rm -rf *)
Bash(git push *)
Read(**/.env)</a:t>
            </a:r>
          </a:p>
        </p:txBody>
      </p:sp>
      <p:sp>
        <p:nvSpPr>
          <p:cNvPr id="20" name="Dot2"/>
          <p:cNvSpPr/>
          <p:nvPr/>
        </p:nvSpPr>
        <p:spPr>
          <a:xfrm>
            <a:off x="736600" y="4216400"/>
            <a:ext cx="177800" cy="177800"/>
          </a:xfrm>
          <a:prstGeom prst="ellipse">
            <a:avLst/>
          </a:prstGeom>
          <a:solidFill>
            <a:srgbClr val="E0C060"/>
          </a:solidFill>
          <a:ln>
            <a:noFill/>
          </a:ln>
        </p:spPr>
        <p:txBody>
          <a:bodyPr/>
          <a:lstStyle/>
          <a:p>
            <a:endParaRPr lang="ja-JP"/>
          </a:p>
        </p:txBody>
      </p:sp>
      <p:sp>
        <p:nvSpPr>
          <p:cNvPr id="21" name="Label2"/>
          <p:cNvSpPr/>
          <p:nvPr/>
        </p:nvSpPr>
        <p:spPr>
          <a:xfrm>
            <a:off x="1016000" y="4165600"/>
            <a:ext cx="1270000" cy="304800"/>
          </a:xfrm>
          <a:prstGeom prst="rect">
            <a:avLst/>
          </a:prstGeom>
        </p:spPr>
        <p:txBody>
          <a:bodyPr wrap="square" lIns="0" tIns="0" rIns="0" bIns="0" anchor="t"/>
          <a:lstStyle/>
          <a:p>
            <a:pPr algn="l"/>
            <a:r>
              <a:rPr lang="en-US" sz="1800" b="1" dirty="0">
                <a:solidFill>
                  <a:srgbClr val="E0C060"/>
                </a:solidFill>
                <a:latin typeface="Menlo"/>
              </a:rPr>
              <a:t>ask</a:t>
            </a:r>
          </a:p>
        </p:txBody>
      </p:sp>
      <p:sp>
        <p:nvSpPr>
          <p:cNvPr id="22" name="Desc2"/>
          <p:cNvSpPr/>
          <p:nvPr/>
        </p:nvSpPr>
        <p:spPr>
          <a:xfrm>
            <a:off x="2387600" y="4165600"/>
            <a:ext cx="2540000" cy="304800"/>
          </a:xfrm>
          <a:prstGeom prst="rect">
            <a:avLst/>
          </a:prstGeom>
        </p:spPr>
        <p:txBody>
          <a:bodyPr wrap="square" lIns="0" tIns="0" rIns="0" bIns="0" anchor="t"/>
          <a:lstStyle/>
          <a:p>
            <a:pPr algn="l"/>
            <a:r>
              <a:rPr lang="ja-JP" sz="1500" b="0" dirty="0">
                <a:solidFill>
                  <a:srgbClr val="C5C3BB"/>
                </a:solidFill>
                <a:latin typeface="Hiragino Sans"/>
              </a:rPr>
              <a:t>毎回確認を求める</a:t>
            </a:r>
          </a:p>
        </p:txBody>
      </p:sp>
      <p:sp>
        <p:nvSpPr>
          <p:cNvPr id="23" name="Ex2"/>
          <p:cNvSpPr/>
          <p:nvPr/>
        </p:nvSpPr>
        <p:spPr>
          <a:xfrm>
            <a:off x="1016000" y="4546600"/>
            <a:ext cx="4826000" cy="825500"/>
          </a:xfrm>
          <a:prstGeom prst="roundRect">
            <a:avLst>
              <a:gd name="adj" fmla="val 5000"/>
            </a:avLst>
          </a:prstGeom>
          <a:solidFill>
            <a:srgbClr val="2A2725"/>
          </a:solidFill>
          <a:ln>
            <a:noFill/>
          </a:ln>
        </p:spPr>
        <p:txBody>
          <a:bodyPr wrap="square" lIns="127000" tIns="101600" rIns="127000" bIns="101600" anchor="t"/>
          <a:lstStyle/>
          <a:p>
            <a:pPr algn="l">
              <a:lnSpc>
                <a:spcPts val="1800"/>
              </a:lnSpc>
            </a:pPr>
            <a:r>
              <a:rPr lang="en-US" sz="1300" b="0" dirty="0">
                <a:solidFill>
                  <a:srgbClr val="E0DED8"/>
                </a:solidFill>
                <a:latin typeface="Menlo"/>
              </a:rPr>
              <a:t>Bash(docker *)
WebFetch</a:t>
            </a:r>
          </a:p>
        </p:txBody>
      </p:sp>
      <p:sp>
        <p:nvSpPr>
          <p:cNvPr id="30" name="EvalTitle"/>
          <p:cNvSpPr/>
          <p:nvPr/>
        </p:nvSpPr>
        <p:spPr>
          <a:xfrm>
            <a:off x="6350000" y="1371600"/>
            <a:ext cx="5080000" cy="330200"/>
          </a:xfrm>
          <a:prstGeom prst="rect">
            <a:avLst/>
          </a:prstGeom>
        </p:spPr>
        <p:txBody>
          <a:bodyPr wrap="square" lIns="0" tIns="0" rIns="0" bIns="0" anchor="t"/>
          <a:lstStyle/>
          <a:p>
            <a:pPr algn="l"/>
            <a:r>
              <a:rPr lang="ja-JP" sz="1600" b="1" dirty="0">
                <a:solidFill>
                  <a:srgbClr val="FAF9F5"/>
                </a:solidFill>
                <a:latin typeface="Hiragino Sans"/>
              </a:rPr>
              <a:t>評価順序</a:t>
            </a:r>
          </a:p>
        </p:txBody>
      </p:sp>
      <p:sp>
        <p:nvSpPr>
          <p:cNvPr id="35" name="Num0"/>
          <p:cNvSpPr/>
          <p:nvPr/>
        </p:nvSpPr>
        <p:spPr>
          <a:xfrm>
            <a:off x="6350000" y="1879600"/>
            <a:ext cx="457200" cy="457200"/>
          </a:xfrm>
          <a:prstGeom prst="ellipse">
            <a:avLst/>
          </a:prstGeom>
          <a:solidFill>
            <a:srgbClr val="E06060"/>
          </a:solidFill>
          <a:ln>
            <a:noFill/>
          </a:ln>
        </p:spPr>
        <p:txBody>
          <a:bodyPr wrap="none" lIns="0" tIns="0" rIns="0" bIns="0" anchor="ctr"/>
          <a:lstStyle/>
          <a:p>
            <a:pPr algn="ctr"/>
            <a:r>
              <a:rPr lang="en-US" sz="1600" b="1" dirty="0">
                <a:solidFill>
                  <a:srgbClr val="FAF9F5"/>
                </a:solidFill>
                <a:latin typeface="Helvetica Neue"/>
              </a:rPr>
              <a:t>1</a:t>
            </a:r>
          </a:p>
        </p:txBody>
      </p:sp>
      <p:sp>
        <p:nvSpPr>
          <p:cNvPr id="36" name="Step0"/>
          <p:cNvSpPr/>
          <p:nvPr/>
        </p:nvSpPr>
        <p:spPr>
          <a:xfrm>
            <a:off x="6934200" y="1879600"/>
            <a:ext cx="4445000" cy="457200"/>
          </a:xfrm>
          <a:prstGeom prst="rect">
            <a:avLst/>
          </a:prstGeom>
        </p:spPr>
        <p:txBody>
          <a:bodyPr wrap="square" lIns="0" tIns="0" rIns="0" bIns="0" anchor="ctr"/>
          <a:lstStyle/>
          <a:p>
            <a:pPr algn="l"/>
            <a:r>
              <a:rPr lang="en-US" sz="1500" b="1" dirty="0">
                <a:solidFill>
                  <a:srgbClr val="E06060"/>
                </a:solidFill>
                <a:latin typeface="Menlo"/>
              </a:rPr>
              <a:t>deny</a:t>
            </a:r>
            <a:r>
              <a:rPr lang="ja-JP" sz="1500" b="0" dirty="0">
                <a:solidFill>
                  <a:srgbClr val="FAF9F5"/>
                </a:solidFill>
                <a:latin typeface="Hiragino Sans"/>
              </a:rPr>
              <a:t>  まず拒否ルールをチェック</a:t>
            </a:r>
          </a:p>
        </p:txBody>
      </p:sp>
      <p:sp>
        <p:nvSpPr>
          <p:cNvPr id="38" name="Num1"/>
          <p:cNvSpPr/>
          <p:nvPr/>
        </p:nvSpPr>
        <p:spPr>
          <a:xfrm>
            <a:off x="6350000" y="2768600"/>
            <a:ext cx="457200" cy="457200"/>
          </a:xfrm>
          <a:prstGeom prst="ellipse">
            <a:avLst/>
          </a:prstGeom>
          <a:solidFill>
            <a:srgbClr val="E0C060"/>
          </a:solidFill>
          <a:ln>
            <a:noFill/>
          </a:ln>
        </p:spPr>
        <p:txBody>
          <a:bodyPr wrap="none" lIns="0" tIns="0" rIns="0" bIns="0" anchor="ctr"/>
          <a:lstStyle/>
          <a:p>
            <a:pPr algn="ctr"/>
            <a:r>
              <a:rPr lang="en-US" sz="1600" b="1" dirty="0">
                <a:solidFill>
                  <a:srgbClr val="FAF9F5"/>
                </a:solidFill>
                <a:latin typeface="Helvetica Neue"/>
              </a:rPr>
              <a:t>2</a:t>
            </a:r>
          </a:p>
        </p:txBody>
      </p:sp>
      <p:sp>
        <p:nvSpPr>
          <p:cNvPr id="39" name="Step1"/>
          <p:cNvSpPr/>
          <p:nvPr/>
        </p:nvSpPr>
        <p:spPr>
          <a:xfrm>
            <a:off x="6934200" y="2768600"/>
            <a:ext cx="4445000" cy="457200"/>
          </a:xfrm>
          <a:prstGeom prst="rect">
            <a:avLst/>
          </a:prstGeom>
        </p:spPr>
        <p:txBody>
          <a:bodyPr wrap="square" lIns="0" tIns="0" rIns="0" bIns="0" anchor="ctr"/>
          <a:lstStyle/>
          <a:p>
            <a:pPr algn="l"/>
            <a:r>
              <a:rPr lang="en-US" sz="1500" b="1" dirty="0">
                <a:solidFill>
                  <a:srgbClr val="E0C060"/>
                </a:solidFill>
                <a:latin typeface="Menlo"/>
              </a:rPr>
              <a:t>ask</a:t>
            </a:r>
            <a:r>
              <a:rPr lang="ja-JP" sz="1500" b="0" dirty="0">
                <a:solidFill>
                  <a:srgbClr val="FAF9F5"/>
                </a:solidFill>
                <a:latin typeface="Hiragino Sans"/>
              </a:rPr>
              <a:t>  次に確認ルールをチェック</a:t>
            </a:r>
          </a:p>
        </p:txBody>
      </p:sp>
      <p:sp>
        <p:nvSpPr>
          <p:cNvPr id="41" name="Num2"/>
          <p:cNvSpPr/>
          <p:nvPr/>
        </p:nvSpPr>
        <p:spPr>
          <a:xfrm>
            <a:off x="6350000" y="3657600"/>
            <a:ext cx="457200" cy="457200"/>
          </a:xfrm>
          <a:prstGeom prst="ellipse">
            <a:avLst/>
          </a:prstGeom>
          <a:solidFill>
            <a:srgbClr val="7BC9A0"/>
          </a:solidFill>
          <a:ln>
            <a:noFill/>
          </a:ln>
        </p:spPr>
        <p:txBody>
          <a:bodyPr wrap="none" lIns="0" tIns="0" rIns="0" bIns="0" anchor="ctr"/>
          <a:lstStyle/>
          <a:p>
            <a:pPr algn="ctr"/>
            <a:r>
              <a:rPr lang="en-US" sz="1600" b="1" dirty="0">
                <a:solidFill>
                  <a:srgbClr val="FAF9F5"/>
                </a:solidFill>
                <a:latin typeface="Helvetica Neue"/>
              </a:rPr>
              <a:t>3</a:t>
            </a:r>
          </a:p>
        </p:txBody>
      </p:sp>
      <p:sp>
        <p:nvSpPr>
          <p:cNvPr id="42" name="Step2"/>
          <p:cNvSpPr/>
          <p:nvPr/>
        </p:nvSpPr>
        <p:spPr>
          <a:xfrm>
            <a:off x="6934200" y="3657600"/>
            <a:ext cx="4445000" cy="457200"/>
          </a:xfrm>
          <a:prstGeom prst="rect">
            <a:avLst/>
          </a:prstGeom>
        </p:spPr>
        <p:txBody>
          <a:bodyPr wrap="square" lIns="0" tIns="0" rIns="0" bIns="0" anchor="ctr"/>
          <a:lstStyle/>
          <a:p>
            <a:pPr algn="l"/>
            <a:r>
              <a:rPr lang="en-US" sz="1500" b="1" dirty="0">
                <a:solidFill>
                  <a:srgbClr val="7BC9A0"/>
                </a:solidFill>
                <a:latin typeface="Menlo"/>
              </a:rPr>
              <a:t>allow</a:t>
            </a:r>
            <a:r>
              <a:rPr lang="ja-JP" sz="1500" b="0" dirty="0">
                <a:solidFill>
                  <a:srgbClr val="FAF9F5"/>
                </a:solidFill>
                <a:latin typeface="Hiragino Sans"/>
              </a:rPr>
              <a:t>  最後に許可ルールをチェック</a:t>
            </a:r>
          </a:p>
        </p:txBody>
      </p:sp>
      <p:sp>
        <p:nvSpPr>
          <p:cNvPr id="45" name="Tip"/>
          <p:cNvSpPr/>
          <p:nvPr/>
        </p:nvSpPr>
        <p:spPr>
          <a:xfrm>
            <a:off x="6350000" y="4699000"/>
            <a:ext cx="5080000" cy="1079500"/>
          </a:xfrm>
          <a:prstGeom prst="roundRect">
            <a:avLst>
              <a:gd name="adj" fmla="val 5000"/>
            </a:avLst>
          </a:prstGeom>
          <a:solidFill>
            <a:srgbClr val="2A2725"/>
          </a:solidFill>
          <a:ln>
            <a:noFill/>
          </a:ln>
        </p:spPr>
        <p:txBody>
          <a:bodyPr wrap="square" lIns="152400" tIns="127000" rIns="152400" bIns="127000" anchor="t"/>
          <a:lstStyle/>
          <a:p>
            <a:pPr algn="l"/>
            <a:r>
              <a:rPr lang="ja-JP" sz="1400" b="1" dirty="0">
                <a:solidFill>
                  <a:srgbClr val="D97757"/>
                </a:solidFill>
                <a:latin typeface="Hiragino Sans"/>
              </a:rPr>
              <a:t>設定方法</a:t>
            </a:r>
          </a:p>
          <a:p>
            <a:pPr algn="l">
              <a:spcBef>
                <a:spcPts val="400"/>
              </a:spcBef>
            </a:pPr>
            <a:r>
              <a:rPr lang="en-US" sz="1300" b="0" dirty="0">
                <a:solidFill>
                  <a:srgbClr val="E0DED8"/>
                </a:solidFill>
                <a:latin typeface="Menlo"/>
              </a:rPr>
              <a:t>/allowed-tools</a:t>
            </a:r>
            <a:r>
              <a:rPr lang="ja-JP" sz="1300" b="0" dirty="0">
                <a:solidFill>
                  <a:srgbClr val="C5C3BB"/>
                </a:solidFill>
                <a:latin typeface="Hiragino Sans"/>
              </a:rPr>
              <a:t> で対話的に設定</a:t>
            </a:r>
          </a:p>
          <a:p>
            <a:pPr algn="l"/>
            <a:r>
              <a:rPr lang="ja-JP" sz="1300" b="0" dirty="0">
                <a:solidFill>
                  <a:srgbClr val="C5C3BB"/>
                </a:solidFill>
                <a:latin typeface="Hiragino Sans"/>
              </a:rPr>
              <a:t>またはJSONを直接編集</a:t>
            </a:r>
          </a:p>
        </p:txBody>
      </p:sp>
      <p:sp>
        <p:nvSpPr>
          <p:cNvPr id="50" name="PageNum"/>
          <p:cNvSpPr/>
          <p:nvPr/>
        </p:nvSpPr>
        <p:spPr>
          <a:xfrm>
            <a:off x="10998200" y="6464300"/>
            <a:ext cx="901700" cy="279400"/>
          </a:xfrm>
          <a:prstGeom prst="rect">
            <a:avLst/>
          </a:prstGeom>
        </p:spPr>
        <p:txBody>
          <a:bodyPr wrap="square" lIns="0" tIns="0" rIns="0" bIns="0" anchor="t"/>
          <a:lstStyle/>
          <a:p>
            <a:pPr algn="r"/>
            <a:r>
              <a:rPr lang="en-US" sz="1100" b="0">
                <a:solidFill>
                  <a:srgbClr val="B0AEA5"/>
                </a:solidFill>
                <a:latin typeface="Helvetica Neue"/>
              </a:rPr>
              <a:t>14 / 18</a:t>
            </a:r>
            <a:endParaRPr lang="en-US" sz="1100" b="0" dirty="0">
              <a:solidFill>
                <a:srgbClr val="B0AEA5"/>
              </a:solidFill>
              <a:latin typeface="Helvetica Neue"/>
            </a:endParaRPr>
          </a:p>
        </p:txBody>
      </p:sp>
    </p:spTree>
    <p:extLst>
      <p:ext uri="{BB962C8B-B14F-4D97-AF65-F5344CB8AC3E}">
        <p14:creationId xmlns:p14="http://schemas.microsoft.com/office/powerpoint/2010/main" val="19559185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L"/>
          <p:cNvSpPr/>
          <p:nvPr/>
        </p:nvSpPr>
        <p:spPr>
          <a:xfrm>
            <a:off x="736600" y="368300"/>
            <a:ext cx="8001000" cy="279400"/>
          </a:xfrm>
          <a:prstGeom prst="rect">
            <a:avLst/>
          </a:prstGeom>
        </p:spPr>
        <p:txBody>
          <a:bodyPr wrap="square" lIns="0" tIns="0" rIns="0" bIns="0" anchor="t"/>
          <a:lstStyle/>
          <a:p>
            <a:pPr algn="l"/>
            <a:r>
              <a:rPr lang="en-US" sz="1200" b="1" dirty="0">
                <a:solidFill>
                  <a:srgbClr val="D97757"/>
                </a:solidFill>
                <a:latin typeface="Helvetica Neue"/>
              </a:rPr>
              <a:t>PART 2 — settings.json</a:t>
            </a:r>
          </a:p>
        </p:txBody>
      </p:sp>
      <p:sp>
        <p:nvSpPr>
          <p:cNvPr id="3" name="Title"/>
          <p:cNvSpPr/>
          <p:nvPr/>
        </p:nvSpPr>
        <p:spPr>
          <a:xfrm>
            <a:off x="736600" y="546100"/>
            <a:ext cx="10731500" cy="546100"/>
          </a:xfrm>
          <a:prstGeom prst="rect">
            <a:avLst/>
          </a:prstGeom>
        </p:spPr>
        <p:txBody>
          <a:bodyPr wrap="square" lIns="0" tIns="0" rIns="0" bIns="0" anchor="t"/>
          <a:lstStyle/>
          <a:p>
            <a:pPr algn="l"/>
            <a:r>
              <a:rPr lang="ja-JP" sz="2800" b="1" dirty="0">
                <a:solidFill>
                  <a:srgbClr val="FAF9F5"/>
                </a:solidFill>
                <a:latin typeface="Hiragino Sans"/>
              </a:rPr>
              <a:t>Vertex AI を使う場合</a:t>
            </a:r>
          </a:p>
        </p:txBody>
      </p:sp>
      <p:sp>
        <p:nvSpPr>
          <p:cNvPr id="11" name="VCode"/>
          <p:cNvSpPr/>
          <p:nvPr/>
        </p:nvSpPr>
        <p:spPr>
          <a:xfrm>
            <a:off x="736600" y="1752600"/>
            <a:ext cx="10731500" cy="3886200"/>
          </a:xfrm>
          <a:prstGeom prst="roundRect">
            <a:avLst>
              <a:gd name="adj" fmla="val 3000"/>
            </a:avLst>
          </a:prstGeom>
          <a:solidFill>
            <a:srgbClr val="2A2725"/>
          </a:solidFill>
          <a:ln>
            <a:noFill/>
          </a:ln>
        </p:spPr>
        <p:txBody>
          <a:bodyPr wrap="square" lIns="152400" tIns="127000" rIns="152400" bIns="127000" anchor="t"/>
          <a:lstStyle/>
          <a:p>
            <a:pPr algn="l">
              <a:lnSpc>
                <a:spcPct val="150000"/>
              </a:lnSpc>
            </a:pPr>
            <a:r>
              <a:rPr lang="en-US" b="0" dirty="0">
                <a:solidFill>
                  <a:srgbClr val="E0DED8"/>
                </a:solidFill>
                <a:latin typeface="Menlo"/>
              </a:rPr>
              <a:t>// settings.json の env に追加
"env": {
  "CLAUDE_CODE_USE_VERTEX": "1",
  "CLOUD_ML_REGION": "us-east5",
  "ANTHROPIC_VERTEX_PROJECT_ID":
    "your-project-id"
}</a:t>
            </a:r>
          </a:p>
        </p:txBody>
      </p:sp>
      <p:sp>
        <p:nvSpPr>
          <p:cNvPr id="50" name="PageNum"/>
          <p:cNvSpPr/>
          <p:nvPr/>
        </p:nvSpPr>
        <p:spPr>
          <a:xfrm>
            <a:off x="10998200" y="6464300"/>
            <a:ext cx="901700" cy="279400"/>
          </a:xfrm>
          <a:prstGeom prst="rect">
            <a:avLst/>
          </a:prstGeom>
        </p:spPr>
        <p:txBody>
          <a:bodyPr wrap="square" lIns="0" tIns="0" rIns="0" bIns="0" anchor="t"/>
          <a:lstStyle/>
          <a:p>
            <a:pPr algn="r"/>
            <a:r>
              <a:rPr lang="en-US" sz="1100" b="0">
                <a:solidFill>
                  <a:srgbClr val="B0AEA5"/>
                </a:solidFill>
                <a:latin typeface="Helvetica Neue"/>
              </a:rPr>
              <a:t>15 / 18</a:t>
            </a:r>
            <a:endParaRPr lang="en-US" sz="1100" b="0" dirty="0">
              <a:solidFill>
                <a:srgbClr val="B0AEA5"/>
              </a:solidFill>
              <a:latin typeface="Helvetica Neue"/>
            </a:endParaRPr>
          </a:p>
        </p:txBody>
      </p:sp>
      <p:sp>
        <p:nvSpPr>
          <p:cNvPr id="60" name="VLabel"/>
          <p:cNvSpPr/>
          <p:nvPr/>
        </p:nvSpPr>
        <p:spPr>
          <a:xfrm>
            <a:off x="736600" y="1371600"/>
            <a:ext cx="10731500" cy="330200"/>
          </a:xfrm>
          <a:prstGeom prst="rect">
            <a:avLst/>
          </a:prstGeom>
        </p:spPr>
        <p:txBody>
          <a:bodyPr wrap="square" lIns="0" tIns="0" rIns="0" bIns="0" anchor="t"/>
          <a:lstStyle/>
          <a:p>
            <a:pPr algn="l"/>
            <a:r>
              <a:rPr lang="ja-JP" sz="1600" b="1" dirty="0">
                <a:solidFill>
                  <a:srgbClr val="D97757"/>
                </a:solidFill>
                <a:latin typeface="Hiragino Sans"/>
              </a:rPr>
              <a:t>env セクションに環境変数を設定</a:t>
            </a:r>
          </a:p>
        </p:txBody>
      </p:sp>
    </p:spTree>
    <p:extLst>
      <p:ext uri="{BB962C8B-B14F-4D97-AF65-F5344CB8AC3E}">
        <p14:creationId xmlns:p14="http://schemas.microsoft.com/office/powerpoint/2010/main" val="2315689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L"/>
          <p:cNvSpPr/>
          <p:nvPr/>
        </p:nvSpPr>
        <p:spPr>
          <a:xfrm>
            <a:off x="736600" y="368300"/>
            <a:ext cx="8001000" cy="279400"/>
          </a:xfrm>
          <a:prstGeom prst="rect">
            <a:avLst/>
          </a:prstGeom>
        </p:spPr>
        <p:txBody>
          <a:bodyPr wrap="square" lIns="0" tIns="0" rIns="0" bIns="0" anchor="t"/>
          <a:lstStyle/>
          <a:p>
            <a:pPr algn="l"/>
            <a:r>
              <a:rPr lang="en-US" sz="1200" b="1" dirty="0">
                <a:solidFill>
                  <a:srgbClr val="D97757"/>
                </a:solidFill>
                <a:latin typeface="Helvetica Neue"/>
              </a:rPr>
              <a:t>PART 2 — settings.json</a:t>
            </a:r>
          </a:p>
        </p:txBody>
      </p:sp>
      <p:sp>
        <p:nvSpPr>
          <p:cNvPr id="3" name="Title"/>
          <p:cNvSpPr/>
          <p:nvPr/>
        </p:nvSpPr>
        <p:spPr>
          <a:xfrm>
            <a:off x="736600" y="546100"/>
            <a:ext cx="10731500" cy="546100"/>
          </a:xfrm>
          <a:prstGeom prst="rect">
            <a:avLst/>
          </a:prstGeom>
        </p:spPr>
        <p:txBody>
          <a:bodyPr wrap="square" lIns="0" tIns="0" rIns="0" bIns="0" anchor="t"/>
          <a:lstStyle/>
          <a:p>
            <a:pPr algn="l"/>
            <a:r>
              <a:rPr lang="ja-JP" sz="2800" b="1" dirty="0">
                <a:solidFill>
                  <a:srgbClr val="FAF9F5"/>
                </a:solidFill>
                <a:latin typeface="Hiragino Sans"/>
              </a:rPr>
              <a:t>おすすめ config 設定</a:t>
            </a:r>
          </a:p>
        </p:txBody>
      </p:sp>
      <p:sp>
        <p:nvSpPr>
          <p:cNvPr id="4" name="Sub"/>
          <p:cNvSpPr/>
          <p:nvPr/>
        </p:nvSpPr>
        <p:spPr>
          <a:xfrm>
            <a:off x="736600" y="1143000"/>
            <a:ext cx="10731500" cy="279400"/>
          </a:xfrm>
          <a:prstGeom prst="rect">
            <a:avLst/>
          </a:prstGeom>
        </p:spPr>
        <p:txBody>
          <a:bodyPr wrap="square" lIns="0" tIns="0" rIns="0" bIns="0" anchor="t"/>
          <a:lstStyle/>
          <a:p>
            <a:pPr algn="l"/>
            <a:r>
              <a:rPr lang="ja-JP" sz="1500" b="0" dirty="0">
                <a:solidFill>
                  <a:srgbClr val="C5C3BB"/>
                </a:solidFill>
                <a:latin typeface="Hiragino Sans"/>
              </a:rPr>
              <a:t>permissions / env 以外にも設定できる便利な項目</a:t>
            </a:r>
          </a:p>
        </p:txBody>
      </p:sp>
      <p:sp>
        <p:nvSpPr>
          <p:cNvPr id="10" name="CfgCode"/>
          <p:cNvSpPr/>
          <p:nvPr/>
        </p:nvSpPr>
        <p:spPr>
          <a:xfrm>
            <a:off x="736600" y="1651000"/>
            <a:ext cx="5461000" cy="2540000"/>
          </a:xfrm>
          <a:prstGeom prst="roundRect">
            <a:avLst>
              <a:gd name="adj" fmla="val 3000"/>
            </a:avLst>
          </a:prstGeom>
          <a:solidFill>
            <a:srgbClr val="2A2725"/>
          </a:solidFill>
          <a:ln>
            <a:noFill/>
          </a:ln>
        </p:spPr>
        <p:txBody>
          <a:bodyPr wrap="square" lIns="190500" tIns="152400" rIns="190500" bIns="152400" anchor="t"/>
          <a:lstStyle/>
          <a:p>
            <a:pPr algn="l">
              <a:lnSpc>
                <a:spcPts val="1800"/>
              </a:lnSpc>
            </a:pPr>
            <a:r>
              <a:rPr lang="en-US" sz="1400" b="0" dirty="0">
                <a:solidFill>
                  <a:srgbClr val="E0DED8"/>
                </a:solidFill>
                <a:latin typeface="Menlo"/>
              </a:rPr>
              <a:t>{
  "language": "</a:t>
            </a:r>
            <a:r>
              <a:rPr lang="en-US" sz="1400" b="0" dirty="0" err="1">
                <a:solidFill>
                  <a:srgbClr val="E0DED8"/>
                </a:solidFill>
                <a:latin typeface="Menlo"/>
              </a:rPr>
              <a:t>japanese</a:t>
            </a:r>
            <a:r>
              <a:rPr lang="en-US" sz="1400" b="0" dirty="0">
                <a:solidFill>
                  <a:srgbClr val="E0DED8"/>
                </a:solidFill>
                <a:latin typeface="Menlo"/>
              </a:rPr>
              <a:t>",
  "plansDirectory": "./plans",
  "preferredNotifChannel":
    "terminal_bell",
  "model":
    "claude-sonnet-4-20250514"
}</a:t>
            </a:r>
          </a:p>
        </p:txBody>
      </p:sp>
      <p:sp>
        <p:nvSpPr>
          <p:cNvPr id="20" name="Key0"/>
          <p:cNvSpPr/>
          <p:nvPr/>
        </p:nvSpPr>
        <p:spPr>
          <a:xfrm>
            <a:off x="6477000" y="1651000"/>
            <a:ext cx="4991100" cy="279400"/>
          </a:xfrm>
          <a:prstGeom prst="rect">
            <a:avLst/>
          </a:prstGeom>
        </p:spPr>
        <p:txBody>
          <a:bodyPr wrap="square" lIns="0" tIns="0" rIns="0" bIns="0" anchor="t"/>
          <a:lstStyle/>
          <a:p>
            <a:pPr algn="l"/>
            <a:r>
              <a:rPr lang="en-US" sz="1500" b="1" dirty="0">
                <a:solidFill>
                  <a:srgbClr val="D97757"/>
                </a:solidFill>
                <a:latin typeface="Menlo"/>
              </a:rPr>
              <a:t>language</a:t>
            </a:r>
          </a:p>
        </p:txBody>
      </p:sp>
      <p:sp>
        <p:nvSpPr>
          <p:cNvPr id="21" name="Desc0"/>
          <p:cNvSpPr/>
          <p:nvPr/>
        </p:nvSpPr>
        <p:spPr>
          <a:xfrm>
            <a:off x="6477000" y="1930400"/>
            <a:ext cx="4991100" cy="508000"/>
          </a:xfrm>
          <a:prstGeom prst="rect">
            <a:avLst/>
          </a:prstGeom>
        </p:spPr>
        <p:txBody>
          <a:bodyPr wrap="square" lIns="0" tIns="0" rIns="0" bIns="0" anchor="t"/>
          <a:lstStyle/>
          <a:p>
            <a:pPr algn="l">
              <a:lnSpc>
                <a:spcPts val="1600"/>
              </a:lnSpc>
            </a:pPr>
            <a:r>
              <a:rPr lang="ja-JP" sz="1200" b="0" dirty="0">
                <a:solidFill>
                  <a:srgbClr val="C5C3BB"/>
                </a:solidFill>
                <a:latin typeface="Hiragino Sans"/>
              </a:rPr>
              <a:t>応答の言語を指定
日本語チームなら "ja"</a:t>
            </a:r>
          </a:p>
        </p:txBody>
      </p:sp>
      <p:sp>
        <p:nvSpPr>
          <p:cNvPr id="22" name="Key1"/>
          <p:cNvSpPr/>
          <p:nvPr/>
        </p:nvSpPr>
        <p:spPr>
          <a:xfrm>
            <a:off x="6477000" y="2590800"/>
            <a:ext cx="4991100" cy="279400"/>
          </a:xfrm>
          <a:prstGeom prst="rect">
            <a:avLst/>
          </a:prstGeom>
        </p:spPr>
        <p:txBody>
          <a:bodyPr wrap="square" lIns="0" tIns="0" rIns="0" bIns="0" anchor="t"/>
          <a:lstStyle/>
          <a:p>
            <a:pPr algn="l"/>
            <a:r>
              <a:rPr lang="en-US" sz="1500" b="1" dirty="0">
                <a:solidFill>
                  <a:srgbClr val="D97757"/>
                </a:solidFill>
                <a:latin typeface="Menlo"/>
              </a:rPr>
              <a:t>plansDirectory</a:t>
            </a:r>
          </a:p>
        </p:txBody>
      </p:sp>
      <p:sp>
        <p:nvSpPr>
          <p:cNvPr id="23" name="Desc1"/>
          <p:cNvSpPr/>
          <p:nvPr/>
        </p:nvSpPr>
        <p:spPr>
          <a:xfrm>
            <a:off x="6477000" y="2870200"/>
            <a:ext cx="4991100" cy="508000"/>
          </a:xfrm>
          <a:prstGeom prst="rect">
            <a:avLst/>
          </a:prstGeom>
        </p:spPr>
        <p:txBody>
          <a:bodyPr wrap="square" lIns="0" tIns="0" rIns="0" bIns="0" anchor="t"/>
          <a:lstStyle/>
          <a:p>
            <a:pPr algn="l">
              <a:lnSpc>
                <a:spcPts val="1600"/>
              </a:lnSpc>
            </a:pPr>
            <a:r>
              <a:rPr lang="ja-JP" sz="1200" b="0" dirty="0">
                <a:solidFill>
                  <a:srgbClr val="C5C3BB"/>
                </a:solidFill>
                <a:latin typeface="Hiragino Sans"/>
              </a:rPr>
              <a:t>プランファイルの保存先
プロジェクト内に指定すると管理しやすい</a:t>
            </a:r>
          </a:p>
        </p:txBody>
      </p:sp>
      <p:sp>
        <p:nvSpPr>
          <p:cNvPr id="26" name="Key3"/>
          <p:cNvSpPr/>
          <p:nvPr/>
        </p:nvSpPr>
        <p:spPr>
          <a:xfrm>
            <a:off x="6477000" y="3479801"/>
            <a:ext cx="4991100" cy="279400"/>
          </a:xfrm>
          <a:prstGeom prst="rect">
            <a:avLst/>
          </a:prstGeom>
        </p:spPr>
        <p:txBody>
          <a:bodyPr wrap="square" lIns="0" tIns="0" rIns="0" bIns="0" anchor="t"/>
          <a:lstStyle/>
          <a:p>
            <a:pPr algn="l"/>
            <a:r>
              <a:rPr lang="en-US" sz="1500" b="1" dirty="0">
                <a:solidFill>
                  <a:srgbClr val="D97757"/>
                </a:solidFill>
                <a:latin typeface="Menlo"/>
              </a:rPr>
              <a:t>preferredNotifChannel</a:t>
            </a:r>
          </a:p>
        </p:txBody>
      </p:sp>
      <p:sp>
        <p:nvSpPr>
          <p:cNvPr id="27" name="Desc3"/>
          <p:cNvSpPr/>
          <p:nvPr/>
        </p:nvSpPr>
        <p:spPr>
          <a:xfrm>
            <a:off x="6477000" y="3759201"/>
            <a:ext cx="4991100" cy="508000"/>
          </a:xfrm>
          <a:prstGeom prst="rect">
            <a:avLst/>
          </a:prstGeom>
        </p:spPr>
        <p:txBody>
          <a:bodyPr wrap="square" lIns="0" tIns="0" rIns="0" bIns="0" anchor="t"/>
          <a:lstStyle/>
          <a:p>
            <a:pPr algn="l">
              <a:lnSpc>
                <a:spcPts val="1600"/>
              </a:lnSpc>
            </a:pPr>
            <a:r>
              <a:rPr lang="ja-JP" sz="1200" b="0" dirty="0">
                <a:solidFill>
                  <a:srgbClr val="C5C3BB"/>
                </a:solidFill>
                <a:latin typeface="Hiragino Sans"/>
              </a:rPr>
              <a:t>処理完了時の通知方法
terminal_bell / iterm / iterm_with_bell</a:t>
            </a:r>
          </a:p>
        </p:txBody>
      </p:sp>
      <p:sp>
        <p:nvSpPr>
          <p:cNvPr id="28" name="Key4"/>
          <p:cNvSpPr/>
          <p:nvPr/>
        </p:nvSpPr>
        <p:spPr>
          <a:xfrm>
            <a:off x="6477000" y="4419601"/>
            <a:ext cx="4991100" cy="279400"/>
          </a:xfrm>
          <a:prstGeom prst="rect">
            <a:avLst/>
          </a:prstGeom>
        </p:spPr>
        <p:txBody>
          <a:bodyPr wrap="square" lIns="0" tIns="0" rIns="0" bIns="0" anchor="t"/>
          <a:lstStyle/>
          <a:p>
            <a:pPr algn="l"/>
            <a:r>
              <a:rPr lang="en-US" sz="1500" b="1" dirty="0">
                <a:solidFill>
                  <a:srgbClr val="D97757"/>
                </a:solidFill>
                <a:latin typeface="Menlo"/>
              </a:rPr>
              <a:t>model</a:t>
            </a:r>
          </a:p>
        </p:txBody>
      </p:sp>
      <p:sp>
        <p:nvSpPr>
          <p:cNvPr id="29" name="Desc4"/>
          <p:cNvSpPr/>
          <p:nvPr/>
        </p:nvSpPr>
        <p:spPr>
          <a:xfrm>
            <a:off x="6477000" y="4699001"/>
            <a:ext cx="4991100" cy="508000"/>
          </a:xfrm>
          <a:prstGeom prst="rect">
            <a:avLst/>
          </a:prstGeom>
        </p:spPr>
        <p:txBody>
          <a:bodyPr wrap="square" lIns="0" tIns="0" rIns="0" bIns="0" anchor="t"/>
          <a:lstStyle/>
          <a:p>
            <a:pPr algn="l">
              <a:lnSpc>
                <a:spcPts val="1600"/>
              </a:lnSpc>
            </a:pPr>
            <a:r>
              <a:rPr lang="ja-JP" sz="1200" b="0" dirty="0">
                <a:solidFill>
                  <a:srgbClr val="C5C3BB"/>
                </a:solidFill>
                <a:latin typeface="Hiragino Sans"/>
              </a:rPr>
              <a:t>使用モデルの指定
チームで揃える場合に有効</a:t>
            </a:r>
          </a:p>
        </p:txBody>
      </p:sp>
      <p:sp>
        <p:nvSpPr>
          <p:cNvPr id="50" name="PageNum"/>
          <p:cNvSpPr/>
          <p:nvPr/>
        </p:nvSpPr>
        <p:spPr>
          <a:xfrm>
            <a:off x="10998200" y="6464300"/>
            <a:ext cx="901700" cy="279400"/>
          </a:xfrm>
          <a:prstGeom prst="rect">
            <a:avLst/>
          </a:prstGeom>
        </p:spPr>
        <p:txBody>
          <a:bodyPr wrap="square" lIns="0" tIns="0" rIns="0" bIns="0" anchor="t"/>
          <a:lstStyle/>
          <a:p>
            <a:pPr algn="r"/>
            <a:r>
              <a:rPr lang="en-US" sz="1100" b="0">
                <a:solidFill>
                  <a:srgbClr val="B0AEA5"/>
                </a:solidFill>
                <a:latin typeface="Helvetica Neue"/>
              </a:rPr>
              <a:t>16 / 18</a:t>
            </a:r>
            <a:endParaRPr lang="en-US" sz="1100" b="0" dirty="0">
              <a:solidFill>
                <a:srgbClr val="B0AEA5"/>
              </a:solidFill>
              <a:latin typeface="Helvetica Neue"/>
            </a:endParaRPr>
          </a:p>
        </p:txBody>
      </p:sp>
    </p:spTree>
    <p:extLst>
      <p:ext uri="{BB962C8B-B14F-4D97-AF65-F5344CB8AC3E}">
        <p14:creationId xmlns:p14="http://schemas.microsoft.com/office/powerpoint/2010/main" val="1968956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L"/>
          <p:cNvSpPr/>
          <p:nvPr/>
        </p:nvSpPr>
        <p:spPr>
          <a:xfrm>
            <a:off x="736600" y="368300"/>
            <a:ext cx="8001000" cy="279400"/>
          </a:xfrm>
          <a:prstGeom prst="rect">
            <a:avLst/>
          </a:prstGeom>
        </p:spPr>
        <p:txBody>
          <a:bodyPr wrap="square" lIns="0" tIns="0" rIns="0" bIns="0" anchor="t"/>
          <a:lstStyle/>
          <a:p>
            <a:pPr algn="l"/>
            <a:r>
              <a:rPr lang="en-US" sz="1200" b="1" dirty="0">
                <a:solidFill>
                  <a:srgbClr val="D97757"/>
                </a:solidFill>
                <a:latin typeface="Helvetica Neue"/>
              </a:rPr>
              <a:t>PART 2 — settings.json</a:t>
            </a:r>
          </a:p>
        </p:txBody>
      </p:sp>
      <p:sp>
        <p:nvSpPr>
          <p:cNvPr id="3" name="Title"/>
          <p:cNvSpPr/>
          <p:nvPr/>
        </p:nvSpPr>
        <p:spPr>
          <a:xfrm>
            <a:off x="736600" y="546100"/>
            <a:ext cx="10731500" cy="546100"/>
          </a:xfrm>
          <a:prstGeom prst="rect">
            <a:avLst/>
          </a:prstGeom>
        </p:spPr>
        <p:txBody>
          <a:bodyPr wrap="square" lIns="0" tIns="0" rIns="0" bIns="0" anchor="t"/>
          <a:lstStyle/>
          <a:p>
            <a:pPr algn="l"/>
            <a:r>
              <a:rPr lang="ja-JP" sz="2800" b="1" dirty="0">
                <a:solidFill>
                  <a:srgbClr val="FAF9F5"/>
                </a:solidFill>
                <a:latin typeface="Hiragino Sans"/>
              </a:rPr>
              <a:t>設定ファイルの階層と注意点</a:t>
            </a:r>
          </a:p>
        </p:txBody>
      </p:sp>
      <p:sp>
        <p:nvSpPr>
          <p:cNvPr id="20" name="HLabel"/>
          <p:cNvSpPr/>
          <p:nvPr/>
        </p:nvSpPr>
        <p:spPr>
          <a:xfrm>
            <a:off x="736600" y="1371600"/>
            <a:ext cx="10731500" cy="330200"/>
          </a:xfrm>
          <a:prstGeom prst="rect">
            <a:avLst/>
          </a:prstGeom>
        </p:spPr>
        <p:txBody>
          <a:bodyPr wrap="square" lIns="0" tIns="0" rIns="0" bIns="0" anchor="t"/>
          <a:lstStyle/>
          <a:p>
            <a:pPr algn="l"/>
            <a:r>
              <a:rPr lang="ja-JP" sz="1800" b="1" dirty="0">
                <a:solidFill>
                  <a:srgbClr val="D97757"/>
                </a:solidFill>
                <a:latin typeface="Hiragino Sans"/>
              </a:rPr>
              <a:t>設定ファイルの階層</a:t>
            </a:r>
          </a:p>
        </p:txBody>
      </p:sp>
      <p:sp>
        <p:nvSpPr>
          <p:cNvPr id="25" name="File0"/>
          <p:cNvSpPr/>
          <p:nvPr/>
        </p:nvSpPr>
        <p:spPr>
          <a:xfrm>
            <a:off x="990600" y="1905000"/>
            <a:ext cx="10477500" cy="254000"/>
          </a:xfrm>
          <a:prstGeom prst="rect">
            <a:avLst/>
          </a:prstGeom>
        </p:spPr>
        <p:txBody>
          <a:bodyPr wrap="square" lIns="0" tIns="0" rIns="0" bIns="0" anchor="t"/>
          <a:lstStyle/>
          <a:p>
            <a:pPr algn="l"/>
            <a:r>
              <a:rPr lang="en-US" sz="1600" b="1" dirty="0">
                <a:solidFill>
                  <a:srgbClr val="E0DED8"/>
                </a:solidFill>
                <a:latin typeface="Menlo"/>
              </a:rPr>
              <a:t>~/.claude/settings.json</a:t>
            </a:r>
          </a:p>
        </p:txBody>
      </p:sp>
      <p:sp>
        <p:nvSpPr>
          <p:cNvPr id="26" name="Scope0"/>
          <p:cNvSpPr/>
          <p:nvPr/>
        </p:nvSpPr>
        <p:spPr>
          <a:xfrm>
            <a:off x="990600" y="2235200"/>
            <a:ext cx="10477500" cy="406400"/>
          </a:xfrm>
          <a:prstGeom prst="rect">
            <a:avLst/>
          </a:prstGeom>
        </p:spPr>
        <p:txBody>
          <a:bodyPr wrap="square" lIns="0" tIns="0" rIns="0" bIns="0" anchor="t"/>
          <a:lstStyle/>
          <a:p>
            <a:pPr algn="l"/>
            <a:r>
              <a:rPr lang="ja-JP" sz="1500" b="0" dirty="0">
                <a:solidFill>
                  <a:srgbClr val="C5C3BB"/>
                </a:solidFill>
                <a:latin typeface="Hiragino Sans"/>
              </a:rPr>
              <a:t>ユーザー全体 — 個人のデフォルト</a:t>
            </a:r>
          </a:p>
        </p:txBody>
      </p:sp>
      <p:sp>
        <p:nvSpPr>
          <p:cNvPr id="28" name="File1"/>
          <p:cNvSpPr/>
          <p:nvPr/>
        </p:nvSpPr>
        <p:spPr>
          <a:xfrm>
            <a:off x="990600" y="2946400"/>
            <a:ext cx="10477500" cy="254000"/>
          </a:xfrm>
          <a:prstGeom prst="rect">
            <a:avLst/>
          </a:prstGeom>
        </p:spPr>
        <p:txBody>
          <a:bodyPr wrap="square" lIns="0" tIns="0" rIns="0" bIns="0" anchor="t"/>
          <a:lstStyle/>
          <a:p>
            <a:pPr algn="l"/>
            <a:r>
              <a:rPr lang="en-US" sz="1600" b="1" dirty="0">
                <a:solidFill>
                  <a:srgbClr val="E0DED8"/>
                </a:solidFill>
                <a:latin typeface="Menlo"/>
              </a:rPr>
              <a:t>.claude/settings.json</a:t>
            </a:r>
          </a:p>
        </p:txBody>
      </p:sp>
      <p:sp>
        <p:nvSpPr>
          <p:cNvPr id="29" name="Scope1"/>
          <p:cNvSpPr/>
          <p:nvPr/>
        </p:nvSpPr>
        <p:spPr>
          <a:xfrm>
            <a:off x="990600" y="3276600"/>
            <a:ext cx="10477500" cy="406400"/>
          </a:xfrm>
          <a:prstGeom prst="rect">
            <a:avLst/>
          </a:prstGeom>
        </p:spPr>
        <p:txBody>
          <a:bodyPr wrap="square" lIns="0" tIns="0" rIns="0" bIns="0" anchor="t"/>
          <a:lstStyle/>
          <a:p>
            <a:pPr algn="l"/>
            <a:r>
              <a:rPr lang="ja-JP" sz="1500" b="0" dirty="0">
                <a:solidFill>
                  <a:srgbClr val="C5C3BB"/>
                </a:solidFill>
                <a:latin typeface="Hiragino Sans"/>
              </a:rPr>
              <a:t>プロジェクト — Git管理 → チーム共有</a:t>
            </a:r>
          </a:p>
        </p:txBody>
      </p:sp>
      <p:sp>
        <p:nvSpPr>
          <p:cNvPr id="31" name="File2"/>
          <p:cNvSpPr/>
          <p:nvPr/>
        </p:nvSpPr>
        <p:spPr>
          <a:xfrm>
            <a:off x="990600" y="3987800"/>
            <a:ext cx="10477500" cy="254000"/>
          </a:xfrm>
          <a:prstGeom prst="rect">
            <a:avLst/>
          </a:prstGeom>
        </p:spPr>
        <p:txBody>
          <a:bodyPr wrap="square" lIns="0" tIns="0" rIns="0" bIns="0" anchor="t"/>
          <a:lstStyle/>
          <a:p>
            <a:pPr algn="l"/>
            <a:r>
              <a:rPr lang="en-US" sz="1600" b="1" dirty="0">
                <a:solidFill>
                  <a:srgbClr val="E0DED8"/>
                </a:solidFill>
                <a:latin typeface="Menlo"/>
              </a:rPr>
              <a:t>.claude/settings.local.json</a:t>
            </a:r>
          </a:p>
        </p:txBody>
      </p:sp>
      <p:sp>
        <p:nvSpPr>
          <p:cNvPr id="32" name="Scope2"/>
          <p:cNvSpPr/>
          <p:nvPr/>
        </p:nvSpPr>
        <p:spPr>
          <a:xfrm>
            <a:off x="990600" y="4318000"/>
            <a:ext cx="10477500" cy="406400"/>
          </a:xfrm>
          <a:prstGeom prst="rect">
            <a:avLst/>
          </a:prstGeom>
        </p:spPr>
        <p:txBody>
          <a:bodyPr wrap="square" lIns="0" tIns="0" rIns="0" bIns="0" anchor="t"/>
          <a:lstStyle/>
          <a:p>
            <a:pPr algn="l"/>
            <a:r>
              <a:rPr lang="ja-JP" sz="1500" b="0" dirty="0">
                <a:solidFill>
                  <a:srgbClr val="C5C3BB"/>
                </a:solidFill>
                <a:latin typeface="Hiragino Sans"/>
              </a:rPr>
              <a:t>個人×プロジェクト — .gitignore → 個人用</a:t>
            </a:r>
          </a:p>
        </p:txBody>
      </p:sp>
      <p:sp>
        <p:nvSpPr>
          <p:cNvPr id="35" name="Warn"/>
          <p:cNvSpPr/>
          <p:nvPr/>
        </p:nvSpPr>
        <p:spPr>
          <a:xfrm>
            <a:off x="736600" y="5016499"/>
            <a:ext cx="10731500" cy="1295397"/>
          </a:xfrm>
          <a:prstGeom prst="roundRect">
            <a:avLst>
              <a:gd name="adj" fmla="val 5000"/>
            </a:avLst>
          </a:prstGeom>
          <a:solidFill>
            <a:srgbClr val="2A2725"/>
          </a:solidFill>
          <a:ln>
            <a:noFill/>
          </a:ln>
        </p:spPr>
        <p:txBody>
          <a:bodyPr wrap="square" lIns="152400" tIns="127000" rIns="152400" bIns="127000" anchor="t"/>
          <a:lstStyle/>
          <a:p>
            <a:pPr algn="l"/>
            <a:r>
              <a:rPr lang="ja-JP" sz="1400" b="1" dirty="0">
                <a:solidFill>
                  <a:srgbClr val="E0C060"/>
                </a:solidFill>
                <a:latin typeface="Hiragino Sans"/>
              </a:rPr>
              <a:t>⚠ CLAUDE.mdとの違い</a:t>
            </a:r>
          </a:p>
          <a:p>
            <a:pPr algn="l">
              <a:spcBef>
                <a:spcPts val="400"/>
              </a:spcBef>
            </a:pPr>
            <a:r>
              <a:rPr lang="ja-JP" sz="1400" b="0" dirty="0">
                <a:solidFill>
                  <a:srgbClr val="FAF9F5"/>
                </a:solidFill>
                <a:latin typeface="Hiragino Sans"/>
              </a:rPr>
              <a:t>settings.jsonはディレクトリの
上下</a:t>
            </a:r>
            <a:r>
              <a:rPr lang="ja-JP" sz="1400" b="0">
                <a:solidFill>
                  <a:srgbClr val="FAF9F5"/>
                </a:solidFill>
                <a:latin typeface="Hiragino Sans"/>
              </a:rPr>
              <a:t>階層で</a:t>
            </a:r>
            <a:r>
              <a:rPr lang="ja-JP" altLang="en-US" sz="1400" b="0">
                <a:solidFill>
                  <a:srgbClr val="FAF9F5"/>
                </a:solidFill>
                <a:latin typeface="Hiragino Sans"/>
              </a:rPr>
              <a:t>読み込まれ</a:t>
            </a:r>
            <a:r>
              <a:rPr lang="ja-JP" sz="1400" b="0">
                <a:solidFill>
                  <a:srgbClr val="FAF9F5"/>
                </a:solidFill>
                <a:latin typeface="Hiragino Sans"/>
              </a:rPr>
              <a:t>されません</a:t>
            </a:r>
            <a:r>
              <a:rPr lang="ja-JP" sz="1400" b="0" dirty="0">
                <a:solidFill>
                  <a:srgbClr val="FAF9F5"/>
                </a:solidFill>
                <a:latin typeface="Hiragino Sans"/>
              </a:rPr>
              <a:t>
（CLAUDE.md</a:t>
            </a:r>
            <a:r>
              <a:rPr lang="ja-JP" sz="1400" b="0">
                <a:solidFill>
                  <a:srgbClr val="FAF9F5"/>
                </a:solidFill>
                <a:latin typeface="Hiragino Sans"/>
              </a:rPr>
              <a:t>は親</a:t>
            </a:r>
            <a:r>
              <a:rPr lang="ja-JP" altLang="en-US" sz="1400">
                <a:solidFill>
                  <a:srgbClr val="FAF9F5"/>
                </a:solidFill>
                <a:latin typeface="Hiragino Sans"/>
              </a:rPr>
              <a:t>に遡って</a:t>
            </a:r>
            <a:r>
              <a:rPr lang="ja-JP" sz="1400" b="0">
                <a:solidFill>
                  <a:srgbClr val="FAF9F5"/>
                </a:solidFill>
                <a:latin typeface="Hiragino Sans"/>
              </a:rPr>
              <a:t>自動</a:t>
            </a:r>
            <a:r>
              <a:rPr lang="ja-JP" altLang="en-US" sz="1400" b="0">
                <a:solidFill>
                  <a:srgbClr val="FAF9F5"/>
                </a:solidFill>
                <a:latin typeface="Hiragino Sans"/>
              </a:rPr>
              <a:t>でロード</a:t>
            </a:r>
            <a:r>
              <a:rPr lang="ja-JP" sz="1400" b="0">
                <a:solidFill>
                  <a:srgbClr val="FAF9F5"/>
                </a:solidFill>
                <a:latin typeface="Hiragino Sans"/>
              </a:rPr>
              <a:t>）</a:t>
            </a:r>
            <a:endParaRPr lang="ja-JP" sz="1400" b="0" dirty="0">
              <a:solidFill>
                <a:srgbClr val="FAF9F5"/>
              </a:solidFill>
              <a:latin typeface="Hiragino Sans"/>
            </a:endParaRPr>
          </a:p>
        </p:txBody>
      </p:sp>
      <p:sp>
        <p:nvSpPr>
          <p:cNvPr id="50" name="PageNum"/>
          <p:cNvSpPr/>
          <p:nvPr/>
        </p:nvSpPr>
        <p:spPr>
          <a:xfrm>
            <a:off x="10998200" y="6464300"/>
            <a:ext cx="901700" cy="279400"/>
          </a:xfrm>
          <a:prstGeom prst="rect">
            <a:avLst/>
          </a:prstGeom>
        </p:spPr>
        <p:txBody>
          <a:bodyPr wrap="square" lIns="0" tIns="0" rIns="0" bIns="0" anchor="t"/>
          <a:lstStyle/>
          <a:p>
            <a:pPr algn="r"/>
            <a:r>
              <a:rPr lang="en-US" sz="1100" b="0">
                <a:solidFill>
                  <a:srgbClr val="B0AEA5"/>
                </a:solidFill>
                <a:latin typeface="Helvetica Neue"/>
              </a:rPr>
              <a:t>17 / 18</a:t>
            </a:r>
            <a:endParaRPr lang="en-US" sz="1100" b="0" dirty="0">
              <a:solidFill>
                <a:srgbClr val="B0AEA5"/>
              </a:solidFill>
              <a:latin typeface="Helvetica Neue"/>
            </a:endParaRPr>
          </a:p>
        </p:txBody>
      </p:sp>
      <p:sp>
        <p:nvSpPr>
          <p:cNvPr id="70" name="Badge0"/>
          <p:cNvSpPr/>
          <p:nvPr/>
        </p:nvSpPr>
        <p:spPr>
          <a:xfrm>
            <a:off x="736600" y="1905000"/>
            <a:ext cx="177800" cy="177800"/>
          </a:xfrm>
          <a:prstGeom prst="ellipse">
            <a:avLst/>
          </a:prstGeom>
          <a:solidFill>
            <a:srgbClr val="D97757"/>
          </a:solidFill>
          <a:ln>
            <a:noFill/>
          </a:ln>
        </p:spPr>
        <p:txBody>
          <a:bodyPr/>
          <a:lstStyle/>
          <a:p>
            <a:endParaRPr lang="ja-JP"/>
          </a:p>
        </p:txBody>
      </p:sp>
      <p:sp>
        <p:nvSpPr>
          <p:cNvPr id="71" name="Badge1"/>
          <p:cNvSpPr/>
          <p:nvPr/>
        </p:nvSpPr>
        <p:spPr>
          <a:xfrm>
            <a:off x="736600" y="2946400"/>
            <a:ext cx="177800" cy="177800"/>
          </a:xfrm>
          <a:prstGeom prst="ellipse">
            <a:avLst/>
          </a:prstGeom>
          <a:solidFill>
            <a:srgbClr val="D97757"/>
          </a:solidFill>
          <a:ln>
            <a:noFill/>
          </a:ln>
        </p:spPr>
        <p:txBody>
          <a:bodyPr/>
          <a:lstStyle/>
          <a:p>
            <a:endParaRPr lang="ja-JP"/>
          </a:p>
        </p:txBody>
      </p:sp>
      <p:sp>
        <p:nvSpPr>
          <p:cNvPr id="72" name="Badge2"/>
          <p:cNvSpPr/>
          <p:nvPr/>
        </p:nvSpPr>
        <p:spPr>
          <a:xfrm>
            <a:off x="736600" y="3987800"/>
            <a:ext cx="177800" cy="177800"/>
          </a:xfrm>
          <a:prstGeom prst="ellipse">
            <a:avLst/>
          </a:prstGeom>
          <a:solidFill>
            <a:srgbClr val="D97757"/>
          </a:solidFill>
          <a:ln>
            <a:noFill/>
          </a:ln>
        </p:spPr>
        <p:txBody>
          <a:bodyPr/>
          <a:lstStyle/>
          <a:p>
            <a:endParaRPr lang="ja-JP"/>
          </a:p>
        </p:txBody>
      </p:sp>
      <p:cxnSp>
        <p:nvCxnSpPr>
          <p:cNvPr id="80" name="Div0"/>
          <p:cNvCxnSpPr/>
          <p:nvPr/>
        </p:nvCxnSpPr>
        <p:spPr>
          <a:xfrm>
            <a:off x="736600" y="2794000"/>
            <a:ext cx="10731500" cy="0"/>
          </a:xfrm>
          <a:prstGeom prst="line">
            <a:avLst/>
          </a:prstGeom>
          <a:ln w="6350">
            <a:solidFill>
              <a:srgbClr val="3A3735"/>
            </a:solidFill>
          </a:ln>
        </p:spPr>
      </p:cxnSp>
      <p:cxnSp>
        <p:nvCxnSpPr>
          <p:cNvPr id="81" name="Div1"/>
          <p:cNvCxnSpPr/>
          <p:nvPr/>
        </p:nvCxnSpPr>
        <p:spPr>
          <a:xfrm>
            <a:off x="736600" y="3835400"/>
            <a:ext cx="10731500" cy="0"/>
          </a:xfrm>
          <a:prstGeom prst="line">
            <a:avLst/>
          </a:prstGeom>
          <a:ln w="6350">
            <a:solidFill>
              <a:srgbClr val="3A3735"/>
            </a:solidFill>
          </a:ln>
        </p:spPr>
      </p:cxnSp>
    </p:spTree>
    <p:extLst>
      <p:ext uri="{BB962C8B-B14F-4D97-AF65-F5344CB8AC3E}">
        <p14:creationId xmlns:p14="http://schemas.microsoft.com/office/powerpoint/2010/main" val="380298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itle"/>
          <p:cNvSpPr/>
          <p:nvPr/>
        </p:nvSpPr>
        <p:spPr>
          <a:xfrm>
            <a:off x="736600" y="508000"/>
            <a:ext cx="10731500" cy="635000"/>
          </a:xfrm>
          <a:prstGeom prst="rect">
            <a:avLst/>
          </a:prstGeom>
        </p:spPr>
        <p:txBody>
          <a:bodyPr wrap="square" lIns="0" tIns="0" rIns="0" bIns="0" anchor="t"/>
          <a:lstStyle/>
          <a:p>
            <a:pPr algn="l"/>
            <a:r>
              <a:rPr lang="ja-JP" sz="3200" b="1" dirty="0">
                <a:solidFill>
                  <a:srgbClr val="FAF9F5"/>
                </a:solidFill>
                <a:latin typeface="Hiragino Sans"/>
              </a:rPr>
              <a:t>まとめ</a:t>
            </a:r>
          </a:p>
        </p:txBody>
      </p:sp>
      <p:sp>
        <p:nvSpPr>
          <p:cNvPr id="5" name="Card1"/>
          <p:cNvSpPr/>
          <p:nvPr/>
        </p:nvSpPr>
        <p:spPr>
          <a:xfrm>
            <a:off x="736600" y="1397000"/>
            <a:ext cx="5334000" cy="2286000"/>
          </a:xfrm>
          <a:prstGeom prst="roundRect">
            <a:avLst>
              <a:gd name="adj" fmla="val 5000"/>
            </a:avLst>
          </a:prstGeom>
          <a:solidFill>
            <a:srgbClr val="2A2725"/>
          </a:solidFill>
          <a:ln>
            <a:noFill/>
          </a:ln>
        </p:spPr>
        <p:txBody>
          <a:bodyPr wrap="square" lIns="228600" tIns="190500" rIns="228600" bIns="190500" anchor="t"/>
          <a:lstStyle/>
          <a:p>
            <a:pPr algn="l"/>
            <a:r>
              <a:rPr lang="en-US" sz="1400" b="1" dirty="0">
                <a:solidFill>
                  <a:srgbClr val="D97757"/>
                </a:solidFill>
                <a:latin typeface="Helvetica Neue"/>
              </a:rPr>
              <a:t>PART 1</a:t>
            </a:r>
          </a:p>
          <a:p>
            <a:pPr algn="l">
              <a:spcBef>
                <a:spcPts val="200"/>
              </a:spcBef>
            </a:pPr>
            <a:r>
              <a:rPr lang="en-US" sz="2000" b="1" dirty="0">
                <a:solidFill>
                  <a:srgbClr val="FAF9F5"/>
                </a:solidFill>
                <a:latin typeface="Menlo"/>
              </a:rPr>
              <a:t>CLAUDE.md</a:t>
            </a:r>
          </a:p>
          <a:p>
            <a:pPr algn="l">
              <a:spcBef>
                <a:spcPts val="600"/>
              </a:spcBef>
            </a:pPr>
            <a:r>
              <a:rPr lang="ja-JP" sz="1500" b="0" dirty="0">
                <a:solidFill>
                  <a:srgbClr val="C5C3BB"/>
                </a:solidFill>
                <a:latin typeface="Hiragino Sans"/>
              </a:rPr>
              <a:t>Claudeに「何を知っておくべきか」を
伝える = コンテキストの永続化</a:t>
            </a:r>
          </a:p>
        </p:txBody>
      </p:sp>
      <p:sp>
        <p:nvSpPr>
          <p:cNvPr id="6" name="Card2"/>
          <p:cNvSpPr/>
          <p:nvPr/>
        </p:nvSpPr>
        <p:spPr>
          <a:xfrm>
            <a:off x="6324600" y="1397000"/>
            <a:ext cx="5334000" cy="2286000"/>
          </a:xfrm>
          <a:prstGeom prst="roundRect">
            <a:avLst>
              <a:gd name="adj" fmla="val 5000"/>
            </a:avLst>
          </a:prstGeom>
          <a:solidFill>
            <a:srgbClr val="2A2725"/>
          </a:solidFill>
          <a:ln>
            <a:noFill/>
          </a:ln>
        </p:spPr>
        <p:txBody>
          <a:bodyPr wrap="square" lIns="228600" tIns="190500" rIns="228600" bIns="190500" anchor="t"/>
          <a:lstStyle/>
          <a:p>
            <a:pPr algn="l"/>
            <a:r>
              <a:rPr lang="en-US" sz="1400" b="1" dirty="0">
                <a:solidFill>
                  <a:srgbClr val="D97757"/>
                </a:solidFill>
                <a:latin typeface="Helvetica Neue"/>
              </a:rPr>
              <a:t>PART 2</a:t>
            </a:r>
          </a:p>
          <a:p>
            <a:pPr algn="l">
              <a:spcBef>
                <a:spcPts val="200"/>
              </a:spcBef>
            </a:pPr>
            <a:r>
              <a:rPr lang="en-US" sz="2000" b="1" dirty="0">
                <a:solidFill>
                  <a:srgbClr val="FAF9F5"/>
                </a:solidFill>
                <a:latin typeface="Menlo"/>
              </a:rPr>
              <a:t>settings.json</a:t>
            </a:r>
          </a:p>
          <a:p>
            <a:pPr algn="l">
              <a:spcBef>
                <a:spcPts val="600"/>
              </a:spcBef>
            </a:pPr>
            <a:r>
              <a:rPr lang="ja-JP" sz="1500" b="0" dirty="0">
                <a:solidFill>
                  <a:srgbClr val="C5C3BB"/>
                </a:solidFill>
                <a:latin typeface="Hiragino Sans"/>
              </a:rPr>
              <a:t>「何ができるか」を制御する
= 権限と環境のチーム統一</a:t>
            </a:r>
          </a:p>
        </p:txBody>
      </p:sp>
      <p:sp>
        <p:nvSpPr>
          <p:cNvPr id="10" name="NextLabel"/>
          <p:cNvSpPr/>
          <p:nvPr/>
        </p:nvSpPr>
        <p:spPr>
          <a:xfrm>
            <a:off x="736600" y="4191000"/>
            <a:ext cx="3810000" cy="330200"/>
          </a:xfrm>
          <a:prstGeom prst="rect">
            <a:avLst/>
          </a:prstGeom>
        </p:spPr>
        <p:txBody>
          <a:bodyPr wrap="square" lIns="0" tIns="0" rIns="0" bIns="0" anchor="t"/>
          <a:lstStyle/>
          <a:p>
            <a:pPr algn="l"/>
            <a:r>
              <a:rPr lang="ja-JP" sz="1800" b="1" dirty="0">
                <a:solidFill>
                  <a:srgbClr val="FAF9F5"/>
                </a:solidFill>
                <a:latin typeface="Hiragino Sans"/>
              </a:rPr>
              <a:t>次回予告（第3回）</a:t>
            </a:r>
          </a:p>
        </p:txBody>
      </p:sp>
      <p:sp>
        <p:nvSpPr>
          <p:cNvPr id="15" name="Next0"/>
          <p:cNvSpPr/>
          <p:nvPr/>
        </p:nvSpPr>
        <p:spPr>
          <a:xfrm>
            <a:off x="1016000" y="4699000"/>
            <a:ext cx="10160000" cy="381000"/>
          </a:xfrm>
          <a:prstGeom prst="rect">
            <a:avLst/>
          </a:prstGeom>
        </p:spPr>
        <p:txBody>
          <a:bodyPr wrap="square" lIns="0" tIns="0" rIns="0" bIns="0" anchor="t"/>
          <a:lstStyle/>
          <a:p>
            <a:pPr algn="l"/>
            <a:r>
              <a:rPr lang="en-US" sz="1600" b="1" dirty="0">
                <a:solidFill>
                  <a:srgbClr val="D97757"/>
                </a:solidFill>
                <a:latin typeface="Menlo"/>
              </a:rPr>
              <a:t>Skills</a:t>
            </a:r>
            <a:r>
              <a:rPr lang="ja-JP" sz="1600" b="0" dirty="0">
                <a:solidFill>
                  <a:srgbClr val="C5C3BB"/>
                </a:solidFill>
                <a:latin typeface="Hiragino Sans"/>
              </a:rPr>
              <a:t>  カスタムスラッシュコマンドの作成</a:t>
            </a:r>
          </a:p>
        </p:txBody>
      </p:sp>
      <p:sp>
        <p:nvSpPr>
          <p:cNvPr id="17" name="Next1"/>
          <p:cNvSpPr/>
          <p:nvPr/>
        </p:nvSpPr>
        <p:spPr>
          <a:xfrm>
            <a:off x="1016000" y="5181600"/>
            <a:ext cx="10160000" cy="381000"/>
          </a:xfrm>
          <a:prstGeom prst="rect">
            <a:avLst/>
          </a:prstGeom>
        </p:spPr>
        <p:txBody>
          <a:bodyPr wrap="square" lIns="0" tIns="0" rIns="0" bIns="0" anchor="t"/>
          <a:lstStyle/>
          <a:p>
            <a:pPr algn="l"/>
            <a:r>
              <a:rPr lang="en-US" sz="1600" b="1" dirty="0">
                <a:solidFill>
                  <a:srgbClr val="D97757"/>
                </a:solidFill>
                <a:latin typeface="Menlo"/>
              </a:rPr>
              <a:t>Hooks</a:t>
            </a:r>
            <a:r>
              <a:rPr lang="ja-JP" sz="1600" b="0" dirty="0">
                <a:solidFill>
                  <a:srgbClr val="C5C3BB"/>
                </a:solidFill>
                <a:latin typeface="Hiragino Sans"/>
              </a:rPr>
              <a:t>  イベント駆動の自動化</a:t>
            </a:r>
          </a:p>
        </p:txBody>
      </p:sp>
      <p:sp>
        <p:nvSpPr>
          <p:cNvPr id="19" name="Next2"/>
          <p:cNvSpPr/>
          <p:nvPr/>
        </p:nvSpPr>
        <p:spPr>
          <a:xfrm>
            <a:off x="1016000" y="5664200"/>
            <a:ext cx="10160000" cy="381000"/>
          </a:xfrm>
          <a:prstGeom prst="rect">
            <a:avLst/>
          </a:prstGeom>
        </p:spPr>
        <p:txBody>
          <a:bodyPr wrap="square" lIns="0" tIns="0" rIns="0" bIns="0" anchor="t"/>
          <a:lstStyle/>
          <a:p>
            <a:pPr algn="l"/>
            <a:r>
              <a:rPr lang="en-US" sz="1600" b="1" dirty="0">
                <a:solidFill>
                  <a:srgbClr val="D97757"/>
                </a:solidFill>
                <a:latin typeface="Menlo"/>
              </a:rPr>
              <a:t>MCP</a:t>
            </a:r>
            <a:r>
              <a:rPr lang="ja-JP" sz="1600" b="0" dirty="0">
                <a:solidFill>
                  <a:srgbClr val="C5C3BB"/>
                </a:solidFill>
                <a:latin typeface="Hiragino Sans"/>
              </a:rPr>
              <a:t>  外部ツール連携</a:t>
            </a:r>
          </a:p>
        </p:txBody>
      </p:sp>
      <p:sp>
        <p:nvSpPr>
          <p:cNvPr id="50" name="PageNum"/>
          <p:cNvSpPr/>
          <p:nvPr/>
        </p:nvSpPr>
        <p:spPr>
          <a:xfrm>
            <a:off x="10998200" y="6464300"/>
            <a:ext cx="901700" cy="279400"/>
          </a:xfrm>
          <a:prstGeom prst="rect">
            <a:avLst/>
          </a:prstGeom>
        </p:spPr>
        <p:txBody>
          <a:bodyPr wrap="square" lIns="0" tIns="0" rIns="0" bIns="0" anchor="t"/>
          <a:lstStyle/>
          <a:p>
            <a:pPr algn="r"/>
            <a:r>
              <a:rPr lang="en-US" sz="1100" b="0">
                <a:solidFill>
                  <a:srgbClr val="B0AEA5"/>
                </a:solidFill>
                <a:latin typeface="Helvetica Neue"/>
              </a:rPr>
              <a:t>18 / 18</a:t>
            </a:r>
            <a:endParaRPr lang="en-US" sz="1100" b="0" dirty="0">
              <a:solidFill>
                <a:srgbClr val="B0AEA5"/>
              </a:solidFill>
              <a:latin typeface="Helvetica Neue"/>
            </a:endParaRPr>
          </a:p>
        </p:txBody>
      </p:sp>
    </p:spTree>
    <p:extLst>
      <p:ext uri="{BB962C8B-B14F-4D97-AF65-F5344CB8AC3E}">
        <p14:creationId xmlns:p14="http://schemas.microsoft.com/office/powerpoint/2010/main" val="12994050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7378E25-81E2-3B4E-B8A7-6C4F35756072}">
  <we:reference id="wa200010001" version="1.0.0.0" store="ja-JP" storeType="OMEX"/>
  <we:alternateReferences>
    <we:reference id="WA200010001"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955</TotalTime>
  <Words>3936</Words>
  <Application>Microsoft Macintosh PowerPoint</Application>
  <PresentationFormat>ワイド画面</PresentationFormat>
  <Paragraphs>305</Paragraphs>
  <Slides>15</Slides>
  <Notes>15</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15</vt:i4>
      </vt:variant>
    </vt:vector>
  </HeadingPairs>
  <TitlesOfParts>
    <vt:vector size="22" baseType="lpstr">
      <vt:lpstr>Hiragino Sans</vt:lpstr>
      <vt:lpstr>SF Mono</vt:lpstr>
      <vt:lpstr>Arial</vt:lpstr>
      <vt:lpstr>Calibri</vt:lpstr>
      <vt:lpstr>Helvetica Neue</vt:lpstr>
      <vt:lpstr>Menlo</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Smith</cp:lastModifiedBy>
  <cp:revision>3</cp:revision>
  <dcterms:created xsi:type="dcterms:W3CDTF">2013-01-27T09:14:16Z</dcterms:created>
  <dcterms:modified xsi:type="dcterms:W3CDTF">2026-03-06T05:26:23Z</dcterms:modified>
  <cp:category/>
</cp:coreProperties>
</file>