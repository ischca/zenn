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では第2回を始めます。</a:t>
            </a:r>
          </a:p>
          <a:p>
            <a:r>
              <a:t>今回は「プロジェクトに定着させる」というテーマです。</a:t>
            </a:r>
          </a:p>
          <a:p>
            <a:r>
              <a:t>前回は基本操作とコミュニケーションの心得でした。今回は、自分のプロジェクトにClaude Codeを定着させるための設定やカスタマイズの話です。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全3回の2回目です。第1回は「理解する」がテーマでした。</a:t>
            </a:r>
          </a:p>
          <a:p/>
          <a:p>
            <a:r>
              <a:t>今回は「プロジェクトに定着させる」。Claude Codeを使い始めたはいいけど、毎回同じ説明をしている、チームに展開しづらい、という課題を解決します。</a:t>
            </a:r>
          </a:p>
          <a:p/>
          <a:p>
            <a:r>
              <a:t>今日のゴールは、自分のプロジェクトに合わせた設定ができるようになることです。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1は「コンテキストとCLAUDE.md」。</a:t>
            </a:r>
          </a:p>
          <a:p>
            <a:r>
              <a:t>「毎回の説明、もう要らない」というのがこのパートのキーメッセージです。</a:t>
            </a:r>
          </a:p>
          <a:p>
            <a:r>
              <a:t>Claude Codeが何を見ているのか、なぜ忘れるのかを理解した上で、CLAUDE.mdの効果的な使い方を学びます。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Codeが何を見ているのか。「コンテキストウィンドウ」という概念がまず大事です。</a:t>
            </a:r>
          </a:p>
          <a:p>
            <a:r>
              <a:t>これはClaudeの作業メモリのようなものです。上限は約200,000トークン。</a:t>
            </a:r>
          </a:p>
          <a:p/>
          <a:p>
            <a:r>
              <a:t>セッションが始まると、まずCLAUDE.mdが自動で読み込まれます。そこに会話のやりとり、読んだファイル、コマンドの実行結果が積み重なっていきます。</a:t>
            </a:r>
          </a:p>
          <a:p/>
          <a:p>
            <a:r>
              <a:t>このメモリには限りがある、ということを覚えておいてください。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Codeが「忘れる」原因がこれです。コンパクトという自動圧縮が発生します。</a:t>
            </a:r>
          </a:p>
          <a:p>
            <a:r>
              <a:t>コンテキストが上限に近づくと、古い情報が要約・削除されます。</a:t>
            </a:r>
          </a:p>
          <a:p/>
          <a:p>
            <a:r>
              <a:t>なので、最初に「このファイルは触らないで」と言っても、長いセッションの後では忘れられることがある。</a:t>
            </a:r>
          </a:p>
          <a:p/>
          <a:p>
            <a:r>
              <a:t>対策として一番重要なのが、重要な情報はCLAUDE.mdに書くこと。CLAUDE.mdは毎セッション最初に読み込まれるので、コンパクトで消えない「永続メモリ」として機能します。</a:t>
            </a:r>
          </a:p>
          <a:p/>
          <a:p>
            <a:r>
              <a:t>作業が変わるタイミングで /clear でリセットするのも有効です。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CLAUDE.mdは、人間のオンボーディング資料と同じ発想です。新しいメンバーに渡す引き継ぎドキュメントと同じように、プロジェクトのルールや構成を書きます。</a:t>
            </a:r>
          </a:p>
          <a:p/>
          <a:p>
            <a:r>
              <a:t>配置場所が3つあります。個人のグローバル設定、プロジェクトルート、サブディレクトリ。</a:t>
            </a:r>
          </a:p>
          <a:p/>
          <a:p>
            <a:r>
              <a:t>プロジェクトルートのCLAUDE.mdが一番よく使います。これをgitで管理すれば、チーム全体で同じ設定を共有できます。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CLAUDE.mdに何を書くかは、4つのカテゴリで整理するとわかりやすいです。</a:t>
            </a:r>
          </a:p>
          <a:p>
            <a:r>
              <a:t>プロジェクト概要、よく使うコマンド、コーディング規約、そしてやってはいけないこと。</a:t>
            </a:r>
          </a:p>
          <a:p/>
          <a:p>
            <a:r>
              <a:t>特に「PRでよく指摘される項目」は書いておくべきです。暗黙知を言語化する良い機会にもなります。</a:t>
            </a:r>
          </a:p>
          <a:p/>
          <a:p>
            <a:r>
              <a:t>ここに出している例は、この勉強会資料を管理しているリポジトリの実物です。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まずは /init で自動生成するのが一番早いです。プロジェクトの技術スタックやディレクトリ構成を自動検出してくれます。</a:t>
            </a:r>
          </a:p>
          <a:p/>
          <a:p>
            <a:r>
              <a:t>そのたたき台にチーム固有の情報を追記していきます。</a:t>
            </a:r>
          </a:p>
          <a:p/>
          <a:p>
            <a:r>
              <a:t>大事なのが、CLAUDE.mdは育てていくものだということ。最初から完璧を目指さない。使いながら「あ、これも書いておこう」と追記していく。</a:t>
            </a:r>
          </a:p>
          <a:p/>
          <a:p>
            <a:r>
              <a:t>ただし肥大化には注意。500行を超えると、パフォーマンスが低下する可能性があります。モデルが従える指示数には上限があるためです。</a:t>
            </a:r>
          </a:p>
          <a:p/>
          <a:p>
            <a:r>
              <a:t>ちなみに /insights というコマンドもありますが、こちらはPART 2で改めて紹介します。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実際にやってみましょう。</a:t>
            </a:r>
          </a:p>
          <a:p/>
          <a:p>
            <a:r>
              <a:t>（/initを実行して）こんな感じでCLAUDE.mdが生成されます。プロジェクトの構成や使っている技術を自動で検出してくれます。</a:t>
            </a:r>
          </a:p>
          <a:p/>
          <a:p>
            <a:r>
              <a:t>たとえばここに「Pythonを使う場合はuvを使う」というルールを追記しておくと、次回以降Claudeはpipではなくuvを使うようになります。</a:t>
            </a:r>
          </a:p>
          <a:p/>
          <a:p>
            <a:r>
              <a:t>こういう「教えておけば守ってくれる」のがCLAUDE.mdの威力です。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1のまとめです。</a:t>
            </a:r>
          </a:p>
          <a:p>
            <a:r>
              <a:t>コンテキストウィンドウの仕組みを理解して、CLAUDE.mdを活用する。これだけでClaude Codeの動きが大きく変わります。</a:t>
            </a:r>
          </a:p>
          <a:p/>
          <a:p>
            <a:r>
              <a:t>チェックリストとして、プロジェクト開始時、セッション開始時、作業中、定期的に、それぞれやることをまとめました。</a:t>
            </a:r>
          </a:p>
          <a:p/>
          <a:p>
            <a:r>
              <a:t>コンテキストを制するものが、Claude Codeを制する。大げさですが、それくらい重要な基盤です。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2、スラッシュコマンドとSkillsです。</a:t>
            </a:r>
          </a:p>
          <a:p>
            <a:r>
              <a:t>「同じ指示、何度も書かない」がテーマ。</a:t>
            </a:r>
          </a:p>
          <a:p/>
          <a:p>
            <a:r>
              <a:t>CLAUDE.mdでプロジェクトの基本情報を教えましたが、特定の作業手順はどうするか。それがスラッシュコマンドとSkillsの役割です。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まず組み込みのスラッシュコマンドから。セッション中に / を入力すると候補が表示されます。</a:t>
            </a:r>
          </a:p>
          <a:p/>
          <a:p>
            <a:r>
              <a:t>特によく使うのは /clear と /init。PART 1でも紹介しましたが、ここで改めて整理します。</a:t>
            </a:r>
          </a:p>
          <a:p/>
          <a:p>
            <a:r>
              <a:t>/compact は手動でコンテキストを圧縮するコマンドです。自動のコンパクトを待たずに自分のタイミングで実行できます。</a:t>
            </a:r>
          </a:p>
          <a:p/>
          <a:p>
            <a:r>
              <a:t>/insights は使い方の改善提案を出してくれる機能です。CLAUDE.mdに追加すべき内容を具体的な文章で提案してくれるので、そのままコピーして貼り付けられます。作成すべきスキルやHooksまで提案対象に含まれます。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Codeではスキルとして自分のスラッシュコマンドを作れます。</a:t>
            </a:r>
          </a:p>
          <a:p>
            <a:r>
              <a:t>.claude/skills/ ディレクトリにMarkdownファイルを置くだけ。</a:t>
            </a:r>
          </a:p>
          <a:p/>
          <a:p>
            <a:r>
              <a:t>CLAUDE.mdとの違いを整理すると、CLAUDE.mdは「常に」自動で読み込まれる「常識」。スキルは「必要なときだけ」読み込まれる「専門知識」。</a:t>
            </a:r>
          </a:p>
          <a:p/>
          <a:p>
            <a:r>
              <a:t>CLAUDE.mdに全部詰め込むとコンテキストを圧迫してパフォーマンスが落ちます。状況に応じて読み込ませたい情報はスキルに分けるのが良いです。</a:t>
            </a:r>
          </a:p>
          <a:p/>
          <a:p>
            <a:r>
              <a:t>.claude/skills/ をgit管理すれば、チーム全体でスキルを共有できます。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スキルには2つのタイプがあります。参照コンテンツとタスクコンテンツです。</a:t>
            </a:r>
          </a:p>
          <a:p/>
          <a:p>
            <a:r>
              <a:t>参照コンテンツは「知識」。API設計パターンのように、関連する作業をClaudeが検知したときに自動で読み込まれます。</a:t>
            </a:r>
          </a:p>
          <a:p/>
          <a:p>
            <a:r>
              <a:t>タスクコンテンツは「手順」。/fix-issue 42 のように明示的に呼び出して使います。</a:t>
            </a:r>
          </a:p>
          <a:p>
            <a:r>
              <a:t>disable-model-invocation: true を設定すると、自動では呼び出されず明示的に使うときだけ読み込まれます。</a:t>
            </a:r>
          </a:p>
          <a:p/>
          <a:p>
            <a:r>
              <a:t>下の例では  で引数を受け取っています。Issueの番号を渡すと、そのIssueの修正ワークフロー全体が自動で回ります。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実際にスキルを呼び出してみます。</a:t>
            </a:r>
          </a:p>
          <a:p/>
          <a:p>
            <a:r>
              <a:t>（例: /self-review を実行）するとこんな風にレビュー手順に沿って差分をチェックしてくれます。</a:t>
            </a:r>
          </a:p>
          <a:p/>
          <a:p>
            <a:r>
              <a:t>毎回「git diffを見て、命名規則とエラーハンドリングをチェックして...」と手入力する必要がなくなります。</a:t>
            </a:r>
          </a:p>
          <a:p/>
          <a:p>
            <a:r>
              <a:t>繰り返しの指示をスキル化しておくことで、品質が安定し、時間も節約できます。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3、Hooksです。</a:t>
            </a:r>
          </a:p>
          <a:p>
            <a:r>
              <a:t>「人間が忘れても、Hooksが動く」。CLAUDE.mdで教え、スキルで手順化し、最後はHooksで自動化する。この流れの仕上げです。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Hooksは、Claude Codeの特定のタイミングで自動でコマンドを実行する仕組みです。</a:t>
            </a:r>
          </a:p>
          <a:p>
            <a:r>
              <a:t>CIのpre-commitフックを知っている方は、あれに近い概念です。</a:t>
            </a:r>
          </a:p>
          <a:p/>
          <a:p>
            <a:r>
              <a:t>たとえば、ファイル編集後に自動でlintを走らせる。危険なBashコマンドの実行を事前にブロックする。</a:t>
            </a:r>
          </a:p>
          <a:p/>
          <a:p>
            <a:r>
              <a:t>設定は .claude/settings.json に書きます。これもgit管理すれば、チーム全体で同じ品質ゲートを共有できます。</a:t>
            </a:r>
          </a:p>
          <a:p/>
          <a:p>
            <a:r>
              <a:t>エージェントの出力品質は一定ではありません。同じ指示でも結果がばらつくことがある。Hooksで機械的にチェックを挟むことで、品質を担保できます。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具体例を3つ紹介します。</a:t>
            </a:r>
          </a:p>
          <a:p/>
          <a:p>
            <a:r>
              <a:t>例1: 編集後のlint自動修正。Claudeがファイルを編集するたびlintが走って自動修正される。</a:t>
            </a:r>
          </a:p>
          <a:p/>
          <a:p>
            <a:r>
              <a:t>例2: 危険なコマンドのブロック。rm -rf を含むBashコマンドの実行を事前にブロックできます。PreToolUseに設定します。</a:t>
            </a:r>
          </a:p>
          <a:p/>
          <a:p>
            <a:r>
              <a:t>例3: Goプロジェクトなら go vet を編集後に走らせるなど、言語に合わせた設定ができます。</a:t>
            </a:r>
          </a:p>
          <a:p/>
          <a:p>
            <a:r>
              <a:t>重要なポイントとして、Hooksが失敗するとClaudeにその結果が通知されます。するとClaudeが自分で修正を試みてくれます。自動チェックとエージェントの自己修正が組み合わさるのが強力なところです。</a:t>
            </a:r>
          </a:p>
          <a:p/>
          <a:p>
            <a:r>
              <a:t>ここでは編集前後のフックを中心に紹介しましたが、NotificationイベントでSlack通知を飛ばしたり、StopイベントでセッションのレポートをMarkdownに出力する、といった使い方もできます。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まとめです。今日の持ち帰りは3つ。</a:t>
            </a:r>
          </a:p>
          <a:p/>
          <a:p>
            <a:r>
              <a:t>1つ目: CLAUDE.mdでプロジェクトの「常識」を教える。毎回の説明が不要になります。</a:t>
            </a:r>
          </a:p>
          <a:p/>
          <a:p>
            <a:r>
              <a:t>2つ目: Skillsで繰り返しの指示をテンプレート化する。同じ指示を何度も書かなくてよくなります。</a:t>
            </a:r>
          </a:p>
          <a:p/>
          <a:p>
            <a:r>
              <a:t>3つ目: Hooksで品質チェックを自動化する。人間が忘れても、機械が動きます。</a:t>
            </a:r>
          </a:p>
          <a:p/>
          <a:p>
            <a:r>
              <a:t>覚え方としては「教える、呼び出す、自動化する」。この3つの段階で、Claude Codeをプロジェクトに定着させていけます。</a:t>
            </a:r>
          </a:p>
          <a:p/>
          <a:p>
            <a:r>
              <a:t>次回、第3回は「大規模開発に挑む」。MCP、worktree、サブエージェントを扱います。</a:t>
            </a:r>
          </a:p>
          <a:p>
            <a:r>
              <a:t>では、質疑応答に移ります。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Deco Ring"/>
          <p:cNvSpPr/>
          <p:nvPr/>
        </p:nvSpPr>
        <p:spPr>
          <a:xfrm>
            <a:off x="8382000" y="-1143000"/>
            <a:ext cx="5486400" cy="5486400"/>
          </a:xfrm>
          <a:prstGeom prst="donut">
            <a:avLst/>
          </a:prstGeom>
          <a:noFill/>
          <a:ln w="25400">
            <a:solidFill>
              <a:srgbClr val="3A3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co Circle"/>
          <p:cNvSpPr/>
          <p:nvPr/>
        </p:nvSpPr>
        <p:spPr>
          <a:xfrm>
            <a:off x="9144000" y="2743200"/>
            <a:ext cx="2286000" cy="22860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 Arc"/>
          <p:cNvSpPr/>
          <p:nvPr/>
        </p:nvSpPr>
        <p:spPr>
          <a:xfrm>
            <a:off x="7620000" y="1600200"/>
            <a:ext cx="3200400" cy="3200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mall Circle"/>
          <p:cNvSpPr/>
          <p:nvPr/>
        </p:nvSpPr>
        <p:spPr>
          <a:xfrm>
            <a:off x="457200" y="5486400"/>
            <a:ext cx="914400" cy="914400"/>
          </a:xfrm>
          <a:prstGeom prst="ellipse">
            <a:avLst/>
          </a:prstGeom>
          <a:noFill/>
          <a:ln w="25400">
            <a:solidFill>
              <a:srgbClr val="3A3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4864" cy="32004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 1"/>
          <p:cNvSpPr/>
          <p:nvPr/>
        </p:nvSpPr>
        <p:spPr>
          <a:xfrm>
            <a:off x="1097280" y="1097280"/>
            <a:ext cx="91440" cy="914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 2"/>
          <p:cNvSpPr/>
          <p:nvPr/>
        </p:nvSpPr>
        <p:spPr>
          <a:xfrm>
            <a:off x="1371600" y="1097280"/>
            <a:ext cx="91440" cy="914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 3"/>
          <p:cNvSpPr/>
          <p:nvPr/>
        </p:nvSpPr>
        <p:spPr>
          <a:xfrm>
            <a:off x="1645920" y="1097280"/>
            <a:ext cx="91440" cy="914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058400" y="5486400"/>
            <a:ext cx="1828800" cy="9144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371600"/>
            <a:ext cx="6400800" cy="1554480"/>
          </a:xfrm>
          <a:prstGeom prst="rect">
            <a:avLst/>
          </a:prstGeom>
          <a:noFill/>
        </p:spPr>
        <p:txBody>
          <a:bodyPr wrap="square">
            <a:spAutoFit/>
          </a:bodyPr>
          <a:lstStyle/>
          <a:p>
            <a:pPr algn="l"/>
            <a:r>
              <a:rPr sz="5200" b="1">
                <a:solidFill>
                  <a:srgbClr val="FAF9F5"/>
                </a:solidFill>
                <a:latin typeface="Hiragino Sans"/>
              </a:rPr>
              <a:t>Claude Code</a:t>
            </a:r>
          </a:p>
          <a:p>
            <a:pPr algn="l"/>
            <a:r>
              <a:rPr sz="5200" b="1">
                <a:solidFill>
                  <a:srgbClr val="FAF9F5"/>
                </a:solidFill>
                <a:latin typeface="Hiragino Sans"/>
              </a:rPr>
              <a:t>プロジェクトに定着させる</a:t>
            </a:r>
          </a:p>
        </p:txBody>
      </p:sp>
      <p:sp>
        <p:nvSpPr>
          <p:cNvPr id="12" name="TextBox 11"/>
          <p:cNvSpPr txBox="1"/>
          <p:nvPr/>
        </p:nvSpPr>
        <p:spPr>
          <a:xfrm>
            <a:off x="1097280" y="3109920"/>
            <a:ext cx="6400800" cy="548640"/>
          </a:xfrm>
          <a:prstGeom prst="rect">
            <a:avLst/>
          </a:prstGeom>
          <a:noFill/>
        </p:spPr>
        <p:txBody>
          <a:bodyPr wrap="square">
            <a:spAutoFit/>
          </a:bodyPr>
          <a:lstStyle/>
          <a:p>
            <a:pPr algn="l"/>
            <a:r>
              <a:rPr sz="2400" b="0">
                <a:solidFill>
                  <a:srgbClr val="D97757"/>
                </a:solidFill>
                <a:latin typeface="Hiragino Sans"/>
              </a:rPr>
              <a:t>〜 CLAUDE.md / Skills / Hooks 〜</a:t>
            </a:r>
          </a:p>
        </p:txBody>
      </p:sp>
      <p:cxnSp>
        <p:nvCxnSpPr>
          <p:cNvPr id="13" name="Connector 12"/>
          <p:cNvCxnSpPr/>
          <p:nvPr/>
        </p:nvCxnSpPr>
        <p:spPr>
          <a:xfrm>
            <a:off x="1097280" y="3840480"/>
            <a:ext cx="27432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97280" y="4023360"/>
            <a:ext cx="6400800" cy="457200"/>
          </a:xfrm>
          <a:prstGeom prst="rect">
            <a:avLst/>
          </a:prstGeom>
          <a:noFill/>
        </p:spPr>
        <p:txBody>
          <a:bodyPr wrap="square">
            <a:spAutoFit/>
          </a:bodyPr>
          <a:lstStyle/>
          <a:p>
            <a:pPr algn="l"/>
            <a:r>
              <a:rPr sz="1600" b="0">
                <a:solidFill>
                  <a:srgbClr val="B0AEA5"/>
                </a:solidFill>
                <a:latin typeface="Helvetica Neue"/>
              </a:rPr>
              <a:t>社内勉強会  |  第2回 / 全3回  |  20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6600" y="457200"/>
            <a:ext cx="7620000" cy="635000"/>
          </a:xfrm>
          <a:prstGeom prst="rect">
            <a:avLst/>
          </a:prstGeom>
          <a:noFill/>
        </p:spPr>
        <p:txBody>
          <a:bodyPr wrap="square">
            <a:spAutoFit/>
          </a:bodyPr>
          <a:lstStyle/>
          <a:p>
            <a:pPr algn="l"/>
            <a:r>
              <a:rPr sz="3200" b="1">
                <a:solidFill>
                  <a:srgbClr val="FAF9F5"/>
                </a:solidFill>
                <a:latin typeface="Hiragino Sans"/>
              </a:rPr>
              <a:t>全3回のロードマップ</a:t>
            </a:r>
          </a:p>
        </p:txBody>
      </p:sp>
      <p:sp>
        <p:nvSpPr>
          <p:cNvPr id="3" name="Rounded Rectangle 2"/>
          <p:cNvSpPr/>
          <p:nvPr/>
        </p:nvSpPr>
        <p:spPr>
          <a:xfrm>
            <a:off x="736600" y="1270000"/>
            <a:ext cx="3429000" cy="3937000"/>
          </a:xfrm>
          <a:prstGeom prst="roundRect">
            <a:avLst>
              <a:gd name="adj" fmla="val 4000"/>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6600" y="1270000"/>
            <a:ext cx="3429000" cy="63500"/>
          </a:xfrm>
          <a:prstGeom prst="rect">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5200" y="1574800"/>
            <a:ext cx="609600" cy="6096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1</a:t>
            </a:r>
          </a:p>
        </p:txBody>
      </p:sp>
      <p:sp>
        <p:nvSpPr>
          <p:cNvPr id="6" name="TextBox 5"/>
          <p:cNvSpPr txBox="1"/>
          <p:nvPr/>
        </p:nvSpPr>
        <p:spPr>
          <a:xfrm>
            <a:off x="1701800" y="1625600"/>
            <a:ext cx="2286000" cy="508000"/>
          </a:xfrm>
          <a:prstGeom prst="rect">
            <a:avLst/>
          </a:prstGeom>
          <a:noFill/>
        </p:spPr>
        <p:txBody>
          <a:bodyPr wrap="square">
            <a:spAutoFit/>
          </a:bodyPr>
          <a:lstStyle/>
          <a:p>
            <a:pPr algn="l"/>
            <a:r>
              <a:rPr sz="1600" b="1">
                <a:solidFill>
                  <a:srgbClr val="B0AEA5"/>
                </a:solidFill>
                <a:latin typeface="Hiragino Sans"/>
              </a:rPr>
              <a:t>第1回（済）</a:t>
            </a:r>
          </a:p>
        </p:txBody>
      </p:sp>
      <p:sp>
        <p:nvSpPr>
          <p:cNvPr id="7" name="TextBox 6"/>
          <p:cNvSpPr txBox="1"/>
          <p:nvPr/>
        </p:nvSpPr>
        <p:spPr>
          <a:xfrm>
            <a:off x="965200" y="2413000"/>
            <a:ext cx="2984500" cy="1143000"/>
          </a:xfrm>
          <a:prstGeom prst="rect">
            <a:avLst/>
          </a:prstGeom>
          <a:noFill/>
        </p:spPr>
        <p:txBody>
          <a:bodyPr wrap="square">
            <a:spAutoFit/>
          </a:bodyPr>
          <a:lstStyle/>
          <a:p>
            <a:pPr algn="l"/>
            <a:r>
              <a:rPr sz="2200" b="1">
                <a:solidFill>
                  <a:srgbClr val="FAF9F5"/>
                </a:solidFill>
                <a:latin typeface="Hiragino Sans"/>
              </a:rPr>
              <a:t>理解する</a:t>
            </a:r>
          </a:p>
        </p:txBody>
      </p:sp>
      <p:cxnSp>
        <p:nvCxnSpPr>
          <p:cNvPr id="8" name="Connector 7"/>
          <p:cNvCxnSpPr/>
          <p:nvPr/>
        </p:nvCxnSpPr>
        <p:spPr>
          <a:xfrm>
            <a:off x="965200" y="3746500"/>
            <a:ext cx="29845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5200" y="3924300"/>
            <a:ext cx="2984500" cy="1016000"/>
          </a:xfrm>
          <a:prstGeom prst="rect">
            <a:avLst/>
          </a:prstGeom>
          <a:noFill/>
        </p:spPr>
        <p:txBody>
          <a:bodyPr wrap="square">
            <a:spAutoFit/>
          </a:bodyPr>
          <a:lstStyle/>
          <a:p>
            <a:pPr algn="l"/>
            <a:r>
              <a:rPr sz="1500" b="0">
                <a:solidFill>
                  <a:srgbClr val="C5C3BB"/>
                </a:solidFill>
                <a:latin typeface="Hiragino Sans"/>
              </a:rPr>
              <a:t>基本 / コミュニケーション / Plan Mode</a:t>
            </a:r>
          </a:p>
        </p:txBody>
      </p:sp>
      <p:sp>
        <p:nvSpPr>
          <p:cNvPr id="10" name="Rounded Rectangle 9"/>
          <p:cNvSpPr/>
          <p:nvPr/>
        </p:nvSpPr>
        <p:spPr>
          <a:xfrm>
            <a:off x="4394200" y="1270000"/>
            <a:ext cx="3429000" cy="3937000"/>
          </a:xfrm>
          <a:prstGeom prst="roundRect">
            <a:avLst>
              <a:gd name="adj" fmla="val 4000"/>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4200" y="1270000"/>
            <a:ext cx="3429000" cy="635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22800" y="1574800"/>
            <a:ext cx="609600" cy="6096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2</a:t>
            </a:r>
          </a:p>
        </p:txBody>
      </p:sp>
      <p:sp>
        <p:nvSpPr>
          <p:cNvPr id="13" name="TextBox 12"/>
          <p:cNvSpPr txBox="1"/>
          <p:nvPr/>
        </p:nvSpPr>
        <p:spPr>
          <a:xfrm>
            <a:off x="5359400" y="1625600"/>
            <a:ext cx="2286000" cy="508000"/>
          </a:xfrm>
          <a:prstGeom prst="rect">
            <a:avLst/>
          </a:prstGeom>
          <a:noFill/>
        </p:spPr>
        <p:txBody>
          <a:bodyPr wrap="square">
            <a:spAutoFit/>
          </a:bodyPr>
          <a:lstStyle/>
          <a:p>
            <a:pPr algn="l"/>
            <a:r>
              <a:rPr sz="1600" b="1">
                <a:solidFill>
                  <a:srgbClr val="D97757"/>
                </a:solidFill>
                <a:latin typeface="Hiragino Sans"/>
              </a:rPr>
              <a:t>第2回（今日）</a:t>
            </a:r>
          </a:p>
        </p:txBody>
      </p:sp>
      <p:sp>
        <p:nvSpPr>
          <p:cNvPr id="14" name="TextBox 13"/>
          <p:cNvSpPr txBox="1"/>
          <p:nvPr/>
        </p:nvSpPr>
        <p:spPr>
          <a:xfrm>
            <a:off x="4622800" y="2413000"/>
            <a:ext cx="2984500" cy="1143000"/>
          </a:xfrm>
          <a:prstGeom prst="rect">
            <a:avLst/>
          </a:prstGeom>
          <a:noFill/>
        </p:spPr>
        <p:txBody>
          <a:bodyPr wrap="square">
            <a:spAutoFit/>
          </a:bodyPr>
          <a:lstStyle/>
          <a:p>
            <a:pPr algn="l"/>
            <a:r>
              <a:rPr sz="2200" b="1">
                <a:solidFill>
                  <a:srgbClr val="FAF9F5"/>
                </a:solidFill>
                <a:latin typeface="Hiragino Sans"/>
              </a:rPr>
              <a:t>プロジェクトに</a:t>
            </a:r>
          </a:p>
          <a:p>
            <a:pPr algn="l"/>
            <a:r>
              <a:rPr sz="2200" b="1">
                <a:solidFill>
                  <a:srgbClr val="FAF9F5"/>
                </a:solidFill>
                <a:latin typeface="Hiragino Sans"/>
              </a:rPr>
              <a:t>定着させる</a:t>
            </a:r>
          </a:p>
        </p:txBody>
      </p:sp>
      <p:cxnSp>
        <p:nvCxnSpPr>
          <p:cNvPr id="15" name="Connector 14"/>
          <p:cNvCxnSpPr/>
          <p:nvPr/>
        </p:nvCxnSpPr>
        <p:spPr>
          <a:xfrm>
            <a:off x="4622800" y="3746500"/>
            <a:ext cx="29845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22800" y="3924300"/>
            <a:ext cx="2984500" cy="1016000"/>
          </a:xfrm>
          <a:prstGeom prst="rect">
            <a:avLst/>
          </a:prstGeom>
          <a:noFill/>
        </p:spPr>
        <p:txBody>
          <a:bodyPr wrap="square">
            <a:spAutoFit/>
          </a:bodyPr>
          <a:lstStyle/>
          <a:p>
            <a:pPr algn="l"/>
            <a:r>
              <a:rPr sz="1500" b="0">
                <a:solidFill>
                  <a:srgbClr val="C5C3BB"/>
                </a:solidFill>
                <a:latin typeface="Hiragino Sans"/>
              </a:rPr>
              <a:t>コンテキスト・CLAUDE.md・</a:t>
            </a:r>
          </a:p>
          <a:p>
            <a:pPr algn="l"/>
            <a:r>
              <a:rPr sz="1500" b="0">
                <a:solidFill>
                  <a:srgbClr val="C5C3BB"/>
                </a:solidFill>
                <a:latin typeface="Hiragino Sans"/>
              </a:rPr>
              <a:t>スラッシュコマンド &amp; Skills・Hooks</a:t>
            </a:r>
          </a:p>
        </p:txBody>
      </p:sp>
      <p:sp>
        <p:nvSpPr>
          <p:cNvPr id="17" name="Rounded Rectangle 16"/>
          <p:cNvSpPr/>
          <p:nvPr/>
        </p:nvSpPr>
        <p:spPr>
          <a:xfrm>
            <a:off x="8051800" y="1270000"/>
            <a:ext cx="3429000" cy="3937000"/>
          </a:xfrm>
          <a:prstGeom prst="roundRect">
            <a:avLst>
              <a:gd name="adj" fmla="val 4000"/>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1800" y="1270000"/>
            <a:ext cx="3429000" cy="63500"/>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0400" y="1574800"/>
            <a:ext cx="609600" cy="609600"/>
          </a:xfrm>
          <a:prstGeom prst="ellipse">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3</a:t>
            </a:r>
          </a:p>
        </p:txBody>
      </p:sp>
      <p:sp>
        <p:nvSpPr>
          <p:cNvPr id="20" name="TextBox 19"/>
          <p:cNvSpPr txBox="1"/>
          <p:nvPr/>
        </p:nvSpPr>
        <p:spPr>
          <a:xfrm>
            <a:off x="9017000" y="1625600"/>
            <a:ext cx="2286000" cy="508000"/>
          </a:xfrm>
          <a:prstGeom prst="rect">
            <a:avLst/>
          </a:prstGeom>
          <a:noFill/>
        </p:spPr>
        <p:txBody>
          <a:bodyPr wrap="square">
            <a:spAutoFit/>
          </a:bodyPr>
          <a:lstStyle/>
          <a:p>
            <a:pPr algn="l"/>
            <a:r>
              <a:rPr sz="1600" b="1">
                <a:solidFill>
                  <a:srgbClr val="B0AEA5"/>
                </a:solidFill>
                <a:latin typeface="Hiragino Sans"/>
              </a:rPr>
              <a:t>第3回</a:t>
            </a:r>
          </a:p>
        </p:txBody>
      </p:sp>
      <p:sp>
        <p:nvSpPr>
          <p:cNvPr id="21" name="TextBox 20"/>
          <p:cNvSpPr txBox="1"/>
          <p:nvPr/>
        </p:nvSpPr>
        <p:spPr>
          <a:xfrm>
            <a:off x="8280400" y="2413000"/>
            <a:ext cx="2984500" cy="1143000"/>
          </a:xfrm>
          <a:prstGeom prst="rect">
            <a:avLst/>
          </a:prstGeom>
          <a:noFill/>
        </p:spPr>
        <p:txBody>
          <a:bodyPr wrap="square">
            <a:spAutoFit/>
          </a:bodyPr>
          <a:lstStyle/>
          <a:p>
            <a:pPr algn="l"/>
            <a:r>
              <a:rPr sz="2200" b="1">
                <a:solidFill>
                  <a:srgbClr val="FAF9F5"/>
                </a:solidFill>
                <a:latin typeface="Hiragino Sans"/>
              </a:rPr>
              <a:t>大規模開発に挑む</a:t>
            </a:r>
          </a:p>
        </p:txBody>
      </p:sp>
      <p:cxnSp>
        <p:nvCxnSpPr>
          <p:cNvPr id="22" name="Connector 21"/>
          <p:cNvCxnSpPr/>
          <p:nvPr/>
        </p:nvCxnSpPr>
        <p:spPr>
          <a:xfrm>
            <a:off x="8280400" y="3746500"/>
            <a:ext cx="29845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80400" y="3924300"/>
            <a:ext cx="2984500" cy="1016000"/>
          </a:xfrm>
          <a:prstGeom prst="rect">
            <a:avLst/>
          </a:prstGeom>
          <a:noFill/>
        </p:spPr>
        <p:txBody>
          <a:bodyPr wrap="square">
            <a:spAutoFit/>
          </a:bodyPr>
          <a:lstStyle/>
          <a:p>
            <a:pPr algn="l"/>
            <a:r>
              <a:rPr sz="1500" b="0">
                <a:solidFill>
                  <a:srgbClr val="C5C3BB"/>
                </a:solidFill>
                <a:latin typeface="Hiragino Sans"/>
              </a:rPr>
              <a:t>MCP / worktree / サブエージェント</a:t>
            </a:r>
          </a:p>
        </p:txBody>
      </p:sp>
      <p:sp>
        <p:nvSpPr>
          <p:cNvPr id="24" name="TextBox 23"/>
          <p:cNvSpPr txBox="1"/>
          <p:nvPr/>
        </p:nvSpPr>
        <p:spPr>
          <a:xfrm>
            <a:off x="736600" y="5500000"/>
            <a:ext cx="10728960" cy="457200"/>
          </a:xfrm>
          <a:prstGeom prst="rect">
            <a:avLst/>
          </a:prstGeom>
          <a:noFill/>
        </p:spPr>
        <p:txBody>
          <a:bodyPr wrap="square">
            <a:spAutoFit/>
          </a:bodyPr>
          <a:lstStyle/>
          <a:p>
            <a:pPr algn="l"/>
            <a:r>
              <a:rPr sz="1600" b="1">
                <a:solidFill>
                  <a:srgbClr val="D97757"/>
                </a:solidFill>
                <a:latin typeface="Hiragino Sans"/>
              </a:rPr>
              <a:t>今日のゴール: Claude Codeをプロジェクト固有の「チームメンバー」として設定できるようになる</a:t>
            </a:r>
          </a:p>
        </p:txBody>
      </p:sp>
      <p:sp>
        <p:nvSpPr>
          <p:cNvPr id="25" name="TextBox 24"/>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1F1D"/>
        </a:solidFill>
        <a:effectLst/>
      </p:bgPr>
    </p:bg>
    <p:spTree>
      <p:nvGrpSpPr>
        <p:cNvPr id="1" name=""/>
        <p:cNvGrpSpPr/>
        <p:nvPr/>
      </p:nvGrpSpPr>
      <p:grpSpPr/>
      <p:cxnSp>
        <p:nvCxnSpPr>
          <p:cNvPr id="2" name="Connector 1"/>
          <p:cNvCxnSpPr/>
          <p:nvPr/>
        </p:nvCxnSpPr>
        <p:spPr>
          <a:xfrm>
            <a:off x="73152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3168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000000"/>
            <a:ext cx="12192000" cy="457200"/>
          </a:xfrm>
          <a:prstGeom prst="rect">
            <a:avLst/>
          </a:prstGeom>
          <a:noFill/>
        </p:spPr>
        <p:txBody>
          <a:bodyPr wrap="square">
            <a:spAutoFit/>
          </a:bodyPr>
          <a:lstStyle/>
          <a:p>
            <a:pPr algn="ctr"/>
            <a:r>
              <a:rPr sz="1800" b="1">
                <a:solidFill>
                  <a:srgbClr val="D97757"/>
                </a:solidFill>
                <a:latin typeface="Helvetica Neue"/>
              </a:rPr>
              <a:t>PART 1</a:t>
            </a:r>
          </a:p>
        </p:txBody>
      </p:sp>
      <p:sp>
        <p:nvSpPr>
          <p:cNvPr id="5" name="TextBox 4"/>
          <p:cNvSpPr txBox="1"/>
          <p:nvPr/>
        </p:nvSpPr>
        <p:spPr>
          <a:xfrm>
            <a:off x="0" y="2600000"/>
            <a:ext cx="12192000" cy="762000"/>
          </a:xfrm>
          <a:prstGeom prst="rect">
            <a:avLst/>
          </a:prstGeom>
          <a:noFill/>
        </p:spPr>
        <p:txBody>
          <a:bodyPr wrap="square">
            <a:spAutoFit/>
          </a:bodyPr>
          <a:lstStyle/>
          <a:p>
            <a:pPr algn="ctr"/>
            <a:r>
              <a:rPr sz="4000" b="1">
                <a:solidFill>
                  <a:srgbClr val="FAF9F5"/>
                </a:solidFill>
                <a:latin typeface="Hiragino Sans"/>
              </a:rPr>
              <a:t>コンテキストとCLAUDE.md</a:t>
            </a:r>
          </a:p>
        </p:txBody>
      </p:sp>
      <p:sp>
        <p:nvSpPr>
          <p:cNvPr id="6" name="TextBox 5"/>
          <p:cNvSpPr txBox="1"/>
          <p:nvPr/>
        </p:nvSpPr>
        <p:spPr>
          <a:xfrm>
            <a:off x="0" y="3500000"/>
            <a:ext cx="12192000" cy="457200"/>
          </a:xfrm>
          <a:prstGeom prst="rect">
            <a:avLst/>
          </a:prstGeom>
          <a:noFill/>
        </p:spPr>
        <p:txBody>
          <a:bodyPr wrap="square">
            <a:spAutoFit/>
          </a:bodyPr>
          <a:lstStyle/>
          <a:p>
            <a:pPr algn="ctr"/>
            <a:r>
              <a:rPr sz="2400" b="0">
                <a:solidFill>
                  <a:srgbClr val="C5C3BB"/>
                </a:solidFill>
                <a:latin typeface="Hiragino Sans"/>
              </a:rPr>
              <a:t>毎回の説明、もう要らない</a:t>
            </a:r>
          </a:p>
        </p:txBody>
      </p:sp>
      <p:sp>
        <p:nvSpPr>
          <p:cNvPr id="7" name="TextBox 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コンテキストとCLAUDE.md</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Claude Codeは何を見ているか</a:t>
            </a:r>
          </a:p>
        </p:txBody>
      </p:sp>
      <p:sp>
        <p:nvSpPr>
          <p:cNvPr id="4" name="TextBox 3"/>
          <p:cNvSpPr txBox="1"/>
          <p:nvPr/>
        </p:nvSpPr>
        <p:spPr>
          <a:xfrm>
            <a:off x="731520" y="1200000"/>
            <a:ext cx="10728960" cy="548640"/>
          </a:xfrm>
          <a:prstGeom prst="rect">
            <a:avLst/>
          </a:prstGeom>
          <a:noFill/>
        </p:spPr>
        <p:txBody>
          <a:bodyPr wrap="square">
            <a:spAutoFit/>
          </a:bodyPr>
          <a:lstStyle/>
          <a:p>
            <a:pPr algn="l"/>
            <a:r>
              <a:rPr sz="2000" b="1">
                <a:solidFill>
                  <a:srgbClr val="B0AEA5"/>
                </a:solidFill>
                <a:latin typeface="Hiragino Sans"/>
              </a:rPr>
              <a:t>コンテキストウィンドウ = Claudeの作業メモリ</a:t>
            </a:r>
          </a:p>
        </p:txBody>
      </p:sp>
      <p:cxnSp>
        <p:nvCxnSpPr>
          <p:cNvPr id="5" name="Connector 4"/>
          <p:cNvCxnSpPr/>
          <p:nvPr/>
        </p:nvCxnSpPr>
        <p:spPr>
          <a:xfrm>
            <a:off x="731520" y="18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2000000"/>
            <a:ext cx="1200000" cy="548640"/>
          </a:xfrm>
          <a:prstGeom prst="roundRect">
            <a:avLst>
              <a:gd name="adj" fmla="val 2000"/>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37160"/>
            <a:ext cx="1108560" cy="274320"/>
          </a:xfrm>
          <a:prstGeom prst="rect">
            <a:avLst/>
          </a:prstGeom>
          <a:noFill/>
        </p:spPr>
        <p:txBody>
          <a:bodyPr wrap="square">
            <a:spAutoFit/>
          </a:bodyPr>
          <a:lstStyle/>
          <a:p>
            <a:pPr algn="ctr"/>
            <a:r>
              <a:rPr sz="1200" b="1">
                <a:solidFill>
                  <a:srgbClr val="FAF9F5"/>
                </a:solidFill>
                <a:latin typeface="Hiragino Sans"/>
              </a:rPr>
              <a:t>CLAUDE.md</a:t>
            </a:r>
          </a:p>
        </p:txBody>
      </p:sp>
      <p:sp>
        <p:nvSpPr>
          <p:cNvPr id="8" name="Rounded Rectangle 7"/>
          <p:cNvSpPr/>
          <p:nvPr/>
        </p:nvSpPr>
        <p:spPr>
          <a:xfrm>
            <a:off x="1931520" y="2000000"/>
            <a:ext cx="1600000" cy="548640"/>
          </a:xfrm>
          <a:prstGeom prst="roundRect">
            <a:avLst>
              <a:gd name="adj" fmla="val 2000"/>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77240" y="2137160"/>
            <a:ext cx="1508560" cy="274320"/>
          </a:xfrm>
          <a:prstGeom prst="rect">
            <a:avLst/>
          </a:prstGeom>
          <a:noFill/>
        </p:spPr>
        <p:txBody>
          <a:bodyPr wrap="square">
            <a:spAutoFit/>
          </a:bodyPr>
          <a:lstStyle/>
          <a:p>
            <a:pPr algn="ctr"/>
            <a:r>
              <a:rPr sz="1200" b="1">
                <a:solidFill>
                  <a:srgbClr val="FAF9F5"/>
                </a:solidFill>
                <a:latin typeface="Hiragino Sans"/>
              </a:rPr>
              <a:t>会話履歴</a:t>
            </a:r>
          </a:p>
        </p:txBody>
      </p:sp>
      <p:sp>
        <p:nvSpPr>
          <p:cNvPr id="10" name="Rounded Rectangle 9"/>
          <p:cNvSpPr/>
          <p:nvPr/>
        </p:nvSpPr>
        <p:spPr>
          <a:xfrm>
            <a:off x="3531520" y="2000000"/>
            <a:ext cx="1800000" cy="548640"/>
          </a:xfrm>
          <a:prstGeom prst="roundRect">
            <a:avLst>
              <a:gd name="adj" fmla="val 2000"/>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7240" y="2137160"/>
            <a:ext cx="1708560" cy="274320"/>
          </a:xfrm>
          <a:prstGeom prst="rect">
            <a:avLst/>
          </a:prstGeom>
          <a:noFill/>
        </p:spPr>
        <p:txBody>
          <a:bodyPr wrap="square">
            <a:spAutoFit/>
          </a:bodyPr>
          <a:lstStyle/>
          <a:p>
            <a:pPr algn="ctr"/>
            <a:r>
              <a:rPr sz="1200" b="1">
                <a:solidFill>
                  <a:srgbClr val="FAF9F5"/>
                </a:solidFill>
                <a:latin typeface="Hiragino Sans"/>
              </a:rPr>
              <a:t>読んだファイル</a:t>
            </a:r>
          </a:p>
        </p:txBody>
      </p:sp>
      <p:sp>
        <p:nvSpPr>
          <p:cNvPr id="12" name="Rounded Rectangle 11"/>
          <p:cNvSpPr/>
          <p:nvPr/>
        </p:nvSpPr>
        <p:spPr>
          <a:xfrm>
            <a:off x="5331520" y="2000000"/>
            <a:ext cx="1400000" cy="548640"/>
          </a:xfrm>
          <a:prstGeom prst="roundRect">
            <a:avLst>
              <a:gd name="adj" fmla="val 2000"/>
            </a:avLst>
          </a:prstGeom>
          <a:solidFill>
            <a:srgbClr val="CCA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77240" y="2137160"/>
            <a:ext cx="1308560" cy="274320"/>
          </a:xfrm>
          <a:prstGeom prst="rect">
            <a:avLst/>
          </a:prstGeom>
          <a:noFill/>
        </p:spPr>
        <p:txBody>
          <a:bodyPr wrap="square">
            <a:spAutoFit/>
          </a:bodyPr>
          <a:lstStyle/>
          <a:p>
            <a:pPr algn="ctr"/>
            <a:r>
              <a:rPr sz="1200" b="1">
                <a:solidFill>
                  <a:srgbClr val="FAF9F5"/>
                </a:solidFill>
                <a:latin typeface="Hiragino Sans"/>
              </a:rPr>
              <a:t>ツール結果</a:t>
            </a:r>
          </a:p>
        </p:txBody>
      </p:sp>
      <p:sp>
        <p:nvSpPr>
          <p:cNvPr id="14" name="Rounded Rectangle 13"/>
          <p:cNvSpPr/>
          <p:nvPr/>
        </p:nvSpPr>
        <p:spPr>
          <a:xfrm>
            <a:off x="6731520" y="2000000"/>
            <a:ext cx="4728960" cy="548640"/>
          </a:xfrm>
          <a:prstGeom prst="roundRect">
            <a:avLst>
              <a:gd name="adj" fmla="val 2000"/>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77240" y="2137160"/>
            <a:ext cx="4637520" cy="274320"/>
          </a:xfrm>
          <a:prstGeom prst="rect">
            <a:avLst/>
          </a:prstGeom>
          <a:noFill/>
        </p:spPr>
        <p:txBody>
          <a:bodyPr wrap="square">
            <a:spAutoFit/>
          </a:bodyPr>
          <a:lstStyle/>
          <a:p>
            <a:pPr algn="ctr"/>
            <a:r>
              <a:rPr sz="1200" b="1">
                <a:solidFill>
                  <a:srgbClr val="FAF9F5"/>
                </a:solidFill>
                <a:latin typeface="Hiragino Sans"/>
              </a:rPr>
              <a:t>空き</a:t>
            </a:r>
          </a:p>
        </p:txBody>
      </p:sp>
      <p:sp>
        <p:nvSpPr>
          <p:cNvPr id="16" name="TextBox 15"/>
          <p:cNvSpPr txBox="1"/>
          <p:nvPr/>
        </p:nvSpPr>
        <p:spPr>
          <a:xfrm>
            <a:off x="731520" y="2640080"/>
            <a:ext cx="10728960" cy="274320"/>
          </a:xfrm>
          <a:prstGeom prst="rect">
            <a:avLst/>
          </a:prstGeom>
          <a:noFill/>
        </p:spPr>
        <p:txBody>
          <a:bodyPr wrap="square">
            <a:spAutoFit/>
          </a:bodyPr>
          <a:lstStyle/>
          <a:p>
            <a:pPr algn="ctr"/>
            <a:r>
              <a:rPr sz="1200" b="0">
                <a:solidFill>
                  <a:srgbClr val="B0AEA5"/>
                </a:solidFill>
                <a:latin typeface="Helvetica Neue"/>
              </a:rPr>
              <a:t>約200,000トークン</a:t>
            </a:r>
          </a:p>
        </p:txBody>
      </p:sp>
      <p:sp>
        <p:nvSpPr>
          <p:cNvPr id="17" name="TextBox 16"/>
          <p:cNvSpPr txBox="1"/>
          <p:nvPr/>
        </p:nvSpPr>
        <p:spPr>
          <a:xfrm>
            <a:off x="914400" y="3200000"/>
            <a:ext cx="10000000" cy="365760"/>
          </a:xfrm>
          <a:prstGeom prst="rect">
            <a:avLst/>
          </a:prstGeom>
          <a:noFill/>
        </p:spPr>
        <p:txBody>
          <a:bodyPr wrap="square">
            <a:spAutoFit/>
          </a:bodyPr>
          <a:lstStyle/>
          <a:p>
            <a:pPr algn="l"/>
            <a:r>
              <a:rPr sz="1600" b="0">
                <a:solidFill>
                  <a:srgbClr val="E0DED8"/>
                </a:solidFill>
                <a:latin typeface="Hiragino Sans"/>
              </a:rPr>
              <a:t>•  セッション開始時にCLAUDE.mdが自動で読み込まれる</a:t>
            </a:r>
          </a:p>
        </p:txBody>
      </p:sp>
      <p:sp>
        <p:nvSpPr>
          <p:cNvPr id="18" name="TextBox 17"/>
          <p:cNvSpPr txBox="1"/>
          <p:nvPr/>
        </p:nvSpPr>
        <p:spPr>
          <a:xfrm>
            <a:off x="914400" y="3600000"/>
            <a:ext cx="10000000" cy="365760"/>
          </a:xfrm>
          <a:prstGeom prst="rect">
            <a:avLst/>
          </a:prstGeom>
          <a:noFill/>
        </p:spPr>
        <p:txBody>
          <a:bodyPr wrap="square">
            <a:spAutoFit/>
          </a:bodyPr>
          <a:lstStyle/>
          <a:p>
            <a:pPr algn="l"/>
            <a:r>
              <a:rPr sz="1600" b="0">
                <a:solidFill>
                  <a:srgbClr val="E0DED8"/>
                </a:solidFill>
                <a:latin typeface="Hiragino Sans"/>
              </a:rPr>
              <a:t>•  会話が進むにつれ、コンテキストが蓄積していく</a:t>
            </a:r>
          </a:p>
        </p:txBody>
      </p:sp>
      <p:sp>
        <p:nvSpPr>
          <p:cNvPr id="19" name="TextBox 18"/>
          <p:cNvSpPr txBox="1"/>
          <p:nvPr/>
        </p:nvSpPr>
        <p:spPr>
          <a:xfrm>
            <a:off x="914400" y="4000000"/>
            <a:ext cx="10000000" cy="365760"/>
          </a:xfrm>
          <a:prstGeom prst="rect">
            <a:avLst/>
          </a:prstGeom>
          <a:noFill/>
        </p:spPr>
        <p:txBody>
          <a:bodyPr wrap="square">
            <a:spAutoFit/>
          </a:bodyPr>
          <a:lstStyle/>
          <a:p>
            <a:pPr algn="l"/>
            <a:r>
              <a:rPr sz="1600" b="0">
                <a:solidFill>
                  <a:srgbClr val="E0DED8"/>
                </a:solidFill>
                <a:latin typeface="Hiragino Sans"/>
              </a:rPr>
              <a:t>•  ファイルの読み取り、コマンドの実行結果もコンテキストに入る</a:t>
            </a:r>
          </a:p>
        </p:txBody>
      </p:sp>
      <p:sp>
        <p:nvSpPr>
          <p:cNvPr id="20" name="Rectangle 19"/>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コンテキストウィンドウ = 「Claude Codeが今覚えていること」の総量</a:t>
            </a:r>
          </a:p>
        </p:txBody>
      </p:sp>
      <p:sp>
        <p:nvSpPr>
          <p:cNvPr id="23" name="TextBox 22"/>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コンテキストとCLAUDE.md</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なぜ「忘れる」のか</a:t>
            </a:r>
          </a:p>
        </p:txBody>
      </p:sp>
      <p:sp>
        <p:nvSpPr>
          <p:cNvPr id="4" name="TextBox 3"/>
          <p:cNvSpPr txBox="1"/>
          <p:nvPr/>
        </p:nvSpPr>
        <p:spPr>
          <a:xfrm>
            <a:off x="731520" y="1200000"/>
            <a:ext cx="5000000" cy="320000"/>
          </a:xfrm>
          <a:prstGeom prst="rect">
            <a:avLst/>
          </a:prstGeom>
          <a:noFill/>
        </p:spPr>
        <p:txBody>
          <a:bodyPr wrap="square">
            <a:spAutoFit/>
          </a:bodyPr>
          <a:lstStyle/>
          <a:p>
            <a:pPr algn="l"/>
            <a:r>
              <a:rPr sz="1800" b="1">
                <a:solidFill>
                  <a:srgbClr val="D97757"/>
                </a:solidFill>
                <a:latin typeface="Hiragino Sans"/>
              </a:rPr>
              <a:t>コンパクト: コンテキストの自動圧縮</a:t>
            </a:r>
          </a:p>
        </p:txBody>
      </p:sp>
      <p:sp>
        <p:nvSpPr>
          <p:cNvPr id="5" name="TextBox 4"/>
          <p:cNvSpPr txBox="1"/>
          <p:nvPr/>
        </p:nvSpPr>
        <p:spPr>
          <a:xfrm>
            <a:off x="731520" y="1600000"/>
            <a:ext cx="2000000" cy="274320"/>
          </a:xfrm>
          <a:prstGeom prst="rect">
            <a:avLst/>
          </a:prstGeom>
          <a:noFill/>
        </p:spPr>
        <p:txBody>
          <a:bodyPr wrap="square">
            <a:spAutoFit/>
          </a:bodyPr>
          <a:lstStyle/>
          <a:p>
            <a:pPr algn="l"/>
            <a:r>
              <a:rPr sz="1400" b="1">
                <a:solidFill>
                  <a:srgbClr val="B0AEA5"/>
                </a:solidFill>
                <a:latin typeface="Helvetica Neue"/>
              </a:rPr>
              <a:t>Before</a:t>
            </a:r>
          </a:p>
        </p:txBody>
      </p:sp>
      <p:sp>
        <p:nvSpPr>
          <p:cNvPr id="6" name="Rounded Rectangle 5"/>
          <p:cNvSpPr/>
          <p:nvPr/>
        </p:nvSpPr>
        <p:spPr>
          <a:xfrm>
            <a:off x="731520" y="1900000"/>
            <a:ext cx="182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40000"/>
            <a:ext cx="1728560" cy="274320"/>
          </a:xfrm>
          <a:prstGeom prst="rect">
            <a:avLst/>
          </a:prstGeom>
          <a:noFill/>
        </p:spPr>
        <p:txBody>
          <a:bodyPr wrap="square">
            <a:spAutoFit/>
          </a:bodyPr>
          <a:lstStyle/>
          <a:p>
            <a:pPr algn="ctr"/>
            <a:r>
              <a:rPr sz="1100" b="0">
                <a:solidFill>
                  <a:srgbClr val="E0DED8"/>
                </a:solidFill>
                <a:latin typeface="Hiragino Sans"/>
              </a:rPr>
              <a:t>CLAUDE.md</a:t>
            </a:r>
          </a:p>
        </p:txBody>
      </p:sp>
      <p:sp>
        <p:nvSpPr>
          <p:cNvPr id="8" name="Rounded Rectangle 7"/>
          <p:cNvSpPr/>
          <p:nvPr/>
        </p:nvSpPr>
        <p:spPr>
          <a:xfrm>
            <a:off x="2597240" y="1900000"/>
            <a:ext cx="74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42960" y="1940000"/>
            <a:ext cx="648560" cy="274320"/>
          </a:xfrm>
          <a:prstGeom prst="rect">
            <a:avLst/>
          </a:prstGeom>
          <a:noFill/>
        </p:spPr>
        <p:txBody>
          <a:bodyPr wrap="square">
            <a:spAutoFit/>
          </a:bodyPr>
          <a:lstStyle/>
          <a:p>
            <a:pPr algn="ctr"/>
            <a:r>
              <a:rPr sz="1100" b="0">
                <a:solidFill>
                  <a:srgbClr val="E0DED8"/>
                </a:solidFill>
                <a:latin typeface="Hiragino Sans"/>
              </a:rPr>
              <a:t>指示A</a:t>
            </a:r>
          </a:p>
        </p:txBody>
      </p:sp>
      <p:sp>
        <p:nvSpPr>
          <p:cNvPr id="10" name="Rounded Rectangle 9"/>
          <p:cNvSpPr/>
          <p:nvPr/>
        </p:nvSpPr>
        <p:spPr>
          <a:xfrm>
            <a:off x="3382960" y="1900000"/>
            <a:ext cx="128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8680" y="1940000"/>
            <a:ext cx="1188560" cy="274320"/>
          </a:xfrm>
          <a:prstGeom prst="rect">
            <a:avLst/>
          </a:prstGeom>
          <a:noFill/>
        </p:spPr>
        <p:txBody>
          <a:bodyPr wrap="square">
            <a:spAutoFit/>
          </a:bodyPr>
          <a:lstStyle/>
          <a:p>
            <a:pPr algn="ctr"/>
            <a:r>
              <a:rPr sz="1100" b="0">
                <a:solidFill>
                  <a:srgbClr val="E0DED8"/>
                </a:solidFill>
                <a:latin typeface="Hiragino Sans"/>
              </a:rPr>
              <a:t>ファイル読み</a:t>
            </a:r>
          </a:p>
        </p:txBody>
      </p:sp>
      <p:sp>
        <p:nvSpPr>
          <p:cNvPr id="12" name="Rounded Rectangle 11"/>
          <p:cNvSpPr/>
          <p:nvPr/>
        </p:nvSpPr>
        <p:spPr>
          <a:xfrm>
            <a:off x="4708680" y="1900000"/>
            <a:ext cx="74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400" y="1940000"/>
            <a:ext cx="648560" cy="274320"/>
          </a:xfrm>
          <a:prstGeom prst="rect">
            <a:avLst/>
          </a:prstGeom>
          <a:noFill/>
        </p:spPr>
        <p:txBody>
          <a:bodyPr wrap="square">
            <a:spAutoFit/>
          </a:bodyPr>
          <a:lstStyle/>
          <a:p>
            <a:pPr algn="ctr"/>
            <a:r>
              <a:rPr sz="1100" b="0">
                <a:solidFill>
                  <a:srgbClr val="E0DED8"/>
                </a:solidFill>
                <a:latin typeface="Hiragino Sans"/>
              </a:rPr>
              <a:t>指示B</a:t>
            </a:r>
          </a:p>
        </p:txBody>
      </p:sp>
      <p:sp>
        <p:nvSpPr>
          <p:cNvPr id="14" name="Rounded Rectangle 13"/>
          <p:cNvSpPr/>
          <p:nvPr/>
        </p:nvSpPr>
        <p:spPr>
          <a:xfrm>
            <a:off x="5494400" y="1900000"/>
            <a:ext cx="56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40120" y="1940000"/>
            <a:ext cx="468560" cy="274320"/>
          </a:xfrm>
          <a:prstGeom prst="rect">
            <a:avLst/>
          </a:prstGeom>
          <a:noFill/>
        </p:spPr>
        <p:txBody>
          <a:bodyPr wrap="square">
            <a:spAutoFit/>
          </a:bodyPr>
          <a:lstStyle/>
          <a:p>
            <a:pPr algn="ctr"/>
            <a:r>
              <a:rPr sz="1100" b="0">
                <a:solidFill>
                  <a:srgbClr val="E0DED8"/>
                </a:solidFill>
                <a:latin typeface="Hiragino Sans"/>
              </a:rPr>
              <a:t>実装</a:t>
            </a:r>
          </a:p>
        </p:txBody>
      </p:sp>
      <p:sp>
        <p:nvSpPr>
          <p:cNvPr id="16" name="Rounded Rectangle 15"/>
          <p:cNvSpPr/>
          <p:nvPr/>
        </p:nvSpPr>
        <p:spPr>
          <a:xfrm>
            <a:off x="6100120" y="1900000"/>
            <a:ext cx="74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45840" y="1940000"/>
            <a:ext cx="648560" cy="274320"/>
          </a:xfrm>
          <a:prstGeom prst="rect">
            <a:avLst/>
          </a:prstGeom>
          <a:noFill/>
        </p:spPr>
        <p:txBody>
          <a:bodyPr wrap="square">
            <a:spAutoFit/>
          </a:bodyPr>
          <a:lstStyle/>
          <a:p>
            <a:pPr algn="ctr"/>
            <a:r>
              <a:rPr sz="1100" b="0">
                <a:solidFill>
                  <a:srgbClr val="E0DED8"/>
                </a:solidFill>
                <a:latin typeface="Hiragino Sans"/>
              </a:rPr>
              <a:t>テスト</a:t>
            </a:r>
          </a:p>
        </p:txBody>
      </p:sp>
      <p:sp>
        <p:nvSpPr>
          <p:cNvPr id="18" name="Rounded Rectangle 17"/>
          <p:cNvSpPr/>
          <p:nvPr/>
        </p:nvSpPr>
        <p:spPr>
          <a:xfrm>
            <a:off x="6885840" y="1900000"/>
            <a:ext cx="110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31560" y="1940000"/>
            <a:ext cx="1008560" cy="274320"/>
          </a:xfrm>
          <a:prstGeom prst="rect">
            <a:avLst/>
          </a:prstGeom>
          <a:noFill/>
        </p:spPr>
        <p:txBody>
          <a:bodyPr wrap="square">
            <a:spAutoFit/>
          </a:bodyPr>
          <a:lstStyle/>
          <a:p>
            <a:pPr algn="ctr"/>
            <a:r>
              <a:rPr sz="1100" b="0">
                <a:solidFill>
                  <a:srgbClr val="E0DED8"/>
                </a:solidFill>
                <a:latin typeface="Hiragino Sans"/>
              </a:rPr>
              <a:t>修正...</a:t>
            </a:r>
          </a:p>
        </p:txBody>
      </p:sp>
      <p:sp>
        <p:nvSpPr>
          <p:cNvPr id="20" name="TextBox 19"/>
          <p:cNvSpPr txBox="1"/>
          <p:nvPr/>
        </p:nvSpPr>
        <p:spPr>
          <a:xfrm>
            <a:off x="5000000" y="2350000"/>
            <a:ext cx="600000" cy="320000"/>
          </a:xfrm>
          <a:prstGeom prst="rect">
            <a:avLst/>
          </a:prstGeom>
          <a:noFill/>
        </p:spPr>
        <p:txBody>
          <a:bodyPr wrap="square">
            <a:spAutoFit/>
          </a:bodyPr>
          <a:lstStyle/>
          <a:p>
            <a:pPr algn="ctr"/>
            <a:r>
              <a:rPr sz="1800" b="0">
                <a:solidFill>
                  <a:srgbClr val="D97757"/>
                </a:solidFill>
                <a:latin typeface="Helvetica Neue"/>
              </a:rPr>
              <a:t>▼</a:t>
            </a:r>
          </a:p>
        </p:txBody>
      </p:sp>
      <p:sp>
        <p:nvSpPr>
          <p:cNvPr id="21" name="TextBox 20"/>
          <p:cNvSpPr txBox="1"/>
          <p:nvPr/>
        </p:nvSpPr>
        <p:spPr>
          <a:xfrm>
            <a:off x="731520" y="2700000"/>
            <a:ext cx="2000000" cy="274320"/>
          </a:xfrm>
          <a:prstGeom prst="rect">
            <a:avLst/>
          </a:prstGeom>
          <a:noFill/>
        </p:spPr>
        <p:txBody>
          <a:bodyPr wrap="square">
            <a:spAutoFit/>
          </a:bodyPr>
          <a:lstStyle/>
          <a:p>
            <a:pPr algn="l"/>
            <a:r>
              <a:rPr sz="1400" b="1">
                <a:solidFill>
                  <a:srgbClr val="B0AEA5"/>
                </a:solidFill>
                <a:latin typeface="Helvetica Neue"/>
              </a:rPr>
              <a:t>After（コンパクト発動後）</a:t>
            </a:r>
          </a:p>
        </p:txBody>
      </p:sp>
      <p:sp>
        <p:nvSpPr>
          <p:cNvPr id="22" name="Rounded Rectangle 21"/>
          <p:cNvSpPr/>
          <p:nvPr/>
        </p:nvSpPr>
        <p:spPr>
          <a:xfrm>
            <a:off x="731520" y="3000000"/>
            <a:ext cx="192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040000"/>
            <a:ext cx="1828560" cy="274320"/>
          </a:xfrm>
          <a:prstGeom prst="rect">
            <a:avLst/>
          </a:prstGeom>
          <a:noFill/>
        </p:spPr>
        <p:txBody>
          <a:bodyPr wrap="square">
            <a:spAutoFit/>
          </a:bodyPr>
          <a:lstStyle/>
          <a:p>
            <a:pPr algn="ctr"/>
            <a:r>
              <a:rPr sz="1100" b="0">
                <a:solidFill>
                  <a:srgbClr val="D97757"/>
                </a:solidFill>
                <a:latin typeface="Hiragino Sans"/>
              </a:rPr>
              <a:t>CLAUDE.md</a:t>
            </a:r>
          </a:p>
        </p:txBody>
      </p:sp>
      <p:sp>
        <p:nvSpPr>
          <p:cNvPr id="24" name="Rounded Rectangle 23"/>
          <p:cNvSpPr/>
          <p:nvPr/>
        </p:nvSpPr>
        <p:spPr>
          <a:xfrm>
            <a:off x="2697240" y="3000000"/>
            <a:ext cx="174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2960" y="3040000"/>
            <a:ext cx="1648560" cy="274320"/>
          </a:xfrm>
          <a:prstGeom prst="rect">
            <a:avLst/>
          </a:prstGeom>
          <a:noFill/>
        </p:spPr>
        <p:txBody>
          <a:bodyPr wrap="square">
            <a:spAutoFit/>
          </a:bodyPr>
          <a:lstStyle/>
          <a:p>
            <a:pPr algn="ctr"/>
            <a:r>
              <a:rPr sz="1100" b="0">
                <a:solidFill>
                  <a:srgbClr val="E07070"/>
                </a:solidFill>
                <a:latin typeface="Hiragino Sans"/>
              </a:rPr>
              <a:t>要約: 古い会話</a:t>
            </a:r>
          </a:p>
        </p:txBody>
      </p:sp>
      <p:sp>
        <p:nvSpPr>
          <p:cNvPr id="26" name="Rounded Rectangle 25"/>
          <p:cNvSpPr/>
          <p:nvPr/>
        </p:nvSpPr>
        <p:spPr>
          <a:xfrm>
            <a:off x="4482960" y="3000000"/>
            <a:ext cx="156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8680" y="3040000"/>
            <a:ext cx="1468560" cy="274320"/>
          </a:xfrm>
          <a:prstGeom prst="rect">
            <a:avLst/>
          </a:prstGeom>
          <a:noFill/>
        </p:spPr>
        <p:txBody>
          <a:bodyPr wrap="square">
            <a:spAutoFit/>
          </a:bodyPr>
          <a:lstStyle/>
          <a:p>
            <a:pPr algn="ctr"/>
            <a:r>
              <a:rPr sz="1100" b="0">
                <a:solidFill>
                  <a:srgbClr val="7BC9A0"/>
                </a:solidFill>
                <a:latin typeface="Hiragino Sans"/>
              </a:rPr>
              <a:t>最近のやりとり</a:t>
            </a:r>
          </a:p>
        </p:txBody>
      </p:sp>
      <p:cxnSp>
        <p:nvCxnSpPr>
          <p:cNvPr id="28" name="Connector 27"/>
          <p:cNvCxnSpPr/>
          <p:nvPr/>
        </p:nvCxnSpPr>
        <p:spPr>
          <a:xfrm>
            <a:off x="731520" y="355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1520" y="3700000"/>
            <a:ext cx="4500000" cy="320000"/>
          </a:xfrm>
          <a:prstGeom prst="rect">
            <a:avLst/>
          </a:prstGeom>
          <a:noFill/>
        </p:spPr>
        <p:txBody>
          <a:bodyPr wrap="square">
            <a:spAutoFit/>
          </a:bodyPr>
          <a:lstStyle/>
          <a:p>
            <a:pPr algn="l"/>
            <a:r>
              <a:rPr sz="1600" b="1">
                <a:solidFill>
                  <a:srgbClr val="E07070"/>
                </a:solidFill>
                <a:latin typeface="Hiragino Sans"/>
              </a:rPr>
              <a:t>起きること</a:t>
            </a:r>
          </a:p>
        </p:txBody>
      </p:sp>
      <p:sp>
        <p:nvSpPr>
          <p:cNvPr id="30" name="TextBox 29"/>
          <p:cNvSpPr txBox="1"/>
          <p:nvPr/>
        </p:nvSpPr>
        <p:spPr>
          <a:xfrm>
            <a:off x="914400" y="4050000"/>
            <a:ext cx="4500000" cy="274320"/>
          </a:xfrm>
          <a:prstGeom prst="rect">
            <a:avLst/>
          </a:prstGeom>
          <a:noFill/>
        </p:spPr>
        <p:txBody>
          <a:bodyPr wrap="square">
            <a:spAutoFit/>
          </a:bodyPr>
          <a:lstStyle/>
          <a:p>
            <a:pPr algn="l"/>
            <a:r>
              <a:rPr sz="1400" b="0">
                <a:solidFill>
                  <a:srgbClr val="E0DED8"/>
                </a:solidFill>
                <a:latin typeface="Hiragino Sans"/>
              </a:rPr>
              <a:t>•  最初の指示や制約が要約・削除される場合がある</a:t>
            </a:r>
          </a:p>
        </p:txBody>
      </p:sp>
      <p:sp>
        <p:nvSpPr>
          <p:cNvPr id="31" name="TextBox 30"/>
          <p:cNvSpPr txBox="1"/>
          <p:nvPr/>
        </p:nvSpPr>
        <p:spPr>
          <a:xfrm>
            <a:off x="914400" y="4370000"/>
            <a:ext cx="4500000" cy="274320"/>
          </a:xfrm>
          <a:prstGeom prst="rect">
            <a:avLst/>
          </a:prstGeom>
          <a:noFill/>
        </p:spPr>
        <p:txBody>
          <a:bodyPr wrap="square">
            <a:spAutoFit/>
          </a:bodyPr>
          <a:lstStyle/>
          <a:p>
            <a:pPr algn="l"/>
            <a:r>
              <a:rPr sz="1400" b="0">
                <a:solidFill>
                  <a:srgbClr val="E0DED8"/>
                </a:solidFill>
                <a:latin typeface="Hiragino Sans"/>
              </a:rPr>
              <a:t>•  「このファイルは触らないで」と言ったのに忘れられる</a:t>
            </a:r>
          </a:p>
        </p:txBody>
      </p:sp>
      <p:sp>
        <p:nvSpPr>
          <p:cNvPr id="32" name="TextBox 31"/>
          <p:cNvSpPr txBox="1"/>
          <p:nvPr/>
        </p:nvSpPr>
        <p:spPr>
          <a:xfrm>
            <a:off x="914400" y="4690000"/>
            <a:ext cx="4500000" cy="274320"/>
          </a:xfrm>
          <a:prstGeom prst="rect">
            <a:avLst/>
          </a:prstGeom>
          <a:noFill/>
        </p:spPr>
        <p:txBody>
          <a:bodyPr wrap="square">
            <a:spAutoFit/>
          </a:bodyPr>
          <a:lstStyle/>
          <a:p>
            <a:pPr algn="l"/>
            <a:r>
              <a:rPr sz="1400" b="0">
                <a:solidFill>
                  <a:srgbClr val="E0DED8"/>
                </a:solidFill>
                <a:latin typeface="Hiragino Sans"/>
              </a:rPr>
              <a:t>•  長いセッションほどリスクが高い</a:t>
            </a:r>
          </a:p>
        </p:txBody>
      </p:sp>
      <p:sp>
        <p:nvSpPr>
          <p:cNvPr id="33" name="TextBox 32"/>
          <p:cNvSpPr txBox="1"/>
          <p:nvPr/>
        </p:nvSpPr>
        <p:spPr>
          <a:xfrm>
            <a:off x="6000000" y="3700000"/>
            <a:ext cx="5000000" cy="320000"/>
          </a:xfrm>
          <a:prstGeom prst="rect">
            <a:avLst/>
          </a:prstGeom>
          <a:noFill/>
        </p:spPr>
        <p:txBody>
          <a:bodyPr wrap="square">
            <a:spAutoFit/>
          </a:bodyPr>
          <a:lstStyle/>
          <a:p>
            <a:pPr algn="l"/>
            <a:r>
              <a:rPr sz="1600" b="1">
                <a:solidFill>
                  <a:srgbClr val="7BC9A0"/>
                </a:solidFill>
                <a:latin typeface="Hiragino Sans"/>
              </a:rPr>
              <a:t>対策</a:t>
            </a:r>
          </a:p>
        </p:txBody>
      </p:sp>
      <p:sp>
        <p:nvSpPr>
          <p:cNvPr id="34" name="TextBox 33"/>
          <p:cNvSpPr txBox="1"/>
          <p:nvPr/>
        </p:nvSpPr>
        <p:spPr>
          <a:xfrm>
            <a:off x="6200000" y="4050000"/>
            <a:ext cx="5000000" cy="274320"/>
          </a:xfrm>
          <a:prstGeom prst="rect">
            <a:avLst/>
          </a:prstGeom>
          <a:noFill/>
        </p:spPr>
        <p:txBody>
          <a:bodyPr wrap="square">
            <a:spAutoFit/>
          </a:bodyPr>
          <a:lstStyle/>
          <a:p>
            <a:pPr algn="l"/>
            <a:r>
              <a:rPr sz="1400" b="0">
                <a:solidFill>
                  <a:srgbClr val="E0DED8"/>
                </a:solidFill>
                <a:latin typeface="Hiragino Sans"/>
              </a:rPr>
              <a:t>•  重要な情報はCLAUDE.mdに書く（消えない）</a:t>
            </a:r>
          </a:p>
        </p:txBody>
      </p:sp>
      <p:sp>
        <p:nvSpPr>
          <p:cNvPr id="35" name="TextBox 34"/>
          <p:cNvSpPr txBox="1"/>
          <p:nvPr/>
        </p:nvSpPr>
        <p:spPr>
          <a:xfrm>
            <a:off x="6200000" y="4370000"/>
            <a:ext cx="5000000" cy="274320"/>
          </a:xfrm>
          <a:prstGeom prst="rect">
            <a:avLst/>
          </a:prstGeom>
          <a:noFill/>
        </p:spPr>
        <p:txBody>
          <a:bodyPr wrap="square">
            <a:spAutoFit/>
          </a:bodyPr>
          <a:lstStyle/>
          <a:p>
            <a:pPr algn="l"/>
            <a:r>
              <a:rPr sz="1400" b="0">
                <a:solidFill>
                  <a:srgbClr val="E0DED8"/>
                </a:solidFill>
                <a:latin typeface="Hiragino Sans"/>
              </a:rPr>
              <a:t>•  作業が変わるタイミングで /clear する</a:t>
            </a:r>
          </a:p>
        </p:txBody>
      </p:sp>
      <p:sp>
        <p:nvSpPr>
          <p:cNvPr id="36" name="TextBox 35"/>
          <p:cNvSpPr txBox="1"/>
          <p:nvPr/>
        </p:nvSpPr>
        <p:spPr>
          <a:xfrm>
            <a:off x="6200000" y="4690000"/>
            <a:ext cx="5000000" cy="274320"/>
          </a:xfrm>
          <a:prstGeom prst="rect">
            <a:avLst/>
          </a:prstGeom>
          <a:noFill/>
        </p:spPr>
        <p:txBody>
          <a:bodyPr wrap="square">
            <a:spAutoFit/>
          </a:bodyPr>
          <a:lstStyle/>
          <a:p>
            <a:pPr algn="l"/>
            <a:r>
              <a:rPr sz="1400" b="0">
                <a:solidFill>
                  <a:srgbClr val="E0DED8"/>
                </a:solidFill>
                <a:latin typeface="Hiragino Sans"/>
              </a:rPr>
              <a:t>•  長い作業はタスクを分割する</a:t>
            </a:r>
          </a:p>
        </p:txBody>
      </p:sp>
      <p:sp>
        <p:nvSpPr>
          <p:cNvPr id="37" name="Rectangle 36"/>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CLAUDE.mdは毎セッション読み込まれる「永続メモリ」として機能する</a:t>
            </a:r>
          </a:p>
        </p:txBody>
      </p:sp>
      <p:sp>
        <p:nvSpPr>
          <p:cNvPr id="40" name="TextBox 39"/>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コンテキストとCLAUDE.md</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CLAUDE.mdとは</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D97757"/>
                </a:solidFill>
                <a:latin typeface="Hiragino Sans"/>
              </a:rPr>
              <a:t>人間のオンボーディング資料と同じ発想</a:t>
            </a:r>
          </a:p>
        </p:txBody>
      </p:sp>
      <p:sp>
        <p:nvSpPr>
          <p:cNvPr id="5" name="TextBox 4"/>
          <p:cNvSpPr txBox="1"/>
          <p:nvPr/>
        </p:nvSpPr>
        <p:spPr>
          <a:xfrm>
            <a:off x="914400" y="1650000"/>
            <a:ext cx="5000000" cy="274320"/>
          </a:xfrm>
          <a:prstGeom prst="rect">
            <a:avLst/>
          </a:prstGeom>
          <a:noFill/>
        </p:spPr>
        <p:txBody>
          <a:bodyPr wrap="square">
            <a:spAutoFit/>
          </a:bodyPr>
          <a:lstStyle/>
          <a:p>
            <a:pPr algn="l"/>
            <a:r>
              <a:rPr sz="1600" b="0">
                <a:solidFill>
                  <a:srgbClr val="E0DED8"/>
                </a:solidFill>
                <a:latin typeface="Hiragino Sans"/>
              </a:rPr>
              <a:t>•  このプロジェクトはこういう構成です</a:t>
            </a:r>
          </a:p>
        </p:txBody>
      </p:sp>
      <p:sp>
        <p:nvSpPr>
          <p:cNvPr id="6" name="TextBox 5"/>
          <p:cNvSpPr txBox="1"/>
          <p:nvPr/>
        </p:nvSpPr>
        <p:spPr>
          <a:xfrm>
            <a:off x="914400" y="1990000"/>
            <a:ext cx="5000000" cy="274320"/>
          </a:xfrm>
          <a:prstGeom prst="rect">
            <a:avLst/>
          </a:prstGeom>
          <a:noFill/>
        </p:spPr>
        <p:txBody>
          <a:bodyPr wrap="square">
            <a:spAutoFit/>
          </a:bodyPr>
          <a:lstStyle/>
          <a:p>
            <a:pPr algn="l"/>
            <a:r>
              <a:rPr sz="1600" b="0">
                <a:solidFill>
                  <a:srgbClr val="E0DED8"/>
                </a:solidFill>
                <a:latin typeface="Hiragino Sans"/>
              </a:rPr>
              <a:t>•  ビルドはこのコマンドで</a:t>
            </a:r>
          </a:p>
        </p:txBody>
      </p:sp>
      <p:sp>
        <p:nvSpPr>
          <p:cNvPr id="7" name="TextBox 6"/>
          <p:cNvSpPr txBox="1"/>
          <p:nvPr/>
        </p:nvSpPr>
        <p:spPr>
          <a:xfrm>
            <a:off x="914400" y="2330000"/>
            <a:ext cx="5000000" cy="274320"/>
          </a:xfrm>
          <a:prstGeom prst="rect">
            <a:avLst/>
          </a:prstGeom>
          <a:noFill/>
        </p:spPr>
        <p:txBody>
          <a:bodyPr wrap="square">
            <a:spAutoFit/>
          </a:bodyPr>
          <a:lstStyle/>
          <a:p>
            <a:pPr algn="l"/>
            <a:r>
              <a:rPr sz="1600" b="0">
                <a:solidFill>
                  <a:srgbClr val="E0DED8"/>
                </a:solidFill>
                <a:latin typeface="Hiragino Sans"/>
              </a:rPr>
              <a:t>•  こういうルールがあるので守ってください</a:t>
            </a:r>
          </a:p>
        </p:txBody>
      </p:sp>
      <p:sp>
        <p:nvSpPr>
          <p:cNvPr id="8" name="TextBox 7"/>
          <p:cNvSpPr txBox="1"/>
          <p:nvPr/>
        </p:nvSpPr>
        <p:spPr>
          <a:xfrm>
            <a:off x="914400" y="2670000"/>
            <a:ext cx="5000000" cy="274320"/>
          </a:xfrm>
          <a:prstGeom prst="rect">
            <a:avLst/>
          </a:prstGeom>
          <a:noFill/>
        </p:spPr>
        <p:txBody>
          <a:bodyPr wrap="square">
            <a:spAutoFit/>
          </a:bodyPr>
          <a:lstStyle/>
          <a:p>
            <a:pPr algn="l"/>
            <a:r>
              <a:rPr sz="1600" b="0">
                <a:solidFill>
                  <a:srgbClr val="E0DED8"/>
                </a:solidFill>
                <a:latin typeface="Hiragino Sans"/>
              </a:rPr>
              <a:t>•  ここは触らないでください</a:t>
            </a:r>
          </a:p>
        </p:txBody>
      </p:sp>
      <p:sp>
        <p:nvSpPr>
          <p:cNvPr id="9" name="TextBox 8"/>
          <p:cNvSpPr txBox="1"/>
          <p:nvPr/>
        </p:nvSpPr>
        <p:spPr>
          <a:xfrm>
            <a:off x="914400" y="3101440"/>
            <a:ext cx="5000000" cy="274320"/>
          </a:xfrm>
          <a:prstGeom prst="rect">
            <a:avLst/>
          </a:prstGeom>
          <a:noFill/>
        </p:spPr>
        <p:txBody>
          <a:bodyPr wrap="square">
            <a:spAutoFit/>
          </a:bodyPr>
          <a:lstStyle/>
          <a:p>
            <a:pPr algn="l"/>
            <a:r>
              <a:rPr sz="1600" b="1">
                <a:solidFill>
                  <a:srgbClr val="D97757"/>
                </a:solidFill>
                <a:latin typeface="Hiragino Sans"/>
              </a:rPr>
              <a:t>→ これをそのままCLAUDE.mdに書く</a:t>
            </a:r>
          </a:p>
        </p:txBody>
      </p:sp>
      <p:cxnSp>
        <p:nvCxnSpPr>
          <p:cNvPr id="10" name="Connector 9"/>
          <p:cNvCxnSpPr/>
          <p:nvPr/>
        </p:nvCxnSpPr>
        <p:spPr>
          <a:xfrm>
            <a:off x="731520" y="32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350000"/>
            <a:ext cx="5000000" cy="365760"/>
          </a:xfrm>
          <a:prstGeom prst="rect">
            <a:avLst/>
          </a:prstGeom>
          <a:noFill/>
        </p:spPr>
        <p:txBody>
          <a:bodyPr wrap="square">
            <a:spAutoFit/>
          </a:bodyPr>
          <a:lstStyle/>
          <a:p>
            <a:pPr algn="l"/>
            <a:r>
              <a:rPr sz="1800" b="1">
                <a:solidFill>
                  <a:srgbClr val="FAF9F5"/>
                </a:solidFill>
                <a:latin typeface="Hiragino Sans"/>
              </a:rPr>
              <a:t>配置場所と読み込みルール</a:t>
            </a:r>
          </a:p>
        </p:txBody>
      </p:sp>
      <p:sp>
        <p:nvSpPr>
          <p:cNvPr id="12" name="Rectangle 11"/>
          <p:cNvSpPr/>
          <p:nvPr/>
        </p:nvSpPr>
        <p:spPr>
          <a:xfrm>
            <a:off x="731520" y="3800000"/>
            <a:ext cx="360000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91440"/>
            <a:ext cx="3417120" cy="274320"/>
          </a:xfrm>
          <a:prstGeom prst="rect">
            <a:avLst/>
          </a:prstGeom>
          <a:noFill/>
        </p:spPr>
        <p:txBody>
          <a:bodyPr wrap="square">
            <a:spAutoFit/>
          </a:bodyPr>
          <a:lstStyle/>
          <a:p>
            <a:pPr algn="l"/>
            <a:r>
              <a:rPr sz="1400" b="1">
                <a:solidFill>
                  <a:srgbClr val="D97757"/>
                </a:solidFill>
                <a:latin typeface="Hiragino Sans"/>
              </a:rPr>
              <a:t>場所</a:t>
            </a:r>
          </a:p>
        </p:txBody>
      </p:sp>
      <p:sp>
        <p:nvSpPr>
          <p:cNvPr id="14" name="Rectangle 13"/>
          <p:cNvSpPr/>
          <p:nvPr/>
        </p:nvSpPr>
        <p:spPr>
          <a:xfrm>
            <a:off x="4331520" y="3800000"/>
            <a:ext cx="240000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2960" y="3891440"/>
            <a:ext cx="2217120" cy="274320"/>
          </a:xfrm>
          <a:prstGeom prst="rect">
            <a:avLst/>
          </a:prstGeom>
          <a:noFill/>
        </p:spPr>
        <p:txBody>
          <a:bodyPr wrap="square">
            <a:spAutoFit/>
          </a:bodyPr>
          <a:lstStyle/>
          <a:p>
            <a:pPr algn="l"/>
            <a:r>
              <a:rPr sz="1400" b="1">
                <a:solidFill>
                  <a:srgbClr val="D97757"/>
                </a:solidFill>
                <a:latin typeface="Hiragino Sans"/>
              </a:rPr>
              <a:t>読み込み</a:t>
            </a:r>
          </a:p>
        </p:txBody>
      </p:sp>
      <p:sp>
        <p:nvSpPr>
          <p:cNvPr id="16" name="Rectangle 15"/>
          <p:cNvSpPr/>
          <p:nvPr/>
        </p:nvSpPr>
        <p:spPr>
          <a:xfrm>
            <a:off x="6731520" y="3800000"/>
            <a:ext cx="472896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22960" y="3891440"/>
            <a:ext cx="4546080" cy="274320"/>
          </a:xfrm>
          <a:prstGeom prst="rect">
            <a:avLst/>
          </a:prstGeom>
          <a:noFill/>
        </p:spPr>
        <p:txBody>
          <a:bodyPr wrap="square">
            <a:spAutoFit/>
          </a:bodyPr>
          <a:lstStyle/>
          <a:p>
            <a:pPr algn="l"/>
            <a:r>
              <a:rPr sz="1400" b="1">
                <a:solidFill>
                  <a:srgbClr val="D97757"/>
                </a:solidFill>
                <a:latin typeface="Hiragino Sans"/>
              </a:rPr>
              <a:t>用途</a:t>
            </a:r>
          </a:p>
        </p:txBody>
      </p:sp>
      <p:sp>
        <p:nvSpPr>
          <p:cNvPr id="18" name="Rectangle 17"/>
          <p:cNvSpPr/>
          <p:nvPr/>
        </p:nvSpPr>
        <p:spPr>
          <a:xfrm>
            <a:off x="731520" y="4200000"/>
            <a:ext cx="36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68580"/>
            <a:ext cx="3417120" cy="274320"/>
          </a:xfrm>
          <a:prstGeom prst="rect">
            <a:avLst/>
          </a:prstGeom>
          <a:noFill/>
        </p:spPr>
        <p:txBody>
          <a:bodyPr wrap="square">
            <a:spAutoFit/>
          </a:bodyPr>
          <a:lstStyle/>
          <a:p>
            <a:pPr algn="l"/>
            <a:r>
              <a:rPr sz="1400" b="0">
                <a:solidFill>
                  <a:srgbClr val="FAF9F5"/>
                </a:solidFill>
                <a:latin typeface="SF Mono"/>
              </a:rPr>
              <a:t>~/.claude/CLAUDE.md</a:t>
            </a:r>
          </a:p>
        </p:txBody>
      </p:sp>
      <p:sp>
        <p:nvSpPr>
          <p:cNvPr id="20" name="Rectangle 19"/>
          <p:cNvSpPr/>
          <p:nvPr/>
        </p:nvSpPr>
        <p:spPr>
          <a:xfrm>
            <a:off x="4331520" y="4200000"/>
            <a:ext cx="24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2960" y="4268580"/>
            <a:ext cx="2217120" cy="274320"/>
          </a:xfrm>
          <a:prstGeom prst="rect">
            <a:avLst/>
          </a:prstGeom>
          <a:noFill/>
        </p:spPr>
        <p:txBody>
          <a:bodyPr wrap="square">
            <a:spAutoFit/>
          </a:bodyPr>
          <a:lstStyle/>
          <a:p>
            <a:pPr algn="l"/>
            <a:r>
              <a:rPr sz="1400" b="0">
                <a:solidFill>
                  <a:srgbClr val="E0DED8"/>
                </a:solidFill>
                <a:latin typeface="Hiragino Sans"/>
              </a:rPr>
              <a:t>常に</a:t>
            </a:r>
          </a:p>
        </p:txBody>
      </p:sp>
      <p:sp>
        <p:nvSpPr>
          <p:cNvPr id="22" name="Rectangle 21"/>
          <p:cNvSpPr/>
          <p:nvPr/>
        </p:nvSpPr>
        <p:spPr>
          <a:xfrm>
            <a:off x="6731520" y="4200000"/>
            <a:ext cx="4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22960" y="4268580"/>
            <a:ext cx="4546080" cy="274320"/>
          </a:xfrm>
          <a:prstGeom prst="rect">
            <a:avLst/>
          </a:prstGeom>
          <a:noFill/>
        </p:spPr>
        <p:txBody>
          <a:bodyPr wrap="square">
            <a:spAutoFit/>
          </a:bodyPr>
          <a:lstStyle/>
          <a:p>
            <a:pPr algn="l"/>
            <a:r>
              <a:rPr sz="1400" b="0">
                <a:solidFill>
                  <a:srgbClr val="E0DED8"/>
                </a:solidFill>
                <a:latin typeface="Hiragino Sans"/>
              </a:rPr>
              <a:t>個人の全プロジェクト共通設定</a:t>
            </a:r>
          </a:p>
        </p:txBody>
      </p:sp>
      <p:sp>
        <p:nvSpPr>
          <p:cNvPr id="24" name="Rectangle 23"/>
          <p:cNvSpPr/>
          <p:nvPr/>
        </p:nvSpPr>
        <p:spPr>
          <a:xfrm>
            <a:off x="731520" y="4570000"/>
            <a:ext cx="36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638580"/>
            <a:ext cx="3417120" cy="274320"/>
          </a:xfrm>
          <a:prstGeom prst="rect">
            <a:avLst/>
          </a:prstGeom>
          <a:noFill/>
        </p:spPr>
        <p:txBody>
          <a:bodyPr wrap="square">
            <a:spAutoFit/>
          </a:bodyPr>
          <a:lstStyle/>
          <a:p>
            <a:pPr algn="l"/>
            <a:r>
              <a:rPr sz="1400" b="0">
                <a:solidFill>
                  <a:srgbClr val="FAF9F5"/>
                </a:solidFill>
                <a:latin typeface="SF Mono"/>
              </a:rPr>
              <a:t>プロジェクト/CLAUDE.md</a:t>
            </a:r>
          </a:p>
        </p:txBody>
      </p:sp>
      <p:sp>
        <p:nvSpPr>
          <p:cNvPr id="26" name="Rectangle 25"/>
          <p:cNvSpPr/>
          <p:nvPr/>
        </p:nvSpPr>
        <p:spPr>
          <a:xfrm>
            <a:off x="4331520" y="4570000"/>
            <a:ext cx="24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2960" y="4638580"/>
            <a:ext cx="2217120" cy="274320"/>
          </a:xfrm>
          <a:prstGeom prst="rect">
            <a:avLst/>
          </a:prstGeom>
          <a:noFill/>
        </p:spPr>
        <p:txBody>
          <a:bodyPr wrap="square">
            <a:spAutoFit/>
          </a:bodyPr>
          <a:lstStyle/>
          <a:p>
            <a:pPr algn="l"/>
            <a:r>
              <a:rPr sz="1400" b="0">
                <a:solidFill>
                  <a:srgbClr val="E0DED8"/>
                </a:solidFill>
                <a:latin typeface="Hiragino Sans"/>
              </a:rPr>
              <a:t>常に</a:t>
            </a:r>
          </a:p>
        </p:txBody>
      </p:sp>
      <p:sp>
        <p:nvSpPr>
          <p:cNvPr id="28" name="Rectangle 27"/>
          <p:cNvSpPr/>
          <p:nvPr/>
        </p:nvSpPr>
        <p:spPr>
          <a:xfrm>
            <a:off x="6731520" y="4570000"/>
            <a:ext cx="4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2960" y="4638580"/>
            <a:ext cx="4546080" cy="274320"/>
          </a:xfrm>
          <a:prstGeom prst="rect">
            <a:avLst/>
          </a:prstGeom>
          <a:noFill/>
        </p:spPr>
        <p:txBody>
          <a:bodyPr wrap="square">
            <a:spAutoFit/>
          </a:bodyPr>
          <a:lstStyle/>
          <a:p>
            <a:pPr algn="l"/>
            <a:r>
              <a:rPr sz="1400" b="0">
                <a:solidFill>
                  <a:srgbClr val="E0DED8"/>
                </a:solidFill>
                <a:latin typeface="Hiragino Sans"/>
              </a:rPr>
              <a:t>プロジェクト固有の設定（チーム共有）</a:t>
            </a:r>
          </a:p>
        </p:txBody>
      </p:sp>
      <p:sp>
        <p:nvSpPr>
          <p:cNvPr id="30" name="Rectangle 29"/>
          <p:cNvSpPr/>
          <p:nvPr/>
        </p:nvSpPr>
        <p:spPr>
          <a:xfrm>
            <a:off x="731520" y="4940000"/>
            <a:ext cx="36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008580"/>
            <a:ext cx="3417120" cy="274320"/>
          </a:xfrm>
          <a:prstGeom prst="rect">
            <a:avLst/>
          </a:prstGeom>
          <a:noFill/>
        </p:spPr>
        <p:txBody>
          <a:bodyPr wrap="square">
            <a:spAutoFit/>
          </a:bodyPr>
          <a:lstStyle/>
          <a:p>
            <a:pPr algn="l"/>
            <a:r>
              <a:rPr sz="1400" b="0">
                <a:solidFill>
                  <a:srgbClr val="FAF9F5"/>
                </a:solidFill>
                <a:latin typeface="SF Mono"/>
              </a:rPr>
              <a:t>サブディレクトリ/CLAUDE.md</a:t>
            </a:r>
          </a:p>
        </p:txBody>
      </p:sp>
      <p:sp>
        <p:nvSpPr>
          <p:cNvPr id="32" name="Rectangle 31"/>
          <p:cNvSpPr/>
          <p:nvPr/>
        </p:nvSpPr>
        <p:spPr>
          <a:xfrm>
            <a:off x="4331520" y="4940000"/>
            <a:ext cx="24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22960" y="5008580"/>
            <a:ext cx="2217120" cy="274320"/>
          </a:xfrm>
          <a:prstGeom prst="rect">
            <a:avLst/>
          </a:prstGeom>
          <a:noFill/>
        </p:spPr>
        <p:txBody>
          <a:bodyPr wrap="square">
            <a:spAutoFit/>
          </a:bodyPr>
          <a:lstStyle/>
          <a:p>
            <a:pPr algn="l"/>
            <a:r>
              <a:rPr sz="1400" b="0">
                <a:solidFill>
                  <a:srgbClr val="E0DED8"/>
                </a:solidFill>
                <a:latin typeface="Hiragino Sans"/>
              </a:rPr>
              <a:t>作業時</a:t>
            </a:r>
          </a:p>
        </p:txBody>
      </p:sp>
      <p:sp>
        <p:nvSpPr>
          <p:cNvPr id="34" name="Rectangle 33"/>
          <p:cNvSpPr/>
          <p:nvPr/>
        </p:nvSpPr>
        <p:spPr>
          <a:xfrm>
            <a:off x="6731520" y="4940000"/>
            <a:ext cx="4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2960" y="5008580"/>
            <a:ext cx="4546080" cy="274320"/>
          </a:xfrm>
          <a:prstGeom prst="rect">
            <a:avLst/>
          </a:prstGeom>
          <a:noFill/>
        </p:spPr>
        <p:txBody>
          <a:bodyPr wrap="square">
            <a:spAutoFit/>
          </a:bodyPr>
          <a:lstStyle/>
          <a:p>
            <a:pPr algn="l"/>
            <a:r>
              <a:rPr sz="1400" b="0">
                <a:solidFill>
                  <a:srgbClr val="E0DED8"/>
                </a:solidFill>
                <a:latin typeface="Hiragino Sans"/>
              </a:rPr>
              <a:t>モジュール固有の注意事項</a:t>
            </a:r>
          </a:p>
        </p:txBody>
      </p:sp>
      <p:sp>
        <p:nvSpPr>
          <p:cNvPr id="36" name="Rectangle 35"/>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チームでバージョン管理すれば、全員が同じ「教え方」でClaude Codeを使える</a:t>
            </a:r>
          </a:p>
        </p:txBody>
      </p:sp>
      <p:sp>
        <p:nvSpPr>
          <p:cNvPr id="39" name="TextBox 38"/>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コンテキストとCLAUDE.md</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CLAUDE.mdに書くべき内容</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B0AEA5"/>
                </a:solidFill>
                <a:latin typeface="Hiragino Sans"/>
              </a:rPr>
              <a:t>4カテゴリに分けて考える</a:t>
            </a:r>
          </a:p>
        </p:txBody>
      </p:sp>
      <p:sp>
        <p:nvSpPr>
          <p:cNvPr id="5" name="Rounded Rectangle 4"/>
          <p:cNvSpPr/>
          <p:nvPr/>
        </p:nvSpPr>
        <p:spPr>
          <a:xfrm>
            <a:off x="731520" y="1650000"/>
            <a:ext cx="5200000" cy="17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78716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AF9F5"/>
                </a:solidFill>
                <a:latin typeface="Helvetica Neue"/>
              </a:rPr>
              <a:t>1</a:t>
            </a:r>
          </a:p>
        </p:txBody>
      </p:sp>
      <p:sp>
        <p:nvSpPr>
          <p:cNvPr id="7" name="TextBox 6"/>
          <p:cNvSpPr txBox="1"/>
          <p:nvPr/>
        </p:nvSpPr>
        <p:spPr>
          <a:xfrm>
            <a:off x="1325880" y="1787160"/>
            <a:ext cx="4200000" cy="365760"/>
          </a:xfrm>
          <a:prstGeom prst="rect">
            <a:avLst/>
          </a:prstGeom>
          <a:noFill/>
        </p:spPr>
        <p:txBody>
          <a:bodyPr wrap="square">
            <a:spAutoFit/>
          </a:bodyPr>
          <a:lstStyle/>
          <a:p>
            <a:pPr algn="l"/>
            <a:r>
              <a:rPr sz="1600" b="1">
                <a:solidFill>
                  <a:srgbClr val="FAF9F5"/>
                </a:solidFill>
                <a:latin typeface="Hiragino Sans"/>
              </a:rPr>
              <a:t>プロジェクト概要</a:t>
            </a:r>
          </a:p>
        </p:txBody>
      </p:sp>
      <p:sp>
        <p:nvSpPr>
          <p:cNvPr id="8" name="Rounded Rectangle 7"/>
          <p:cNvSpPr/>
          <p:nvPr/>
        </p:nvSpPr>
        <p:spPr>
          <a:xfrm>
            <a:off x="868680" y="2244360"/>
            <a:ext cx="4925680" cy="96848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35800"/>
            <a:ext cx="4651360" cy="785600"/>
          </a:xfrm>
          <a:prstGeom prst="rect">
            <a:avLst/>
          </a:prstGeom>
          <a:noFill/>
        </p:spPr>
        <p:txBody>
          <a:bodyPr wrap="square">
            <a:spAutoFit/>
          </a:bodyPr>
          <a:lstStyle/>
          <a:p>
            <a:pPr algn="l"/>
            <a:r>
              <a:rPr sz="1200" b="0">
                <a:solidFill>
                  <a:srgbClr val="E0DED8"/>
                </a:solidFill>
                <a:latin typeface="SF Mono"/>
              </a:rPr>
              <a:t>## リポジトリ概要</a:t>
            </a:r>
          </a:p>
          <a:p>
            <a:pPr algn="l"/>
            <a:r>
              <a:rPr sz="1200" b="0">
                <a:solidFill>
                  <a:srgbClr val="E0DED8"/>
                </a:solidFill>
                <a:latin typeface="SF Mono"/>
              </a:rPr>
              <a:t>Zennに公開する技術記事を</a:t>
            </a:r>
          </a:p>
          <a:p>
            <a:pPr algn="l"/>
            <a:r>
              <a:rPr sz="1200" b="0">
                <a:solidFill>
                  <a:srgbClr val="E0DED8"/>
                </a:solidFill>
                <a:latin typeface="SF Mono"/>
              </a:rPr>
              <a:t>管理するリポジトリ。</a:t>
            </a:r>
          </a:p>
        </p:txBody>
      </p:sp>
      <p:sp>
        <p:nvSpPr>
          <p:cNvPr id="10" name="Rounded Rectangle 9"/>
          <p:cNvSpPr/>
          <p:nvPr/>
        </p:nvSpPr>
        <p:spPr>
          <a:xfrm>
            <a:off x="6160120" y="1650000"/>
            <a:ext cx="5200000" cy="17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97280" y="178716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AF9F5"/>
                </a:solidFill>
                <a:latin typeface="Helvetica Neue"/>
              </a:rPr>
              <a:t>2</a:t>
            </a:r>
          </a:p>
        </p:txBody>
      </p:sp>
      <p:sp>
        <p:nvSpPr>
          <p:cNvPr id="12" name="TextBox 11"/>
          <p:cNvSpPr txBox="1"/>
          <p:nvPr/>
        </p:nvSpPr>
        <p:spPr>
          <a:xfrm>
            <a:off x="6754480" y="1787160"/>
            <a:ext cx="4200000" cy="365760"/>
          </a:xfrm>
          <a:prstGeom prst="rect">
            <a:avLst/>
          </a:prstGeom>
          <a:noFill/>
        </p:spPr>
        <p:txBody>
          <a:bodyPr wrap="square">
            <a:spAutoFit/>
          </a:bodyPr>
          <a:lstStyle/>
          <a:p>
            <a:pPr algn="l"/>
            <a:r>
              <a:rPr sz="1600" b="1">
                <a:solidFill>
                  <a:srgbClr val="FAF9F5"/>
                </a:solidFill>
                <a:latin typeface="Hiragino Sans"/>
              </a:rPr>
              <a:t>よく使うコマンド</a:t>
            </a:r>
          </a:p>
        </p:txBody>
      </p:sp>
      <p:sp>
        <p:nvSpPr>
          <p:cNvPr id="13" name="Rounded Rectangle 12"/>
          <p:cNvSpPr/>
          <p:nvPr/>
        </p:nvSpPr>
        <p:spPr>
          <a:xfrm>
            <a:off x="6297280" y="2244360"/>
            <a:ext cx="4925680" cy="96848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4440" y="2335800"/>
            <a:ext cx="4651360" cy="785600"/>
          </a:xfrm>
          <a:prstGeom prst="rect">
            <a:avLst/>
          </a:prstGeom>
          <a:noFill/>
        </p:spPr>
        <p:txBody>
          <a:bodyPr wrap="square">
            <a:spAutoFit/>
          </a:bodyPr>
          <a:lstStyle/>
          <a:p>
            <a:pPr algn="l"/>
            <a:r>
              <a:rPr sz="1200" b="0">
                <a:solidFill>
                  <a:srgbClr val="E0DED8"/>
                </a:solidFill>
                <a:latin typeface="SF Mono"/>
              </a:rPr>
              <a:t>npm run preview  # プレビュー</a:t>
            </a:r>
          </a:p>
          <a:p>
            <a:pPr algn="l"/>
            <a:r>
              <a:rPr sz="1200" b="0">
                <a:solidFill>
                  <a:srgbClr val="E0DED8"/>
                </a:solidFill>
                <a:latin typeface="SF Mono"/>
              </a:rPr>
              <a:t>npm run lint     # チェック</a:t>
            </a:r>
          </a:p>
          <a:p>
            <a:pPr algn="l"/>
            <a:r>
              <a:rPr sz="1200" b="0">
                <a:solidFill>
                  <a:srgbClr val="E0DED8"/>
                </a:solidFill>
                <a:latin typeface="SF Mono"/>
              </a:rPr>
              <a:t>npm run lint:fix # 自動修正</a:t>
            </a:r>
          </a:p>
        </p:txBody>
      </p:sp>
      <p:sp>
        <p:nvSpPr>
          <p:cNvPr id="15" name="Rounded Rectangle 14"/>
          <p:cNvSpPr/>
          <p:nvPr/>
        </p:nvSpPr>
        <p:spPr>
          <a:xfrm>
            <a:off x="731520" y="3578600"/>
            <a:ext cx="5200000" cy="17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371576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AF9F5"/>
                </a:solidFill>
                <a:latin typeface="Helvetica Neue"/>
              </a:rPr>
              <a:t>3</a:t>
            </a:r>
          </a:p>
        </p:txBody>
      </p:sp>
      <p:sp>
        <p:nvSpPr>
          <p:cNvPr id="17" name="TextBox 16"/>
          <p:cNvSpPr txBox="1"/>
          <p:nvPr/>
        </p:nvSpPr>
        <p:spPr>
          <a:xfrm>
            <a:off x="1325880" y="3715760"/>
            <a:ext cx="4200000" cy="365760"/>
          </a:xfrm>
          <a:prstGeom prst="rect">
            <a:avLst/>
          </a:prstGeom>
          <a:noFill/>
        </p:spPr>
        <p:txBody>
          <a:bodyPr wrap="square">
            <a:spAutoFit/>
          </a:bodyPr>
          <a:lstStyle/>
          <a:p>
            <a:pPr algn="l"/>
            <a:r>
              <a:rPr sz="1600" b="1">
                <a:solidFill>
                  <a:srgbClr val="FAF9F5"/>
                </a:solidFill>
                <a:latin typeface="Hiragino Sans"/>
              </a:rPr>
              <a:t>コーディング規約</a:t>
            </a:r>
          </a:p>
        </p:txBody>
      </p:sp>
      <p:sp>
        <p:nvSpPr>
          <p:cNvPr id="18" name="Rounded Rectangle 17"/>
          <p:cNvSpPr/>
          <p:nvPr/>
        </p:nvSpPr>
        <p:spPr>
          <a:xfrm>
            <a:off x="868680" y="4172960"/>
            <a:ext cx="4925680" cy="96848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264400"/>
            <a:ext cx="4651360" cy="785600"/>
          </a:xfrm>
          <a:prstGeom prst="rect">
            <a:avLst/>
          </a:prstGeom>
          <a:noFill/>
        </p:spPr>
        <p:txBody>
          <a:bodyPr wrap="square">
            <a:spAutoFit/>
          </a:bodyPr>
          <a:lstStyle/>
          <a:p>
            <a:pPr algn="l"/>
            <a:r>
              <a:rPr sz="1200" b="0">
                <a:solidFill>
                  <a:srgbClr val="E0DED8"/>
                </a:solidFill>
                <a:latin typeface="SF Mono"/>
              </a:rPr>
              <a:t>## Python</a:t>
            </a:r>
          </a:p>
          <a:p>
            <a:pPr algn="l"/>
            <a:r>
              <a:rPr sz="1200" b="0">
                <a:solidFill>
                  <a:srgbClr val="E0DED8"/>
                </a:solidFill>
                <a:latin typeface="SF Mono"/>
              </a:rPr>
              <a:t>Python を使う場合は</a:t>
            </a:r>
          </a:p>
          <a:p>
            <a:pPr algn="l"/>
            <a:r>
              <a:rPr sz="1200" b="0">
                <a:solidFill>
                  <a:srgbClr val="E0DED8"/>
                </a:solidFill>
                <a:latin typeface="SF Mono"/>
              </a:rPr>
              <a:t>必ず uv を使う（pip は使わない）。</a:t>
            </a:r>
          </a:p>
        </p:txBody>
      </p:sp>
      <p:sp>
        <p:nvSpPr>
          <p:cNvPr id="20" name="Rounded Rectangle 19"/>
          <p:cNvSpPr/>
          <p:nvPr/>
        </p:nvSpPr>
        <p:spPr>
          <a:xfrm>
            <a:off x="6160120" y="3578600"/>
            <a:ext cx="5200000" cy="17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97280" y="371576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AF9F5"/>
                </a:solidFill>
                <a:latin typeface="Helvetica Neue"/>
              </a:rPr>
              <a:t>4</a:t>
            </a:r>
          </a:p>
        </p:txBody>
      </p:sp>
      <p:sp>
        <p:nvSpPr>
          <p:cNvPr id="22" name="TextBox 21"/>
          <p:cNvSpPr txBox="1"/>
          <p:nvPr/>
        </p:nvSpPr>
        <p:spPr>
          <a:xfrm>
            <a:off x="6754480" y="3715760"/>
            <a:ext cx="4200000" cy="365760"/>
          </a:xfrm>
          <a:prstGeom prst="rect">
            <a:avLst/>
          </a:prstGeom>
          <a:noFill/>
        </p:spPr>
        <p:txBody>
          <a:bodyPr wrap="square">
            <a:spAutoFit/>
          </a:bodyPr>
          <a:lstStyle/>
          <a:p>
            <a:pPr algn="l"/>
            <a:r>
              <a:rPr sz="1600" b="1">
                <a:solidFill>
                  <a:srgbClr val="FAF9F5"/>
                </a:solidFill>
                <a:latin typeface="Hiragino Sans"/>
              </a:rPr>
              <a:t>やってはいけないこと</a:t>
            </a:r>
          </a:p>
        </p:txBody>
      </p:sp>
      <p:sp>
        <p:nvSpPr>
          <p:cNvPr id="23" name="Rounded Rectangle 22"/>
          <p:cNvSpPr/>
          <p:nvPr/>
        </p:nvSpPr>
        <p:spPr>
          <a:xfrm>
            <a:off x="6297280" y="4172960"/>
            <a:ext cx="4925680" cy="96848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4440" y="4264400"/>
            <a:ext cx="4651360" cy="785600"/>
          </a:xfrm>
          <a:prstGeom prst="rect">
            <a:avLst/>
          </a:prstGeom>
          <a:noFill/>
        </p:spPr>
        <p:txBody>
          <a:bodyPr wrap="square">
            <a:spAutoFit/>
          </a:bodyPr>
          <a:lstStyle/>
          <a:p>
            <a:pPr algn="l"/>
            <a:r>
              <a:rPr sz="1200" b="0">
                <a:solidFill>
                  <a:srgbClr val="E0DED8"/>
                </a:solidFill>
                <a:latin typeface="SF Mono"/>
              </a:rPr>
              <a:t>## 禁止事項</a:t>
            </a:r>
          </a:p>
          <a:p>
            <a:pPr algn="l"/>
            <a:r>
              <a:rPr sz="1200" b="0">
                <a:solidFill>
                  <a:srgbClr val="E0DED8"/>
                </a:solidFill>
                <a:latin typeface="SF Mono"/>
              </a:rPr>
              <a:t>- mainに直接プッシュしない</a:t>
            </a:r>
          </a:p>
          <a:p>
            <a:pPr algn="l"/>
            <a:r>
              <a:rPr sz="1200" b="0">
                <a:solidFill>
                  <a:srgbClr val="E0DED8"/>
                </a:solidFill>
                <a:latin typeface="SF Mono"/>
              </a:rPr>
              <a:t>- .envファイルを編集しない</a:t>
            </a:r>
          </a:p>
        </p:txBody>
      </p:sp>
      <p:sp>
        <p:nvSpPr>
          <p:cNvPr id="25" name="Rectangle 24"/>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PRでよく指摘される項目 = CLAUDE.mdに書くべき内容</a:t>
            </a:r>
          </a:p>
        </p:txBody>
      </p:sp>
      <p:sp>
        <p:nvSpPr>
          <p:cNvPr id="28" name="TextBox 27"/>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コンテキストとCLAUDE.md</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CLAUDE.mdの始め方と育て方</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B0AEA5"/>
                </a:solidFill>
                <a:latin typeface="Hiragino Sans"/>
              </a:rPr>
              <a:t>/init で自動生成 → 育てる → 刈り込む</a:t>
            </a:r>
          </a:p>
        </p:txBody>
      </p:sp>
      <p:sp>
        <p:nvSpPr>
          <p:cNvPr id="5" name="Rounded Rectangle 4"/>
          <p:cNvSpPr/>
          <p:nvPr/>
        </p:nvSpPr>
        <p:spPr>
          <a:xfrm>
            <a:off x="731520" y="1700000"/>
            <a:ext cx="3429000" cy="28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00000"/>
            <a:ext cx="34290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37160"/>
            <a:ext cx="1200000" cy="320000"/>
          </a:xfrm>
          <a:prstGeom prst="rect">
            <a:avLst/>
          </a:prstGeom>
          <a:noFill/>
        </p:spPr>
        <p:txBody>
          <a:bodyPr wrap="square">
            <a:spAutoFit/>
          </a:bodyPr>
          <a:lstStyle/>
          <a:p>
            <a:pPr algn="l"/>
            <a:r>
              <a:rPr sz="1400" b="1">
                <a:solidFill>
                  <a:srgbClr val="D97757"/>
                </a:solidFill>
                <a:latin typeface="Helvetica Neue"/>
              </a:rPr>
              <a:t>Step 1</a:t>
            </a:r>
          </a:p>
        </p:txBody>
      </p:sp>
      <p:sp>
        <p:nvSpPr>
          <p:cNvPr id="8" name="TextBox 7"/>
          <p:cNvSpPr txBox="1"/>
          <p:nvPr/>
        </p:nvSpPr>
        <p:spPr>
          <a:xfrm>
            <a:off x="914400" y="2157200"/>
            <a:ext cx="3063240" cy="457200"/>
          </a:xfrm>
          <a:prstGeom prst="rect">
            <a:avLst/>
          </a:prstGeom>
          <a:noFill/>
        </p:spPr>
        <p:txBody>
          <a:bodyPr wrap="square">
            <a:spAutoFit/>
          </a:bodyPr>
          <a:lstStyle/>
          <a:p>
            <a:pPr algn="l"/>
            <a:r>
              <a:rPr sz="1800" b="1">
                <a:solidFill>
                  <a:srgbClr val="FAF9F5"/>
                </a:solidFill>
                <a:latin typeface="Hiragino Sans"/>
              </a:rPr>
              <a:t>/init で自動生成</a:t>
            </a:r>
          </a:p>
        </p:txBody>
      </p:sp>
      <p:sp>
        <p:nvSpPr>
          <p:cNvPr id="9" name="TextBox 8"/>
          <p:cNvSpPr txBox="1"/>
          <p:nvPr/>
        </p:nvSpPr>
        <p:spPr>
          <a:xfrm>
            <a:off x="914400" y="2700000"/>
            <a:ext cx="3063240" cy="1600000"/>
          </a:xfrm>
          <a:prstGeom prst="rect">
            <a:avLst/>
          </a:prstGeom>
          <a:noFill/>
        </p:spPr>
        <p:txBody>
          <a:bodyPr wrap="square">
            <a:spAutoFit/>
          </a:bodyPr>
          <a:lstStyle/>
          <a:p>
            <a:pPr algn="l">
              <a:spcAft>
                <a:spcPts val="600"/>
              </a:spcAft>
            </a:pPr>
            <a:r>
              <a:rPr sz="1400" b="0">
                <a:solidFill>
                  <a:srgbClr val="E0DED8"/>
                </a:solidFill>
                <a:latin typeface="Hiragino Sans"/>
              </a:rPr>
              <a:t>プロジェクトの技術スタック、</a:t>
            </a:r>
          </a:p>
          <a:p>
            <a:pPr algn="l">
              <a:spcAft>
                <a:spcPts val="600"/>
              </a:spcAft>
            </a:pPr>
            <a:r>
              <a:rPr sz="1400" b="0">
                <a:solidFill>
                  <a:srgbClr val="E0DED8"/>
                </a:solidFill>
                <a:latin typeface="Hiragino Sans"/>
              </a:rPr>
              <a:t>ディレクトリ構成を自動検出</a:t>
            </a:r>
          </a:p>
          <a:p>
            <a:pPr algn="l">
              <a:spcAft>
                <a:spcPts val="600"/>
              </a:spcAft>
            </a:pPr>
            <a:r>
              <a:rPr sz="1400" b="0">
                <a:solidFill>
                  <a:srgbClr val="E0DED8"/>
                </a:solidFill>
                <a:latin typeface="Hiragino Sans"/>
              </a:rPr>
              <a:t>CLAUDE.md のたたき台が生成される</a:t>
            </a:r>
          </a:p>
        </p:txBody>
      </p:sp>
      <p:sp>
        <p:nvSpPr>
          <p:cNvPr id="10" name="Rounded Rectangle 9"/>
          <p:cNvSpPr/>
          <p:nvPr/>
        </p:nvSpPr>
        <p:spPr>
          <a:xfrm>
            <a:off x="4389120" y="1700000"/>
            <a:ext cx="3429000" cy="28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700000"/>
            <a:ext cx="3429000" cy="54864"/>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37160"/>
            <a:ext cx="1200000" cy="320000"/>
          </a:xfrm>
          <a:prstGeom prst="rect">
            <a:avLst/>
          </a:prstGeom>
          <a:noFill/>
        </p:spPr>
        <p:txBody>
          <a:bodyPr wrap="square">
            <a:spAutoFit/>
          </a:bodyPr>
          <a:lstStyle/>
          <a:p>
            <a:pPr algn="l"/>
            <a:r>
              <a:rPr sz="1400" b="1">
                <a:solidFill>
                  <a:srgbClr val="6A9BCC"/>
                </a:solidFill>
                <a:latin typeface="Helvetica Neue"/>
              </a:rPr>
              <a:t>Step 2</a:t>
            </a:r>
          </a:p>
        </p:txBody>
      </p:sp>
      <p:sp>
        <p:nvSpPr>
          <p:cNvPr id="13" name="TextBox 12"/>
          <p:cNvSpPr txBox="1"/>
          <p:nvPr/>
        </p:nvSpPr>
        <p:spPr>
          <a:xfrm>
            <a:off x="4572000" y="2157200"/>
            <a:ext cx="3063240" cy="457200"/>
          </a:xfrm>
          <a:prstGeom prst="rect">
            <a:avLst/>
          </a:prstGeom>
          <a:noFill/>
        </p:spPr>
        <p:txBody>
          <a:bodyPr wrap="square">
            <a:spAutoFit/>
          </a:bodyPr>
          <a:lstStyle/>
          <a:p>
            <a:pPr algn="l"/>
            <a:r>
              <a:rPr sz="1800" b="1">
                <a:solidFill>
                  <a:srgbClr val="FAF9F5"/>
                </a:solidFill>
                <a:latin typeface="Hiragino Sans"/>
              </a:rPr>
              <a:t>チーム固有の情報を追記</a:t>
            </a:r>
          </a:p>
        </p:txBody>
      </p:sp>
      <p:sp>
        <p:nvSpPr>
          <p:cNvPr id="14" name="TextBox 13"/>
          <p:cNvSpPr txBox="1"/>
          <p:nvPr/>
        </p:nvSpPr>
        <p:spPr>
          <a:xfrm>
            <a:off x="4572000" y="2700000"/>
            <a:ext cx="3063240" cy="1600000"/>
          </a:xfrm>
          <a:prstGeom prst="rect">
            <a:avLst/>
          </a:prstGeom>
          <a:noFill/>
        </p:spPr>
        <p:txBody>
          <a:bodyPr wrap="square">
            <a:spAutoFit/>
          </a:bodyPr>
          <a:lstStyle/>
          <a:p>
            <a:pPr algn="l">
              <a:spcAft>
                <a:spcPts val="600"/>
              </a:spcAft>
            </a:pPr>
            <a:r>
              <a:rPr sz="1400" b="0">
                <a:solidFill>
                  <a:srgbClr val="E0DED8"/>
                </a:solidFill>
                <a:latin typeface="Hiragino Sans"/>
              </a:rPr>
              <a:t>PRでよく指摘される項目</a:t>
            </a:r>
          </a:p>
          <a:p>
            <a:pPr algn="l">
              <a:spcAft>
                <a:spcPts val="600"/>
              </a:spcAft>
            </a:pPr>
            <a:r>
              <a:rPr sz="1400" b="0">
                <a:solidFill>
                  <a:srgbClr val="E0DED8"/>
                </a:solidFill>
                <a:latin typeface="Hiragino Sans"/>
              </a:rPr>
              <a:t>触ってはいけないファイル</a:t>
            </a:r>
          </a:p>
          <a:p>
            <a:pPr algn="l">
              <a:spcAft>
                <a:spcPts val="600"/>
              </a:spcAft>
            </a:pPr>
            <a:r>
              <a:rPr sz="1400" b="0">
                <a:solidFill>
                  <a:srgbClr val="E0DED8"/>
                </a:solidFill>
                <a:latin typeface="Hiragino Sans"/>
              </a:rPr>
              <a:t>チーム固有のコーディング規約</a:t>
            </a:r>
          </a:p>
        </p:txBody>
      </p:sp>
      <p:sp>
        <p:nvSpPr>
          <p:cNvPr id="15" name="Rounded Rectangle 14"/>
          <p:cNvSpPr/>
          <p:nvPr/>
        </p:nvSpPr>
        <p:spPr>
          <a:xfrm>
            <a:off x="8046720" y="1700000"/>
            <a:ext cx="3429000" cy="28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700000"/>
            <a:ext cx="3429000" cy="54864"/>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837160"/>
            <a:ext cx="1200000" cy="320000"/>
          </a:xfrm>
          <a:prstGeom prst="rect">
            <a:avLst/>
          </a:prstGeom>
          <a:noFill/>
        </p:spPr>
        <p:txBody>
          <a:bodyPr wrap="square">
            <a:spAutoFit/>
          </a:bodyPr>
          <a:lstStyle/>
          <a:p>
            <a:pPr algn="l"/>
            <a:r>
              <a:rPr sz="1400" b="1">
                <a:solidFill>
                  <a:srgbClr val="7BC9A0"/>
                </a:solidFill>
                <a:latin typeface="Helvetica Neue"/>
              </a:rPr>
              <a:t>Step 3</a:t>
            </a:r>
          </a:p>
        </p:txBody>
      </p:sp>
      <p:sp>
        <p:nvSpPr>
          <p:cNvPr id="18" name="TextBox 17"/>
          <p:cNvSpPr txBox="1"/>
          <p:nvPr/>
        </p:nvSpPr>
        <p:spPr>
          <a:xfrm>
            <a:off x="8229600" y="2157200"/>
            <a:ext cx="3063240" cy="457200"/>
          </a:xfrm>
          <a:prstGeom prst="rect">
            <a:avLst/>
          </a:prstGeom>
          <a:noFill/>
        </p:spPr>
        <p:txBody>
          <a:bodyPr wrap="square">
            <a:spAutoFit/>
          </a:bodyPr>
          <a:lstStyle/>
          <a:p>
            <a:pPr algn="l"/>
            <a:r>
              <a:rPr sz="1800" b="1">
                <a:solidFill>
                  <a:srgbClr val="FAF9F5"/>
                </a:solidFill>
                <a:latin typeface="Hiragino Sans"/>
              </a:rPr>
              <a:t>肥大化を防ぐ</a:t>
            </a:r>
          </a:p>
        </p:txBody>
      </p:sp>
      <p:sp>
        <p:nvSpPr>
          <p:cNvPr id="19" name="TextBox 18"/>
          <p:cNvSpPr txBox="1"/>
          <p:nvPr/>
        </p:nvSpPr>
        <p:spPr>
          <a:xfrm>
            <a:off x="8229600" y="2700000"/>
            <a:ext cx="3063240" cy="1600000"/>
          </a:xfrm>
          <a:prstGeom prst="rect">
            <a:avLst/>
          </a:prstGeom>
          <a:noFill/>
        </p:spPr>
        <p:txBody>
          <a:bodyPr wrap="square">
            <a:spAutoFit/>
          </a:bodyPr>
          <a:lstStyle/>
          <a:p>
            <a:pPr algn="l">
              <a:spcAft>
                <a:spcPts val="600"/>
              </a:spcAft>
            </a:pPr>
            <a:r>
              <a:rPr sz="1400" b="0">
                <a:solidFill>
                  <a:srgbClr val="E0DED8"/>
                </a:solidFill>
                <a:latin typeface="Hiragino Sans"/>
              </a:rPr>
              <a:t>目安は500行以下</a:t>
            </a:r>
          </a:p>
          <a:p>
            <a:pPr algn="l">
              <a:spcAft>
                <a:spcPts val="600"/>
              </a:spcAft>
            </a:pPr>
            <a:r>
              <a:rPr sz="1400" b="0">
                <a:solidFill>
                  <a:srgbClr val="E0DED8"/>
                </a:solidFill>
                <a:latin typeface="Hiragino Sans"/>
              </a:rPr>
              <a:t>詳細な仕様は別ファイルに分離</a:t>
            </a:r>
          </a:p>
          <a:p>
            <a:pPr algn="l">
              <a:spcAft>
                <a:spcPts val="600"/>
              </a:spcAft>
            </a:pPr>
            <a:r>
              <a:rPr sz="1400" b="0">
                <a:solidFill>
                  <a:srgbClr val="E0DED8"/>
                </a:solidFill>
                <a:latin typeface="Hiragino Sans"/>
              </a:rPr>
              <a:t>不要になった情報は定期的に削除</a:t>
            </a:r>
          </a:p>
        </p:txBody>
      </p:sp>
      <p:sp>
        <p:nvSpPr>
          <p:cNvPr id="20" name="TextBox 19"/>
          <p:cNvSpPr txBox="1"/>
          <p:nvPr/>
        </p:nvSpPr>
        <p:spPr>
          <a:xfrm>
            <a:off x="731520" y="4700000"/>
            <a:ext cx="10728960" cy="365760"/>
          </a:xfrm>
          <a:prstGeom prst="rect">
            <a:avLst/>
          </a:prstGeom>
          <a:noFill/>
        </p:spPr>
        <p:txBody>
          <a:bodyPr wrap="square">
            <a:spAutoFit/>
          </a:bodyPr>
          <a:lstStyle/>
          <a:p>
            <a:pPr algn="l"/>
            <a:r>
              <a:rPr sz="1400" b="0">
                <a:solidFill>
                  <a:srgbClr val="B0AEA5"/>
                </a:solidFill>
                <a:latin typeface="Hiragino Sans"/>
              </a:rPr>
              <a:t>Tips: PART 2で紹介する /insights を使えば、改善提案も受けられる</a:t>
            </a:r>
          </a:p>
        </p:txBody>
      </p:sp>
      <p:sp>
        <p:nvSpPr>
          <p:cNvPr id="21" name="TextBox 20"/>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0" y="2200000"/>
            <a:ext cx="12192000" cy="762000"/>
          </a:xfrm>
          <a:prstGeom prst="rect">
            <a:avLst/>
          </a:prstGeom>
          <a:noFill/>
        </p:spPr>
        <p:txBody>
          <a:bodyPr wrap="square">
            <a:spAutoFit/>
          </a:bodyPr>
          <a:lstStyle/>
          <a:p>
            <a:pPr algn="ctr"/>
            <a:r>
              <a:rPr sz="6000" b="1">
                <a:solidFill>
                  <a:srgbClr val="D97757"/>
                </a:solidFill>
                <a:latin typeface="Helvetica Neue"/>
              </a:rPr>
              <a:t>DEMO</a:t>
            </a:r>
          </a:p>
        </p:txBody>
      </p:sp>
      <p:sp>
        <p:nvSpPr>
          <p:cNvPr id="3" name="TextBox 2"/>
          <p:cNvSpPr txBox="1"/>
          <p:nvPr/>
        </p:nvSpPr>
        <p:spPr>
          <a:xfrm>
            <a:off x="0" y="3200000"/>
            <a:ext cx="12192000" cy="457200"/>
          </a:xfrm>
          <a:prstGeom prst="rect">
            <a:avLst/>
          </a:prstGeom>
          <a:noFill/>
        </p:spPr>
        <p:txBody>
          <a:bodyPr wrap="square">
            <a:spAutoFit/>
          </a:bodyPr>
          <a:lstStyle/>
          <a:p>
            <a:pPr algn="ctr"/>
            <a:r>
              <a:rPr sz="2000" b="0">
                <a:solidFill>
                  <a:srgbClr val="B0AEA5"/>
                </a:solidFill>
                <a:latin typeface="Hiragino Sans"/>
              </a:rPr>
              <a:t>CLAUDE.md &amp; /init</a:t>
            </a:r>
          </a:p>
        </p:txBody>
      </p:sp>
      <p:sp>
        <p:nvSpPr>
          <p:cNvPr id="4" name="TextBox 3"/>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コンテキストとCLAUDE.md</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コンテキスト管理チェックリスト</a:t>
            </a:r>
          </a:p>
        </p:txBody>
      </p:sp>
      <p:sp>
        <p:nvSpPr>
          <p:cNvPr id="4" name="Rectangle 3"/>
          <p:cNvSpPr/>
          <p:nvPr/>
        </p:nvSpPr>
        <p:spPr>
          <a:xfrm>
            <a:off x="731520" y="1300000"/>
            <a:ext cx="3200000" cy="4572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91440"/>
            <a:ext cx="2925680" cy="274320"/>
          </a:xfrm>
          <a:prstGeom prst="rect">
            <a:avLst/>
          </a:prstGeom>
          <a:noFill/>
        </p:spPr>
        <p:txBody>
          <a:bodyPr wrap="square">
            <a:spAutoFit/>
          </a:bodyPr>
          <a:lstStyle/>
          <a:p>
            <a:pPr algn="l"/>
            <a:r>
              <a:rPr sz="1600" b="1">
                <a:solidFill>
                  <a:srgbClr val="D97757"/>
                </a:solidFill>
                <a:latin typeface="Hiragino Sans"/>
              </a:rPr>
              <a:t>タイミング</a:t>
            </a:r>
          </a:p>
        </p:txBody>
      </p:sp>
      <p:sp>
        <p:nvSpPr>
          <p:cNvPr id="6" name="Rectangle 5"/>
          <p:cNvSpPr/>
          <p:nvPr/>
        </p:nvSpPr>
        <p:spPr>
          <a:xfrm>
            <a:off x="3931520" y="1300000"/>
            <a:ext cx="7528960" cy="4572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8680" y="1391440"/>
            <a:ext cx="7254640" cy="274320"/>
          </a:xfrm>
          <a:prstGeom prst="rect">
            <a:avLst/>
          </a:prstGeom>
          <a:noFill/>
        </p:spPr>
        <p:txBody>
          <a:bodyPr wrap="square">
            <a:spAutoFit/>
          </a:bodyPr>
          <a:lstStyle/>
          <a:p>
            <a:pPr algn="l"/>
            <a:r>
              <a:rPr sz="1600" b="1">
                <a:solidFill>
                  <a:srgbClr val="D97757"/>
                </a:solidFill>
                <a:latin typeface="Hiragino Sans"/>
              </a:rPr>
              <a:t>やること</a:t>
            </a:r>
          </a:p>
        </p:txBody>
      </p:sp>
      <p:sp>
        <p:nvSpPr>
          <p:cNvPr id="8" name="Rectangle 7"/>
          <p:cNvSpPr/>
          <p:nvPr/>
        </p:nvSpPr>
        <p:spPr>
          <a:xfrm>
            <a:off x="731520" y="1757200"/>
            <a:ext cx="3200000" cy="48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1500"/>
            <a:ext cx="2925680" cy="320000"/>
          </a:xfrm>
          <a:prstGeom prst="rect">
            <a:avLst/>
          </a:prstGeom>
          <a:noFill/>
        </p:spPr>
        <p:txBody>
          <a:bodyPr wrap="square">
            <a:spAutoFit/>
          </a:bodyPr>
          <a:lstStyle/>
          <a:p>
            <a:pPr algn="l"/>
            <a:r>
              <a:rPr sz="1500" b="1">
                <a:solidFill>
                  <a:srgbClr val="FAF9F5"/>
                </a:solidFill>
                <a:latin typeface="Hiragino Sans"/>
              </a:rPr>
              <a:t>プロジェクト開始時</a:t>
            </a:r>
          </a:p>
        </p:txBody>
      </p:sp>
      <p:sp>
        <p:nvSpPr>
          <p:cNvPr id="10" name="Rectangle 9"/>
          <p:cNvSpPr/>
          <p:nvPr/>
        </p:nvSpPr>
        <p:spPr>
          <a:xfrm>
            <a:off x="3931520" y="1757200"/>
            <a:ext cx="7528960" cy="48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68680" y="1871500"/>
            <a:ext cx="7254640" cy="320000"/>
          </a:xfrm>
          <a:prstGeom prst="rect">
            <a:avLst/>
          </a:prstGeom>
          <a:noFill/>
        </p:spPr>
        <p:txBody>
          <a:bodyPr wrap="square">
            <a:spAutoFit/>
          </a:bodyPr>
          <a:lstStyle/>
          <a:p>
            <a:pPr algn="l"/>
            <a:r>
              <a:rPr sz="1500" b="0">
                <a:solidFill>
                  <a:srgbClr val="E0DED8"/>
                </a:solidFill>
                <a:latin typeface="Hiragino Sans"/>
              </a:rPr>
              <a:t>/init でCLAUDE.mdを生成。チーム固有の規約を追記</a:t>
            </a:r>
          </a:p>
        </p:txBody>
      </p:sp>
      <p:sp>
        <p:nvSpPr>
          <p:cNvPr id="12" name="Rectangle 11"/>
          <p:cNvSpPr/>
          <p:nvPr/>
        </p:nvSpPr>
        <p:spPr>
          <a:xfrm>
            <a:off x="731520" y="2257200"/>
            <a:ext cx="3200000" cy="48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71500"/>
            <a:ext cx="2925680" cy="320000"/>
          </a:xfrm>
          <a:prstGeom prst="rect">
            <a:avLst/>
          </a:prstGeom>
          <a:noFill/>
        </p:spPr>
        <p:txBody>
          <a:bodyPr wrap="square">
            <a:spAutoFit/>
          </a:bodyPr>
          <a:lstStyle/>
          <a:p>
            <a:pPr algn="l"/>
            <a:r>
              <a:rPr sz="1500" b="1">
                <a:solidFill>
                  <a:srgbClr val="FAF9F5"/>
                </a:solidFill>
                <a:latin typeface="Hiragino Sans"/>
              </a:rPr>
              <a:t>セッション開始時</a:t>
            </a:r>
          </a:p>
        </p:txBody>
      </p:sp>
      <p:sp>
        <p:nvSpPr>
          <p:cNvPr id="14" name="Rectangle 13"/>
          <p:cNvSpPr/>
          <p:nvPr/>
        </p:nvSpPr>
        <p:spPr>
          <a:xfrm>
            <a:off x="3931520" y="2257200"/>
            <a:ext cx="7528960" cy="48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8680" y="2371500"/>
            <a:ext cx="7254640" cy="320000"/>
          </a:xfrm>
          <a:prstGeom prst="rect">
            <a:avLst/>
          </a:prstGeom>
          <a:noFill/>
        </p:spPr>
        <p:txBody>
          <a:bodyPr wrap="square">
            <a:spAutoFit/>
          </a:bodyPr>
          <a:lstStyle/>
          <a:p>
            <a:pPr algn="l"/>
            <a:r>
              <a:rPr sz="1500" b="0">
                <a:solidFill>
                  <a:srgbClr val="E0DED8"/>
                </a:solidFill>
                <a:latin typeface="Hiragino Sans"/>
              </a:rPr>
              <a:t>新しい作業なら /clear で履歴リセット</a:t>
            </a:r>
          </a:p>
        </p:txBody>
      </p:sp>
      <p:sp>
        <p:nvSpPr>
          <p:cNvPr id="16" name="Rectangle 15"/>
          <p:cNvSpPr/>
          <p:nvPr/>
        </p:nvSpPr>
        <p:spPr>
          <a:xfrm>
            <a:off x="731520" y="2757200"/>
            <a:ext cx="3200000" cy="48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871500"/>
            <a:ext cx="2925680" cy="320000"/>
          </a:xfrm>
          <a:prstGeom prst="rect">
            <a:avLst/>
          </a:prstGeom>
          <a:noFill/>
        </p:spPr>
        <p:txBody>
          <a:bodyPr wrap="square">
            <a:spAutoFit/>
          </a:bodyPr>
          <a:lstStyle/>
          <a:p>
            <a:pPr algn="l"/>
            <a:r>
              <a:rPr sz="1500" b="1">
                <a:solidFill>
                  <a:srgbClr val="FAF9F5"/>
                </a:solidFill>
                <a:latin typeface="Hiragino Sans"/>
              </a:rPr>
              <a:t>作業中</a:t>
            </a:r>
          </a:p>
        </p:txBody>
      </p:sp>
      <p:sp>
        <p:nvSpPr>
          <p:cNvPr id="18" name="Rectangle 17"/>
          <p:cNvSpPr/>
          <p:nvPr/>
        </p:nvSpPr>
        <p:spPr>
          <a:xfrm>
            <a:off x="3931520" y="2757200"/>
            <a:ext cx="7528960" cy="48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68680" y="2871500"/>
            <a:ext cx="7254640" cy="320000"/>
          </a:xfrm>
          <a:prstGeom prst="rect">
            <a:avLst/>
          </a:prstGeom>
          <a:noFill/>
        </p:spPr>
        <p:txBody>
          <a:bodyPr wrap="square">
            <a:spAutoFit/>
          </a:bodyPr>
          <a:lstStyle/>
          <a:p>
            <a:pPr algn="l"/>
            <a:r>
              <a:rPr sz="1500" b="0">
                <a:solidFill>
                  <a:srgbClr val="E0DED8"/>
                </a:solidFill>
                <a:latin typeface="Hiragino Sans"/>
              </a:rPr>
              <a:t>重要な制約はCLAUDE.mdに書く（口頭指示はコンパクトで消える）</a:t>
            </a:r>
          </a:p>
        </p:txBody>
      </p:sp>
      <p:sp>
        <p:nvSpPr>
          <p:cNvPr id="20" name="Rectangle 19"/>
          <p:cNvSpPr/>
          <p:nvPr/>
        </p:nvSpPr>
        <p:spPr>
          <a:xfrm>
            <a:off x="731520" y="3257200"/>
            <a:ext cx="3200000" cy="48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371500"/>
            <a:ext cx="2925680" cy="320000"/>
          </a:xfrm>
          <a:prstGeom prst="rect">
            <a:avLst/>
          </a:prstGeom>
          <a:noFill/>
        </p:spPr>
        <p:txBody>
          <a:bodyPr wrap="square">
            <a:spAutoFit/>
          </a:bodyPr>
          <a:lstStyle/>
          <a:p>
            <a:pPr algn="l"/>
            <a:r>
              <a:rPr sz="1500" b="1">
                <a:solidFill>
                  <a:srgbClr val="FAF9F5"/>
                </a:solidFill>
                <a:latin typeface="Hiragino Sans"/>
              </a:rPr>
              <a:t>定期的に</a:t>
            </a:r>
          </a:p>
        </p:txBody>
      </p:sp>
      <p:sp>
        <p:nvSpPr>
          <p:cNvPr id="22" name="Rectangle 21"/>
          <p:cNvSpPr/>
          <p:nvPr/>
        </p:nvSpPr>
        <p:spPr>
          <a:xfrm>
            <a:off x="3931520" y="3257200"/>
            <a:ext cx="7528960" cy="48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68680" y="3371500"/>
            <a:ext cx="7254640" cy="320000"/>
          </a:xfrm>
          <a:prstGeom prst="rect">
            <a:avLst/>
          </a:prstGeom>
          <a:noFill/>
        </p:spPr>
        <p:txBody>
          <a:bodyPr wrap="square">
            <a:spAutoFit/>
          </a:bodyPr>
          <a:lstStyle/>
          <a:p>
            <a:pPr algn="l"/>
            <a:r>
              <a:rPr sz="1500" b="0">
                <a:solidFill>
                  <a:srgbClr val="E0DED8"/>
                </a:solidFill>
                <a:latin typeface="Hiragino Sans"/>
              </a:rPr>
              <a:t>CLAUDE.mdが肥大化していないか確認。/insights で改善点を確認</a:t>
            </a:r>
          </a:p>
        </p:txBody>
      </p:sp>
      <p:sp>
        <p:nvSpPr>
          <p:cNvPr id="24" name="Rectangle 23"/>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コンテキストを制するものが、Claude Codeを制する</a:t>
            </a:r>
          </a:p>
        </p:txBody>
      </p:sp>
      <p:sp>
        <p:nvSpPr>
          <p:cNvPr id="27" name="TextBox 2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31F1D"/>
        </a:solidFill>
        <a:effectLst/>
      </p:bgPr>
    </p:bg>
    <p:spTree>
      <p:nvGrpSpPr>
        <p:cNvPr id="1" name=""/>
        <p:cNvGrpSpPr/>
        <p:nvPr/>
      </p:nvGrpSpPr>
      <p:grpSpPr/>
      <p:cxnSp>
        <p:nvCxnSpPr>
          <p:cNvPr id="2" name="Connector 1"/>
          <p:cNvCxnSpPr/>
          <p:nvPr/>
        </p:nvCxnSpPr>
        <p:spPr>
          <a:xfrm>
            <a:off x="73152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3168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000000"/>
            <a:ext cx="12192000" cy="457200"/>
          </a:xfrm>
          <a:prstGeom prst="rect">
            <a:avLst/>
          </a:prstGeom>
          <a:noFill/>
        </p:spPr>
        <p:txBody>
          <a:bodyPr wrap="square">
            <a:spAutoFit/>
          </a:bodyPr>
          <a:lstStyle/>
          <a:p>
            <a:pPr algn="ctr"/>
            <a:r>
              <a:rPr sz="1800" b="1">
                <a:solidFill>
                  <a:srgbClr val="D97757"/>
                </a:solidFill>
                <a:latin typeface="Helvetica Neue"/>
              </a:rPr>
              <a:t>PART 2</a:t>
            </a:r>
          </a:p>
        </p:txBody>
      </p:sp>
      <p:sp>
        <p:nvSpPr>
          <p:cNvPr id="5" name="TextBox 4"/>
          <p:cNvSpPr txBox="1"/>
          <p:nvPr/>
        </p:nvSpPr>
        <p:spPr>
          <a:xfrm>
            <a:off x="0" y="2600000"/>
            <a:ext cx="12192000" cy="762000"/>
          </a:xfrm>
          <a:prstGeom prst="rect">
            <a:avLst/>
          </a:prstGeom>
          <a:noFill/>
        </p:spPr>
        <p:txBody>
          <a:bodyPr wrap="square">
            <a:spAutoFit/>
          </a:bodyPr>
          <a:lstStyle/>
          <a:p>
            <a:pPr algn="ctr"/>
            <a:r>
              <a:rPr sz="4000" b="1">
                <a:solidFill>
                  <a:srgbClr val="FAF9F5"/>
                </a:solidFill>
                <a:latin typeface="Hiragino Sans"/>
              </a:rPr>
              <a:t>スラッシュコマンド &amp; Skills</a:t>
            </a:r>
          </a:p>
        </p:txBody>
      </p:sp>
      <p:sp>
        <p:nvSpPr>
          <p:cNvPr id="6" name="TextBox 5"/>
          <p:cNvSpPr txBox="1"/>
          <p:nvPr/>
        </p:nvSpPr>
        <p:spPr>
          <a:xfrm>
            <a:off x="0" y="3500000"/>
            <a:ext cx="12192000" cy="457200"/>
          </a:xfrm>
          <a:prstGeom prst="rect">
            <a:avLst/>
          </a:prstGeom>
          <a:noFill/>
        </p:spPr>
        <p:txBody>
          <a:bodyPr wrap="square">
            <a:spAutoFit/>
          </a:bodyPr>
          <a:lstStyle/>
          <a:p>
            <a:pPr algn="ctr"/>
            <a:r>
              <a:rPr sz="2400" b="0">
                <a:solidFill>
                  <a:srgbClr val="C5C3BB"/>
                </a:solidFill>
                <a:latin typeface="Hiragino Sans"/>
              </a:rPr>
              <a:t>同じ指示、何度も書かない</a:t>
            </a:r>
          </a:p>
        </p:txBody>
      </p:sp>
      <p:sp>
        <p:nvSpPr>
          <p:cNvPr id="7" name="TextBox 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2 — スラッシュコマンド &amp; Skills</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組み込みスラッシュコマンド</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B0AEA5"/>
                </a:solidFill>
                <a:latin typeface="Hiragino Sans"/>
              </a:rPr>
              <a:t>主要な組み込みコマンド</a:t>
            </a:r>
          </a:p>
        </p:txBody>
      </p:sp>
      <p:sp>
        <p:nvSpPr>
          <p:cNvPr id="5" name="Rectangle 4"/>
          <p:cNvSpPr/>
          <p:nvPr/>
        </p:nvSpPr>
        <p:spPr>
          <a:xfrm>
            <a:off x="731520" y="1650000"/>
            <a:ext cx="180000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41440"/>
            <a:ext cx="1617120" cy="274320"/>
          </a:xfrm>
          <a:prstGeom prst="rect">
            <a:avLst/>
          </a:prstGeom>
          <a:noFill/>
        </p:spPr>
        <p:txBody>
          <a:bodyPr wrap="square">
            <a:spAutoFit/>
          </a:bodyPr>
          <a:lstStyle/>
          <a:p>
            <a:pPr algn="l"/>
            <a:r>
              <a:rPr sz="1400" b="1">
                <a:solidFill>
                  <a:srgbClr val="D97757"/>
                </a:solidFill>
                <a:latin typeface="Hiragino Sans"/>
              </a:rPr>
              <a:t>コマンド</a:t>
            </a:r>
          </a:p>
        </p:txBody>
      </p:sp>
      <p:sp>
        <p:nvSpPr>
          <p:cNvPr id="7" name="Rectangle 6"/>
          <p:cNvSpPr/>
          <p:nvPr/>
        </p:nvSpPr>
        <p:spPr>
          <a:xfrm>
            <a:off x="2531520" y="1650000"/>
            <a:ext cx="420000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22960" y="1741440"/>
            <a:ext cx="4017120" cy="274320"/>
          </a:xfrm>
          <a:prstGeom prst="rect">
            <a:avLst/>
          </a:prstGeom>
          <a:noFill/>
        </p:spPr>
        <p:txBody>
          <a:bodyPr wrap="square">
            <a:spAutoFit/>
          </a:bodyPr>
          <a:lstStyle/>
          <a:p>
            <a:pPr algn="l"/>
            <a:r>
              <a:rPr sz="1400" b="1">
                <a:solidFill>
                  <a:srgbClr val="D97757"/>
                </a:solidFill>
                <a:latin typeface="Hiragino Sans"/>
              </a:rPr>
              <a:t>用途</a:t>
            </a:r>
          </a:p>
        </p:txBody>
      </p:sp>
      <p:sp>
        <p:nvSpPr>
          <p:cNvPr id="9" name="Rectangle 8"/>
          <p:cNvSpPr/>
          <p:nvPr/>
        </p:nvSpPr>
        <p:spPr>
          <a:xfrm>
            <a:off x="6731520" y="1650000"/>
            <a:ext cx="472896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22960" y="1741440"/>
            <a:ext cx="4546080" cy="274320"/>
          </a:xfrm>
          <a:prstGeom prst="rect">
            <a:avLst/>
          </a:prstGeom>
          <a:noFill/>
        </p:spPr>
        <p:txBody>
          <a:bodyPr wrap="square">
            <a:spAutoFit/>
          </a:bodyPr>
          <a:lstStyle/>
          <a:p>
            <a:pPr algn="l"/>
            <a:r>
              <a:rPr sz="1400" b="1">
                <a:solidFill>
                  <a:srgbClr val="D97757"/>
                </a:solidFill>
                <a:latin typeface="Hiragino Sans"/>
              </a:rPr>
              <a:t>よく使う場面</a:t>
            </a:r>
          </a:p>
        </p:txBody>
      </p:sp>
      <p:sp>
        <p:nvSpPr>
          <p:cNvPr id="11" name="Rectangle 10"/>
          <p:cNvSpPr/>
          <p:nvPr/>
        </p:nvSpPr>
        <p:spPr>
          <a:xfrm>
            <a:off x="731520" y="2050000"/>
            <a:ext cx="18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118580"/>
            <a:ext cx="1617120" cy="274320"/>
          </a:xfrm>
          <a:prstGeom prst="rect">
            <a:avLst/>
          </a:prstGeom>
          <a:noFill/>
        </p:spPr>
        <p:txBody>
          <a:bodyPr wrap="square">
            <a:spAutoFit/>
          </a:bodyPr>
          <a:lstStyle/>
          <a:p>
            <a:pPr algn="l"/>
            <a:r>
              <a:rPr sz="1400" b="0">
                <a:solidFill>
                  <a:srgbClr val="D97757"/>
                </a:solidFill>
                <a:latin typeface="SF Mono"/>
              </a:rPr>
              <a:t>/init</a:t>
            </a:r>
          </a:p>
        </p:txBody>
      </p:sp>
      <p:sp>
        <p:nvSpPr>
          <p:cNvPr id="13" name="Rectangle 12"/>
          <p:cNvSpPr/>
          <p:nvPr/>
        </p:nvSpPr>
        <p:spPr>
          <a:xfrm>
            <a:off x="2531520" y="2050000"/>
            <a:ext cx="42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22960" y="2118580"/>
            <a:ext cx="4017120" cy="274320"/>
          </a:xfrm>
          <a:prstGeom prst="rect">
            <a:avLst/>
          </a:prstGeom>
          <a:noFill/>
        </p:spPr>
        <p:txBody>
          <a:bodyPr wrap="square">
            <a:spAutoFit/>
          </a:bodyPr>
          <a:lstStyle/>
          <a:p>
            <a:pPr algn="l"/>
            <a:r>
              <a:rPr sz="1400" b="0">
                <a:solidFill>
                  <a:srgbClr val="E0DED8"/>
                </a:solidFill>
                <a:latin typeface="Hiragino Sans"/>
              </a:rPr>
              <a:t>CLAUDE.md を自動生成</a:t>
            </a:r>
          </a:p>
        </p:txBody>
      </p:sp>
      <p:sp>
        <p:nvSpPr>
          <p:cNvPr id="15" name="Rectangle 14"/>
          <p:cNvSpPr/>
          <p:nvPr/>
        </p:nvSpPr>
        <p:spPr>
          <a:xfrm>
            <a:off x="6731520" y="2050000"/>
            <a:ext cx="4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22960" y="2118580"/>
            <a:ext cx="4546080" cy="274320"/>
          </a:xfrm>
          <a:prstGeom prst="rect">
            <a:avLst/>
          </a:prstGeom>
          <a:noFill/>
        </p:spPr>
        <p:txBody>
          <a:bodyPr wrap="square">
            <a:spAutoFit/>
          </a:bodyPr>
          <a:lstStyle/>
          <a:p>
            <a:pPr algn="l"/>
            <a:r>
              <a:rPr sz="1400" b="0">
                <a:solidFill>
                  <a:srgbClr val="E0DED8"/>
                </a:solidFill>
                <a:latin typeface="Hiragino Sans"/>
              </a:rPr>
              <a:t>プロジェクト初期設定</a:t>
            </a:r>
          </a:p>
        </p:txBody>
      </p:sp>
      <p:sp>
        <p:nvSpPr>
          <p:cNvPr id="17" name="Rectangle 16"/>
          <p:cNvSpPr/>
          <p:nvPr/>
        </p:nvSpPr>
        <p:spPr>
          <a:xfrm>
            <a:off x="731520" y="2430000"/>
            <a:ext cx="18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498580"/>
            <a:ext cx="1617120" cy="274320"/>
          </a:xfrm>
          <a:prstGeom prst="rect">
            <a:avLst/>
          </a:prstGeom>
          <a:noFill/>
        </p:spPr>
        <p:txBody>
          <a:bodyPr wrap="square">
            <a:spAutoFit/>
          </a:bodyPr>
          <a:lstStyle/>
          <a:p>
            <a:pPr algn="l"/>
            <a:r>
              <a:rPr sz="1400" b="0">
                <a:solidFill>
                  <a:srgbClr val="D97757"/>
                </a:solidFill>
                <a:latin typeface="SF Mono"/>
              </a:rPr>
              <a:t>/clear</a:t>
            </a:r>
          </a:p>
        </p:txBody>
      </p:sp>
      <p:sp>
        <p:nvSpPr>
          <p:cNvPr id="19" name="Rectangle 18"/>
          <p:cNvSpPr/>
          <p:nvPr/>
        </p:nvSpPr>
        <p:spPr>
          <a:xfrm>
            <a:off x="2531520" y="2430000"/>
            <a:ext cx="42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2960" y="2498580"/>
            <a:ext cx="4017120" cy="274320"/>
          </a:xfrm>
          <a:prstGeom prst="rect">
            <a:avLst/>
          </a:prstGeom>
          <a:noFill/>
        </p:spPr>
        <p:txBody>
          <a:bodyPr wrap="square">
            <a:spAutoFit/>
          </a:bodyPr>
          <a:lstStyle/>
          <a:p>
            <a:pPr algn="l"/>
            <a:r>
              <a:rPr sz="1400" b="0">
                <a:solidFill>
                  <a:srgbClr val="E0DED8"/>
                </a:solidFill>
                <a:latin typeface="Hiragino Sans"/>
              </a:rPr>
              <a:t>会話履歴をリセット</a:t>
            </a:r>
          </a:p>
        </p:txBody>
      </p:sp>
      <p:sp>
        <p:nvSpPr>
          <p:cNvPr id="21" name="Rectangle 20"/>
          <p:cNvSpPr/>
          <p:nvPr/>
        </p:nvSpPr>
        <p:spPr>
          <a:xfrm>
            <a:off x="6731520" y="2430000"/>
            <a:ext cx="472896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2960" y="2498580"/>
            <a:ext cx="4546080" cy="274320"/>
          </a:xfrm>
          <a:prstGeom prst="rect">
            <a:avLst/>
          </a:prstGeom>
          <a:noFill/>
        </p:spPr>
        <p:txBody>
          <a:bodyPr wrap="square">
            <a:spAutoFit/>
          </a:bodyPr>
          <a:lstStyle/>
          <a:p>
            <a:pPr algn="l"/>
            <a:r>
              <a:rPr sz="1400" b="0">
                <a:solidFill>
                  <a:srgbClr val="E0DED8"/>
                </a:solidFill>
                <a:latin typeface="Hiragino Sans"/>
              </a:rPr>
              <a:t>作業の切り替え時</a:t>
            </a:r>
          </a:p>
        </p:txBody>
      </p:sp>
      <p:sp>
        <p:nvSpPr>
          <p:cNvPr id="23" name="Rectangle 22"/>
          <p:cNvSpPr/>
          <p:nvPr/>
        </p:nvSpPr>
        <p:spPr>
          <a:xfrm>
            <a:off x="731520" y="2810000"/>
            <a:ext cx="18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878580"/>
            <a:ext cx="1617120" cy="274320"/>
          </a:xfrm>
          <a:prstGeom prst="rect">
            <a:avLst/>
          </a:prstGeom>
          <a:noFill/>
        </p:spPr>
        <p:txBody>
          <a:bodyPr wrap="square">
            <a:spAutoFit/>
          </a:bodyPr>
          <a:lstStyle/>
          <a:p>
            <a:pPr algn="l"/>
            <a:r>
              <a:rPr sz="1400" b="0">
                <a:solidFill>
                  <a:srgbClr val="D97757"/>
                </a:solidFill>
                <a:latin typeface="SF Mono"/>
              </a:rPr>
              <a:t>/config</a:t>
            </a:r>
          </a:p>
        </p:txBody>
      </p:sp>
      <p:sp>
        <p:nvSpPr>
          <p:cNvPr id="25" name="Rectangle 24"/>
          <p:cNvSpPr/>
          <p:nvPr/>
        </p:nvSpPr>
        <p:spPr>
          <a:xfrm>
            <a:off x="2531520" y="2810000"/>
            <a:ext cx="42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22960" y="2878580"/>
            <a:ext cx="4017120" cy="274320"/>
          </a:xfrm>
          <a:prstGeom prst="rect">
            <a:avLst/>
          </a:prstGeom>
          <a:noFill/>
        </p:spPr>
        <p:txBody>
          <a:bodyPr wrap="square">
            <a:spAutoFit/>
          </a:bodyPr>
          <a:lstStyle/>
          <a:p>
            <a:pPr algn="l"/>
            <a:r>
              <a:rPr sz="1400" b="0">
                <a:solidFill>
                  <a:srgbClr val="E0DED8"/>
                </a:solidFill>
                <a:latin typeface="Hiragino Sans"/>
              </a:rPr>
              <a:t>権限や設定の確認・変更</a:t>
            </a:r>
          </a:p>
        </p:txBody>
      </p:sp>
      <p:sp>
        <p:nvSpPr>
          <p:cNvPr id="27" name="Rectangle 26"/>
          <p:cNvSpPr/>
          <p:nvPr/>
        </p:nvSpPr>
        <p:spPr>
          <a:xfrm>
            <a:off x="6731520" y="2810000"/>
            <a:ext cx="4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2960" y="2878580"/>
            <a:ext cx="4546080" cy="274320"/>
          </a:xfrm>
          <a:prstGeom prst="rect">
            <a:avLst/>
          </a:prstGeom>
          <a:noFill/>
        </p:spPr>
        <p:txBody>
          <a:bodyPr wrap="square">
            <a:spAutoFit/>
          </a:bodyPr>
          <a:lstStyle/>
          <a:p>
            <a:pPr algn="l"/>
            <a:r>
              <a:rPr sz="1400" b="0">
                <a:solidFill>
                  <a:srgbClr val="E0DED8"/>
                </a:solidFill>
                <a:latin typeface="Hiragino Sans"/>
              </a:rPr>
              <a:t>許可リストの管理</a:t>
            </a:r>
          </a:p>
        </p:txBody>
      </p:sp>
      <p:sp>
        <p:nvSpPr>
          <p:cNvPr id="29" name="Rectangle 28"/>
          <p:cNvSpPr/>
          <p:nvPr/>
        </p:nvSpPr>
        <p:spPr>
          <a:xfrm>
            <a:off x="731520" y="3190000"/>
            <a:ext cx="18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258580"/>
            <a:ext cx="1617120" cy="274320"/>
          </a:xfrm>
          <a:prstGeom prst="rect">
            <a:avLst/>
          </a:prstGeom>
          <a:noFill/>
        </p:spPr>
        <p:txBody>
          <a:bodyPr wrap="square">
            <a:spAutoFit/>
          </a:bodyPr>
          <a:lstStyle/>
          <a:p>
            <a:pPr algn="l"/>
            <a:r>
              <a:rPr sz="1400" b="0">
                <a:solidFill>
                  <a:srgbClr val="D97757"/>
                </a:solidFill>
                <a:latin typeface="SF Mono"/>
              </a:rPr>
              <a:t>/insights</a:t>
            </a:r>
          </a:p>
        </p:txBody>
      </p:sp>
      <p:sp>
        <p:nvSpPr>
          <p:cNvPr id="31" name="Rectangle 30"/>
          <p:cNvSpPr/>
          <p:nvPr/>
        </p:nvSpPr>
        <p:spPr>
          <a:xfrm>
            <a:off x="2531520" y="3190000"/>
            <a:ext cx="42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22960" y="3258580"/>
            <a:ext cx="4017120" cy="274320"/>
          </a:xfrm>
          <a:prstGeom prst="rect">
            <a:avLst/>
          </a:prstGeom>
          <a:noFill/>
        </p:spPr>
        <p:txBody>
          <a:bodyPr wrap="square">
            <a:spAutoFit/>
          </a:bodyPr>
          <a:lstStyle/>
          <a:p>
            <a:pPr algn="l"/>
            <a:r>
              <a:rPr sz="1400" b="0">
                <a:solidFill>
                  <a:srgbClr val="E0DED8"/>
                </a:solidFill>
                <a:latin typeface="Hiragino Sans"/>
              </a:rPr>
              <a:t>使い方の改善提案</a:t>
            </a:r>
          </a:p>
        </p:txBody>
      </p:sp>
      <p:sp>
        <p:nvSpPr>
          <p:cNvPr id="33" name="Rectangle 32"/>
          <p:cNvSpPr/>
          <p:nvPr/>
        </p:nvSpPr>
        <p:spPr>
          <a:xfrm>
            <a:off x="6731520" y="3190000"/>
            <a:ext cx="472896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22960" y="3258580"/>
            <a:ext cx="4546080" cy="274320"/>
          </a:xfrm>
          <a:prstGeom prst="rect">
            <a:avLst/>
          </a:prstGeom>
          <a:noFill/>
        </p:spPr>
        <p:txBody>
          <a:bodyPr wrap="square">
            <a:spAutoFit/>
          </a:bodyPr>
          <a:lstStyle/>
          <a:p>
            <a:pPr algn="l"/>
            <a:r>
              <a:rPr sz="1400" b="0">
                <a:solidFill>
                  <a:srgbClr val="E0DED8"/>
                </a:solidFill>
                <a:latin typeface="Hiragino Sans"/>
              </a:rPr>
              <a:t>定期的な振り返り</a:t>
            </a:r>
          </a:p>
        </p:txBody>
      </p:sp>
      <p:sp>
        <p:nvSpPr>
          <p:cNvPr id="35" name="Rectangle 34"/>
          <p:cNvSpPr/>
          <p:nvPr/>
        </p:nvSpPr>
        <p:spPr>
          <a:xfrm>
            <a:off x="731520" y="3570000"/>
            <a:ext cx="18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3638580"/>
            <a:ext cx="1617120" cy="274320"/>
          </a:xfrm>
          <a:prstGeom prst="rect">
            <a:avLst/>
          </a:prstGeom>
          <a:noFill/>
        </p:spPr>
        <p:txBody>
          <a:bodyPr wrap="square">
            <a:spAutoFit/>
          </a:bodyPr>
          <a:lstStyle/>
          <a:p>
            <a:pPr algn="l"/>
            <a:r>
              <a:rPr sz="1400" b="0">
                <a:solidFill>
                  <a:srgbClr val="D97757"/>
                </a:solidFill>
                <a:latin typeface="SF Mono"/>
              </a:rPr>
              <a:t>/compact</a:t>
            </a:r>
          </a:p>
        </p:txBody>
      </p:sp>
      <p:sp>
        <p:nvSpPr>
          <p:cNvPr id="37" name="Rectangle 36"/>
          <p:cNvSpPr/>
          <p:nvPr/>
        </p:nvSpPr>
        <p:spPr>
          <a:xfrm>
            <a:off x="2531520" y="3570000"/>
            <a:ext cx="42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22960" y="3638580"/>
            <a:ext cx="4017120" cy="274320"/>
          </a:xfrm>
          <a:prstGeom prst="rect">
            <a:avLst/>
          </a:prstGeom>
          <a:noFill/>
        </p:spPr>
        <p:txBody>
          <a:bodyPr wrap="square">
            <a:spAutoFit/>
          </a:bodyPr>
          <a:lstStyle/>
          <a:p>
            <a:pPr algn="l"/>
            <a:r>
              <a:rPr sz="1400" b="0">
                <a:solidFill>
                  <a:srgbClr val="E0DED8"/>
                </a:solidFill>
                <a:latin typeface="Hiragino Sans"/>
              </a:rPr>
              <a:t>コンテキストを手動で圧縮</a:t>
            </a:r>
          </a:p>
        </p:txBody>
      </p:sp>
      <p:sp>
        <p:nvSpPr>
          <p:cNvPr id="39" name="Rectangle 38"/>
          <p:cNvSpPr/>
          <p:nvPr/>
        </p:nvSpPr>
        <p:spPr>
          <a:xfrm>
            <a:off x="6731520" y="3570000"/>
            <a:ext cx="4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22960" y="3638580"/>
            <a:ext cx="4546080" cy="274320"/>
          </a:xfrm>
          <a:prstGeom prst="rect">
            <a:avLst/>
          </a:prstGeom>
          <a:noFill/>
        </p:spPr>
        <p:txBody>
          <a:bodyPr wrap="square">
            <a:spAutoFit/>
          </a:bodyPr>
          <a:lstStyle/>
          <a:p>
            <a:pPr algn="l"/>
            <a:r>
              <a:rPr sz="1400" b="0">
                <a:solidFill>
                  <a:srgbClr val="E0DED8"/>
                </a:solidFill>
                <a:latin typeface="Hiragino Sans"/>
              </a:rPr>
              <a:t>メモリが逼迫したとき</a:t>
            </a:r>
          </a:p>
        </p:txBody>
      </p:sp>
      <p:sp>
        <p:nvSpPr>
          <p:cNvPr id="41" name="Rectangle 40"/>
          <p:cNvSpPr/>
          <p:nvPr/>
        </p:nvSpPr>
        <p:spPr>
          <a:xfrm>
            <a:off x="731520" y="3950000"/>
            <a:ext cx="18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4018580"/>
            <a:ext cx="1617120" cy="274320"/>
          </a:xfrm>
          <a:prstGeom prst="rect">
            <a:avLst/>
          </a:prstGeom>
          <a:noFill/>
        </p:spPr>
        <p:txBody>
          <a:bodyPr wrap="square">
            <a:spAutoFit/>
          </a:bodyPr>
          <a:lstStyle/>
          <a:p>
            <a:pPr algn="l"/>
            <a:r>
              <a:rPr sz="1400" b="0">
                <a:solidFill>
                  <a:srgbClr val="D97757"/>
                </a:solidFill>
                <a:latin typeface="SF Mono"/>
              </a:rPr>
              <a:t>/review</a:t>
            </a:r>
          </a:p>
        </p:txBody>
      </p:sp>
      <p:sp>
        <p:nvSpPr>
          <p:cNvPr id="43" name="Rectangle 42"/>
          <p:cNvSpPr/>
          <p:nvPr/>
        </p:nvSpPr>
        <p:spPr>
          <a:xfrm>
            <a:off x="2531520" y="3950000"/>
            <a:ext cx="42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22960" y="4018580"/>
            <a:ext cx="4017120" cy="274320"/>
          </a:xfrm>
          <a:prstGeom prst="rect">
            <a:avLst/>
          </a:prstGeom>
          <a:noFill/>
        </p:spPr>
        <p:txBody>
          <a:bodyPr wrap="square">
            <a:spAutoFit/>
          </a:bodyPr>
          <a:lstStyle/>
          <a:p>
            <a:pPr algn="l"/>
            <a:r>
              <a:rPr sz="1400" b="0">
                <a:solidFill>
                  <a:srgbClr val="E0DED8"/>
                </a:solidFill>
                <a:latin typeface="Hiragino Sans"/>
              </a:rPr>
              <a:t>差分のレビュー</a:t>
            </a:r>
          </a:p>
        </p:txBody>
      </p:sp>
      <p:sp>
        <p:nvSpPr>
          <p:cNvPr id="45" name="Rectangle 44"/>
          <p:cNvSpPr/>
          <p:nvPr/>
        </p:nvSpPr>
        <p:spPr>
          <a:xfrm>
            <a:off x="6731520" y="3950000"/>
            <a:ext cx="472896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22960" y="4018580"/>
            <a:ext cx="4546080" cy="274320"/>
          </a:xfrm>
          <a:prstGeom prst="rect">
            <a:avLst/>
          </a:prstGeom>
          <a:noFill/>
        </p:spPr>
        <p:txBody>
          <a:bodyPr wrap="square">
            <a:spAutoFit/>
          </a:bodyPr>
          <a:lstStyle/>
          <a:p>
            <a:pPr algn="l"/>
            <a:r>
              <a:rPr sz="1400" b="0">
                <a:solidFill>
                  <a:srgbClr val="E0DED8"/>
                </a:solidFill>
                <a:latin typeface="Hiragino Sans"/>
              </a:rPr>
              <a:t>コミット前の確認</a:t>
            </a:r>
          </a:p>
        </p:txBody>
      </p:sp>
      <p:sp>
        <p:nvSpPr>
          <p:cNvPr id="47" name="Rounded Rectangle 46"/>
          <p:cNvSpPr/>
          <p:nvPr/>
        </p:nvSpPr>
        <p:spPr>
          <a:xfrm>
            <a:off x="731520" y="4200000"/>
            <a:ext cx="5000000" cy="64008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4291440"/>
            <a:ext cx="4725680" cy="457200"/>
          </a:xfrm>
          <a:prstGeom prst="rect">
            <a:avLst/>
          </a:prstGeom>
          <a:noFill/>
        </p:spPr>
        <p:txBody>
          <a:bodyPr wrap="square">
            <a:spAutoFit/>
          </a:bodyPr>
          <a:lstStyle/>
          <a:p>
            <a:pPr algn="l"/>
            <a:r>
              <a:rPr sz="1200" b="0">
                <a:solidFill>
                  <a:srgbClr val="E0DED8"/>
                </a:solidFill>
                <a:latin typeface="SF Mono"/>
              </a:rPr>
              <a:t>&gt; /clear</a:t>
            </a:r>
          </a:p>
          <a:p>
            <a:pPr algn="l"/>
            <a:r>
              <a:rPr sz="1200" b="0">
                <a:solidFill>
                  <a:srgbClr val="E0DED8"/>
                </a:solidFill>
                <a:latin typeface="SF Mono"/>
              </a:rPr>
              <a:t>✓ 会話履歴をクリアしました</a:t>
            </a:r>
          </a:p>
          <a:p>
            <a:pPr algn="l"/>
            <a:r>
              <a:rPr sz="1200" b="0">
                <a:solidFill>
                  <a:srgbClr val="E0DED8"/>
                </a:solidFill>
                <a:latin typeface="SF Mono"/>
              </a:rPr>
              <a:t>&gt; 新しいタスクの指示...</a:t>
            </a:r>
          </a:p>
        </p:txBody>
      </p:sp>
      <p:sp>
        <p:nvSpPr>
          <p:cNvPr id="49" name="TextBox 48"/>
          <p:cNvSpPr txBox="1"/>
          <p:nvPr/>
        </p:nvSpPr>
        <p:spPr>
          <a:xfrm>
            <a:off x="6000000" y="4400000"/>
            <a:ext cx="5000000" cy="320000"/>
          </a:xfrm>
          <a:prstGeom prst="rect">
            <a:avLst/>
          </a:prstGeom>
          <a:noFill/>
        </p:spPr>
        <p:txBody>
          <a:bodyPr wrap="square">
            <a:spAutoFit/>
          </a:bodyPr>
          <a:lstStyle/>
          <a:p>
            <a:pPr algn="l"/>
            <a:r>
              <a:rPr sz="1500" b="0">
                <a:solidFill>
                  <a:srgbClr val="B0AEA5"/>
                </a:solidFill>
                <a:latin typeface="Hiragino Sans"/>
              </a:rPr>
              <a:t>セッション中に / を入力すると</a:t>
            </a:r>
          </a:p>
          <a:p>
            <a:pPr algn="l"/>
            <a:r>
              <a:rPr sz="1500" b="0">
                <a:solidFill>
                  <a:srgbClr val="B0AEA5"/>
                </a:solidFill>
                <a:latin typeface="Hiragino Sans"/>
              </a:rPr>
              <a:t>候補が表示される</a:t>
            </a:r>
          </a:p>
        </p:txBody>
      </p:sp>
      <p:sp>
        <p:nvSpPr>
          <p:cNvPr id="50" name="TextBox 49"/>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2 — スラッシュコマンド &amp; Skills</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カスタムスラッシュコマンド &amp; Skills</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D97757"/>
                </a:solidFill>
                <a:latin typeface="Hiragino Sans"/>
              </a:rPr>
              <a:t>スキル = 自分で作るスラッシュコマンド</a:t>
            </a:r>
          </a:p>
        </p:txBody>
      </p:sp>
      <p:sp>
        <p:nvSpPr>
          <p:cNvPr id="5" name="Rounded Rectangle 4"/>
          <p:cNvSpPr/>
          <p:nvPr/>
        </p:nvSpPr>
        <p:spPr>
          <a:xfrm>
            <a:off x="731520" y="1650000"/>
            <a:ext cx="5000000" cy="9000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41440"/>
            <a:ext cx="4725680" cy="717120"/>
          </a:xfrm>
          <a:prstGeom prst="rect">
            <a:avLst/>
          </a:prstGeom>
          <a:noFill/>
        </p:spPr>
        <p:txBody>
          <a:bodyPr wrap="square">
            <a:spAutoFit/>
          </a:bodyPr>
          <a:lstStyle/>
          <a:p>
            <a:pPr algn="l"/>
            <a:r>
              <a:rPr sz="1200" b="0">
                <a:solidFill>
                  <a:srgbClr val="E0DED8"/>
                </a:solidFill>
                <a:latin typeface="SF Mono"/>
              </a:rPr>
              <a:t>.claude/skills/</a:t>
            </a:r>
          </a:p>
          <a:p>
            <a:pPr algn="l"/>
            <a:r>
              <a:rPr sz="1200" b="0">
                <a:solidFill>
                  <a:srgbClr val="E0DED8"/>
                </a:solidFill>
                <a:latin typeface="SF Mono"/>
              </a:rPr>
              <a:t>├── review/</a:t>
            </a:r>
          </a:p>
          <a:p>
            <a:pPr algn="l"/>
            <a:r>
              <a:rPr sz="1200" b="0">
                <a:solidFill>
                  <a:srgbClr val="E0DED8"/>
                </a:solidFill>
                <a:latin typeface="SF Mono"/>
              </a:rPr>
              <a:t>│   └── SKILL.md      # /review で呼び出せる</a:t>
            </a:r>
          </a:p>
          <a:p>
            <a:pPr algn="l"/>
            <a:r>
              <a:rPr sz="1200" b="0">
                <a:solidFill>
                  <a:srgbClr val="E0DED8"/>
                </a:solidFill>
                <a:latin typeface="SF Mono"/>
              </a:rPr>
              <a:t>└── deploy.md          # /deploy で呼び出せる</a:t>
            </a:r>
          </a:p>
        </p:txBody>
      </p:sp>
      <p:cxnSp>
        <p:nvCxnSpPr>
          <p:cNvPr id="7" name="Connector 6"/>
          <p:cNvCxnSpPr/>
          <p:nvPr/>
        </p:nvCxnSpPr>
        <p:spPr>
          <a:xfrm>
            <a:off x="731520" y="275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2850000"/>
            <a:ext cx="5000000" cy="365760"/>
          </a:xfrm>
          <a:prstGeom prst="rect">
            <a:avLst/>
          </a:prstGeom>
          <a:noFill/>
        </p:spPr>
        <p:txBody>
          <a:bodyPr wrap="square">
            <a:spAutoFit/>
          </a:bodyPr>
          <a:lstStyle/>
          <a:p>
            <a:pPr algn="l"/>
            <a:r>
              <a:rPr sz="1800" b="1">
                <a:solidFill>
                  <a:srgbClr val="FAF9F5"/>
                </a:solidFill>
                <a:latin typeface="Hiragino Sans"/>
              </a:rPr>
              <a:t>CLAUDE.mdとの違い</a:t>
            </a:r>
          </a:p>
        </p:txBody>
      </p:sp>
      <p:sp>
        <p:nvSpPr>
          <p:cNvPr id="9" name="Rectangle 8"/>
          <p:cNvSpPr/>
          <p:nvPr/>
        </p:nvSpPr>
        <p:spPr>
          <a:xfrm>
            <a:off x="731520" y="3300000"/>
            <a:ext cx="240000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68580"/>
            <a:ext cx="2217120" cy="274320"/>
          </a:xfrm>
          <a:prstGeom prst="rect">
            <a:avLst/>
          </a:prstGeom>
          <a:noFill/>
        </p:spPr>
        <p:txBody>
          <a:bodyPr wrap="square">
            <a:spAutoFit/>
          </a:bodyPr>
          <a:lstStyle/>
          <a:p>
            <a:pPr algn="l"/>
            <a:r>
              <a:rPr sz="1400" b="1">
                <a:solidFill>
                  <a:srgbClr val="D97757"/>
                </a:solidFill>
                <a:latin typeface="Hiragino Sans"/>
              </a:rPr>
              <a:t/>
            </a:r>
          </a:p>
        </p:txBody>
      </p:sp>
      <p:sp>
        <p:nvSpPr>
          <p:cNvPr id="11" name="Rectangle 10"/>
          <p:cNvSpPr/>
          <p:nvPr/>
        </p:nvSpPr>
        <p:spPr>
          <a:xfrm>
            <a:off x="3131520" y="3300000"/>
            <a:ext cx="416448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22960" y="3368580"/>
            <a:ext cx="3981600" cy="274320"/>
          </a:xfrm>
          <a:prstGeom prst="rect">
            <a:avLst/>
          </a:prstGeom>
          <a:noFill/>
        </p:spPr>
        <p:txBody>
          <a:bodyPr wrap="square">
            <a:spAutoFit/>
          </a:bodyPr>
          <a:lstStyle/>
          <a:p>
            <a:pPr algn="l"/>
            <a:r>
              <a:rPr sz="1400" b="1">
                <a:solidFill>
                  <a:srgbClr val="D97757"/>
                </a:solidFill>
                <a:latin typeface="Hiragino Sans"/>
              </a:rPr>
              <a:t>CLAUDE.md</a:t>
            </a:r>
          </a:p>
        </p:txBody>
      </p:sp>
      <p:sp>
        <p:nvSpPr>
          <p:cNvPr id="13" name="Rectangle 12"/>
          <p:cNvSpPr/>
          <p:nvPr/>
        </p:nvSpPr>
        <p:spPr>
          <a:xfrm>
            <a:off x="7296000" y="3300000"/>
            <a:ext cx="416448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87440" y="3368580"/>
            <a:ext cx="3981600" cy="274320"/>
          </a:xfrm>
          <a:prstGeom prst="rect">
            <a:avLst/>
          </a:prstGeom>
          <a:noFill/>
        </p:spPr>
        <p:txBody>
          <a:bodyPr wrap="square">
            <a:spAutoFit/>
          </a:bodyPr>
          <a:lstStyle/>
          <a:p>
            <a:pPr algn="l"/>
            <a:r>
              <a:rPr sz="1400" b="1">
                <a:solidFill>
                  <a:srgbClr val="D97757"/>
                </a:solidFill>
                <a:latin typeface="Hiragino Sans"/>
              </a:rPr>
              <a:t>スキル</a:t>
            </a:r>
          </a:p>
        </p:txBody>
      </p:sp>
      <p:sp>
        <p:nvSpPr>
          <p:cNvPr id="15" name="Rectangle 14"/>
          <p:cNvSpPr/>
          <p:nvPr/>
        </p:nvSpPr>
        <p:spPr>
          <a:xfrm>
            <a:off x="731520" y="3665760"/>
            <a:ext cx="240000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11480"/>
            <a:ext cx="2217120" cy="274320"/>
          </a:xfrm>
          <a:prstGeom prst="rect">
            <a:avLst/>
          </a:prstGeom>
          <a:noFill/>
        </p:spPr>
        <p:txBody>
          <a:bodyPr wrap="square">
            <a:spAutoFit/>
          </a:bodyPr>
          <a:lstStyle/>
          <a:p>
            <a:pPr algn="l"/>
            <a:r>
              <a:rPr sz="1400" b="1">
                <a:solidFill>
                  <a:srgbClr val="FAF9F5"/>
                </a:solidFill>
                <a:latin typeface="Hiragino Sans"/>
              </a:rPr>
              <a:t>読み込み</a:t>
            </a:r>
          </a:p>
        </p:txBody>
      </p:sp>
      <p:sp>
        <p:nvSpPr>
          <p:cNvPr id="17" name="Rectangle 16"/>
          <p:cNvSpPr/>
          <p:nvPr/>
        </p:nvSpPr>
        <p:spPr>
          <a:xfrm>
            <a:off x="3131520" y="3665760"/>
            <a:ext cx="416448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22960" y="3711480"/>
            <a:ext cx="3981600" cy="274320"/>
          </a:xfrm>
          <a:prstGeom prst="rect">
            <a:avLst/>
          </a:prstGeom>
          <a:noFill/>
        </p:spPr>
        <p:txBody>
          <a:bodyPr wrap="square">
            <a:spAutoFit/>
          </a:bodyPr>
          <a:lstStyle/>
          <a:p>
            <a:pPr algn="l"/>
            <a:r>
              <a:rPr sz="1400" b="0">
                <a:solidFill>
                  <a:srgbClr val="E0DED8"/>
                </a:solidFill>
                <a:latin typeface="Hiragino Sans"/>
              </a:rPr>
              <a:t>常に自動</a:t>
            </a:r>
          </a:p>
        </p:txBody>
      </p:sp>
      <p:sp>
        <p:nvSpPr>
          <p:cNvPr id="19" name="Rectangle 18"/>
          <p:cNvSpPr/>
          <p:nvPr/>
        </p:nvSpPr>
        <p:spPr>
          <a:xfrm>
            <a:off x="7296000" y="3665760"/>
            <a:ext cx="416448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87440" y="3711480"/>
            <a:ext cx="3981600" cy="274320"/>
          </a:xfrm>
          <a:prstGeom prst="rect">
            <a:avLst/>
          </a:prstGeom>
          <a:noFill/>
        </p:spPr>
        <p:txBody>
          <a:bodyPr wrap="square">
            <a:spAutoFit/>
          </a:bodyPr>
          <a:lstStyle/>
          <a:p>
            <a:pPr algn="l"/>
            <a:r>
              <a:rPr sz="1400" b="0">
                <a:solidFill>
                  <a:srgbClr val="E0DED8"/>
                </a:solidFill>
                <a:latin typeface="Hiragino Sans"/>
              </a:rPr>
              <a:t>必要なときだけ</a:t>
            </a:r>
          </a:p>
        </p:txBody>
      </p:sp>
      <p:sp>
        <p:nvSpPr>
          <p:cNvPr id="21" name="Rectangle 20"/>
          <p:cNvSpPr/>
          <p:nvPr/>
        </p:nvSpPr>
        <p:spPr>
          <a:xfrm>
            <a:off x="731520" y="4005760"/>
            <a:ext cx="240000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051480"/>
            <a:ext cx="2217120" cy="274320"/>
          </a:xfrm>
          <a:prstGeom prst="rect">
            <a:avLst/>
          </a:prstGeom>
          <a:noFill/>
        </p:spPr>
        <p:txBody>
          <a:bodyPr wrap="square">
            <a:spAutoFit/>
          </a:bodyPr>
          <a:lstStyle/>
          <a:p>
            <a:pPr algn="l"/>
            <a:r>
              <a:rPr sz="1400" b="1">
                <a:solidFill>
                  <a:srgbClr val="FAF9F5"/>
                </a:solidFill>
                <a:latin typeface="Hiragino Sans"/>
              </a:rPr>
              <a:t>内容</a:t>
            </a:r>
          </a:p>
        </p:txBody>
      </p:sp>
      <p:sp>
        <p:nvSpPr>
          <p:cNvPr id="23" name="Rectangle 22"/>
          <p:cNvSpPr/>
          <p:nvPr/>
        </p:nvSpPr>
        <p:spPr>
          <a:xfrm>
            <a:off x="3131520" y="4005760"/>
            <a:ext cx="416448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22960" y="4051480"/>
            <a:ext cx="3981600" cy="274320"/>
          </a:xfrm>
          <a:prstGeom prst="rect">
            <a:avLst/>
          </a:prstGeom>
          <a:noFill/>
        </p:spPr>
        <p:txBody>
          <a:bodyPr wrap="square">
            <a:spAutoFit/>
          </a:bodyPr>
          <a:lstStyle/>
          <a:p>
            <a:pPr algn="l"/>
            <a:r>
              <a:rPr sz="1400" b="0">
                <a:solidFill>
                  <a:srgbClr val="E0DED8"/>
                </a:solidFill>
                <a:latin typeface="Hiragino Sans"/>
              </a:rPr>
              <a:t>プロジェクトの基本ルール</a:t>
            </a:r>
          </a:p>
        </p:txBody>
      </p:sp>
      <p:sp>
        <p:nvSpPr>
          <p:cNvPr id="25" name="Rectangle 24"/>
          <p:cNvSpPr/>
          <p:nvPr/>
        </p:nvSpPr>
        <p:spPr>
          <a:xfrm>
            <a:off x="7296000" y="4005760"/>
            <a:ext cx="416448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87440" y="4051480"/>
            <a:ext cx="3981600" cy="274320"/>
          </a:xfrm>
          <a:prstGeom prst="rect">
            <a:avLst/>
          </a:prstGeom>
          <a:noFill/>
        </p:spPr>
        <p:txBody>
          <a:bodyPr wrap="square">
            <a:spAutoFit/>
          </a:bodyPr>
          <a:lstStyle/>
          <a:p>
            <a:pPr algn="l"/>
            <a:r>
              <a:rPr sz="1400" b="0">
                <a:solidFill>
                  <a:srgbClr val="E0DED8"/>
                </a:solidFill>
                <a:latin typeface="Hiragino Sans"/>
              </a:rPr>
              <a:t>特定の作業手順・知識</a:t>
            </a:r>
          </a:p>
        </p:txBody>
      </p:sp>
      <p:sp>
        <p:nvSpPr>
          <p:cNvPr id="27" name="Rectangle 26"/>
          <p:cNvSpPr/>
          <p:nvPr/>
        </p:nvSpPr>
        <p:spPr>
          <a:xfrm>
            <a:off x="731520" y="4345760"/>
            <a:ext cx="240000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391480"/>
            <a:ext cx="2217120" cy="274320"/>
          </a:xfrm>
          <a:prstGeom prst="rect">
            <a:avLst/>
          </a:prstGeom>
          <a:noFill/>
        </p:spPr>
        <p:txBody>
          <a:bodyPr wrap="square">
            <a:spAutoFit/>
          </a:bodyPr>
          <a:lstStyle/>
          <a:p>
            <a:pPr algn="l"/>
            <a:r>
              <a:rPr sz="1400" b="1">
                <a:solidFill>
                  <a:srgbClr val="FAF9F5"/>
                </a:solidFill>
                <a:latin typeface="Hiragino Sans"/>
              </a:rPr>
              <a:t>目安</a:t>
            </a:r>
          </a:p>
        </p:txBody>
      </p:sp>
      <p:sp>
        <p:nvSpPr>
          <p:cNvPr id="29" name="Rectangle 28"/>
          <p:cNvSpPr/>
          <p:nvPr/>
        </p:nvSpPr>
        <p:spPr>
          <a:xfrm>
            <a:off x="3131520" y="4345760"/>
            <a:ext cx="416448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22960" y="4391480"/>
            <a:ext cx="3981600" cy="274320"/>
          </a:xfrm>
          <a:prstGeom prst="rect">
            <a:avLst/>
          </a:prstGeom>
          <a:noFill/>
        </p:spPr>
        <p:txBody>
          <a:bodyPr wrap="square">
            <a:spAutoFit/>
          </a:bodyPr>
          <a:lstStyle/>
          <a:p>
            <a:pPr algn="l"/>
            <a:r>
              <a:rPr sz="1400" b="0">
                <a:solidFill>
                  <a:srgbClr val="E0DED8"/>
                </a:solidFill>
                <a:latin typeface="Hiragino Sans"/>
              </a:rPr>
              <a:t>500行以下</a:t>
            </a:r>
          </a:p>
        </p:txBody>
      </p:sp>
      <p:sp>
        <p:nvSpPr>
          <p:cNvPr id="31" name="Rectangle 30"/>
          <p:cNvSpPr/>
          <p:nvPr/>
        </p:nvSpPr>
        <p:spPr>
          <a:xfrm>
            <a:off x="7296000" y="4345760"/>
            <a:ext cx="416448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87440" y="4391480"/>
            <a:ext cx="3981600" cy="274320"/>
          </a:xfrm>
          <a:prstGeom prst="rect">
            <a:avLst/>
          </a:prstGeom>
          <a:noFill/>
        </p:spPr>
        <p:txBody>
          <a:bodyPr wrap="square">
            <a:spAutoFit/>
          </a:bodyPr>
          <a:lstStyle/>
          <a:p>
            <a:pPr algn="l"/>
            <a:r>
              <a:rPr sz="1400" b="0">
                <a:solidFill>
                  <a:srgbClr val="E0DED8"/>
                </a:solidFill>
                <a:latin typeface="Hiragino Sans"/>
              </a:rPr>
              <a:t>必要に応じて分割</a:t>
            </a:r>
          </a:p>
        </p:txBody>
      </p:sp>
      <p:sp>
        <p:nvSpPr>
          <p:cNvPr id="33" name="Rectangle 32"/>
          <p:cNvSpPr/>
          <p:nvPr/>
        </p:nvSpPr>
        <p:spPr>
          <a:xfrm>
            <a:off x="731520" y="4685760"/>
            <a:ext cx="240000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731480"/>
            <a:ext cx="2217120" cy="274320"/>
          </a:xfrm>
          <a:prstGeom prst="rect">
            <a:avLst/>
          </a:prstGeom>
          <a:noFill/>
        </p:spPr>
        <p:txBody>
          <a:bodyPr wrap="square">
            <a:spAutoFit/>
          </a:bodyPr>
          <a:lstStyle/>
          <a:p>
            <a:pPr algn="l"/>
            <a:r>
              <a:rPr sz="1400" b="1">
                <a:solidFill>
                  <a:srgbClr val="FAF9F5"/>
                </a:solidFill>
                <a:latin typeface="Hiragino Sans"/>
              </a:rPr>
              <a:t>例</a:t>
            </a:r>
          </a:p>
        </p:txBody>
      </p:sp>
      <p:sp>
        <p:nvSpPr>
          <p:cNvPr id="35" name="Rectangle 34"/>
          <p:cNvSpPr/>
          <p:nvPr/>
        </p:nvSpPr>
        <p:spPr>
          <a:xfrm>
            <a:off x="3131520" y="4685760"/>
            <a:ext cx="416448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22960" y="4731480"/>
            <a:ext cx="3981600" cy="274320"/>
          </a:xfrm>
          <a:prstGeom prst="rect">
            <a:avLst/>
          </a:prstGeom>
          <a:noFill/>
        </p:spPr>
        <p:txBody>
          <a:bodyPr wrap="square">
            <a:spAutoFit/>
          </a:bodyPr>
          <a:lstStyle/>
          <a:p>
            <a:pPr algn="l"/>
            <a:r>
              <a:rPr sz="1400" b="0">
                <a:solidFill>
                  <a:srgbClr val="E0DED8"/>
                </a:solidFill>
                <a:latin typeface="Hiragino Sans"/>
              </a:rPr>
              <a:t>コーディング規約、ビルドコマンド</a:t>
            </a:r>
          </a:p>
        </p:txBody>
      </p:sp>
      <p:sp>
        <p:nvSpPr>
          <p:cNvPr id="37" name="Rectangle 36"/>
          <p:cNvSpPr/>
          <p:nvPr/>
        </p:nvSpPr>
        <p:spPr>
          <a:xfrm>
            <a:off x="7296000" y="4685760"/>
            <a:ext cx="416448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87440" y="4731480"/>
            <a:ext cx="3981600" cy="274320"/>
          </a:xfrm>
          <a:prstGeom prst="rect">
            <a:avLst/>
          </a:prstGeom>
          <a:noFill/>
        </p:spPr>
        <p:txBody>
          <a:bodyPr wrap="square">
            <a:spAutoFit/>
          </a:bodyPr>
          <a:lstStyle/>
          <a:p>
            <a:pPr algn="l"/>
            <a:r>
              <a:rPr sz="1400" b="0">
                <a:solidFill>
                  <a:srgbClr val="E0DED8"/>
                </a:solidFill>
                <a:latin typeface="Hiragino Sans"/>
              </a:rPr>
              <a:t>デプロイ手順、レビュー観点</a:t>
            </a:r>
          </a:p>
        </p:txBody>
      </p:sp>
      <p:sp>
        <p:nvSpPr>
          <p:cNvPr id="39" name="Rectangle 38"/>
          <p:cNvSpPr/>
          <p:nvPr/>
        </p:nvSpPr>
        <p:spPr>
          <a:xfrm>
            <a:off x="731520" y="5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1520" y="5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5291440"/>
            <a:ext cx="10400000" cy="365760"/>
          </a:xfrm>
          <a:prstGeom prst="rect">
            <a:avLst/>
          </a:prstGeom>
          <a:noFill/>
        </p:spPr>
        <p:txBody>
          <a:bodyPr wrap="square">
            <a:spAutoFit/>
          </a:bodyPr>
          <a:lstStyle/>
          <a:p>
            <a:pPr algn="l"/>
            <a:r>
              <a:rPr sz="1400" b="1">
                <a:solidFill>
                  <a:srgbClr val="D97757"/>
                </a:solidFill>
                <a:latin typeface="Hiragino Sans"/>
              </a:rPr>
              <a:t>→ CLAUDE.md = 常識、スキル = 専門知識</a:t>
            </a:r>
          </a:p>
        </p:txBody>
      </p:sp>
      <p:sp>
        <p:nvSpPr>
          <p:cNvPr id="42" name="TextBox 41"/>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2 — スラッシュコマンド &amp; Skills</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スキルの2タイプと実例</a:t>
            </a:r>
          </a:p>
        </p:txBody>
      </p:sp>
      <p:sp>
        <p:nvSpPr>
          <p:cNvPr id="4" name="TextBox 3"/>
          <p:cNvSpPr txBox="1"/>
          <p:nvPr/>
        </p:nvSpPr>
        <p:spPr>
          <a:xfrm>
            <a:off x="731520" y="1200000"/>
            <a:ext cx="5200000" cy="365760"/>
          </a:xfrm>
          <a:prstGeom prst="rect">
            <a:avLst/>
          </a:prstGeom>
          <a:noFill/>
        </p:spPr>
        <p:txBody>
          <a:bodyPr wrap="square">
            <a:spAutoFit/>
          </a:bodyPr>
          <a:lstStyle/>
          <a:p>
            <a:pPr algn="l"/>
            <a:r>
              <a:rPr sz="1800" b="1">
                <a:solidFill>
                  <a:srgbClr val="6A9BCC"/>
                </a:solidFill>
                <a:latin typeface="Hiragino Sans"/>
              </a:rPr>
              <a:t>参照コンテンツ — 知識を渡す</a:t>
            </a:r>
          </a:p>
        </p:txBody>
      </p:sp>
      <p:sp>
        <p:nvSpPr>
          <p:cNvPr id="5" name="Rounded Rectangle 4"/>
          <p:cNvSpPr/>
          <p:nvPr/>
        </p:nvSpPr>
        <p:spPr>
          <a:xfrm>
            <a:off x="731520" y="1657200"/>
            <a:ext cx="5200000" cy="22860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48640"/>
            <a:ext cx="4925680" cy="2103120"/>
          </a:xfrm>
          <a:prstGeom prst="rect">
            <a:avLst/>
          </a:prstGeom>
          <a:noFill/>
        </p:spPr>
        <p:txBody>
          <a:bodyPr wrap="square">
            <a:spAutoFit/>
          </a:bodyPr>
          <a:lstStyle/>
          <a:p>
            <a:pPr algn="l"/>
            <a:r>
              <a:rPr sz="1200" b="0">
                <a:solidFill>
                  <a:srgbClr val="E0DED8"/>
                </a:solidFill>
                <a:latin typeface="SF Mono"/>
              </a:rPr>
              <a:t>---</a:t>
            </a:r>
          </a:p>
          <a:p>
            <a:pPr algn="l"/>
            <a:r>
              <a:rPr sz="1200" b="0">
                <a:solidFill>
                  <a:srgbClr val="E0DED8"/>
                </a:solidFill>
                <a:latin typeface="SF Mono"/>
              </a:rPr>
              <a:t>name: api-conventions</a:t>
            </a:r>
          </a:p>
          <a:p>
            <a:pPr algn="l"/>
            <a:r>
              <a:rPr sz="1200" b="0">
                <a:solidFill>
                  <a:srgbClr val="E0DED8"/>
                </a:solidFill>
                <a:latin typeface="SF Mono"/>
              </a:rPr>
              <a:t>description: APIエンドポイント作成時</a:t>
            </a:r>
          </a:p>
          <a:p>
            <a:pPr algn="l"/>
            <a:r>
              <a:rPr sz="1200" b="0">
                <a:solidFill>
                  <a:srgbClr val="E0DED8"/>
                </a:solidFill>
                <a:latin typeface="SF Mono"/>
              </a:rPr>
              <a:t>             の設計パターン</a:t>
            </a:r>
          </a:p>
          <a:p>
            <a:pPr algn="l"/>
            <a:r>
              <a:rPr sz="1200" b="0">
                <a:solidFill>
                  <a:srgbClr val="E0DED8"/>
                </a:solidFill>
                <a:latin typeface="SF Mono"/>
              </a:rPr>
              <a:t>---</a:t>
            </a:r>
          </a:p>
          <a:p>
            <a:pPr algn="l"/>
            <a:r>
              <a:rPr sz="1200" b="0">
                <a:solidFill>
                  <a:srgbClr val="E0DED8"/>
                </a:solidFill>
                <a:latin typeface="SF Mono"/>
              </a:rPr>
              <a:t/>
            </a:r>
          </a:p>
          <a:p>
            <a:pPr algn="l"/>
            <a:r>
              <a:rPr sz="1200" b="0">
                <a:solidFill>
                  <a:srgbClr val="E0DED8"/>
                </a:solidFill>
                <a:latin typeface="SF Mono"/>
              </a:rPr>
              <a:t>APIエンドポイントを書くときは以下に従う。</a:t>
            </a:r>
          </a:p>
          <a:p>
            <a:pPr algn="l"/>
            <a:r>
              <a:rPr sz="1200" b="0">
                <a:solidFill>
                  <a:srgbClr val="E0DED8"/>
                </a:solidFill>
                <a:latin typeface="SF Mono"/>
              </a:rPr>
              <a:t>- RESTfulな命名規則を使う</a:t>
            </a:r>
          </a:p>
          <a:p>
            <a:pPr algn="l"/>
            <a:r>
              <a:rPr sz="1200" b="0">
                <a:solidFill>
                  <a:srgbClr val="E0DED8"/>
                </a:solidFill>
                <a:latin typeface="SF Mono"/>
              </a:rPr>
              <a:t>- 一貫したエラーフォーマットを返す</a:t>
            </a:r>
          </a:p>
          <a:p>
            <a:pPr algn="l"/>
            <a:r>
              <a:rPr sz="1200" b="0">
                <a:solidFill>
                  <a:srgbClr val="E0DED8"/>
                </a:solidFill>
                <a:latin typeface="SF Mono"/>
              </a:rPr>
              <a:t>- リクエストバリデーションを含める</a:t>
            </a:r>
          </a:p>
        </p:txBody>
      </p:sp>
      <p:sp>
        <p:nvSpPr>
          <p:cNvPr id="7" name="TextBox 6"/>
          <p:cNvSpPr txBox="1"/>
          <p:nvPr/>
        </p:nvSpPr>
        <p:spPr>
          <a:xfrm>
            <a:off x="731520" y="4050000"/>
            <a:ext cx="5200000" cy="365760"/>
          </a:xfrm>
          <a:prstGeom prst="rect">
            <a:avLst/>
          </a:prstGeom>
          <a:noFill/>
        </p:spPr>
        <p:txBody>
          <a:bodyPr wrap="square">
            <a:spAutoFit/>
          </a:bodyPr>
          <a:lstStyle/>
          <a:p>
            <a:pPr algn="l"/>
            <a:r>
              <a:rPr sz="1400" b="0">
                <a:solidFill>
                  <a:srgbClr val="6A9BCC"/>
                </a:solidFill>
                <a:latin typeface="Hiragino Sans"/>
              </a:rPr>
              <a:t>→ 関連する作業を検知したとき、自動で読み込まれる</a:t>
            </a:r>
          </a:p>
        </p:txBody>
      </p:sp>
      <p:sp>
        <p:nvSpPr>
          <p:cNvPr id="8" name="TextBox 7"/>
          <p:cNvSpPr txBox="1"/>
          <p:nvPr/>
        </p:nvSpPr>
        <p:spPr>
          <a:xfrm>
            <a:off x="6160000" y="1200000"/>
            <a:ext cx="5200000" cy="365760"/>
          </a:xfrm>
          <a:prstGeom prst="rect">
            <a:avLst/>
          </a:prstGeom>
          <a:noFill/>
        </p:spPr>
        <p:txBody>
          <a:bodyPr wrap="square">
            <a:spAutoFit/>
          </a:bodyPr>
          <a:lstStyle/>
          <a:p>
            <a:pPr algn="l"/>
            <a:r>
              <a:rPr sz="1800" b="1">
                <a:solidFill>
                  <a:srgbClr val="7BC9A0"/>
                </a:solidFill>
                <a:latin typeface="Hiragino Sans"/>
              </a:rPr>
              <a:t>タスクコンテンツ — 手順を渡す</a:t>
            </a:r>
          </a:p>
        </p:txBody>
      </p:sp>
      <p:sp>
        <p:nvSpPr>
          <p:cNvPr id="9" name="Rounded Rectangle 8"/>
          <p:cNvSpPr/>
          <p:nvPr/>
        </p:nvSpPr>
        <p:spPr>
          <a:xfrm>
            <a:off x="6160000" y="1657200"/>
            <a:ext cx="5200000" cy="22860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7160" y="1748640"/>
            <a:ext cx="4925680" cy="2103120"/>
          </a:xfrm>
          <a:prstGeom prst="rect">
            <a:avLst/>
          </a:prstGeom>
          <a:noFill/>
        </p:spPr>
        <p:txBody>
          <a:bodyPr wrap="square">
            <a:spAutoFit/>
          </a:bodyPr>
          <a:lstStyle/>
          <a:p>
            <a:pPr algn="l"/>
            <a:r>
              <a:rPr sz="1200" b="0">
                <a:solidFill>
                  <a:srgbClr val="E0DED8"/>
                </a:solidFill>
                <a:latin typeface="SF Mono"/>
              </a:rPr>
              <a:t>---</a:t>
            </a:r>
          </a:p>
          <a:p>
            <a:pPr algn="l"/>
            <a:r>
              <a:rPr sz="1200" b="0">
                <a:solidFill>
                  <a:srgbClr val="E0DED8"/>
                </a:solidFill>
                <a:latin typeface="SF Mono"/>
              </a:rPr>
              <a:t>name: fix-issue</a:t>
            </a:r>
          </a:p>
          <a:p>
            <a:pPr algn="l"/>
            <a:r>
              <a:rPr sz="1200" b="0">
                <a:solidFill>
                  <a:srgbClr val="E0DED8"/>
                </a:solidFill>
                <a:latin typeface="SF Mono"/>
              </a:rPr>
              <a:t>description: GitHubのIssueを修正する</a:t>
            </a:r>
          </a:p>
          <a:p>
            <a:pPr algn="l"/>
            <a:r>
              <a:rPr sz="1200" b="0">
                <a:solidFill>
                  <a:srgbClr val="E0DED8"/>
                </a:solidFill>
                <a:latin typeface="SF Mono"/>
              </a:rPr>
              <a:t>disable-model-invocation: true</a:t>
            </a:r>
          </a:p>
          <a:p>
            <a:pPr algn="l"/>
            <a:r>
              <a:rPr sz="1200" b="0">
                <a:solidFill>
                  <a:srgbClr val="E0DED8"/>
                </a:solidFill>
                <a:latin typeface="SF Mono"/>
              </a:rPr>
              <a:t>---</a:t>
            </a:r>
          </a:p>
          <a:p>
            <a:pPr algn="l"/>
            <a:r>
              <a:rPr sz="1200" b="0">
                <a:solidFill>
                  <a:srgbClr val="E0DED8"/>
                </a:solidFill>
                <a:latin typeface="SF Mono"/>
              </a:rPr>
              <a:t/>
            </a:r>
          </a:p>
          <a:p>
            <a:pPr algn="l"/>
            <a:r>
              <a:rPr sz="1200" b="0">
                <a:solidFill>
                  <a:srgbClr val="E0DED8"/>
                </a:solidFill>
                <a:latin typeface="SF Mono"/>
              </a:rPr>
              <a:t>GitHubのIssue: $ARGUMENTS を分析して修正。</a:t>
            </a:r>
          </a:p>
          <a:p>
            <a:pPr algn="l"/>
            <a:r>
              <a:rPr sz="1200" b="0">
                <a:solidFill>
                  <a:srgbClr val="E0DED8"/>
                </a:solidFill>
                <a:latin typeface="SF Mono"/>
              </a:rPr>
              <a:t>1. gh issue viewでIssue詳細を取得</a:t>
            </a:r>
          </a:p>
          <a:p>
            <a:pPr algn="l"/>
            <a:r>
              <a:rPr sz="1200" b="0">
                <a:solidFill>
                  <a:srgbClr val="E0DED8"/>
                </a:solidFill>
                <a:latin typeface="SF Mono"/>
              </a:rPr>
              <a:t>2. 関連ファイルを検索</a:t>
            </a:r>
          </a:p>
          <a:p>
            <a:pPr algn="l"/>
            <a:r>
              <a:rPr sz="1200" b="0">
                <a:solidFill>
                  <a:srgbClr val="E0DED8"/>
                </a:solidFill>
                <a:latin typeface="SF Mono"/>
              </a:rPr>
              <a:t>3. 修正を実装</a:t>
            </a:r>
          </a:p>
          <a:p>
            <a:pPr algn="l"/>
            <a:r>
              <a:rPr sz="1200" b="0">
                <a:solidFill>
                  <a:srgbClr val="E0DED8"/>
                </a:solidFill>
                <a:latin typeface="SF Mono"/>
              </a:rPr>
              <a:t>4. テストを書いて実行</a:t>
            </a:r>
          </a:p>
          <a:p>
            <a:pPr algn="l"/>
            <a:r>
              <a:rPr sz="1200" b="0">
                <a:solidFill>
                  <a:srgbClr val="E0DED8"/>
                </a:solidFill>
                <a:latin typeface="SF Mono"/>
              </a:rPr>
              <a:t>5. コミットしてPR作成</a:t>
            </a:r>
          </a:p>
        </p:txBody>
      </p:sp>
      <p:sp>
        <p:nvSpPr>
          <p:cNvPr id="11" name="TextBox 10"/>
          <p:cNvSpPr txBox="1"/>
          <p:nvPr/>
        </p:nvSpPr>
        <p:spPr>
          <a:xfrm>
            <a:off x="6160000" y="4050000"/>
            <a:ext cx="5200000" cy="365760"/>
          </a:xfrm>
          <a:prstGeom prst="rect">
            <a:avLst/>
          </a:prstGeom>
          <a:noFill/>
        </p:spPr>
        <p:txBody>
          <a:bodyPr wrap="square">
            <a:spAutoFit/>
          </a:bodyPr>
          <a:lstStyle/>
          <a:p>
            <a:pPr algn="l"/>
            <a:r>
              <a:rPr sz="1400" b="0">
                <a:solidFill>
                  <a:srgbClr val="7BC9A0"/>
                </a:solidFill>
                <a:latin typeface="Hiragino Sans"/>
              </a:rPr>
              <a:t>→ /fix-issue 42 のように明示的に呼び出す</a:t>
            </a:r>
          </a:p>
        </p:txBody>
      </p:sp>
      <p:sp>
        <p:nvSpPr>
          <p:cNvPr id="12" name="TextBox 11"/>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0" y="2200000"/>
            <a:ext cx="12192000" cy="762000"/>
          </a:xfrm>
          <a:prstGeom prst="rect">
            <a:avLst/>
          </a:prstGeom>
          <a:noFill/>
        </p:spPr>
        <p:txBody>
          <a:bodyPr wrap="square">
            <a:spAutoFit/>
          </a:bodyPr>
          <a:lstStyle/>
          <a:p>
            <a:pPr algn="ctr"/>
            <a:r>
              <a:rPr sz="6000" b="1">
                <a:solidFill>
                  <a:srgbClr val="D97757"/>
                </a:solidFill>
                <a:latin typeface="Helvetica Neue"/>
              </a:rPr>
              <a:t>DEMO</a:t>
            </a:r>
          </a:p>
        </p:txBody>
      </p:sp>
      <p:sp>
        <p:nvSpPr>
          <p:cNvPr id="3" name="TextBox 2"/>
          <p:cNvSpPr txBox="1"/>
          <p:nvPr/>
        </p:nvSpPr>
        <p:spPr>
          <a:xfrm>
            <a:off x="0" y="3200000"/>
            <a:ext cx="12192000" cy="457200"/>
          </a:xfrm>
          <a:prstGeom prst="rect">
            <a:avLst/>
          </a:prstGeom>
          <a:noFill/>
        </p:spPr>
        <p:txBody>
          <a:bodyPr wrap="square">
            <a:spAutoFit/>
          </a:bodyPr>
          <a:lstStyle/>
          <a:p>
            <a:pPr algn="ctr"/>
            <a:r>
              <a:rPr sz="2000" b="0">
                <a:solidFill>
                  <a:srgbClr val="B0AEA5"/>
                </a:solidFill>
                <a:latin typeface="Hiragino Sans"/>
              </a:rPr>
              <a:t>Skills</a:t>
            </a:r>
          </a:p>
        </p:txBody>
      </p:sp>
      <p:sp>
        <p:nvSpPr>
          <p:cNvPr id="4" name="TextBox 3"/>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31F1D"/>
        </a:solidFill>
        <a:effectLst/>
      </p:bgPr>
    </p:bg>
    <p:spTree>
      <p:nvGrpSpPr>
        <p:cNvPr id="1" name=""/>
        <p:cNvGrpSpPr/>
        <p:nvPr/>
      </p:nvGrpSpPr>
      <p:grpSpPr/>
      <p:cxnSp>
        <p:nvCxnSpPr>
          <p:cNvPr id="2" name="Connector 1"/>
          <p:cNvCxnSpPr/>
          <p:nvPr/>
        </p:nvCxnSpPr>
        <p:spPr>
          <a:xfrm>
            <a:off x="73152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3168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000000"/>
            <a:ext cx="12192000" cy="457200"/>
          </a:xfrm>
          <a:prstGeom prst="rect">
            <a:avLst/>
          </a:prstGeom>
          <a:noFill/>
        </p:spPr>
        <p:txBody>
          <a:bodyPr wrap="square">
            <a:spAutoFit/>
          </a:bodyPr>
          <a:lstStyle/>
          <a:p>
            <a:pPr algn="ctr"/>
            <a:r>
              <a:rPr sz="1800" b="1">
                <a:solidFill>
                  <a:srgbClr val="D97757"/>
                </a:solidFill>
                <a:latin typeface="Helvetica Neue"/>
              </a:rPr>
              <a:t>PART 3</a:t>
            </a:r>
          </a:p>
        </p:txBody>
      </p:sp>
      <p:sp>
        <p:nvSpPr>
          <p:cNvPr id="5" name="TextBox 4"/>
          <p:cNvSpPr txBox="1"/>
          <p:nvPr/>
        </p:nvSpPr>
        <p:spPr>
          <a:xfrm>
            <a:off x="0" y="2600000"/>
            <a:ext cx="12192000" cy="762000"/>
          </a:xfrm>
          <a:prstGeom prst="rect">
            <a:avLst/>
          </a:prstGeom>
          <a:noFill/>
        </p:spPr>
        <p:txBody>
          <a:bodyPr wrap="square">
            <a:spAutoFit/>
          </a:bodyPr>
          <a:lstStyle/>
          <a:p>
            <a:pPr algn="ctr"/>
            <a:r>
              <a:rPr sz="4000" b="1">
                <a:solidFill>
                  <a:srgbClr val="FAF9F5"/>
                </a:solidFill>
                <a:latin typeface="Hiragino Sans"/>
              </a:rPr>
              <a:t>Hooks</a:t>
            </a:r>
          </a:p>
        </p:txBody>
      </p:sp>
      <p:sp>
        <p:nvSpPr>
          <p:cNvPr id="6" name="TextBox 5"/>
          <p:cNvSpPr txBox="1"/>
          <p:nvPr/>
        </p:nvSpPr>
        <p:spPr>
          <a:xfrm>
            <a:off x="0" y="3500000"/>
            <a:ext cx="12192000" cy="457200"/>
          </a:xfrm>
          <a:prstGeom prst="rect">
            <a:avLst/>
          </a:prstGeom>
          <a:noFill/>
        </p:spPr>
        <p:txBody>
          <a:bodyPr wrap="square">
            <a:spAutoFit/>
          </a:bodyPr>
          <a:lstStyle/>
          <a:p>
            <a:pPr algn="ctr"/>
            <a:r>
              <a:rPr sz="2400" b="0">
                <a:solidFill>
                  <a:srgbClr val="C5C3BB"/>
                </a:solidFill>
                <a:latin typeface="Hiragino Sans"/>
              </a:rPr>
              <a:t>人間が忘れても、Hooksが動く</a:t>
            </a:r>
          </a:p>
        </p:txBody>
      </p:sp>
      <p:sp>
        <p:nvSpPr>
          <p:cNvPr id="7" name="TextBox 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3 — Hooks</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Hooksとは</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D97757"/>
                </a:solidFill>
                <a:latin typeface="Hiragino Sans"/>
              </a:rPr>
              <a:t>イベント駆動の自動化</a:t>
            </a:r>
          </a:p>
        </p:txBody>
      </p:sp>
      <p:sp>
        <p:nvSpPr>
          <p:cNvPr id="5" name="Rounded Rectangle 4"/>
          <p:cNvSpPr/>
          <p:nvPr/>
        </p:nvSpPr>
        <p:spPr>
          <a:xfrm>
            <a:off x="731520" y="1700000"/>
            <a:ext cx="2400000" cy="4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91440"/>
            <a:ext cx="2308560" cy="274320"/>
          </a:xfrm>
          <a:prstGeom prst="rect">
            <a:avLst/>
          </a:prstGeom>
          <a:noFill/>
        </p:spPr>
        <p:txBody>
          <a:bodyPr wrap="square">
            <a:spAutoFit/>
          </a:bodyPr>
          <a:lstStyle/>
          <a:p>
            <a:pPr algn="ctr"/>
            <a:r>
              <a:rPr sz="1400" b="1">
                <a:solidFill>
                  <a:srgbClr val="FAF9F5"/>
                </a:solidFill>
                <a:latin typeface="Hiragino Sans"/>
              </a:rPr>
              <a:t>ファイル編集</a:t>
            </a:r>
          </a:p>
        </p:txBody>
      </p:sp>
      <p:sp>
        <p:nvSpPr>
          <p:cNvPr id="7" name="TextBox 6"/>
          <p:cNvSpPr txBox="1"/>
          <p:nvPr/>
        </p:nvSpPr>
        <p:spPr>
          <a:xfrm>
            <a:off x="3131520" y="1745720"/>
            <a:ext cx="91440" cy="320000"/>
          </a:xfrm>
          <a:prstGeom prst="rect">
            <a:avLst/>
          </a:prstGeom>
          <a:noFill/>
        </p:spPr>
        <p:txBody>
          <a:bodyPr wrap="square">
            <a:spAutoFit/>
          </a:bodyPr>
          <a:lstStyle/>
          <a:p>
            <a:pPr algn="ctr"/>
            <a:r>
              <a:rPr sz="1800" b="0">
                <a:solidFill>
                  <a:srgbClr val="B0AEA5"/>
                </a:solidFill>
                <a:latin typeface="Helvetica Neue"/>
              </a:rPr>
              <a:t>→</a:t>
            </a:r>
          </a:p>
        </p:txBody>
      </p:sp>
      <p:sp>
        <p:nvSpPr>
          <p:cNvPr id="8" name="Rounded Rectangle 7"/>
          <p:cNvSpPr/>
          <p:nvPr/>
        </p:nvSpPr>
        <p:spPr>
          <a:xfrm>
            <a:off x="3222960" y="1700000"/>
            <a:ext cx="2400000" cy="400000"/>
          </a:xfrm>
          <a:prstGeom prst="roundRect">
            <a:avLst>
              <a:gd name="adj" fmla="val 4000"/>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68680" y="1791440"/>
            <a:ext cx="2308560" cy="274320"/>
          </a:xfrm>
          <a:prstGeom prst="rect">
            <a:avLst/>
          </a:prstGeom>
          <a:noFill/>
        </p:spPr>
        <p:txBody>
          <a:bodyPr wrap="square">
            <a:spAutoFit/>
          </a:bodyPr>
          <a:lstStyle/>
          <a:p>
            <a:pPr algn="ctr"/>
            <a:r>
              <a:rPr sz="1400" b="1">
                <a:solidFill>
                  <a:srgbClr val="FAF9F5"/>
                </a:solidFill>
                <a:latin typeface="Hiragino Sans"/>
              </a:rPr>
              <a:t>PostToolUse</a:t>
            </a:r>
          </a:p>
        </p:txBody>
      </p:sp>
      <p:sp>
        <p:nvSpPr>
          <p:cNvPr id="10" name="TextBox 9"/>
          <p:cNvSpPr txBox="1"/>
          <p:nvPr/>
        </p:nvSpPr>
        <p:spPr>
          <a:xfrm>
            <a:off x="5622960" y="1745720"/>
            <a:ext cx="91440" cy="320000"/>
          </a:xfrm>
          <a:prstGeom prst="rect">
            <a:avLst/>
          </a:prstGeom>
          <a:noFill/>
        </p:spPr>
        <p:txBody>
          <a:bodyPr wrap="square">
            <a:spAutoFit/>
          </a:bodyPr>
          <a:lstStyle/>
          <a:p>
            <a:pPr algn="ctr"/>
            <a:r>
              <a:rPr sz="1800" b="0">
                <a:solidFill>
                  <a:srgbClr val="B0AEA5"/>
                </a:solidFill>
                <a:latin typeface="Helvetica Neue"/>
              </a:rPr>
              <a:t>→</a:t>
            </a:r>
          </a:p>
        </p:txBody>
      </p:sp>
      <p:sp>
        <p:nvSpPr>
          <p:cNvPr id="11" name="Rounded Rectangle 10"/>
          <p:cNvSpPr/>
          <p:nvPr/>
        </p:nvSpPr>
        <p:spPr>
          <a:xfrm>
            <a:off x="5714400" y="1700000"/>
            <a:ext cx="2400000" cy="400000"/>
          </a:xfrm>
          <a:prstGeom prst="roundRect">
            <a:avLst>
              <a:gd name="adj" fmla="val 4000"/>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120" y="1791440"/>
            <a:ext cx="2308560" cy="274320"/>
          </a:xfrm>
          <a:prstGeom prst="rect">
            <a:avLst/>
          </a:prstGeom>
          <a:noFill/>
        </p:spPr>
        <p:txBody>
          <a:bodyPr wrap="square">
            <a:spAutoFit/>
          </a:bodyPr>
          <a:lstStyle/>
          <a:p>
            <a:pPr algn="ctr"/>
            <a:r>
              <a:rPr sz="1400" b="1">
                <a:solidFill>
                  <a:srgbClr val="FAF9F5"/>
                </a:solidFill>
                <a:latin typeface="Hiragino Sans"/>
              </a:rPr>
              <a:t>lint を自動実行</a:t>
            </a:r>
          </a:p>
        </p:txBody>
      </p:sp>
      <p:sp>
        <p:nvSpPr>
          <p:cNvPr id="13" name="Rounded Rectangle 12"/>
          <p:cNvSpPr/>
          <p:nvPr/>
        </p:nvSpPr>
        <p:spPr>
          <a:xfrm>
            <a:off x="731520" y="2248640"/>
            <a:ext cx="2400000" cy="4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340080"/>
            <a:ext cx="2308560" cy="274320"/>
          </a:xfrm>
          <a:prstGeom prst="rect">
            <a:avLst/>
          </a:prstGeom>
          <a:noFill/>
        </p:spPr>
        <p:txBody>
          <a:bodyPr wrap="square">
            <a:spAutoFit/>
          </a:bodyPr>
          <a:lstStyle/>
          <a:p>
            <a:pPr algn="ctr"/>
            <a:r>
              <a:rPr sz="1400" b="1">
                <a:solidFill>
                  <a:srgbClr val="FAF9F5"/>
                </a:solidFill>
                <a:latin typeface="Hiragino Sans"/>
              </a:rPr>
              <a:t>Bashコマンド実行</a:t>
            </a:r>
          </a:p>
        </p:txBody>
      </p:sp>
      <p:sp>
        <p:nvSpPr>
          <p:cNvPr id="15" name="TextBox 14"/>
          <p:cNvSpPr txBox="1"/>
          <p:nvPr/>
        </p:nvSpPr>
        <p:spPr>
          <a:xfrm>
            <a:off x="3131520" y="2294360"/>
            <a:ext cx="91440" cy="320000"/>
          </a:xfrm>
          <a:prstGeom prst="rect">
            <a:avLst/>
          </a:prstGeom>
          <a:noFill/>
        </p:spPr>
        <p:txBody>
          <a:bodyPr wrap="square">
            <a:spAutoFit/>
          </a:bodyPr>
          <a:lstStyle/>
          <a:p>
            <a:pPr algn="ctr"/>
            <a:r>
              <a:rPr sz="1800" b="0">
                <a:solidFill>
                  <a:srgbClr val="B0AEA5"/>
                </a:solidFill>
                <a:latin typeface="Helvetica Neue"/>
              </a:rPr>
              <a:t>→</a:t>
            </a:r>
          </a:p>
        </p:txBody>
      </p:sp>
      <p:sp>
        <p:nvSpPr>
          <p:cNvPr id="16" name="Rounded Rectangle 15"/>
          <p:cNvSpPr/>
          <p:nvPr/>
        </p:nvSpPr>
        <p:spPr>
          <a:xfrm>
            <a:off x="3222960" y="2248640"/>
            <a:ext cx="2400000" cy="400000"/>
          </a:xfrm>
          <a:prstGeom prst="roundRect">
            <a:avLst>
              <a:gd name="adj" fmla="val 4000"/>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8680" y="2340080"/>
            <a:ext cx="2308560" cy="274320"/>
          </a:xfrm>
          <a:prstGeom prst="rect">
            <a:avLst/>
          </a:prstGeom>
          <a:noFill/>
        </p:spPr>
        <p:txBody>
          <a:bodyPr wrap="square">
            <a:spAutoFit/>
          </a:bodyPr>
          <a:lstStyle/>
          <a:p>
            <a:pPr algn="ctr"/>
            <a:r>
              <a:rPr sz="1400" b="1">
                <a:solidFill>
                  <a:srgbClr val="FAF9F5"/>
                </a:solidFill>
                <a:latin typeface="Hiragino Sans"/>
              </a:rPr>
              <a:t>PreToolUse</a:t>
            </a:r>
          </a:p>
        </p:txBody>
      </p:sp>
      <p:sp>
        <p:nvSpPr>
          <p:cNvPr id="18" name="TextBox 17"/>
          <p:cNvSpPr txBox="1"/>
          <p:nvPr/>
        </p:nvSpPr>
        <p:spPr>
          <a:xfrm>
            <a:off x="5622960" y="2294360"/>
            <a:ext cx="91440" cy="320000"/>
          </a:xfrm>
          <a:prstGeom prst="rect">
            <a:avLst/>
          </a:prstGeom>
          <a:noFill/>
        </p:spPr>
        <p:txBody>
          <a:bodyPr wrap="square">
            <a:spAutoFit/>
          </a:bodyPr>
          <a:lstStyle/>
          <a:p>
            <a:pPr algn="ctr"/>
            <a:r>
              <a:rPr sz="1800" b="0">
                <a:solidFill>
                  <a:srgbClr val="B0AEA5"/>
                </a:solidFill>
                <a:latin typeface="Helvetica Neue"/>
              </a:rPr>
              <a:t>→</a:t>
            </a:r>
          </a:p>
        </p:txBody>
      </p:sp>
      <p:sp>
        <p:nvSpPr>
          <p:cNvPr id="19" name="Rounded Rectangle 18"/>
          <p:cNvSpPr/>
          <p:nvPr/>
        </p:nvSpPr>
        <p:spPr>
          <a:xfrm>
            <a:off x="5714400" y="2248640"/>
            <a:ext cx="2400000" cy="400000"/>
          </a:xfrm>
          <a:prstGeom prst="roundRect">
            <a:avLst>
              <a:gd name="adj" fmla="val 4000"/>
            </a:avLst>
          </a:prstGeom>
          <a:solidFill>
            <a:srgbClr val="E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120" y="2340080"/>
            <a:ext cx="2308560" cy="274320"/>
          </a:xfrm>
          <a:prstGeom prst="rect">
            <a:avLst/>
          </a:prstGeom>
          <a:noFill/>
        </p:spPr>
        <p:txBody>
          <a:bodyPr wrap="square">
            <a:spAutoFit/>
          </a:bodyPr>
          <a:lstStyle/>
          <a:p>
            <a:pPr algn="ctr"/>
            <a:r>
              <a:rPr sz="1400" b="1">
                <a:solidFill>
                  <a:srgbClr val="FAF9F5"/>
                </a:solidFill>
                <a:latin typeface="Hiragino Sans"/>
              </a:rPr>
              <a:t>危険な操作をブロック</a:t>
            </a:r>
          </a:p>
        </p:txBody>
      </p:sp>
      <p:cxnSp>
        <p:nvCxnSpPr>
          <p:cNvPr id="21" name="Connector 20"/>
          <p:cNvCxnSpPr/>
          <p:nvPr/>
        </p:nvCxnSpPr>
        <p:spPr>
          <a:xfrm>
            <a:off x="731520" y="30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3100000"/>
            <a:ext cx="5000000" cy="320000"/>
          </a:xfrm>
          <a:prstGeom prst="rect">
            <a:avLst/>
          </a:prstGeom>
          <a:noFill/>
        </p:spPr>
        <p:txBody>
          <a:bodyPr wrap="square">
            <a:spAutoFit/>
          </a:bodyPr>
          <a:lstStyle/>
          <a:p>
            <a:pPr algn="l"/>
            <a:r>
              <a:rPr sz="1600" b="1">
                <a:solidFill>
                  <a:srgbClr val="FAF9F5"/>
                </a:solidFill>
                <a:latin typeface="Hiragino Sans"/>
              </a:rPr>
              <a:t>設定場所: .claude/settings.json</a:t>
            </a:r>
          </a:p>
        </p:txBody>
      </p:sp>
      <p:sp>
        <p:nvSpPr>
          <p:cNvPr id="23" name="Rounded Rectangle 22"/>
          <p:cNvSpPr/>
          <p:nvPr/>
        </p:nvSpPr>
        <p:spPr>
          <a:xfrm>
            <a:off x="731520" y="3450000"/>
            <a:ext cx="5486400" cy="13716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541440"/>
            <a:ext cx="5212080" cy="1188720"/>
          </a:xfrm>
          <a:prstGeom prst="rect">
            <a:avLst/>
          </a:prstGeom>
          <a:noFill/>
        </p:spPr>
        <p:txBody>
          <a:bodyPr wrap="square">
            <a:spAutoFit/>
          </a:bodyPr>
          <a:lstStyle/>
          <a:p>
            <a:pPr algn="l"/>
            <a:r>
              <a:rPr sz="1200" b="0">
                <a:solidFill>
                  <a:srgbClr val="E0DED8"/>
                </a:solidFill>
                <a:latin typeface="SF Mono"/>
              </a:rPr>
              <a:t>{</a:t>
            </a:r>
          </a:p>
          <a:p>
            <a:pPr algn="l"/>
            <a:r>
              <a:rPr sz="1200" b="0">
                <a:solidFill>
                  <a:srgbClr val="E0DED8"/>
                </a:solidFill>
                <a:latin typeface="SF Mono"/>
              </a:rPr>
              <a:t>  "hooks": {</a:t>
            </a:r>
          </a:p>
          <a:p>
            <a:pPr algn="l"/>
            <a:r>
              <a:rPr sz="1200" b="0">
                <a:solidFill>
                  <a:srgbClr val="E0DED8"/>
                </a:solidFill>
                <a:latin typeface="SF Mono"/>
              </a:rPr>
              <a:t>    "PostToolUse": [{</a:t>
            </a:r>
          </a:p>
          <a:p>
            <a:pPr algn="l"/>
            <a:r>
              <a:rPr sz="1200" b="0">
                <a:solidFill>
                  <a:srgbClr val="E0DED8"/>
                </a:solidFill>
                <a:latin typeface="SF Mono"/>
              </a:rPr>
              <a:t>      "matcher": "Edit|Write",</a:t>
            </a:r>
          </a:p>
          <a:p>
            <a:pPr algn="l"/>
            <a:r>
              <a:rPr sz="1200" b="0">
                <a:solidFill>
                  <a:srgbClr val="E0DED8"/>
                </a:solidFill>
                <a:latin typeface="SF Mono"/>
              </a:rPr>
              <a:t>      "hooks": [{</a:t>
            </a:r>
          </a:p>
          <a:p>
            <a:pPr algn="l"/>
            <a:r>
              <a:rPr sz="1200" b="0">
                <a:solidFill>
                  <a:srgbClr val="E0DED8"/>
                </a:solidFill>
                <a:latin typeface="SF Mono"/>
              </a:rPr>
              <a:t>        "type": "command",</a:t>
            </a:r>
          </a:p>
          <a:p>
            <a:pPr algn="l"/>
            <a:r>
              <a:rPr sz="1200" b="0">
                <a:solidFill>
                  <a:srgbClr val="E0DED8"/>
                </a:solidFill>
                <a:latin typeface="SF Mono"/>
              </a:rPr>
              <a:t>        "command": "npm run lint:fix"</a:t>
            </a:r>
          </a:p>
          <a:p>
            <a:pPr algn="l"/>
            <a:r>
              <a:rPr sz="1200" b="0">
                <a:solidFill>
                  <a:srgbClr val="E0DED8"/>
                </a:solidFill>
                <a:latin typeface="SF Mono"/>
              </a:rPr>
              <a:t>      }]</a:t>
            </a:r>
          </a:p>
          <a:p>
            <a:pPr algn="l"/>
            <a:r>
              <a:rPr sz="1200" b="0">
                <a:solidFill>
                  <a:srgbClr val="E0DED8"/>
                </a:solidFill>
                <a:latin typeface="SF Mono"/>
              </a:rPr>
              <a:t>    }]</a:t>
            </a:r>
          </a:p>
          <a:p>
            <a:pPr algn="l"/>
            <a:r>
              <a:rPr sz="1200" b="0">
                <a:solidFill>
                  <a:srgbClr val="E0DED8"/>
                </a:solidFill>
                <a:latin typeface="SF Mono"/>
              </a:rPr>
              <a:t>  }</a:t>
            </a:r>
          </a:p>
          <a:p>
            <a:pPr algn="l"/>
            <a:r>
              <a:rPr sz="1200" b="0">
                <a:solidFill>
                  <a:srgbClr val="E0DED8"/>
                </a:solidFill>
                <a:latin typeface="SF Mono"/>
              </a:rPr>
              <a:t>}</a:t>
            </a:r>
          </a:p>
        </p:txBody>
      </p:sp>
      <p:sp>
        <p:nvSpPr>
          <p:cNvPr id="25" name="TextBox 24"/>
          <p:cNvSpPr txBox="1"/>
          <p:nvPr/>
        </p:nvSpPr>
        <p:spPr>
          <a:xfrm>
            <a:off x="6500000" y="3100000"/>
            <a:ext cx="5000000" cy="320000"/>
          </a:xfrm>
          <a:prstGeom prst="rect">
            <a:avLst/>
          </a:prstGeom>
          <a:noFill/>
        </p:spPr>
        <p:txBody>
          <a:bodyPr wrap="square">
            <a:spAutoFit/>
          </a:bodyPr>
          <a:lstStyle/>
          <a:p>
            <a:pPr algn="l"/>
            <a:r>
              <a:rPr sz="1600" b="1">
                <a:solidFill>
                  <a:srgbClr val="FAF9F5"/>
                </a:solidFill>
                <a:latin typeface="Hiragino Sans"/>
              </a:rPr>
              <a:t>主なイベント</a:t>
            </a:r>
          </a:p>
        </p:txBody>
      </p:sp>
      <p:sp>
        <p:nvSpPr>
          <p:cNvPr id="26" name="Rounded Rectangle 25"/>
          <p:cNvSpPr/>
          <p:nvPr/>
        </p:nvSpPr>
        <p:spPr>
          <a:xfrm>
            <a:off x="6500000" y="3500000"/>
            <a:ext cx="496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0000" y="3545720"/>
            <a:ext cx="1600000" cy="274320"/>
          </a:xfrm>
          <a:prstGeom prst="rect">
            <a:avLst/>
          </a:prstGeom>
          <a:noFill/>
        </p:spPr>
        <p:txBody>
          <a:bodyPr wrap="square">
            <a:spAutoFit/>
          </a:bodyPr>
          <a:lstStyle/>
          <a:p>
            <a:pPr algn="l"/>
            <a:r>
              <a:rPr sz="1200" b="1">
                <a:solidFill>
                  <a:srgbClr val="D97757"/>
                </a:solidFill>
                <a:latin typeface="SF Mono"/>
              </a:rPr>
              <a:t>PreToolUse</a:t>
            </a:r>
          </a:p>
        </p:txBody>
      </p:sp>
      <p:sp>
        <p:nvSpPr>
          <p:cNvPr id="28" name="TextBox 27"/>
          <p:cNvSpPr txBox="1"/>
          <p:nvPr/>
        </p:nvSpPr>
        <p:spPr>
          <a:xfrm>
            <a:off x="8300000" y="3545720"/>
            <a:ext cx="3000000" cy="274320"/>
          </a:xfrm>
          <a:prstGeom prst="rect">
            <a:avLst/>
          </a:prstGeom>
          <a:noFill/>
        </p:spPr>
        <p:txBody>
          <a:bodyPr wrap="square">
            <a:spAutoFit/>
          </a:bodyPr>
          <a:lstStyle/>
          <a:p>
            <a:pPr algn="l"/>
            <a:r>
              <a:rPr sz="1100" b="0">
                <a:solidFill>
                  <a:srgbClr val="E0DED8"/>
                </a:solidFill>
                <a:latin typeface="Hiragino Sans"/>
              </a:rPr>
              <a:t>ツール実行前 → 禁止操作のブロック</a:t>
            </a:r>
          </a:p>
        </p:txBody>
      </p:sp>
      <p:sp>
        <p:nvSpPr>
          <p:cNvPr id="29" name="Rounded Rectangle 28"/>
          <p:cNvSpPr/>
          <p:nvPr/>
        </p:nvSpPr>
        <p:spPr>
          <a:xfrm>
            <a:off x="6500000" y="3865760"/>
            <a:ext cx="496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0000" y="3911480"/>
            <a:ext cx="1600000" cy="274320"/>
          </a:xfrm>
          <a:prstGeom prst="rect">
            <a:avLst/>
          </a:prstGeom>
          <a:noFill/>
        </p:spPr>
        <p:txBody>
          <a:bodyPr wrap="square">
            <a:spAutoFit/>
          </a:bodyPr>
          <a:lstStyle/>
          <a:p>
            <a:pPr algn="l"/>
            <a:r>
              <a:rPr sz="1200" b="1">
                <a:solidFill>
                  <a:srgbClr val="D97757"/>
                </a:solidFill>
                <a:latin typeface="SF Mono"/>
              </a:rPr>
              <a:t>PostToolUse</a:t>
            </a:r>
          </a:p>
        </p:txBody>
      </p:sp>
      <p:sp>
        <p:nvSpPr>
          <p:cNvPr id="31" name="TextBox 30"/>
          <p:cNvSpPr txBox="1"/>
          <p:nvPr/>
        </p:nvSpPr>
        <p:spPr>
          <a:xfrm>
            <a:off x="8300000" y="3911480"/>
            <a:ext cx="3000000" cy="274320"/>
          </a:xfrm>
          <a:prstGeom prst="rect">
            <a:avLst/>
          </a:prstGeom>
          <a:noFill/>
        </p:spPr>
        <p:txBody>
          <a:bodyPr wrap="square">
            <a:spAutoFit/>
          </a:bodyPr>
          <a:lstStyle/>
          <a:p>
            <a:pPr algn="l"/>
            <a:r>
              <a:rPr sz="1100" b="0">
                <a:solidFill>
                  <a:srgbClr val="E0DED8"/>
                </a:solidFill>
                <a:latin typeface="Hiragino Sans"/>
              </a:rPr>
              <a:t>ツール実行後 → lint / formatterの自動実行</a:t>
            </a:r>
          </a:p>
        </p:txBody>
      </p:sp>
      <p:sp>
        <p:nvSpPr>
          <p:cNvPr id="32" name="Rounded Rectangle 31"/>
          <p:cNvSpPr/>
          <p:nvPr/>
        </p:nvSpPr>
        <p:spPr>
          <a:xfrm>
            <a:off x="6500000" y="4231520"/>
            <a:ext cx="496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00000" y="4277240"/>
            <a:ext cx="1600000" cy="274320"/>
          </a:xfrm>
          <a:prstGeom prst="rect">
            <a:avLst/>
          </a:prstGeom>
          <a:noFill/>
        </p:spPr>
        <p:txBody>
          <a:bodyPr wrap="square">
            <a:spAutoFit/>
          </a:bodyPr>
          <a:lstStyle/>
          <a:p>
            <a:pPr algn="l"/>
            <a:r>
              <a:rPr sz="1200" b="1">
                <a:solidFill>
                  <a:srgbClr val="D97757"/>
                </a:solidFill>
                <a:latin typeface="SF Mono"/>
              </a:rPr>
              <a:t>Notification</a:t>
            </a:r>
          </a:p>
        </p:txBody>
      </p:sp>
      <p:sp>
        <p:nvSpPr>
          <p:cNvPr id="34" name="TextBox 33"/>
          <p:cNvSpPr txBox="1"/>
          <p:nvPr/>
        </p:nvSpPr>
        <p:spPr>
          <a:xfrm>
            <a:off x="8300000" y="4277240"/>
            <a:ext cx="3000000" cy="274320"/>
          </a:xfrm>
          <a:prstGeom prst="rect">
            <a:avLst/>
          </a:prstGeom>
          <a:noFill/>
        </p:spPr>
        <p:txBody>
          <a:bodyPr wrap="square">
            <a:spAutoFit/>
          </a:bodyPr>
          <a:lstStyle/>
          <a:p>
            <a:pPr algn="l"/>
            <a:r>
              <a:rPr sz="1100" b="0">
                <a:solidFill>
                  <a:srgbClr val="E0DED8"/>
                </a:solidFill>
                <a:latin typeface="Hiragino Sans"/>
              </a:rPr>
              <a:t>通知時 → 外部への通知連携</a:t>
            </a:r>
          </a:p>
        </p:txBody>
      </p:sp>
      <p:sp>
        <p:nvSpPr>
          <p:cNvPr id="35" name="Rounded Rectangle 34"/>
          <p:cNvSpPr/>
          <p:nvPr/>
        </p:nvSpPr>
        <p:spPr>
          <a:xfrm>
            <a:off x="6500000" y="4597280"/>
            <a:ext cx="4960000" cy="32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00000" y="4643000"/>
            <a:ext cx="1600000" cy="274320"/>
          </a:xfrm>
          <a:prstGeom prst="rect">
            <a:avLst/>
          </a:prstGeom>
          <a:noFill/>
        </p:spPr>
        <p:txBody>
          <a:bodyPr wrap="square">
            <a:spAutoFit/>
          </a:bodyPr>
          <a:lstStyle/>
          <a:p>
            <a:pPr algn="l"/>
            <a:r>
              <a:rPr sz="1200" b="1">
                <a:solidFill>
                  <a:srgbClr val="D97757"/>
                </a:solidFill>
                <a:latin typeface="SF Mono"/>
              </a:rPr>
              <a:t>Stop</a:t>
            </a:r>
          </a:p>
        </p:txBody>
      </p:sp>
      <p:sp>
        <p:nvSpPr>
          <p:cNvPr id="37" name="TextBox 36"/>
          <p:cNvSpPr txBox="1"/>
          <p:nvPr/>
        </p:nvSpPr>
        <p:spPr>
          <a:xfrm>
            <a:off x="8300000" y="4643000"/>
            <a:ext cx="3000000" cy="274320"/>
          </a:xfrm>
          <a:prstGeom prst="rect">
            <a:avLst/>
          </a:prstGeom>
          <a:noFill/>
        </p:spPr>
        <p:txBody>
          <a:bodyPr wrap="square">
            <a:spAutoFit/>
          </a:bodyPr>
          <a:lstStyle/>
          <a:p>
            <a:pPr algn="l"/>
            <a:r>
              <a:rPr sz="1100" b="0">
                <a:solidFill>
                  <a:srgbClr val="E0DED8"/>
                </a:solidFill>
                <a:latin typeface="Hiragino Sans"/>
              </a:rPr>
              <a:t>応答終了時 → レポート生成</a:t>
            </a:r>
          </a:p>
        </p:txBody>
      </p:sp>
      <p:sp>
        <p:nvSpPr>
          <p:cNvPr id="38" name="Rectangle 37"/>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CIのpre-commitフックに近い概念。Claude Codeの操作に品質ゲートを挟む</a:t>
            </a:r>
          </a:p>
        </p:txBody>
      </p:sp>
      <p:sp>
        <p:nvSpPr>
          <p:cNvPr id="41" name="TextBox 40"/>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3 — Hooks</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Hooksの実践例</a:t>
            </a:r>
          </a:p>
        </p:txBody>
      </p:sp>
      <p:sp>
        <p:nvSpPr>
          <p:cNvPr id="4" name="TextBox 3"/>
          <p:cNvSpPr txBox="1"/>
          <p:nvPr/>
        </p:nvSpPr>
        <p:spPr>
          <a:xfrm>
            <a:off x="731520" y="1100000"/>
            <a:ext cx="5000000" cy="320000"/>
          </a:xfrm>
          <a:prstGeom prst="rect">
            <a:avLst/>
          </a:prstGeom>
          <a:noFill/>
        </p:spPr>
        <p:txBody>
          <a:bodyPr wrap="square">
            <a:spAutoFit/>
          </a:bodyPr>
          <a:lstStyle/>
          <a:p>
            <a:pPr algn="l"/>
            <a:r>
              <a:rPr sz="1600" b="1">
                <a:solidFill>
                  <a:srgbClr val="D97757"/>
                </a:solidFill>
                <a:latin typeface="Hiragino Sans"/>
              </a:rPr>
              <a:t>例1: 編集後にlintを自動修正</a:t>
            </a:r>
          </a:p>
        </p:txBody>
      </p:sp>
      <p:sp>
        <p:nvSpPr>
          <p:cNvPr id="5" name="Rounded Rectangle 4"/>
          <p:cNvSpPr/>
          <p:nvPr/>
        </p:nvSpPr>
        <p:spPr>
          <a:xfrm>
            <a:off x="731520" y="1465760"/>
            <a:ext cx="5200000" cy="54864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7200"/>
            <a:ext cx="4925680" cy="365760"/>
          </a:xfrm>
          <a:prstGeom prst="rect">
            <a:avLst/>
          </a:prstGeom>
          <a:noFill/>
        </p:spPr>
        <p:txBody>
          <a:bodyPr wrap="square">
            <a:spAutoFit/>
          </a:bodyPr>
          <a:lstStyle/>
          <a:p>
            <a:pPr algn="l"/>
            <a:r>
              <a:rPr sz="1200" b="0">
                <a:solidFill>
                  <a:srgbClr val="E0DED8"/>
                </a:solidFill>
                <a:latin typeface="SF Mono"/>
              </a:rPr>
              <a:t>{</a:t>
            </a:r>
          </a:p>
          <a:p>
            <a:pPr algn="l"/>
            <a:r>
              <a:rPr sz="1200" b="0">
                <a:solidFill>
                  <a:srgbClr val="E0DED8"/>
                </a:solidFill>
                <a:latin typeface="SF Mono"/>
              </a:rPr>
              <a:t>  "matcher": "Edit|Write",</a:t>
            </a:r>
          </a:p>
          <a:p>
            <a:pPr algn="l"/>
            <a:r>
              <a:rPr sz="1200" b="0">
                <a:solidFill>
                  <a:srgbClr val="E0DED8"/>
                </a:solidFill>
                <a:latin typeface="SF Mono"/>
              </a:rPr>
              <a:t>  "hooks": [{ "type": "command", "command": "npm run lint:fix" }]</a:t>
            </a:r>
          </a:p>
          <a:p>
            <a:pPr algn="l"/>
            <a:r>
              <a:rPr sz="1200" b="0">
                <a:solidFill>
                  <a:srgbClr val="E0DED8"/>
                </a:solidFill>
                <a:latin typeface="SF Mono"/>
              </a:rPr>
              <a:t>}</a:t>
            </a:r>
          </a:p>
        </p:txBody>
      </p:sp>
      <p:sp>
        <p:nvSpPr>
          <p:cNvPr id="7" name="TextBox 6"/>
          <p:cNvSpPr txBox="1"/>
          <p:nvPr/>
        </p:nvSpPr>
        <p:spPr>
          <a:xfrm>
            <a:off x="6200000" y="1465760"/>
            <a:ext cx="5000000" cy="548640"/>
          </a:xfrm>
          <a:prstGeom prst="rect">
            <a:avLst/>
          </a:prstGeom>
          <a:noFill/>
        </p:spPr>
        <p:txBody>
          <a:bodyPr wrap="square">
            <a:spAutoFit/>
          </a:bodyPr>
          <a:lstStyle/>
          <a:p>
            <a:pPr algn="l"/>
            <a:r>
              <a:rPr sz="1400" b="0">
                <a:solidFill>
                  <a:srgbClr val="E0DED8"/>
                </a:solidFill>
                <a:latin typeface="Hiragino Sans"/>
              </a:rPr>
              <a:t>Claudeがファイルを</a:t>
            </a:r>
          </a:p>
          <a:p>
            <a:pPr algn="l"/>
            <a:r>
              <a:rPr sz="1400" b="0">
                <a:solidFill>
                  <a:srgbClr val="E0DED8"/>
                </a:solidFill>
                <a:latin typeface="Hiragino Sans"/>
              </a:rPr>
              <a:t>編集するたび、</a:t>
            </a:r>
          </a:p>
          <a:p>
            <a:pPr algn="l"/>
            <a:r>
              <a:rPr sz="1400" b="0">
                <a:solidFill>
                  <a:srgbClr val="E0DED8"/>
                </a:solidFill>
                <a:latin typeface="Hiragino Sans"/>
              </a:rPr>
              <a:t>lint違反が自動修正される</a:t>
            </a:r>
          </a:p>
        </p:txBody>
      </p:sp>
      <p:sp>
        <p:nvSpPr>
          <p:cNvPr id="8" name="TextBox 7"/>
          <p:cNvSpPr txBox="1"/>
          <p:nvPr/>
        </p:nvSpPr>
        <p:spPr>
          <a:xfrm>
            <a:off x="731520" y="2300000"/>
            <a:ext cx="5000000" cy="320000"/>
          </a:xfrm>
          <a:prstGeom prst="rect">
            <a:avLst/>
          </a:prstGeom>
          <a:noFill/>
        </p:spPr>
        <p:txBody>
          <a:bodyPr wrap="square">
            <a:spAutoFit/>
          </a:bodyPr>
          <a:lstStyle/>
          <a:p>
            <a:pPr algn="l"/>
            <a:r>
              <a:rPr sz="1600" b="1">
                <a:solidFill>
                  <a:srgbClr val="E07070"/>
                </a:solidFill>
                <a:latin typeface="Hiragino Sans"/>
              </a:rPr>
              <a:t>例2: 危険なコマンドをブロック（PreToolUse）</a:t>
            </a:r>
          </a:p>
        </p:txBody>
      </p:sp>
      <p:sp>
        <p:nvSpPr>
          <p:cNvPr id="9" name="Rounded Rectangle 8"/>
          <p:cNvSpPr/>
          <p:nvPr/>
        </p:nvSpPr>
        <p:spPr>
          <a:xfrm>
            <a:off x="731520" y="2665760"/>
            <a:ext cx="5200000" cy="54864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57200"/>
            <a:ext cx="4925680" cy="365760"/>
          </a:xfrm>
          <a:prstGeom prst="rect">
            <a:avLst/>
          </a:prstGeom>
          <a:noFill/>
        </p:spPr>
        <p:txBody>
          <a:bodyPr wrap="square">
            <a:spAutoFit/>
          </a:bodyPr>
          <a:lstStyle/>
          <a:p>
            <a:pPr algn="l"/>
            <a:r>
              <a:rPr sz="1200" b="0">
                <a:solidFill>
                  <a:srgbClr val="E0DED8"/>
                </a:solidFill>
                <a:latin typeface="SF Mono"/>
              </a:rPr>
              <a:t>{</a:t>
            </a:r>
          </a:p>
          <a:p>
            <a:pPr algn="l"/>
            <a:r>
              <a:rPr sz="1200" b="0">
                <a:solidFill>
                  <a:srgbClr val="E0DED8"/>
                </a:solidFill>
                <a:latin typeface="SF Mono"/>
              </a:rPr>
              <a:t>  "matcher": "Bash",</a:t>
            </a:r>
          </a:p>
          <a:p>
            <a:pPr algn="l"/>
            <a:r>
              <a:rPr sz="1200" b="0">
                <a:solidFill>
                  <a:srgbClr val="E0DED8"/>
                </a:solidFill>
                <a:latin typeface="SF Mono"/>
              </a:rPr>
              <a:t>  "hooks": [{ "type": "command",</a:t>
            </a:r>
          </a:p>
          <a:p>
            <a:pPr algn="l"/>
            <a:r>
              <a:rPr sz="1200" b="0">
                <a:solidFill>
                  <a:srgbClr val="E0DED8"/>
                </a:solidFill>
                <a:latin typeface="SF Mono"/>
              </a:rPr>
              <a:t>    "command": "grep -q 'rm -rf' &amp;&amp; exit 1; exit 0" }]</a:t>
            </a:r>
          </a:p>
          <a:p>
            <a:pPr algn="l"/>
            <a:r>
              <a:rPr sz="1200" b="0">
                <a:solidFill>
                  <a:srgbClr val="E0DED8"/>
                </a:solidFill>
                <a:latin typeface="SF Mono"/>
              </a:rPr>
              <a:t>}</a:t>
            </a:r>
          </a:p>
        </p:txBody>
      </p:sp>
      <p:sp>
        <p:nvSpPr>
          <p:cNvPr id="11" name="TextBox 10"/>
          <p:cNvSpPr txBox="1"/>
          <p:nvPr/>
        </p:nvSpPr>
        <p:spPr>
          <a:xfrm>
            <a:off x="6200000" y="2665760"/>
            <a:ext cx="5000000" cy="548640"/>
          </a:xfrm>
          <a:prstGeom prst="rect">
            <a:avLst/>
          </a:prstGeom>
          <a:noFill/>
        </p:spPr>
        <p:txBody>
          <a:bodyPr wrap="square">
            <a:spAutoFit/>
          </a:bodyPr>
          <a:lstStyle/>
          <a:p>
            <a:pPr algn="l"/>
            <a:r>
              <a:rPr sz="1400" b="0">
                <a:solidFill>
                  <a:srgbClr val="E0DED8"/>
                </a:solidFill>
                <a:latin typeface="Hiragino Sans"/>
              </a:rPr>
              <a:t>hookコマンドにはツール入力が</a:t>
            </a:r>
          </a:p>
          <a:p>
            <a:pPr algn="l"/>
            <a:r>
              <a:rPr sz="1400" b="0">
                <a:solidFill>
                  <a:srgbClr val="E0DED8"/>
                </a:solidFill>
                <a:latin typeface="Hiragino Sans"/>
              </a:rPr>
              <a:t>stdinで渡される。</a:t>
            </a:r>
          </a:p>
          <a:p>
            <a:pPr algn="l"/>
            <a:r>
              <a:rPr sz="1400" b="0">
                <a:solidFill>
                  <a:srgbClr val="E0DED8"/>
                </a:solidFill>
                <a:latin typeface="Hiragino Sans"/>
              </a:rPr>
              <a:t>rm -rf を含む操作をブロック</a:t>
            </a:r>
          </a:p>
        </p:txBody>
      </p:sp>
      <p:sp>
        <p:nvSpPr>
          <p:cNvPr id="12" name="TextBox 11"/>
          <p:cNvSpPr txBox="1"/>
          <p:nvPr/>
        </p:nvSpPr>
        <p:spPr>
          <a:xfrm>
            <a:off x="731520" y="3500000"/>
            <a:ext cx="5000000" cy="320000"/>
          </a:xfrm>
          <a:prstGeom prst="rect">
            <a:avLst/>
          </a:prstGeom>
          <a:noFill/>
        </p:spPr>
        <p:txBody>
          <a:bodyPr wrap="square">
            <a:spAutoFit/>
          </a:bodyPr>
          <a:lstStyle/>
          <a:p>
            <a:pPr algn="l"/>
            <a:r>
              <a:rPr sz="1600" b="1">
                <a:solidFill>
                  <a:srgbClr val="7BC9A0"/>
                </a:solidFill>
                <a:latin typeface="Hiragino Sans"/>
              </a:rPr>
              <a:t>例3: Goファイル編集後に型チェック</a:t>
            </a:r>
          </a:p>
        </p:txBody>
      </p:sp>
      <p:sp>
        <p:nvSpPr>
          <p:cNvPr id="13" name="Rounded Rectangle 12"/>
          <p:cNvSpPr/>
          <p:nvPr/>
        </p:nvSpPr>
        <p:spPr>
          <a:xfrm>
            <a:off x="731520" y="3865760"/>
            <a:ext cx="5200000" cy="54864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57200"/>
            <a:ext cx="4925680" cy="365760"/>
          </a:xfrm>
          <a:prstGeom prst="rect">
            <a:avLst/>
          </a:prstGeom>
          <a:noFill/>
        </p:spPr>
        <p:txBody>
          <a:bodyPr wrap="square">
            <a:spAutoFit/>
          </a:bodyPr>
          <a:lstStyle/>
          <a:p>
            <a:pPr algn="l"/>
            <a:r>
              <a:rPr sz="1200" b="0">
                <a:solidFill>
                  <a:srgbClr val="E0DED8"/>
                </a:solidFill>
                <a:latin typeface="SF Mono"/>
              </a:rPr>
              <a:t>{</a:t>
            </a:r>
          </a:p>
          <a:p>
            <a:pPr algn="l"/>
            <a:r>
              <a:rPr sz="1200" b="0">
                <a:solidFill>
                  <a:srgbClr val="E0DED8"/>
                </a:solidFill>
                <a:latin typeface="SF Mono"/>
              </a:rPr>
              <a:t>  "matcher": "Edit|Write",</a:t>
            </a:r>
          </a:p>
          <a:p>
            <a:pPr algn="l"/>
            <a:r>
              <a:rPr sz="1200" b="0">
                <a:solidFill>
                  <a:srgbClr val="E0DED8"/>
                </a:solidFill>
                <a:latin typeface="SF Mono"/>
              </a:rPr>
              <a:t>  "hooks": [{ "type": "command", "command": "go vet ./..." }]</a:t>
            </a:r>
          </a:p>
          <a:p>
            <a:pPr algn="l"/>
            <a:r>
              <a:rPr sz="1200" b="0">
                <a:solidFill>
                  <a:srgbClr val="E0DED8"/>
                </a:solidFill>
                <a:latin typeface="SF Mono"/>
              </a:rPr>
              <a:t>}</a:t>
            </a:r>
          </a:p>
        </p:txBody>
      </p:sp>
      <p:sp>
        <p:nvSpPr>
          <p:cNvPr id="15" name="TextBox 14"/>
          <p:cNvSpPr txBox="1"/>
          <p:nvPr/>
        </p:nvSpPr>
        <p:spPr>
          <a:xfrm>
            <a:off x="6200000" y="3865760"/>
            <a:ext cx="5000000" cy="548640"/>
          </a:xfrm>
          <a:prstGeom prst="rect">
            <a:avLst/>
          </a:prstGeom>
          <a:noFill/>
        </p:spPr>
        <p:txBody>
          <a:bodyPr wrap="square">
            <a:spAutoFit/>
          </a:bodyPr>
          <a:lstStyle/>
          <a:p>
            <a:pPr algn="l"/>
            <a:r>
              <a:rPr sz="1400" b="0">
                <a:solidFill>
                  <a:srgbClr val="E0DED8"/>
                </a:solidFill>
                <a:latin typeface="Hiragino Sans"/>
              </a:rPr>
              <a:t>言語に合わせた</a:t>
            </a:r>
          </a:p>
          <a:p>
            <a:pPr algn="l"/>
            <a:r>
              <a:rPr sz="1400" b="0">
                <a:solidFill>
                  <a:srgbClr val="E0DED8"/>
                </a:solidFill>
                <a:latin typeface="Hiragino Sans"/>
              </a:rPr>
              <a:t>品質チェックを</a:t>
            </a:r>
          </a:p>
          <a:p>
            <a:pPr algn="l"/>
            <a:r>
              <a:rPr sz="1400" b="0">
                <a:solidFill>
                  <a:srgbClr val="E0DED8"/>
                </a:solidFill>
                <a:latin typeface="Hiragino Sans"/>
              </a:rPr>
              <a:t>自動実行</a:t>
            </a:r>
          </a:p>
        </p:txBody>
      </p:sp>
      <p:cxnSp>
        <p:nvCxnSpPr>
          <p:cNvPr id="16" name="Connector 15"/>
          <p:cNvCxnSpPr/>
          <p:nvPr/>
        </p:nvCxnSpPr>
        <p:spPr>
          <a:xfrm>
            <a:off x="731520" y="46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4750000"/>
            <a:ext cx="10000000" cy="274320"/>
          </a:xfrm>
          <a:prstGeom prst="rect">
            <a:avLst/>
          </a:prstGeom>
          <a:noFill/>
        </p:spPr>
        <p:txBody>
          <a:bodyPr wrap="square">
            <a:spAutoFit/>
          </a:bodyPr>
          <a:lstStyle/>
          <a:p>
            <a:pPr algn="l"/>
            <a:r>
              <a:rPr sz="1400" b="0">
                <a:solidFill>
                  <a:srgbClr val="D97757"/>
                </a:solidFill>
                <a:latin typeface="Hiragino Sans"/>
              </a:rPr>
              <a:t>•  Hooksが失敗するとClaudeに通知 → Claudeが修正を試みる</a:t>
            </a:r>
          </a:p>
        </p:txBody>
      </p:sp>
      <p:sp>
        <p:nvSpPr>
          <p:cNvPr id="18" name="TextBox 17"/>
          <p:cNvSpPr txBox="1"/>
          <p:nvPr/>
        </p:nvSpPr>
        <p:spPr>
          <a:xfrm>
            <a:off x="914400" y="5070000"/>
            <a:ext cx="10000000" cy="274320"/>
          </a:xfrm>
          <a:prstGeom prst="rect">
            <a:avLst/>
          </a:prstGeom>
          <a:noFill/>
        </p:spPr>
        <p:txBody>
          <a:bodyPr wrap="square">
            <a:spAutoFit/>
          </a:bodyPr>
          <a:lstStyle/>
          <a:p>
            <a:pPr algn="l"/>
            <a:r>
              <a:rPr sz="1400" b="0">
                <a:solidFill>
                  <a:srgbClr val="E0DED8"/>
                </a:solidFill>
                <a:latin typeface="Hiragino Sans"/>
              </a:rPr>
              <a:t>•  「lint実行して」と毎回指示する必要がなくなる</a:t>
            </a:r>
          </a:p>
        </p:txBody>
      </p:sp>
      <p:sp>
        <p:nvSpPr>
          <p:cNvPr id="19" name="TextBox 18"/>
          <p:cNvSpPr txBox="1"/>
          <p:nvPr/>
        </p:nvSpPr>
        <p:spPr>
          <a:xfrm>
            <a:off x="914400" y="5390000"/>
            <a:ext cx="10000000" cy="274320"/>
          </a:xfrm>
          <a:prstGeom prst="rect">
            <a:avLst/>
          </a:prstGeom>
          <a:noFill/>
        </p:spPr>
        <p:txBody>
          <a:bodyPr wrap="square">
            <a:spAutoFit/>
          </a:bodyPr>
          <a:lstStyle/>
          <a:p>
            <a:pPr algn="l"/>
            <a:r>
              <a:rPr sz="1400" b="0">
                <a:solidFill>
                  <a:srgbClr val="E0DED8"/>
                </a:solidFill>
                <a:latin typeface="Hiragino Sans"/>
              </a:rPr>
              <a:t>•  チーム全員が同じチェックを自動実行</a:t>
            </a:r>
          </a:p>
        </p:txBody>
      </p:sp>
      <p:sp>
        <p:nvSpPr>
          <p:cNvPr id="20" name="TextBox 19"/>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10000000" cy="548640"/>
          </a:xfrm>
          <a:prstGeom prst="rect">
            <a:avLst/>
          </a:prstGeom>
          <a:noFill/>
        </p:spPr>
        <p:txBody>
          <a:bodyPr wrap="square">
            <a:spAutoFit/>
          </a:bodyPr>
          <a:lstStyle/>
          <a:p>
            <a:pPr algn="l"/>
            <a:r>
              <a:rPr sz="2800" b="1">
                <a:solidFill>
                  <a:srgbClr val="FAF9F5"/>
                </a:solidFill>
                <a:latin typeface="Hiragino Sans"/>
              </a:rPr>
              <a:t>まとめ / 次回予告</a:t>
            </a:r>
          </a:p>
        </p:txBody>
      </p:sp>
      <p:sp>
        <p:nvSpPr>
          <p:cNvPr id="3" name="TextBox 2"/>
          <p:cNvSpPr txBox="1"/>
          <p:nvPr/>
        </p:nvSpPr>
        <p:spPr>
          <a:xfrm>
            <a:off x="731520" y="914400"/>
            <a:ext cx="10000000" cy="365760"/>
          </a:xfrm>
          <a:prstGeom prst="rect">
            <a:avLst/>
          </a:prstGeom>
          <a:noFill/>
        </p:spPr>
        <p:txBody>
          <a:bodyPr wrap="square">
            <a:spAutoFit/>
          </a:bodyPr>
          <a:lstStyle/>
          <a:p>
            <a:pPr algn="l"/>
            <a:r>
              <a:rPr sz="2000" b="1">
                <a:solidFill>
                  <a:srgbClr val="B0AEA5"/>
                </a:solidFill>
                <a:latin typeface="Hiragino Sans"/>
              </a:rPr>
              <a:t>3つの持ち帰り</a:t>
            </a:r>
          </a:p>
        </p:txBody>
      </p:sp>
      <p:sp>
        <p:nvSpPr>
          <p:cNvPr id="4" name="Rounded Rectangle 3"/>
          <p:cNvSpPr/>
          <p:nvPr/>
        </p:nvSpPr>
        <p:spPr>
          <a:xfrm>
            <a:off x="731520" y="1371600"/>
            <a:ext cx="3429000" cy="27432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34290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55448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1</a:t>
            </a:r>
          </a:p>
        </p:txBody>
      </p:sp>
      <p:sp>
        <p:nvSpPr>
          <p:cNvPr id="7" name="TextBox 6"/>
          <p:cNvSpPr txBox="1"/>
          <p:nvPr/>
        </p:nvSpPr>
        <p:spPr>
          <a:xfrm>
            <a:off x="914400" y="2194560"/>
            <a:ext cx="3063240" cy="548640"/>
          </a:xfrm>
          <a:prstGeom prst="rect">
            <a:avLst/>
          </a:prstGeom>
          <a:noFill/>
        </p:spPr>
        <p:txBody>
          <a:bodyPr wrap="square">
            <a:spAutoFit/>
          </a:bodyPr>
          <a:lstStyle/>
          <a:p>
            <a:pPr algn="l"/>
            <a:r>
              <a:rPr sz="1600" b="1">
                <a:solidFill>
                  <a:srgbClr val="FAF9F5"/>
                </a:solidFill>
                <a:latin typeface="Hiragino Sans"/>
              </a:rPr>
              <a:t>CLAUDE.mdでプロジェクトの「常識」を教える</a:t>
            </a:r>
          </a:p>
        </p:txBody>
      </p:sp>
      <p:sp>
        <p:nvSpPr>
          <p:cNvPr id="8" name="TextBox 7"/>
          <p:cNvSpPr txBox="1"/>
          <p:nvPr/>
        </p:nvSpPr>
        <p:spPr>
          <a:xfrm>
            <a:off x="914400" y="2926080"/>
            <a:ext cx="3063240" cy="1097280"/>
          </a:xfrm>
          <a:prstGeom prst="rect">
            <a:avLst/>
          </a:prstGeom>
          <a:noFill/>
        </p:spPr>
        <p:txBody>
          <a:bodyPr wrap="square">
            <a:spAutoFit/>
          </a:bodyPr>
          <a:lstStyle/>
          <a:p>
            <a:pPr algn="l"/>
            <a:r>
              <a:rPr sz="1400" b="0">
                <a:solidFill>
                  <a:srgbClr val="E0DED8"/>
                </a:solidFill>
                <a:latin typeface="Hiragino Sans"/>
              </a:rPr>
              <a:t>コンテキストの仕組みを理解し、</a:t>
            </a:r>
          </a:p>
          <a:p>
            <a:pPr algn="l"/>
            <a:r>
              <a:rPr sz="1400" b="0">
                <a:solidFill>
                  <a:srgbClr val="E0DED8"/>
                </a:solidFill>
                <a:latin typeface="Hiragino Sans"/>
              </a:rPr>
              <a:t>永続的な設定ファイルで</a:t>
            </a:r>
          </a:p>
          <a:p>
            <a:pPr algn="l"/>
            <a:r>
              <a:rPr sz="1400" b="0">
                <a:solidFill>
                  <a:srgbClr val="E0DED8"/>
                </a:solidFill>
                <a:latin typeface="Hiragino Sans"/>
              </a:rPr>
              <a:t>毎回の説明を不要にする</a:t>
            </a:r>
          </a:p>
        </p:txBody>
      </p:sp>
      <p:sp>
        <p:nvSpPr>
          <p:cNvPr id="9" name="Rounded Rectangle 8"/>
          <p:cNvSpPr/>
          <p:nvPr/>
        </p:nvSpPr>
        <p:spPr>
          <a:xfrm>
            <a:off x="4389120" y="1371600"/>
            <a:ext cx="3429000" cy="27432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429000" cy="54864"/>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1554480"/>
            <a:ext cx="548640" cy="548640"/>
          </a:xfrm>
          <a:prstGeom prst="ellipse">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2</a:t>
            </a:r>
          </a:p>
        </p:txBody>
      </p:sp>
      <p:sp>
        <p:nvSpPr>
          <p:cNvPr id="12" name="TextBox 11"/>
          <p:cNvSpPr txBox="1"/>
          <p:nvPr/>
        </p:nvSpPr>
        <p:spPr>
          <a:xfrm>
            <a:off x="4572000" y="2194560"/>
            <a:ext cx="3063240" cy="548640"/>
          </a:xfrm>
          <a:prstGeom prst="rect">
            <a:avLst/>
          </a:prstGeom>
          <a:noFill/>
        </p:spPr>
        <p:txBody>
          <a:bodyPr wrap="square">
            <a:spAutoFit/>
          </a:bodyPr>
          <a:lstStyle/>
          <a:p>
            <a:pPr algn="l"/>
            <a:r>
              <a:rPr sz="1600" b="1">
                <a:solidFill>
                  <a:srgbClr val="FAF9F5"/>
                </a:solidFill>
                <a:latin typeface="Hiragino Sans"/>
              </a:rPr>
              <a:t>Skillsで繰り返しの指示をテンプレート化する</a:t>
            </a:r>
          </a:p>
        </p:txBody>
      </p:sp>
      <p:sp>
        <p:nvSpPr>
          <p:cNvPr id="13" name="TextBox 12"/>
          <p:cNvSpPr txBox="1"/>
          <p:nvPr/>
        </p:nvSpPr>
        <p:spPr>
          <a:xfrm>
            <a:off x="4572000" y="2926080"/>
            <a:ext cx="3063240" cy="1097280"/>
          </a:xfrm>
          <a:prstGeom prst="rect">
            <a:avLst/>
          </a:prstGeom>
          <a:noFill/>
        </p:spPr>
        <p:txBody>
          <a:bodyPr wrap="square">
            <a:spAutoFit/>
          </a:bodyPr>
          <a:lstStyle/>
          <a:p>
            <a:pPr algn="l"/>
            <a:r>
              <a:rPr sz="1400" b="0">
                <a:solidFill>
                  <a:srgbClr val="E0DED8"/>
                </a:solidFill>
                <a:latin typeface="Hiragino Sans"/>
              </a:rPr>
              <a:t>参照コンテンツ（知識）と</a:t>
            </a:r>
          </a:p>
          <a:p>
            <a:pPr algn="l"/>
            <a:r>
              <a:rPr sz="1400" b="0">
                <a:solidFill>
                  <a:srgbClr val="E0DED8"/>
                </a:solidFill>
                <a:latin typeface="Hiragino Sans"/>
              </a:rPr>
              <a:t>タスクコンテンツ（手順）を</a:t>
            </a:r>
          </a:p>
          <a:p>
            <a:pPr algn="l"/>
            <a:r>
              <a:rPr sz="1400" b="0">
                <a:solidFill>
                  <a:srgbClr val="E0DED8"/>
                </a:solidFill>
                <a:latin typeface="Hiragino Sans"/>
              </a:rPr>
              <a:t>使い分ける</a:t>
            </a:r>
          </a:p>
        </p:txBody>
      </p:sp>
      <p:sp>
        <p:nvSpPr>
          <p:cNvPr id="14" name="Rounded Rectangle 13"/>
          <p:cNvSpPr/>
          <p:nvPr/>
        </p:nvSpPr>
        <p:spPr>
          <a:xfrm>
            <a:off x="8046720" y="1371600"/>
            <a:ext cx="3429000" cy="27432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71600"/>
            <a:ext cx="3429000" cy="54864"/>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0" y="1554480"/>
            <a:ext cx="548640" cy="548640"/>
          </a:xfrm>
          <a:prstGeom prst="ellipse">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3</a:t>
            </a:r>
          </a:p>
        </p:txBody>
      </p:sp>
      <p:sp>
        <p:nvSpPr>
          <p:cNvPr id="17" name="TextBox 16"/>
          <p:cNvSpPr txBox="1"/>
          <p:nvPr/>
        </p:nvSpPr>
        <p:spPr>
          <a:xfrm>
            <a:off x="8229600" y="2194560"/>
            <a:ext cx="3063240" cy="548640"/>
          </a:xfrm>
          <a:prstGeom prst="rect">
            <a:avLst/>
          </a:prstGeom>
          <a:noFill/>
        </p:spPr>
        <p:txBody>
          <a:bodyPr wrap="square">
            <a:spAutoFit/>
          </a:bodyPr>
          <a:lstStyle/>
          <a:p>
            <a:pPr algn="l"/>
            <a:r>
              <a:rPr sz="1600" b="1">
                <a:solidFill>
                  <a:srgbClr val="FAF9F5"/>
                </a:solidFill>
                <a:latin typeface="Hiragino Sans"/>
              </a:rPr>
              <a:t>Hooksで品質チェックを自動化する</a:t>
            </a:r>
          </a:p>
        </p:txBody>
      </p:sp>
      <p:sp>
        <p:nvSpPr>
          <p:cNvPr id="18" name="TextBox 17"/>
          <p:cNvSpPr txBox="1"/>
          <p:nvPr/>
        </p:nvSpPr>
        <p:spPr>
          <a:xfrm>
            <a:off x="8229600" y="2926080"/>
            <a:ext cx="3063240" cy="1097280"/>
          </a:xfrm>
          <a:prstGeom prst="rect">
            <a:avLst/>
          </a:prstGeom>
          <a:noFill/>
        </p:spPr>
        <p:txBody>
          <a:bodyPr wrap="square">
            <a:spAutoFit/>
          </a:bodyPr>
          <a:lstStyle/>
          <a:p>
            <a:pPr algn="l"/>
            <a:r>
              <a:rPr sz="1400" b="0">
                <a:solidFill>
                  <a:srgbClr val="E0DED8"/>
                </a:solidFill>
                <a:latin typeface="Hiragino Sans"/>
              </a:rPr>
              <a:t>人間が忘れても、</a:t>
            </a:r>
          </a:p>
          <a:p>
            <a:pPr algn="l"/>
            <a:r>
              <a:rPr sz="1400" b="0">
                <a:solidFill>
                  <a:srgbClr val="E0DED8"/>
                </a:solidFill>
                <a:latin typeface="Hiragino Sans"/>
              </a:rPr>
              <a:t>lint・テスト・型チェックが</a:t>
            </a:r>
          </a:p>
          <a:p>
            <a:pPr algn="l"/>
            <a:r>
              <a:rPr sz="1400" b="0">
                <a:solidFill>
                  <a:srgbClr val="E0DED8"/>
                </a:solidFill>
                <a:latin typeface="Hiragino Sans"/>
              </a:rPr>
              <a:t>自動で走る</a:t>
            </a:r>
          </a:p>
        </p:txBody>
      </p:sp>
      <p:sp>
        <p:nvSpPr>
          <p:cNvPr id="19" name="TextBox 18"/>
          <p:cNvSpPr txBox="1"/>
          <p:nvPr/>
        </p:nvSpPr>
        <p:spPr>
          <a:xfrm>
            <a:off x="731520" y="4400000"/>
            <a:ext cx="10728960" cy="457200"/>
          </a:xfrm>
          <a:prstGeom prst="rect">
            <a:avLst/>
          </a:prstGeom>
          <a:noFill/>
        </p:spPr>
        <p:txBody>
          <a:bodyPr wrap="square">
            <a:spAutoFit/>
          </a:bodyPr>
          <a:lstStyle/>
          <a:p>
            <a:pPr algn="l"/>
            <a:r>
              <a:rPr sz="1800" b="1">
                <a:solidFill>
                  <a:srgbClr val="D97757"/>
                </a:solidFill>
                <a:latin typeface="Hiragino Sans"/>
              </a:rPr>
              <a:t>覚え方:  教える → 呼び出す → 自動化する</a:t>
            </a:r>
          </a:p>
        </p:txBody>
      </p:sp>
      <p:cxnSp>
        <p:nvCxnSpPr>
          <p:cNvPr id="20" name="Connector 19"/>
          <p:cNvCxnSpPr/>
          <p:nvPr/>
        </p:nvCxnSpPr>
        <p:spPr>
          <a:xfrm>
            <a:off x="731520" y="49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5050000"/>
            <a:ext cx="10728960" cy="457200"/>
          </a:xfrm>
          <a:prstGeom prst="rect">
            <a:avLst/>
          </a:prstGeom>
          <a:noFill/>
        </p:spPr>
        <p:txBody>
          <a:bodyPr wrap="square">
            <a:spAutoFit/>
          </a:bodyPr>
          <a:lstStyle/>
          <a:p>
            <a:pPr algn="l"/>
            <a:r>
              <a:rPr sz="1600" b="0">
                <a:solidFill>
                  <a:srgbClr val="B0AEA5"/>
                </a:solidFill>
                <a:latin typeface="Hiragino Sans"/>
              </a:rPr>
              <a:t>次回予告: 第3回「大規模開発に挑む」— MCP / worktree / サブエージェント</a:t>
            </a:r>
          </a:p>
        </p:txBody>
      </p:sp>
      <p:sp>
        <p:nvSpPr>
          <p:cNvPr id="22" name="TextBox 21"/>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