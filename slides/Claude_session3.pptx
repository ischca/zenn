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皆さんこんにちは。では第3回、最終回を始めます。</a:t>
            </a:r>
          </a:p>
          <a:p>
            <a:r>
              <a:t>今回は「大規模開発に挑む」がテーマです。</a:t>
            </a:r>
          </a:p>
          <a:p/>
          <a:p>
            <a:r>
              <a:t>前回まで、第1回ではClaude Codeの基本的な使い方とコミュニケーションの考え方、第2回ではCLAUDE.mdやsettings.jsonによるプロジェクトセットアップを学びました。</a:t>
            </a:r>
          </a:p>
          <a:p>
            <a:r>
              <a:t>今回は、そのセットアップされた環境をベースに、より大きな開発に対応するための実践的な使い方に踏み込んでいきます。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全3回の最終回です。</a:t>
            </a:r>
          </a:p>
          <a:p/>
          <a:p>
            <a:r>
              <a:t>第1回では基本とコミュニケーション、第2回ではCLAUDE.mdとsettings.jsonによるセットアップを扱いました。</a:t>
            </a:r>
          </a:p>
          <a:p/>
          <a:p>
            <a:r>
              <a:t>今回は、大規模開発に対応するための5つのトピックを扱います。</a:t>
            </a:r>
          </a:p>
          <a:p>
            <a:r>
              <a:t>この順番には意味がありまして、まずSkillsとサブエージェントで指示を仕組み化し、次にHooks・MCPで自動化と外部連携を整えて、最後にworktreeでそれらすべてを束ねて並列開発を実現する、という積み上げ式の流れで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今日のアジェンダです。</a:t>
            </a:r>
          </a:p>
          <a:p/>
          <a:p>
            <a:r>
              <a:t>PART 1はSkillsとサブエージェント。ここが今日のメインで、厚めにやります。繰り返しの指示を仕組み化する方法と、重い作業を委譲する方法の話です。</a:t>
            </a:r>
          </a:p>
          <a:p/>
          <a:p>
            <a:r>
              <a:t>PART 2はHooksとMCP。品質チェックの自動化と外部連携の話で、こちらは手短にいきます。</a:t>
            </a:r>
          </a:p>
          <a:p/>
          <a:p>
            <a:r>
              <a:t>PART 3はworktree。PART 1・2で整えた環境をすべて束ねて、並列開発を実現するという話です。最後にデモもお見せしますので、お楽しみにしてください。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では早速PART 1に入りましょう。Skillsとサブエージェントです。</a:t>
            </a:r>
          </a:p>
          <a:p/>
          <a:p>
            <a:r>
              <a:t>この2つは結構つながりが深くて、Skillsで指示を仕組み化し、サブエージェントで重い作業を委譲する。どちらもClaudeの能力を拡張する仕組みなんですが、使いどころが違います。そのあたりを順番に見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まずスキルの話から入るんですが、その前に前回の内容を少し振り返ります。</a:t>
            </a:r>
          </a:p>
          <a:p>
            <a:r>
              <a:t>前回、CLAUDE.mdが大きくなりすぎないように注意しましょう、という話をしました。500行以下が目安でしたよね。</a:t>
            </a:r>
          </a:p>
          <a:p>
            <a:r>
              <a:t>じゃあ、CLAUDE.mdに書ききれない専門知識や作業手順はどうするのか。そこでスキルの出番です。</a:t>
            </a:r>
          </a:p>
          <a:p/>
          <a:p>
            <a:r>
              <a:t>スキルは、スラッシュコマンドとして呼び出せる拡張機能です。</a:t>
            </a:r>
          </a:p>
          <a:p>
            <a:r>
              <a:t>最初から使えるコマンドやスキルも多数用意されています。これらは後ほどまとめて紹介します。</a:t>
            </a:r>
          </a:p>
          <a:p/>
          <a:p>
            <a:r>
              <a:t>前回学んだCLAUDE.mdとの違いが大事です。CLAUDE.mdは「常に」自動で読み込まれる「常識」。スキルは「必要なときだけ」読み込まれる「専門知識」です。</a:t>
            </a:r>
          </a:p>
          <a:p/>
          <a:p>
            <a:r>
              <a:t>ちなみに、スキルはAgent Skills Open Standardという業界標準に準拠しています。Claude Code用に作ったスキルが、GitHub CopilotやOpenAI Codex CLIでもそのまま動きます。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スキルには大きく2つのタイプがあります。</a:t>
            </a:r>
          </a:p>
          <a:p/>
          <a:p>
            <a:r>
              <a:t>参照コンテンツは「知識」を渡すタイプです。API設計パターンのように、関連する作業をClaudeが検知したときに自動で読み込まれます。</a:t>
            </a:r>
          </a:p>
          <a:p/>
          <a:p>
            <a:r>
              <a:t>タスクコンテンツは「手順」を渡すタイプ。/issue-planner 42 のように明示的に呼び出して使います。</a:t>
            </a:r>
          </a:p>
          <a:p>
            <a:r>
              <a:t>disable-model-invocation: true を設定すると、自動では呼び出されず、スラッシュコマンドとして呼び出したときだけ読み込まれるようになります。</a:t>
            </a:r>
          </a:p>
          <a:p/>
          <a:p>
            <a:r>
              <a:t>$ARGUMENTS というプレースホルダーで引数を受け取れるので、たとえばIssue番号を渡すと調査から設計まで一気に進みます。</a:t>
            </a:r>
          </a:p>
          <a:p>
            <a:r>
              <a:t>さらに !`command` という構文を使うと、シェルコマンドの実行結果をスキル本文に動的に注入できます。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チームで共有すると嬉しいスキル例を2つ紹介します。</a:t>
            </a:r>
          </a:p>
          <a:p/>
          <a:p>
            <a:r>
              <a:t>1つ目は issue-worker。Issue番号を渡すだけで、worktreeの作成からISSUE.mdの生成まで自動で行います。この後のPART 3で紹介するworktreeとの組み合わせで、複数Issueの並列開発ができるようになるので、ここは後でまた出てきます。</a:t>
            </a:r>
          </a:p>
          <a:p/>
          <a:p>
            <a:r>
              <a:t>2つ目はPR作成。PRのフォーマットがバラバラだと、レビューする側も大変ですよね。テンプレートをスキル化しておけば、チーム全体のPR品質が揃います。</a:t>
            </a:r>
          </a:p>
          <a:p/>
          <a:p>
            <a:r>
              <a:t>どちらも .claude/skills/ に置いてgit管理すれば、チーム全員が同じスキルを使えます。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スキルの設計で押さえておくべきポイントをいくつかお伝えします。</a:t>
            </a:r>
          </a:p>
          <a:p/>
          <a:p>
            <a:r>
              <a:t>まず設定フィールドですが、全部覚える必要はなくて、よく使うものだけ紹介します。</a:t>
            </a:r>
          </a:p>
          <a:p/>
          <a:p>
            <a:r>
              <a:t>allowed-tools で使えるツールを制限できます。たとえばレビュー用スキルなら読み取り系ツールだけに絞る、といった使い方です。</a:t>
            </a:r>
          </a:p>
          <a:p>
            <a:r>
              <a:t>context: fork を設定すると、スキルが独立したサブエージェントのコンテキストで実行されます。</a:t>
            </a:r>
          </a:p>
          <a:p/>
          <a:p>
            <a:r>
              <a:t>保存場所はプロジェクトとユーザーの2つ。チーム共有ならプロジェクト側、個人用ならユーザー側に置きます。</a:t>
            </a:r>
          </a:p>
          <a:p/>
          <a:p>
            <a:r>
              <a:t>ここまでがスキルの話です。スキルは「メイン会話の中で動く仕組み」。次に紹介するサブエージェントは「独立して動く仕組み」です。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ここまでカスタムスキルの作り方を見てきましたが、最初から使えるものも多数あります。</a:t>
            </a:r>
          </a:p>
          <a:p/>
          <a:p>
            <a:r>
              <a:t>/ を打つと一覧が出ますが、大きく2種類に分かれています。</a:t>
            </a:r>
          </a:p>
          <a:p/>
          <a:p>
            <a:r>
              <a:t>ビルトインコマンドは、Claude Code本体に組み込まれた固定機能です。50以上あるので /help で確認してみてください。</a:t>
            </a:r>
          </a:p>
          <a:p/>
          <a:p>
            <a:r>
              <a:t>バンドルスキルはプロンプトベースで、エージェントを起動して複雑なタスクを遂行します。特に /batch と /simplify が強力です。この2つはPART 3のworktreeの話で改めて触れます。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ここを理解しておくと、このあとのworktreeの話がすんなり入ってきますので、少しだけ丁寧にいきます。</a:t>
            </a:r>
          </a:p>
          <a:p/>
          <a:p>
            <a:r>
              <a:t>サブエージェントは、独立したコンテキストで動く専門エージェントです。</a:t>
            </a:r>
          </a:p>
          <a:p/>
          <a:p>
            <a:r>
              <a:t>たとえば「セキュリティの問題がないか調べて」と指示すると、サブエージェントが数十のファイルを読んで調査しますが、メインの会話に返されるのは要約だけです。</a:t>
            </a:r>
          </a:p>
          <a:p/>
          <a:p>
            <a:r>
              <a:t>前回学んだように、コンテキストは有限な資源でしたよね。大量のファイルを検索する作業をメインでやるとすぐにコンテキストが埋まりますが、サブエージェントに委譲すればメインのコンテキストを守れ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組み込みのサブエージェントが3つあります。Exploreは高速な検索特化型、Planはプランモード中の調査用、general-purposeは汎用タイプです。これらはClaudeが状況に応じて自動的に使い分けてくれます。</a:t>
            </a:r>
          </a:p>
          <a:p/>
          <a:p>
            <a:r>
              <a:t>カスタムのサブエージェントも作れます。.claude/agents/ にMarkdownファイルを置くだけです。</a:t>
            </a:r>
          </a:p>
          <a:p/>
          <a:p>
            <a:r>
              <a:t>大事なのがdescriptionです。たとえば「コード変更後に積極的にレビュー」と書いておけば、コード変更があったときに自動的にこのサブエージェントが呼ばれるようになります。</a:t>
            </a:r>
          </a:p>
          <a:p/>
          <a:p>
            <a:r>
              <a:t>isolation: worktree を追加すると、サブエージェントが独立したworktreeで動きます。</a:t>
            </a:r>
          </a:p>
          <a:p>
            <a:r>
              <a:t>memory: project を設定すると、サブエージェントがセッションをまたいで知見を蓄積してくれます。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1の締めくくりとして、スキルとサブエージェントの使い分けを整理します。</a:t>
            </a:r>
          </a:p>
          <a:p/>
          <a:p>
            <a:r>
              <a:t>どちらもClaudeの能力を拡張しますが、動作が違います。</a:t>
            </a:r>
          </a:p>
          <a:p/>
          <a:p>
            <a:r>
              <a:t>スキルはメイン会話の中で動くので、結果がそのまま残ります。1〜3ファイル程度の軽量な作業に向いています。</a:t>
            </a:r>
          </a:p>
          <a:p/>
          <a:p>
            <a:r>
              <a:t>サブエージェントは独立コンテキストで動いて、要約だけ返ります。数十ファイルの探索のような重い作業に向いています。</a:t>
            </a:r>
          </a:p>
          <a:p/>
          <a:p>
            <a:r>
              <a:t>覚え方としては、スキルは「手順書」、サブエージェントは「専門チームメンバー」。手順書は自分で見て実行するもの。チームメンバーには仕事を任せて報告だけもらう。</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ここからPART 2です。HooksとMCPを扱います。</a:t>
            </a:r>
          </a:p>
          <a:p/>
          <a:p>
            <a:r>
              <a:t>PART 1でSkillsとサブエージェントという「Claudeの能力を拡張する仕組み」を見ました。PART 2ではもう少し仕組みの側の話で、Hooksで品質チェックを自動化し、MCPで外部サービスと連携する方法を紹介します。どちらも手短にいきますね。</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Hooksは、Claude Codeの特定のタイミングで自動で処理を実行する仕組みです。</a:t>
            </a:r>
          </a:p>
          <a:p/>
          <a:p>
            <a:r>
              <a:t>ハンドラには4タイプあるんですが、一番よく使うのはcommand、つまりシェルコマンドの実行です。</a:t>
            </a:r>
          </a:p>
          <a:p/>
          <a:p>
            <a:r>
              <a:t>3つ実践例を紹介します。</a:t>
            </a:r>
          </a:p>
          <a:p>
            <a:r>
              <a:t>1つ目、ファイル編集後にlintを自動修正。</a:t>
            </a:r>
          </a:p>
          <a:p>
            <a:r>
              <a:t>2つ目、ファイル編集後にテストを自動実行。テストが失敗するとClaudeに通知されて、Claudeがテスト結果を見て自動で修正を試みてくれます。</a:t>
            </a:r>
          </a:p>
          <a:p>
            <a:r>
              <a:t>3つ目、完了通知。macOSの say コマンドで音声通知です。</a:t>
            </a:r>
          </a:p>
          <a:p/>
          <a:p>
            <a:r>
              <a:t>ここで大事なのは、Hooksが失敗するとClaudeにその結果が通知されて、Claudeが自分で修正を試みてくれること。自動チェックと自己修正の組み合わせが結構強力です。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MCPは外部サービスとの連携プロトコルです。Figmaやブラウザ、Jiraなどとの深い連携が必要な場合に使います。</a:t>
            </a:r>
          </a:p>
          <a:p/>
          <a:p>
            <a:r>
              <a:t>じゃあどういうときにMCPを使うのか。判断基準は基本的に、CLIで十分ならCLIを使う、ということです。Anthropic公式も「ghコマンドはGitHub MCPより多くのケースで適している」と言っていたりします。</a:t>
            </a:r>
          </a:p>
          <a:p/>
          <a:p>
            <a:r>
              <a:t>MCPは「CLIで足りないとき」の選択肢、と覚えておくのがいいかなと思います。設定方法は .mcp.json をリポジトリに置くだけです。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3、worktreeです。ここが今日の話の集大成になります。</a:t>
            </a:r>
          </a:p>
          <a:p/>
          <a:p>
            <a:r>
              <a:t>PART 1でSkillsとサブエージェント、PART 2でHooksとMCPを見てきました。これらの仕組みをすべて使いこなした上で、複数のタスクを並列で進める。それがworktreeとの組み合わせです。</a:t>
            </a:r>
          </a:p>
          <a:p>
            <a:r>
              <a:t>では具体的にどうやるのか見ていきましょう。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Codeには --worktree フラグが組み込まれています。claude --worktree feature-auth のように起動するだけで、自動的にworktreeが作成されて、独立した環境でセッションが始まります。</a:t>
            </a:r>
          </a:p>
          <a:p/>
          <a:p>
            <a:r>
              <a:t>--worktree だけでも並列作業はできるんですが、Issue番号との紐付けやISSUE.mdの自動生成まではやってくれません。そこで、PART 1で紹介した /issue-worker の出番です。</a:t>
            </a:r>
          </a:p>
          <a:p/>
          <a:p>
            <a:r>
              <a:t>/batch は大規模な変更を自動で分解し、各ユニットをworktree隔離で並列実行してPRまで作ってくれます。</a:t>
            </a:r>
          </a:p>
          <a:p>
            <a:r>
              <a:t>/simplify は実装後のコードレビュー用です。3つのレビューエージェントが並列で品質をチェックします。</a:t>
            </a:r>
          </a:p>
          <a:p/>
          <a:p>
            <a:r>
              <a:t>大事なポイントとして、--worktree で作られた環境にはCLAUDE.md、Skills、Hooks、サブエージェントの設定がすべて引き継がれます。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ここまでの全体像をまとめます。</a:t>
            </a:r>
          </a:p>
          <a:p/>
          <a:p>
            <a:r>
              <a:t>CLAUDE.mdで常識を教え、Skillsで手順を仕組み化し、Hooksで品質チェックを自動化し、サブエージェントで重い作業を委譲し、MCPで外部サービスと連携する。</a:t>
            </a:r>
          </a:p>
          <a:p>
            <a:r>
              <a:t>そしてworktreeで、これらがすべて揃った環境を複数同時に立ち上げて並列開発する。</a:t>
            </a:r>
          </a:p>
          <a:p/>
          <a:p>
            <a:r>
              <a:t>大規模開発のフローとしては、まずセットアップ。次にIssueごとにworktreeを作成。各worktreeでClaude Codeを起動し、独立して作業を進めます。Hooksが自動でチェックし、最後にPR作成。自動チェックはレビュー負荷を下げるためのもので、最終的なコードレビューとマージ判断は人間が行います。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では実際にやってみましょう。</a:t>
            </a:r>
          </a:p>
          <a:p/>
          <a:p>
            <a:r>
              <a:t>（/issue-worker を実行して）worktreeが作成されて、ISSUE.mdが自動生成されます。</a:t>
            </a:r>
          </a:p>
          <a:p>
            <a:r>
              <a:t>このworktreeには、CLAUDE.mdもSkillsもHooksの設定もすべて引き継がれています。</a:t>
            </a:r>
          </a:p>
          <a:p/>
          <a:p>
            <a:r>
              <a:t>Claude Codeを起動して「ISSUE.mdを読んで計画を立てて」と指示します。</a:t>
            </a:r>
          </a:p>
          <a:p>
            <a:r>
              <a:t>サブエージェントが関連コードを調査し、計画を提案してくれます。</a:t>
            </a:r>
          </a:p>
          <a:p>
            <a:r>
              <a:t>「OK、実装して」と言えば実装が始まり、Hooksによるlintチェックが自動で走ります。</a:t>
            </a:r>
          </a:p>
          <a:p/>
          <a:p>
            <a:r>
              <a:t>で、別のターミナルでは別のworktreeで別のIssueが並行して進んでいる。これが今日お話しした大規模開発の全体像です。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まとめです。今日の持ち帰りは3つ。</a:t>
            </a:r>
          </a:p>
          <a:p/>
          <a:p>
            <a:r>
              <a:t>1つ目。SkillsとサブエージェントでClaudeの能力を拡張する。軽い作業はスキル、重い探索はサブエージェント。手順書とチームメンバーの違いでしたね。</a:t>
            </a:r>
          </a:p>
          <a:p/>
          <a:p>
            <a:r>
              <a:t>2つ目。HooksとMCPで品質と連携を自動化する。Hooksは編集のたびに自動でチェック、MCPはCLIでは足りない外部連携に。</a:t>
            </a:r>
          </a:p>
          <a:p/>
          <a:p>
            <a:r>
              <a:t>3つ目。worktreeですべてを束ねて並列開発する。セットアップした環境がそのまま各worktreeに引き継がれます。</a:t>
            </a:r>
          </a:p>
          <a:p/>
          <a:p>
            <a:r>
              <a:t>全3回を通して、「理解する、定着させる、大規模開発に挑む」という流れでお話ししてきました。</a:t>
            </a:r>
          </a:p>
          <a:p/>
          <a:p>
            <a:r>
              <a:t>全3回にお付き合いいただき、ありがとうございました。</a:t>
            </a:r>
          </a:p>
          <a:p>
            <a:r>
              <a:t>まずは使ってみて、プロジェクトに合わせて育てていっていただければと思います。</a:t>
            </a:r>
          </a:p>
          <a:p>
            <a:r>
              <a:t>では、質疑応答に移ります。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Donut 1"/>
          <p:cNvSpPr/>
          <p:nvPr/>
        </p:nvSpPr>
        <p:spPr>
          <a:xfrm>
            <a:off x="8382000" y="-1143000"/>
            <a:ext cx="5486400" cy="5486400"/>
          </a:xfrm>
          <a:prstGeom prst="donut">
            <a:avLst/>
          </a:prstGeom>
          <a:noFill/>
          <a:ln w="25400">
            <a:solidFill>
              <a:srgbClr val="3A36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0" y="2743200"/>
            <a:ext cx="2286000" cy="22860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620000" y="1600200"/>
            <a:ext cx="3200400" cy="32004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57200" y="5486400"/>
            <a:ext cx="914400" cy="914400"/>
          </a:xfrm>
          <a:prstGeom prst="ellipse">
            <a:avLst/>
          </a:prstGeom>
          <a:noFill/>
          <a:ln w="25400">
            <a:solidFill>
              <a:srgbClr val="3A36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54864" cy="32004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97280" y="1097280"/>
            <a:ext cx="91440" cy="914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71600" y="1097280"/>
            <a:ext cx="91440" cy="914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45920" y="1097280"/>
            <a:ext cx="91440" cy="914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058400" y="5486400"/>
            <a:ext cx="1828800" cy="9144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371600"/>
            <a:ext cx="6400800" cy="1554480"/>
          </a:xfrm>
          <a:prstGeom prst="rect">
            <a:avLst/>
          </a:prstGeom>
          <a:noFill/>
        </p:spPr>
        <p:txBody>
          <a:bodyPr wrap="square">
            <a:spAutoFit/>
          </a:bodyPr>
          <a:lstStyle/>
          <a:p>
            <a:pPr algn="l"/>
            <a:r>
              <a:rPr sz="5200" b="1">
                <a:solidFill>
                  <a:srgbClr val="FAF9F5"/>
                </a:solidFill>
                <a:latin typeface="Hiragino Sans"/>
              </a:rPr>
              <a:t>Claude Code</a:t>
            </a:r>
          </a:p>
          <a:p>
            <a:pPr algn="l"/>
            <a:r>
              <a:rPr sz="5200" b="1">
                <a:solidFill>
                  <a:srgbClr val="FAF9F5"/>
                </a:solidFill>
                <a:latin typeface="Hiragino Sans"/>
              </a:rPr>
              <a:t>大規模開発に挑む</a:t>
            </a:r>
          </a:p>
        </p:txBody>
      </p:sp>
      <p:sp>
        <p:nvSpPr>
          <p:cNvPr id="12" name="TextBox 11"/>
          <p:cNvSpPr txBox="1"/>
          <p:nvPr/>
        </p:nvSpPr>
        <p:spPr>
          <a:xfrm>
            <a:off x="1097280" y="3109920"/>
            <a:ext cx="6400800" cy="548640"/>
          </a:xfrm>
          <a:prstGeom prst="rect">
            <a:avLst/>
          </a:prstGeom>
          <a:noFill/>
        </p:spPr>
        <p:txBody>
          <a:bodyPr wrap="square">
            <a:spAutoFit/>
          </a:bodyPr>
          <a:lstStyle/>
          <a:p>
            <a:pPr algn="l"/>
            <a:r>
              <a:rPr sz="2400" b="0">
                <a:solidFill>
                  <a:srgbClr val="D97757"/>
                </a:solidFill>
                <a:latin typeface="Hiragino Sans"/>
              </a:rPr>
              <a:t>〜 Skills / サブエージェント / Hooks / MCP / worktree 〜</a:t>
            </a:r>
          </a:p>
        </p:txBody>
      </p:sp>
      <p:cxnSp>
        <p:nvCxnSpPr>
          <p:cNvPr id="13" name="Connector 12"/>
          <p:cNvCxnSpPr/>
          <p:nvPr/>
        </p:nvCxnSpPr>
        <p:spPr>
          <a:xfrm>
            <a:off x="1097280" y="3840480"/>
            <a:ext cx="27432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097280" y="4023360"/>
            <a:ext cx="6400800" cy="457200"/>
          </a:xfrm>
          <a:prstGeom prst="rect">
            <a:avLst/>
          </a:prstGeom>
          <a:noFill/>
        </p:spPr>
        <p:txBody>
          <a:bodyPr wrap="square">
            <a:spAutoFit/>
          </a:bodyPr>
          <a:lstStyle/>
          <a:p>
            <a:pPr algn="l"/>
            <a:r>
              <a:rPr sz="1600" b="0">
                <a:solidFill>
                  <a:srgbClr val="B0AEA5"/>
                </a:solidFill>
                <a:latin typeface="Helvetica Neue"/>
              </a:rPr>
              <a:t>社内勉強会  |  第3回 / 全3回  |  20 min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6600" y="457200"/>
            <a:ext cx="7620000" cy="635000"/>
          </a:xfrm>
          <a:prstGeom prst="rect">
            <a:avLst/>
          </a:prstGeom>
          <a:noFill/>
        </p:spPr>
        <p:txBody>
          <a:bodyPr wrap="square">
            <a:spAutoFit/>
          </a:bodyPr>
          <a:lstStyle/>
          <a:p>
            <a:pPr algn="l"/>
            <a:r>
              <a:rPr sz="3200" b="1">
                <a:solidFill>
                  <a:srgbClr val="FAF9F5"/>
                </a:solidFill>
                <a:latin typeface="Hiragino Sans"/>
              </a:rPr>
              <a:t>全3回のロードマップ</a:t>
            </a:r>
          </a:p>
        </p:txBody>
      </p:sp>
      <p:sp>
        <p:nvSpPr>
          <p:cNvPr id="3" name="Rounded Rectangle 2"/>
          <p:cNvSpPr/>
          <p:nvPr/>
        </p:nvSpPr>
        <p:spPr>
          <a:xfrm>
            <a:off x="736600" y="1270000"/>
            <a:ext cx="3429000" cy="3937000"/>
          </a:xfrm>
          <a:prstGeom prst="roundRect">
            <a:avLst>
              <a:gd name="adj" fmla="val 4000"/>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6600" y="1270000"/>
            <a:ext cx="3429000" cy="63500"/>
          </a:xfrm>
          <a:prstGeom prst="rect">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65200" y="1574800"/>
            <a:ext cx="609600" cy="609600"/>
          </a:xfrm>
          <a:prstGeom prst="ellipse">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1</a:t>
            </a:r>
          </a:p>
        </p:txBody>
      </p:sp>
      <p:sp>
        <p:nvSpPr>
          <p:cNvPr id="6" name="TextBox 5"/>
          <p:cNvSpPr txBox="1"/>
          <p:nvPr/>
        </p:nvSpPr>
        <p:spPr>
          <a:xfrm>
            <a:off x="1701800" y="1625600"/>
            <a:ext cx="2286000" cy="508000"/>
          </a:xfrm>
          <a:prstGeom prst="rect">
            <a:avLst/>
          </a:prstGeom>
          <a:noFill/>
        </p:spPr>
        <p:txBody>
          <a:bodyPr wrap="square">
            <a:spAutoFit/>
          </a:bodyPr>
          <a:lstStyle/>
          <a:p>
            <a:pPr algn="l"/>
            <a:r>
              <a:rPr sz="1600" b="1">
                <a:solidFill>
                  <a:srgbClr val="B0AEA5"/>
                </a:solidFill>
                <a:latin typeface="Hiragino Sans"/>
              </a:rPr>
              <a:t>第1回（済）</a:t>
            </a:r>
          </a:p>
        </p:txBody>
      </p:sp>
      <p:sp>
        <p:nvSpPr>
          <p:cNvPr id="7" name="TextBox 6"/>
          <p:cNvSpPr txBox="1"/>
          <p:nvPr/>
        </p:nvSpPr>
        <p:spPr>
          <a:xfrm>
            <a:off x="965200" y="2413000"/>
            <a:ext cx="2984500" cy="1143000"/>
          </a:xfrm>
          <a:prstGeom prst="rect">
            <a:avLst/>
          </a:prstGeom>
          <a:noFill/>
        </p:spPr>
        <p:txBody>
          <a:bodyPr wrap="square">
            <a:spAutoFit/>
          </a:bodyPr>
          <a:lstStyle/>
          <a:p>
            <a:pPr algn="l"/>
            <a:r>
              <a:rPr sz="2200" b="1">
                <a:solidFill>
                  <a:srgbClr val="FAF9F5"/>
                </a:solidFill>
                <a:latin typeface="Hiragino Sans"/>
              </a:rPr>
              <a:t>理解する</a:t>
            </a:r>
          </a:p>
        </p:txBody>
      </p:sp>
      <p:cxnSp>
        <p:nvCxnSpPr>
          <p:cNvPr id="8" name="Connector 7"/>
          <p:cNvCxnSpPr/>
          <p:nvPr/>
        </p:nvCxnSpPr>
        <p:spPr>
          <a:xfrm>
            <a:off x="965200" y="3746500"/>
            <a:ext cx="29845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5200" y="3924300"/>
            <a:ext cx="2984500" cy="1016000"/>
          </a:xfrm>
          <a:prstGeom prst="rect">
            <a:avLst/>
          </a:prstGeom>
          <a:noFill/>
        </p:spPr>
        <p:txBody>
          <a:bodyPr wrap="square">
            <a:spAutoFit/>
          </a:bodyPr>
          <a:lstStyle/>
          <a:p>
            <a:pPr algn="l"/>
            <a:r>
              <a:rPr sz="1500" b="0">
                <a:solidFill>
                  <a:srgbClr val="C5C3BB"/>
                </a:solidFill>
                <a:latin typeface="Hiragino Sans"/>
              </a:rPr>
              <a:t>基本 / コミュニケーション / Plan Mode</a:t>
            </a:r>
          </a:p>
        </p:txBody>
      </p:sp>
      <p:sp>
        <p:nvSpPr>
          <p:cNvPr id="10" name="Rounded Rectangle 9"/>
          <p:cNvSpPr/>
          <p:nvPr/>
        </p:nvSpPr>
        <p:spPr>
          <a:xfrm>
            <a:off x="4394200" y="1270000"/>
            <a:ext cx="3429000" cy="3937000"/>
          </a:xfrm>
          <a:prstGeom prst="roundRect">
            <a:avLst>
              <a:gd name="adj" fmla="val 4000"/>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4200" y="1270000"/>
            <a:ext cx="3429000" cy="63500"/>
          </a:xfrm>
          <a:prstGeom prst="rect">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22800" y="1574800"/>
            <a:ext cx="609600" cy="609600"/>
          </a:xfrm>
          <a:prstGeom prst="ellipse">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2</a:t>
            </a:r>
          </a:p>
        </p:txBody>
      </p:sp>
      <p:sp>
        <p:nvSpPr>
          <p:cNvPr id="13" name="TextBox 12"/>
          <p:cNvSpPr txBox="1"/>
          <p:nvPr/>
        </p:nvSpPr>
        <p:spPr>
          <a:xfrm>
            <a:off x="5359400" y="1625600"/>
            <a:ext cx="2286000" cy="508000"/>
          </a:xfrm>
          <a:prstGeom prst="rect">
            <a:avLst/>
          </a:prstGeom>
          <a:noFill/>
        </p:spPr>
        <p:txBody>
          <a:bodyPr wrap="square">
            <a:spAutoFit/>
          </a:bodyPr>
          <a:lstStyle/>
          <a:p>
            <a:pPr algn="l"/>
            <a:r>
              <a:rPr sz="1600" b="1">
                <a:solidFill>
                  <a:srgbClr val="B0AEA5"/>
                </a:solidFill>
                <a:latin typeface="Hiragino Sans"/>
              </a:rPr>
              <a:t>第2回（済）</a:t>
            </a:r>
          </a:p>
        </p:txBody>
      </p:sp>
      <p:sp>
        <p:nvSpPr>
          <p:cNvPr id="14" name="TextBox 13"/>
          <p:cNvSpPr txBox="1"/>
          <p:nvPr/>
        </p:nvSpPr>
        <p:spPr>
          <a:xfrm>
            <a:off x="4622800" y="2413000"/>
            <a:ext cx="2984500" cy="1143000"/>
          </a:xfrm>
          <a:prstGeom prst="rect">
            <a:avLst/>
          </a:prstGeom>
          <a:noFill/>
        </p:spPr>
        <p:txBody>
          <a:bodyPr wrap="square">
            <a:spAutoFit/>
          </a:bodyPr>
          <a:lstStyle/>
          <a:p>
            <a:pPr algn="l"/>
            <a:r>
              <a:rPr sz="2200" b="1">
                <a:solidFill>
                  <a:srgbClr val="FAF9F5"/>
                </a:solidFill>
                <a:latin typeface="Hiragino Sans"/>
              </a:rPr>
              <a:t>プロジェクトに</a:t>
            </a:r>
          </a:p>
          <a:p>
            <a:pPr algn="l"/>
            <a:r>
              <a:rPr sz="2200" b="1">
                <a:solidFill>
                  <a:srgbClr val="FAF9F5"/>
                </a:solidFill>
                <a:latin typeface="Hiragino Sans"/>
              </a:rPr>
              <a:t>定着させる</a:t>
            </a:r>
          </a:p>
        </p:txBody>
      </p:sp>
      <p:cxnSp>
        <p:nvCxnSpPr>
          <p:cNvPr id="15" name="Connector 14"/>
          <p:cNvCxnSpPr/>
          <p:nvPr/>
        </p:nvCxnSpPr>
        <p:spPr>
          <a:xfrm>
            <a:off x="4622800" y="3746500"/>
            <a:ext cx="29845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622800" y="3924300"/>
            <a:ext cx="2984500" cy="1016000"/>
          </a:xfrm>
          <a:prstGeom prst="rect">
            <a:avLst/>
          </a:prstGeom>
          <a:noFill/>
        </p:spPr>
        <p:txBody>
          <a:bodyPr wrap="square">
            <a:spAutoFit/>
          </a:bodyPr>
          <a:lstStyle/>
          <a:p>
            <a:pPr algn="l"/>
            <a:r>
              <a:rPr sz="1500" b="0">
                <a:solidFill>
                  <a:srgbClr val="C5C3BB"/>
                </a:solidFill>
                <a:latin typeface="Hiragino Sans"/>
              </a:rPr>
              <a:t>CLAUDE.md / settings.json</a:t>
            </a:r>
          </a:p>
        </p:txBody>
      </p:sp>
      <p:sp>
        <p:nvSpPr>
          <p:cNvPr id="17" name="Rounded Rectangle 16"/>
          <p:cNvSpPr/>
          <p:nvPr/>
        </p:nvSpPr>
        <p:spPr>
          <a:xfrm>
            <a:off x="8051800" y="1270000"/>
            <a:ext cx="3429000" cy="3937000"/>
          </a:xfrm>
          <a:prstGeom prst="roundRect">
            <a:avLst>
              <a:gd name="adj" fmla="val 4000"/>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51800" y="1270000"/>
            <a:ext cx="3429000" cy="635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80400" y="1574800"/>
            <a:ext cx="609600" cy="6096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3</a:t>
            </a:r>
          </a:p>
        </p:txBody>
      </p:sp>
      <p:sp>
        <p:nvSpPr>
          <p:cNvPr id="20" name="TextBox 19"/>
          <p:cNvSpPr txBox="1"/>
          <p:nvPr/>
        </p:nvSpPr>
        <p:spPr>
          <a:xfrm>
            <a:off x="9017000" y="1625600"/>
            <a:ext cx="2286000" cy="508000"/>
          </a:xfrm>
          <a:prstGeom prst="rect">
            <a:avLst/>
          </a:prstGeom>
          <a:noFill/>
        </p:spPr>
        <p:txBody>
          <a:bodyPr wrap="square">
            <a:spAutoFit/>
          </a:bodyPr>
          <a:lstStyle/>
          <a:p>
            <a:pPr algn="l"/>
            <a:r>
              <a:rPr sz="1600" b="1">
                <a:solidFill>
                  <a:srgbClr val="D97757"/>
                </a:solidFill>
                <a:latin typeface="Hiragino Sans"/>
              </a:rPr>
              <a:t>第3回（今日）</a:t>
            </a:r>
          </a:p>
        </p:txBody>
      </p:sp>
      <p:sp>
        <p:nvSpPr>
          <p:cNvPr id="21" name="TextBox 20"/>
          <p:cNvSpPr txBox="1"/>
          <p:nvPr/>
        </p:nvSpPr>
        <p:spPr>
          <a:xfrm>
            <a:off x="8280400" y="2413000"/>
            <a:ext cx="2984500" cy="1143000"/>
          </a:xfrm>
          <a:prstGeom prst="rect">
            <a:avLst/>
          </a:prstGeom>
          <a:noFill/>
        </p:spPr>
        <p:txBody>
          <a:bodyPr wrap="square">
            <a:spAutoFit/>
          </a:bodyPr>
          <a:lstStyle/>
          <a:p>
            <a:pPr algn="l"/>
            <a:r>
              <a:rPr sz="2200" b="1">
                <a:solidFill>
                  <a:srgbClr val="FAF9F5"/>
                </a:solidFill>
                <a:latin typeface="Hiragino Sans"/>
              </a:rPr>
              <a:t>大規模開発に挑む</a:t>
            </a:r>
          </a:p>
        </p:txBody>
      </p:sp>
      <p:cxnSp>
        <p:nvCxnSpPr>
          <p:cNvPr id="22" name="Connector 21"/>
          <p:cNvCxnSpPr/>
          <p:nvPr/>
        </p:nvCxnSpPr>
        <p:spPr>
          <a:xfrm>
            <a:off x="8280400" y="3746500"/>
            <a:ext cx="29845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280400" y="3924300"/>
            <a:ext cx="2984500" cy="1016000"/>
          </a:xfrm>
          <a:prstGeom prst="rect">
            <a:avLst/>
          </a:prstGeom>
          <a:noFill/>
        </p:spPr>
        <p:txBody>
          <a:bodyPr wrap="square">
            <a:spAutoFit/>
          </a:bodyPr>
          <a:lstStyle/>
          <a:p>
            <a:pPr algn="l"/>
            <a:r>
              <a:rPr sz="1500" b="0">
                <a:solidFill>
                  <a:srgbClr val="C5C3BB"/>
                </a:solidFill>
                <a:latin typeface="Hiragino Sans"/>
              </a:rPr>
              <a:t>Skills / サブエージェント /</a:t>
            </a:r>
          </a:p>
          <a:p>
            <a:pPr algn="l"/>
            <a:r>
              <a:rPr sz="1500" b="0">
                <a:solidFill>
                  <a:srgbClr val="C5C3BB"/>
                </a:solidFill>
                <a:latin typeface="Hiragino Sans"/>
              </a:rPr>
              <a:t>Hooks / MCP / worktree</a:t>
            </a:r>
          </a:p>
        </p:txBody>
      </p:sp>
      <p:sp>
        <p:nvSpPr>
          <p:cNvPr id="24" name="TextBox 23"/>
          <p:cNvSpPr txBox="1"/>
          <p:nvPr/>
        </p:nvSpPr>
        <p:spPr>
          <a:xfrm>
            <a:off x="736600" y="5500000"/>
            <a:ext cx="10728960" cy="457200"/>
          </a:xfrm>
          <a:prstGeom prst="rect">
            <a:avLst/>
          </a:prstGeom>
          <a:noFill/>
        </p:spPr>
        <p:txBody>
          <a:bodyPr wrap="square">
            <a:spAutoFit/>
          </a:bodyPr>
          <a:lstStyle/>
          <a:p>
            <a:pPr algn="l"/>
            <a:r>
              <a:rPr sz="1600" b="1">
                <a:solidFill>
                  <a:srgbClr val="D97757"/>
                </a:solidFill>
                <a:latin typeface="Hiragino Sans"/>
              </a:rPr>
              <a:t>今日のゴール: 繰り返しの指示を仕組み化し、複数タスクの並列開発ができるようになる</a:t>
            </a:r>
          </a:p>
        </p:txBody>
      </p:sp>
      <p:sp>
        <p:nvSpPr>
          <p:cNvPr id="25" name="TextBox 24"/>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6600" y="457200"/>
            <a:ext cx="7620000" cy="635000"/>
          </a:xfrm>
          <a:prstGeom prst="rect">
            <a:avLst/>
          </a:prstGeom>
          <a:noFill/>
        </p:spPr>
        <p:txBody>
          <a:bodyPr wrap="square">
            <a:spAutoFit/>
          </a:bodyPr>
          <a:lstStyle/>
          <a:p>
            <a:pPr algn="l"/>
            <a:r>
              <a:rPr sz="3200" b="1">
                <a:solidFill>
                  <a:srgbClr val="FAF9F5"/>
                </a:solidFill>
                <a:latin typeface="Hiragino Sans"/>
              </a:rPr>
              <a:t>今日のアジェンダ</a:t>
            </a:r>
          </a:p>
        </p:txBody>
      </p:sp>
      <p:sp>
        <p:nvSpPr>
          <p:cNvPr id="3" name="Rounded Rectangle 2"/>
          <p:cNvSpPr/>
          <p:nvPr/>
        </p:nvSpPr>
        <p:spPr>
          <a:xfrm>
            <a:off x="736600" y="1400000"/>
            <a:ext cx="3429000" cy="32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6600" y="1400000"/>
            <a:ext cx="3429000" cy="54864"/>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5200" y="1582880"/>
            <a:ext cx="2971800" cy="365760"/>
          </a:xfrm>
          <a:prstGeom prst="rect">
            <a:avLst/>
          </a:prstGeom>
          <a:noFill/>
        </p:spPr>
        <p:txBody>
          <a:bodyPr wrap="square">
            <a:spAutoFit/>
          </a:bodyPr>
          <a:lstStyle/>
          <a:p>
            <a:pPr algn="l"/>
            <a:r>
              <a:rPr sz="1600" b="1">
                <a:solidFill>
                  <a:srgbClr val="D97757"/>
                </a:solidFill>
                <a:latin typeface="Helvetica Neue"/>
              </a:rPr>
              <a:t>PART 1</a:t>
            </a:r>
          </a:p>
        </p:txBody>
      </p:sp>
      <p:sp>
        <p:nvSpPr>
          <p:cNvPr id="6" name="TextBox 5"/>
          <p:cNvSpPr txBox="1"/>
          <p:nvPr/>
        </p:nvSpPr>
        <p:spPr>
          <a:xfrm>
            <a:off x="965200" y="2040080"/>
            <a:ext cx="2971800" cy="762000"/>
          </a:xfrm>
          <a:prstGeom prst="rect">
            <a:avLst/>
          </a:prstGeom>
          <a:noFill/>
        </p:spPr>
        <p:txBody>
          <a:bodyPr wrap="square">
            <a:spAutoFit/>
          </a:bodyPr>
          <a:lstStyle/>
          <a:p>
            <a:pPr algn="l"/>
            <a:r>
              <a:rPr sz="2400" b="1">
                <a:solidFill>
                  <a:srgbClr val="FAF9F5"/>
                </a:solidFill>
                <a:latin typeface="Hiragino Sans"/>
              </a:rPr>
              <a:t>Skills &amp;</a:t>
            </a:r>
          </a:p>
          <a:p>
            <a:pPr algn="l"/>
            <a:r>
              <a:rPr sz="2400" b="1">
                <a:solidFill>
                  <a:srgbClr val="FAF9F5"/>
                </a:solidFill>
                <a:latin typeface="Hiragino Sans"/>
              </a:rPr>
              <a:t>サブエージェント</a:t>
            </a:r>
          </a:p>
        </p:txBody>
      </p:sp>
      <p:cxnSp>
        <p:nvCxnSpPr>
          <p:cNvPr id="7" name="Connector 6"/>
          <p:cNvCxnSpPr/>
          <p:nvPr/>
        </p:nvCxnSpPr>
        <p:spPr>
          <a:xfrm>
            <a:off x="965200" y="2954480"/>
            <a:ext cx="2971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5200" y="3137360"/>
            <a:ext cx="2971800" cy="1200000"/>
          </a:xfrm>
          <a:prstGeom prst="rect">
            <a:avLst/>
          </a:prstGeom>
          <a:noFill/>
        </p:spPr>
        <p:txBody>
          <a:bodyPr wrap="square">
            <a:spAutoFit/>
          </a:bodyPr>
          <a:lstStyle/>
          <a:p>
            <a:pPr algn="l">
              <a:spcAft>
                <a:spcPts val="400"/>
              </a:spcAft>
            </a:pPr>
            <a:r>
              <a:rPr sz="1400" b="0">
                <a:solidFill>
                  <a:srgbClr val="E0DED8"/>
                </a:solidFill>
                <a:latin typeface="Hiragino Sans"/>
              </a:rPr>
              <a:t>Claudeの能力を拡張する2つの仕組み。</a:t>
            </a:r>
          </a:p>
          <a:p>
            <a:pPr algn="l">
              <a:spcAft>
                <a:spcPts val="400"/>
              </a:spcAft>
            </a:pPr>
            <a:r>
              <a:rPr sz="1400" b="0">
                <a:solidFill>
                  <a:srgbClr val="E0DED8"/>
                </a:solidFill>
                <a:latin typeface="Hiragino Sans"/>
              </a:rPr>
              <a:t>繰り返しの指示を仕組み化し、</a:t>
            </a:r>
          </a:p>
          <a:p>
            <a:pPr algn="l">
              <a:spcAft>
                <a:spcPts val="400"/>
              </a:spcAft>
            </a:pPr>
            <a:r>
              <a:rPr sz="1400" b="0">
                <a:solidFill>
                  <a:srgbClr val="E0DED8"/>
                </a:solidFill>
                <a:latin typeface="Hiragino Sans"/>
              </a:rPr>
              <a:t>重い作業を委譲する</a:t>
            </a:r>
          </a:p>
        </p:txBody>
      </p:sp>
      <p:sp>
        <p:nvSpPr>
          <p:cNvPr id="9" name="Rounded Rectangle 8"/>
          <p:cNvSpPr/>
          <p:nvPr/>
        </p:nvSpPr>
        <p:spPr>
          <a:xfrm>
            <a:off x="4394200" y="1400000"/>
            <a:ext cx="3429000" cy="32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94200" y="1400000"/>
            <a:ext cx="3429000" cy="54864"/>
          </a:xfrm>
          <a:prstGeom prst="rect">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2800" y="1582880"/>
            <a:ext cx="2971800" cy="365760"/>
          </a:xfrm>
          <a:prstGeom prst="rect">
            <a:avLst/>
          </a:prstGeom>
          <a:noFill/>
        </p:spPr>
        <p:txBody>
          <a:bodyPr wrap="square">
            <a:spAutoFit/>
          </a:bodyPr>
          <a:lstStyle/>
          <a:p>
            <a:pPr algn="l"/>
            <a:r>
              <a:rPr sz="1600" b="1">
                <a:solidFill>
                  <a:srgbClr val="6A9BCC"/>
                </a:solidFill>
                <a:latin typeface="Helvetica Neue"/>
              </a:rPr>
              <a:t>PART 2</a:t>
            </a:r>
          </a:p>
        </p:txBody>
      </p:sp>
      <p:sp>
        <p:nvSpPr>
          <p:cNvPr id="12" name="TextBox 11"/>
          <p:cNvSpPr txBox="1"/>
          <p:nvPr/>
        </p:nvSpPr>
        <p:spPr>
          <a:xfrm>
            <a:off x="4622800" y="2040080"/>
            <a:ext cx="2971800" cy="762000"/>
          </a:xfrm>
          <a:prstGeom prst="rect">
            <a:avLst/>
          </a:prstGeom>
          <a:noFill/>
        </p:spPr>
        <p:txBody>
          <a:bodyPr wrap="square">
            <a:spAutoFit/>
          </a:bodyPr>
          <a:lstStyle/>
          <a:p>
            <a:pPr algn="l"/>
            <a:r>
              <a:rPr sz="2400" b="1">
                <a:solidFill>
                  <a:srgbClr val="FAF9F5"/>
                </a:solidFill>
                <a:latin typeface="Hiragino Sans"/>
              </a:rPr>
              <a:t>Hooks &amp; MCP</a:t>
            </a:r>
          </a:p>
        </p:txBody>
      </p:sp>
      <p:cxnSp>
        <p:nvCxnSpPr>
          <p:cNvPr id="13" name="Connector 12"/>
          <p:cNvCxnSpPr/>
          <p:nvPr/>
        </p:nvCxnSpPr>
        <p:spPr>
          <a:xfrm>
            <a:off x="4622800" y="2954480"/>
            <a:ext cx="2971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622800" y="3137360"/>
            <a:ext cx="2971800" cy="1200000"/>
          </a:xfrm>
          <a:prstGeom prst="rect">
            <a:avLst/>
          </a:prstGeom>
          <a:noFill/>
        </p:spPr>
        <p:txBody>
          <a:bodyPr wrap="square">
            <a:spAutoFit/>
          </a:bodyPr>
          <a:lstStyle/>
          <a:p>
            <a:pPr algn="l">
              <a:spcAft>
                <a:spcPts val="400"/>
              </a:spcAft>
            </a:pPr>
            <a:r>
              <a:rPr sz="1400" b="0">
                <a:solidFill>
                  <a:srgbClr val="E0DED8"/>
                </a:solidFill>
                <a:latin typeface="Hiragino Sans"/>
              </a:rPr>
              <a:t>品質チェックの自動化と</a:t>
            </a:r>
          </a:p>
          <a:p>
            <a:pPr algn="l">
              <a:spcAft>
                <a:spcPts val="400"/>
              </a:spcAft>
            </a:pPr>
            <a:r>
              <a:rPr sz="1400" b="0">
                <a:solidFill>
                  <a:srgbClr val="E0DED8"/>
                </a:solidFill>
                <a:latin typeface="Hiragino Sans"/>
              </a:rPr>
              <a:t>外部サービス連携。</a:t>
            </a:r>
          </a:p>
          <a:p>
            <a:pPr algn="l">
              <a:spcAft>
                <a:spcPts val="400"/>
              </a:spcAft>
            </a:pPr>
            <a:r>
              <a:rPr sz="1400" b="0">
                <a:solidFill>
                  <a:srgbClr val="E0DED8"/>
                </a:solidFill>
                <a:latin typeface="Hiragino Sans"/>
              </a:rPr>
              <a:t>短めにいきます</a:t>
            </a:r>
          </a:p>
        </p:txBody>
      </p:sp>
      <p:sp>
        <p:nvSpPr>
          <p:cNvPr id="15" name="Rounded Rectangle 14"/>
          <p:cNvSpPr/>
          <p:nvPr/>
        </p:nvSpPr>
        <p:spPr>
          <a:xfrm>
            <a:off x="8051800" y="1400000"/>
            <a:ext cx="3429000" cy="32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51800" y="1400000"/>
            <a:ext cx="3429000" cy="54864"/>
          </a:xfrm>
          <a:prstGeom prst="rect">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80400" y="1582880"/>
            <a:ext cx="2971800" cy="365760"/>
          </a:xfrm>
          <a:prstGeom prst="rect">
            <a:avLst/>
          </a:prstGeom>
          <a:noFill/>
        </p:spPr>
        <p:txBody>
          <a:bodyPr wrap="square">
            <a:spAutoFit/>
          </a:bodyPr>
          <a:lstStyle/>
          <a:p>
            <a:pPr algn="l"/>
            <a:r>
              <a:rPr sz="1600" b="1">
                <a:solidFill>
                  <a:srgbClr val="7BC9A0"/>
                </a:solidFill>
                <a:latin typeface="Helvetica Neue"/>
              </a:rPr>
              <a:t>PART 3</a:t>
            </a:r>
          </a:p>
        </p:txBody>
      </p:sp>
      <p:sp>
        <p:nvSpPr>
          <p:cNvPr id="18" name="TextBox 17"/>
          <p:cNvSpPr txBox="1"/>
          <p:nvPr/>
        </p:nvSpPr>
        <p:spPr>
          <a:xfrm>
            <a:off x="8280400" y="2040080"/>
            <a:ext cx="2971800" cy="762000"/>
          </a:xfrm>
          <a:prstGeom prst="rect">
            <a:avLst/>
          </a:prstGeom>
          <a:noFill/>
        </p:spPr>
        <p:txBody>
          <a:bodyPr wrap="square">
            <a:spAutoFit/>
          </a:bodyPr>
          <a:lstStyle/>
          <a:p>
            <a:pPr algn="l"/>
            <a:r>
              <a:rPr sz="2400" b="1">
                <a:solidFill>
                  <a:srgbClr val="FAF9F5"/>
                </a:solidFill>
                <a:latin typeface="Hiragino Sans"/>
              </a:rPr>
              <a:t>worktree</a:t>
            </a:r>
          </a:p>
        </p:txBody>
      </p:sp>
      <p:cxnSp>
        <p:nvCxnSpPr>
          <p:cNvPr id="19" name="Connector 18"/>
          <p:cNvCxnSpPr/>
          <p:nvPr/>
        </p:nvCxnSpPr>
        <p:spPr>
          <a:xfrm>
            <a:off x="8280400" y="2954480"/>
            <a:ext cx="2971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80400" y="3137360"/>
            <a:ext cx="2971800" cy="1200000"/>
          </a:xfrm>
          <a:prstGeom prst="rect">
            <a:avLst/>
          </a:prstGeom>
          <a:noFill/>
        </p:spPr>
        <p:txBody>
          <a:bodyPr wrap="square">
            <a:spAutoFit/>
          </a:bodyPr>
          <a:lstStyle/>
          <a:p>
            <a:pPr algn="l">
              <a:spcAft>
                <a:spcPts val="400"/>
              </a:spcAft>
            </a:pPr>
            <a:r>
              <a:rPr sz="1400" b="0">
                <a:solidFill>
                  <a:srgbClr val="E0DED8"/>
                </a:solidFill>
                <a:latin typeface="Hiragino Sans"/>
              </a:rPr>
              <a:t>PART 1・2で整えた環境を束ねて、</a:t>
            </a:r>
          </a:p>
          <a:p>
            <a:pPr algn="l">
              <a:spcAft>
                <a:spcPts val="400"/>
              </a:spcAft>
            </a:pPr>
            <a:r>
              <a:rPr sz="1400" b="0">
                <a:solidFill>
                  <a:srgbClr val="E0DED8"/>
                </a:solidFill>
                <a:latin typeface="Hiragino Sans"/>
              </a:rPr>
              <a:t>複数タスクを並列で進める。</a:t>
            </a:r>
          </a:p>
          <a:p>
            <a:pPr algn="l">
              <a:spcAft>
                <a:spcPts val="400"/>
              </a:spcAft>
            </a:pPr>
            <a:r>
              <a:rPr sz="1400" b="0">
                <a:solidFill>
                  <a:srgbClr val="E0DED8"/>
                </a:solidFill>
                <a:latin typeface="Hiragino Sans"/>
              </a:rPr>
              <a:t>デモあり</a:t>
            </a:r>
          </a:p>
        </p:txBody>
      </p:sp>
      <p:sp>
        <p:nvSpPr>
          <p:cNvPr id="21" name="TextBox 20"/>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31F1D"/>
        </a:solidFill>
        <a:effectLst/>
      </p:bgPr>
    </p:bg>
    <p:spTree>
      <p:nvGrpSpPr>
        <p:cNvPr id="1" name=""/>
        <p:cNvGrpSpPr/>
        <p:nvPr/>
      </p:nvGrpSpPr>
      <p:grpSpPr/>
      <p:cxnSp>
        <p:nvCxnSpPr>
          <p:cNvPr id="2" name="Connector 1"/>
          <p:cNvCxnSpPr/>
          <p:nvPr/>
        </p:nvCxnSpPr>
        <p:spPr>
          <a:xfrm>
            <a:off x="73152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63168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0" y="2000000"/>
            <a:ext cx="12192000" cy="457200"/>
          </a:xfrm>
          <a:prstGeom prst="rect">
            <a:avLst/>
          </a:prstGeom>
          <a:noFill/>
        </p:spPr>
        <p:txBody>
          <a:bodyPr wrap="square">
            <a:spAutoFit/>
          </a:bodyPr>
          <a:lstStyle/>
          <a:p>
            <a:pPr algn="ctr"/>
            <a:r>
              <a:rPr sz="1800" b="1">
                <a:solidFill>
                  <a:srgbClr val="D97757"/>
                </a:solidFill>
                <a:latin typeface="Helvetica Neue"/>
              </a:rPr>
              <a:t>PART 1</a:t>
            </a:r>
          </a:p>
        </p:txBody>
      </p:sp>
      <p:sp>
        <p:nvSpPr>
          <p:cNvPr id="5" name="TextBox 4"/>
          <p:cNvSpPr txBox="1"/>
          <p:nvPr/>
        </p:nvSpPr>
        <p:spPr>
          <a:xfrm>
            <a:off x="0" y="2600000"/>
            <a:ext cx="12192000" cy="762000"/>
          </a:xfrm>
          <a:prstGeom prst="rect">
            <a:avLst/>
          </a:prstGeom>
          <a:noFill/>
        </p:spPr>
        <p:txBody>
          <a:bodyPr wrap="square">
            <a:spAutoFit/>
          </a:bodyPr>
          <a:lstStyle/>
          <a:p>
            <a:pPr algn="ctr"/>
            <a:r>
              <a:rPr sz="4000" b="1">
                <a:solidFill>
                  <a:srgbClr val="FAF9F5"/>
                </a:solidFill>
                <a:latin typeface="Hiragino Sans"/>
              </a:rPr>
              <a:t>Skills &amp; サブエージェント</a:t>
            </a:r>
          </a:p>
        </p:txBody>
      </p:sp>
      <p:sp>
        <p:nvSpPr>
          <p:cNvPr id="6" name="TextBox 5"/>
          <p:cNvSpPr txBox="1"/>
          <p:nvPr/>
        </p:nvSpPr>
        <p:spPr>
          <a:xfrm>
            <a:off x="0" y="3500000"/>
            <a:ext cx="12192000" cy="457200"/>
          </a:xfrm>
          <a:prstGeom prst="rect">
            <a:avLst/>
          </a:prstGeom>
          <a:noFill/>
        </p:spPr>
        <p:txBody>
          <a:bodyPr wrap="square">
            <a:spAutoFit/>
          </a:bodyPr>
          <a:lstStyle/>
          <a:p>
            <a:pPr algn="ctr"/>
            <a:r>
              <a:rPr sz="2400" b="0">
                <a:solidFill>
                  <a:srgbClr val="C5C3BB"/>
                </a:solidFill>
                <a:latin typeface="Hiragino Sans"/>
              </a:rPr>
              <a:t>繰り返しをなくし、分業する</a:t>
            </a:r>
          </a:p>
        </p:txBody>
      </p:sp>
      <p:sp>
        <p:nvSpPr>
          <p:cNvPr id="7" name="TextBox 6"/>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Skills &amp;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スキルとは</a:t>
            </a:r>
          </a:p>
        </p:txBody>
      </p:sp>
      <p:sp>
        <p:nvSpPr>
          <p:cNvPr id="4" name="TextBox 3"/>
          <p:cNvSpPr txBox="1"/>
          <p:nvPr/>
        </p:nvSpPr>
        <p:spPr>
          <a:xfrm>
            <a:off x="731520" y="1200000"/>
            <a:ext cx="10000000" cy="365760"/>
          </a:xfrm>
          <a:prstGeom prst="rect">
            <a:avLst/>
          </a:prstGeom>
          <a:noFill/>
        </p:spPr>
        <p:txBody>
          <a:bodyPr wrap="square">
            <a:spAutoFit/>
          </a:bodyPr>
          <a:lstStyle/>
          <a:p>
            <a:pPr algn="l"/>
            <a:r>
              <a:rPr sz="1800" b="1">
                <a:solidFill>
                  <a:srgbClr val="D97757"/>
                </a:solidFill>
                <a:latin typeface="Hiragino Sans"/>
              </a:rPr>
              <a:t>スラッシュコマンドとして使える拡張機能</a:t>
            </a:r>
          </a:p>
        </p:txBody>
      </p:sp>
      <p:sp>
        <p:nvSpPr>
          <p:cNvPr id="5" name="Rounded Rectangle 4"/>
          <p:cNvSpPr/>
          <p:nvPr/>
        </p:nvSpPr>
        <p:spPr>
          <a:xfrm>
            <a:off x="731520" y="1700000"/>
            <a:ext cx="4800000" cy="9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91440"/>
            <a:ext cx="4525680" cy="717120"/>
          </a:xfrm>
          <a:prstGeom prst="rect">
            <a:avLst/>
          </a:prstGeom>
          <a:noFill/>
        </p:spPr>
        <p:txBody>
          <a:bodyPr wrap="square">
            <a:spAutoFit/>
          </a:bodyPr>
          <a:lstStyle/>
          <a:p>
            <a:pPr algn="l"/>
            <a:r>
              <a:rPr sz="1200" b="0">
                <a:solidFill>
                  <a:srgbClr val="E0DED8"/>
                </a:solidFill>
                <a:latin typeface="SF Mono"/>
              </a:rPr>
              <a:t>.claude/skills/</a:t>
            </a:r>
          </a:p>
          <a:p>
            <a:pPr algn="l"/>
            <a:r>
              <a:rPr sz="1200" b="0">
                <a:solidFill>
                  <a:srgbClr val="E0DED8"/>
                </a:solidFill>
                <a:latin typeface="SF Mono"/>
              </a:rPr>
              <a:t>├── review/</a:t>
            </a:r>
          </a:p>
          <a:p>
            <a:pPr algn="l"/>
            <a:r>
              <a:rPr sz="1200" b="0">
                <a:solidFill>
                  <a:srgbClr val="E0DED8"/>
                </a:solidFill>
                <a:latin typeface="SF Mono"/>
              </a:rPr>
              <a:t>│   └── SKILL.md      # /review で呼び出せる</a:t>
            </a:r>
          </a:p>
          <a:p>
            <a:pPr algn="l"/>
            <a:r>
              <a:rPr sz="1200" b="0">
                <a:solidFill>
                  <a:srgbClr val="E0DED8"/>
                </a:solidFill>
                <a:latin typeface="SF Mono"/>
              </a:rPr>
              <a:t>└── deploy.md          # /deploy で呼び出せる</a:t>
            </a:r>
          </a:p>
        </p:txBody>
      </p:sp>
      <p:sp>
        <p:nvSpPr>
          <p:cNvPr id="7" name="TextBox 6"/>
          <p:cNvSpPr txBox="1"/>
          <p:nvPr/>
        </p:nvSpPr>
        <p:spPr>
          <a:xfrm>
            <a:off x="731520" y="2800000"/>
            <a:ext cx="5000000" cy="365760"/>
          </a:xfrm>
          <a:prstGeom prst="rect">
            <a:avLst/>
          </a:prstGeom>
          <a:noFill/>
        </p:spPr>
        <p:txBody>
          <a:bodyPr wrap="square">
            <a:spAutoFit/>
          </a:bodyPr>
          <a:lstStyle/>
          <a:p>
            <a:pPr algn="l"/>
            <a:r>
              <a:rPr sz="1800" b="1">
                <a:solidFill>
                  <a:srgbClr val="FAF9F5"/>
                </a:solidFill>
                <a:latin typeface="Hiragino Sans"/>
              </a:rPr>
              <a:t>CLAUDE.mdとの違い</a:t>
            </a:r>
          </a:p>
        </p:txBody>
      </p:sp>
      <p:sp>
        <p:nvSpPr>
          <p:cNvPr id="8" name="Rectangle 7"/>
          <p:cNvSpPr/>
          <p:nvPr/>
        </p:nvSpPr>
        <p:spPr>
          <a:xfrm>
            <a:off x="731520" y="3200000"/>
            <a:ext cx="220000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268580"/>
            <a:ext cx="2017120" cy="274320"/>
          </a:xfrm>
          <a:prstGeom prst="rect">
            <a:avLst/>
          </a:prstGeom>
          <a:noFill/>
        </p:spPr>
        <p:txBody>
          <a:bodyPr wrap="square">
            <a:spAutoFit/>
          </a:bodyPr>
          <a:lstStyle/>
          <a:p>
            <a:pPr algn="l"/>
            <a:r>
              <a:rPr sz="1400" b="1">
                <a:solidFill>
                  <a:srgbClr val="D97757"/>
                </a:solidFill>
                <a:latin typeface="Hiragino Sans"/>
              </a:rPr>
              <a:t/>
            </a:r>
          </a:p>
        </p:txBody>
      </p:sp>
      <p:sp>
        <p:nvSpPr>
          <p:cNvPr id="10" name="Rectangle 9"/>
          <p:cNvSpPr/>
          <p:nvPr/>
        </p:nvSpPr>
        <p:spPr>
          <a:xfrm>
            <a:off x="2931520" y="3200000"/>
            <a:ext cx="426448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22960" y="3268580"/>
            <a:ext cx="4081600" cy="274320"/>
          </a:xfrm>
          <a:prstGeom prst="rect">
            <a:avLst/>
          </a:prstGeom>
          <a:noFill/>
        </p:spPr>
        <p:txBody>
          <a:bodyPr wrap="square">
            <a:spAutoFit/>
          </a:bodyPr>
          <a:lstStyle/>
          <a:p>
            <a:pPr algn="l"/>
            <a:r>
              <a:rPr sz="1400" b="1">
                <a:solidFill>
                  <a:srgbClr val="D97757"/>
                </a:solidFill>
                <a:latin typeface="Hiragino Sans"/>
              </a:rPr>
              <a:t>CLAUDE.md</a:t>
            </a:r>
          </a:p>
        </p:txBody>
      </p:sp>
      <p:sp>
        <p:nvSpPr>
          <p:cNvPr id="12" name="Rectangle 11"/>
          <p:cNvSpPr/>
          <p:nvPr/>
        </p:nvSpPr>
        <p:spPr>
          <a:xfrm>
            <a:off x="7196000" y="3200000"/>
            <a:ext cx="426448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87440" y="3268580"/>
            <a:ext cx="4081600" cy="274320"/>
          </a:xfrm>
          <a:prstGeom prst="rect">
            <a:avLst/>
          </a:prstGeom>
          <a:noFill/>
        </p:spPr>
        <p:txBody>
          <a:bodyPr wrap="square">
            <a:spAutoFit/>
          </a:bodyPr>
          <a:lstStyle/>
          <a:p>
            <a:pPr algn="l"/>
            <a:r>
              <a:rPr sz="1400" b="1">
                <a:solidFill>
                  <a:srgbClr val="D97757"/>
                </a:solidFill>
                <a:latin typeface="Hiragino Sans"/>
              </a:rPr>
              <a:t>スキル</a:t>
            </a:r>
          </a:p>
        </p:txBody>
      </p:sp>
      <p:sp>
        <p:nvSpPr>
          <p:cNvPr id="14" name="Rectangle 13"/>
          <p:cNvSpPr/>
          <p:nvPr/>
        </p:nvSpPr>
        <p:spPr>
          <a:xfrm>
            <a:off x="731520" y="3565760"/>
            <a:ext cx="22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634340"/>
            <a:ext cx="2017120" cy="274320"/>
          </a:xfrm>
          <a:prstGeom prst="rect">
            <a:avLst/>
          </a:prstGeom>
          <a:noFill/>
        </p:spPr>
        <p:txBody>
          <a:bodyPr wrap="square">
            <a:spAutoFit/>
          </a:bodyPr>
          <a:lstStyle/>
          <a:p>
            <a:pPr algn="l"/>
            <a:r>
              <a:rPr sz="1400" b="1">
                <a:solidFill>
                  <a:srgbClr val="FAF9F5"/>
                </a:solidFill>
                <a:latin typeface="Hiragino Sans"/>
              </a:rPr>
              <a:t>読み込み</a:t>
            </a:r>
          </a:p>
        </p:txBody>
      </p:sp>
      <p:sp>
        <p:nvSpPr>
          <p:cNvPr id="16" name="Rectangle 15"/>
          <p:cNvSpPr/>
          <p:nvPr/>
        </p:nvSpPr>
        <p:spPr>
          <a:xfrm>
            <a:off x="2931520" y="3565760"/>
            <a:ext cx="426448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22960" y="3634340"/>
            <a:ext cx="4081600" cy="274320"/>
          </a:xfrm>
          <a:prstGeom prst="rect">
            <a:avLst/>
          </a:prstGeom>
          <a:noFill/>
        </p:spPr>
        <p:txBody>
          <a:bodyPr wrap="square">
            <a:spAutoFit/>
          </a:bodyPr>
          <a:lstStyle/>
          <a:p>
            <a:pPr algn="l"/>
            <a:r>
              <a:rPr sz="1400" b="0">
                <a:solidFill>
                  <a:srgbClr val="E0DED8"/>
                </a:solidFill>
                <a:latin typeface="Hiragino Sans"/>
              </a:rPr>
              <a:t>常に自動</a:t>
            </a:r>
          </a:p>
        </p:txBody>
      </p:sp>
      <p:sp>
        <p:nvSpPr>
          <p:cNvPr id="18" name="Rectangle 17"/>
          <p:cNvSpPr/>
          <p:nvPr/>
        </p:nvSpPr>
        <p:spPr>
          <a:xfrm>
            <a:off x="7196000" y="3565760"/>
            <a:ext cx="426448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87440" y="3634340"/>
            <a:ext cx="4081600" cy="274320"/>
          </a:xfrm>
          <a:prstGeom prst="rect">
            <a:avLst/>
          </a:prstGeom>
          <a:noFill/>
        </p:spPr>
        <p:txBody>
          <a:bodyPr wrap="square">
            <a:spAutoFit/>
          </a:bodyPr>
          <a:lstStyle/>
          <a:p>
            <a:pPr algn="l"/>
            <a:r>
              <a:rPr sz="1400" b="0">
                <a:solidFill>
                  <a:srgbClr val="E0DED8"/>
                </a:solidFill>
                <a:latin typeface="Hiragino Sans"/>
              </a:rPr>
              <a:t>必要なときだけ</a:t>
            </a:r>
          </a:p>
        </p:txBody>
      </p:sp>
      <p:sp>
        <p:nvSpPr>
          <p:cNvPr id="20" name="Rectangle 19"/>
          <p:cNvSpPr/>
          <p:nvPr/>
        </p:nvSpPr>
        <p:spPr>
          <a:xfrm>
            <a:off x="731520" y="3935760"/>
            <a:ext cx="220000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004340"/>
            <a:ext cx="2017120" cy="274320"/>
          </a:xfrm>
          <a:prstGeom prst="rect">
            <a:avLst/>
          </a:prstGeom>
          <a:noFill/>
        </p:spPr>
        <p:txBody>
          <a:bodyPr wrap="square">
            <a:spAutoFit/>
          </a:bodyPr>
          <a:lstStyle/>
          <a:p>
            <a:pPr algn="l"/>
            <a:r>
              <a:rPr sz="1400" b="1">
                <a:solidFill>
                  <a:srgbClr val="FAF9F5"/>
                </a:solidFill>
                <a:latin typeface="Hiragino Sans"/>
              </a:rPr>
              <a:t>内容</a:t>
            </a:r>
          </a:p>
        </p:txBody>
      </p:sp>
      <p:sp>
        <p:nvSpPr>
          <p:cNvPr id="22" name="Rectangle 21"/>
          <p:cNvSpPr/>
          <p:nvPr/>
        </p:nvSpPr>
        <p:spPr>
          <a:xfrm>
            <a:off x="2931520" y="3935760"/>
            <a:ext cx="426448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22960" y="4004340"/>
            <a:ext cx="4081600" cy="274320"/>
          </a:xfrm>
          <a:prstGeom prst="rect">
            <a:avLst/>
          </a:prstGeom>
          <a:noFill/>
        </p:spPr>
        <p:txBody>
          <a:bodyPr wrap="square">
            <a:spAutoFit/>
          </a:bodyPr>
          <a:lstStyle/>
          <a:p>
            <a:pPr algn="l"/>
            <a:r>
              <a:rPr sz="1400" b="0">
                <a:solidFill>
                  <a:srgbClr val="E0DED8"/>
                </a:solidFill>
                <a:latin typeface="Hiragino Sans"/>
              </a:rPr>
              <a:t>プロジェクトの基本ルール</a:t>
            </a:r>
          </a:p>
        </p:txBody>
      </p:sp>
      <p:sp>
        <p:nvSpPr>
          <p:cNvPr id="24" name="Rectangle 23"/>
          <p:cNvSpPr/>
          <p:nvPr/>
        </p:nvSpPr>
        <p:spPr>
          <a:xfrm>
            <a:off x="7196000" y="3935760"/>
            <a:ext cx="426448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87440" y="4004340"/>
            <a:ext cx="4081600" cy="274320"/>
          </a:xfrm>
          <a:prstGeom prst="rect">
            <a:avLst/>
          </a:prstGeom>
          <a:noFill/>
        </p:spPr>
        <p:txBody>
          <a:bodyPr wrap="square">
            <a:spAutoFit/>
          </a:bodyPr>
          <a:lstStyle/>
          <a:p>
            <a:pPr algn="l"/>
            <a:r>
              <a:rPr sz="1400" b="0">
                <a:solidFill>
                  <a:srgbClr val="E0DED8"/>
                </a:solidFill>
                <a:latin typeface="Hiragino Sans"/>
              </a:rPr>
              <a:t>特定の作業手順・知識</a:t>
            </a:r>
          </a:p>
        </p:txBody>
      </p:sp>
      <p:sp>
        <p:nvSpPr>
          <p:cNvPr id="26" name="Rectangle 25"/>
          <p:cNvSpPr/>
          <p:nvPr/>
        </p:nvSpPr>
        <p:spPr>
          <a:xfrm>
            <a:off x="731520" y="4305760"/>
            <a:ext cx="22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374340"/>
            <a:ext cx="2017120" cy="274320"/>
          </a:xfrm>
          <a:prstGeom prst="rect">
            <a:avLst/>
          </a:prstGeom>
          <a:noFill/>
        </p:spPr>
        <p:txBody>
          <a:bodyPr wrap="square">
            <a:spAutoFit/>
          </a:bodyPr>
          <a:lstStyle/>
          <a:p>
            <a:pPr algn="l"/>
            <a:r>
              <a:rPr sz="1400" b="1">
                <a:solidFill>
                  <a:srgbClr val="FAF9F5"/>
                </a:solidFill>
                <a:latin typeface="Hiragino Sans"/>
              </a:rPr>
              <a:t>目安</a:t>
            </a:r>
          </a:p>
        </p:txBody>
      </p:sp>
      <p:sp>
        <p:nvSpPr>
          <p:cNvPr id="28" name="Rectangle 27"/>
          <p:cNvSpPr/>
          <p:nvPr/>
        </p:nvSpPr>
        <p:spPr>
          <a:xfrm>
            <a:off x="2931520" y="4305760"/>
            <a:ext cx="426448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22960" y="4374340"/>
            <a:ext cx="4081600" cy="274320"/>
          </a:xfrm>
          <a:prstGeom prst="rect">
            <a:avLst/>
          </a:prstGeom>
          <a:noFill/>
        </p:spPr>
        <p:txBody>
          <a:bodyPr wrap="square">
            <a:spAutoFit/>
          </a:bodyPr>
          <a:lstStyle/>
          <a:p>
            <a:pPr algn="l"/>
            <a:r>
              <a:rPr sz="1400" b="0">
                <a:solidFill>
                  <a:srgbClr val="E0DED8"/>
                </a:solidFill>
                <a:latin typeface="Hiragino Sans"/>
              </a:rPr>
              <a:t>500行以下</a:t>
            </a:r>
          </a:p>
        </p:txBody>
      </p:sp>
      <p:sp>
        <p:nvSpPr>
          <p:cNvPr id="30" name="Rectangle 29"/>
          <p:cNvSpPr/>
          <p:nvPr/>
        </p:nvSpPr>
        <p:spPr>
          <a:xfrm>
            <a:off x="7196000" y="4305760"/>
            <a:ext cx="426448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87440" y="4374340"/>
            <a:ext cx="4081600" cy="274320"/>
          </a:xfrm>
          <a:prstGeom prst="rect">
            <a:avLst/>
          </a:prstGeom>
          <a:noFill/>
        </p:spPr>
        <p:txBody>
          <a:bodyPr wrap="square">
            <a:spAutoFit/>
          </a:bodyPr>
          <a:lstStyle/>
          <a:p>
            <a:pPr algn="l"/>
            <a:r>
              <a:rPr sz="1400" b="0">
                <a:solidFill>
                  <a:srgbClr val="E0DED8"/>
                </a:solidFill>
                <a:latin typeface="Hiragino Sans"/>
              </a:rPr>
              <a:t>必要に応じて分割</a:t>
            </a:r>
          </a:p>
        </p:txBody>
      </p:sp>
      <p:sp>
        <p:nvSpPr>
          <p:cNvPr id="32" name="Rectangle 31"/>
          <p:cNvSpPr/>
          <p:nvPr/>
        </p:nvSpPr>
        <p:spPr>
          <a:xfrm>
            <a:off x="731520" y="4675760"/>
            <a:ext cx="220000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4744340"/>
            <a:ext cx="2017120" cy="274320"/>
          </a:xfrm>
          <a:prstGeom prst="rect">
            <a:avLst/>
          </a:prstGeom>
          <a:noFill/>
        </p:spPr>
        <p:txBody>
          <a:bodyPr wrap="square">
            <a:spAutoFit/>
          </a:bodyPr>
          <a:lstStyle/>
          <a:p>
            <a:pPr algn="l"/>
            <a:r>
              <a:rPr sz="1400" b="1">
                <a:solidFill>
                  <a:srgbClr val="FAF9F5"/>
                </a:solidFill>
                <a:latin typeface="Hiragino Sans"/>
              </a:rPr>
              <a:t>例</a:t>
            </a:r>
          </a:p>
        </p:txBody>
      </p:sp>
      <p:sp>
        <p:nvSpPr>
          <p:cNvPr id="34" name="Rectangle 33"/>
          <p:cNvSpPr/>
          <p:nvPr/>
        </p:nvSpPr>
        <p:spPr>
          <a:xfrm>
            <a:off x="2931520" y="4675760"/>
            <a:ext cx="426448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022960" y="4744340"/>
            <a:ext cx="4081600" cy="274320"/>
          </a:xfrm>
          <a:prstGeom prst="rect">
            <a:avLst/>
          </a:prstGeom>
          <a:noFill/>
        </p:spPr>
        <p:txBody>
          <a:bodyPr wrap="square">
            <a:spAutoFit/>
          </a:bodyPr>
          <a:lstStyle/>
          <a:p>
            <a:pPr algn="l"/>
            <a:r>
              <a:rPr sz="1400" b="0">
                <a:solidFill>
                  <a:srgbClr val="E0DED8"/>
                </a:solidFill>
                <a:latin typeface="Hiragino Sans"/>
              </a:rPr>
              <a:t>コーディング規約、ビルドコマンド</a:t>
            </a:r>
          </a:p>
        </p:txBody>
      </p:sp>
      <p:sp>
        <p:nvSpPr>
          <p:cNvPr id="36" name="Rectangle 35"/>
          <p:cNvSpPr/>
          <p:nvPr/>
        </p:nvSpPr>
        <p:spPr>
          <a:xfrm>
            <a:off x="7196000" y="4675760"/>
            <a:ext cx="426448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87440" y="4744340"/>
            <a:ext cx="4081600" cy="274320"/>
          </a:xfrm>
          <a:prstGeom prst="rect">
            <a:avLst/>
          </a:prstGeom>
          <a:noFill/>
        </p:spPr>
        <p:txBody>
          <a:bodyPr wrap="square">
            <a:spAutoFit/>
          </a:bodyPr>
          <a:lstStyle/>
          <a:p>
            <a:pPr algn="l"/>
            <a:r>
              <a:rPr sz="1400" b="0">
                <a:solidFill>
                  <a:srgbClr val="E0DED8"/>
                </a:solidFill>
                <a:latin typeface="Hiragino Sans"/>
              </a:rPr>
              <a:t>レビュー手順、デプロイフロー</a:t>
            </a:r>
          </a:p>
        </p:txBody>
      </p:sp>
      <p:sp>
        <p:nvSpPr>
          <p:cNvPr id="38" name="Rectangle 37"/>
          <p:cNvSpPr/>
          <p:nvPr/>
        </p:nvSpPr>
        <p:spPr>
          <a:xfrm>
            <a:off x="731520" y="62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31520" y="62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6291440"/>
            <a:ext cx="10400000" cy="365760"/>
          </a:xfrm>
          <a:prstGeom prst="rect">
            <a:avLst/>
          </a:prstGeom>
          <a:noFill/>
        </p:spPr>
        <p:txBody>
          <a:bodyPr wrap="square">
            <a:spAutoFit/>
          </a:bodyPr>
          <a:lstStyle/>
          <a:p>
            <a:pPr algn="l"/>
            <a:r>
              <a:rPr sz="1400" b="1">
                <a:solidFill>
                  <a:srgbClr val="D97757"/>
                </a:solidFill>
                <a:latin typeface="Hiragino Sans"/>
              </a:rPr>
              <a:t>→ CLAUDE.md = 常識、スキル = 専門知識。Agent Skills Open Standardに準拠</a:t>
            </a:r>
          </a:p>
        </p:txBody>
      </p:sp>
      <p:sp>
        <p:nvSpPr>
          <p:cNvPr id="41" name="TextBox 40"/>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Skills &amp;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スキルの2タイプ</a:t>
            </a:r>
          </a:p>
        </p:txBody>
      </p:sp>
      <p:sp>
        <p:nvSpPr>
          <p:cNvPr id="4" name="TextBox 3"/>
          <p:cNvSpPr txBox="1"/>
          <p:nvPr/>
        </p:nvSpPr>
        <p:spPr>
          <a:xfrm>
            <a:off x="731520" y="1200000"/>
            <a:ext cx="5200000" cy="365760"/>
          </a:xfrm>
          <a:prstGeom prst="rect">
            <a:avLst/>
          </a:prstGeom>
          <a:noFill/>
        </p:spPr>
        <p:txBody>
          <a:bodyPr wrap="square">
            <a:spAutoFit/>
          </a:bodyPr>
          <a:lstStyle/>
          <a:p>
            <a:pPr algn="l"/>
            <a:r>
              <a:rPr sz="1800" b="1">
                <a:solidFill>
                  <a:srgbClr val="D97757"/>
                </a:solidFill>
                <a:latin typeface="Hiragino Sans"/>
              </a:rPr>
              <a:t>参照コンテンツ — 知識を渡す</a:t>
            </a:r>
          </a:p>
        </p:txBody>
      </p:sp>
      <p:sp>
        <p:nvSpPr>
          <p:cNvPr id="5" name="Rounded Rectangle 4"/>
          <p:cNvSpPr/>
          <p:nvPr/>
        </p:nvSpPr>
        <p:spPr>
          <a:xfrm>
            <a:off x="731520" y="1650000"/>
            <a:ext cx="5200000" cy="24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41440"/>
            <a:ext cx="4925680" cy="2217120"/>
          </a:xfrm>
          <a:prstGeom prst="rect">
            <a:avLst/>
          </a:prstGeom>
          <a:noFill/>
        </p:spPr>
        <p:txBody>
          <a:bodyPr wrap="square">
            <a:spAutoFit/>
          </a:bodyPr>
          <a:lstStyle/>
          <a:p>
            <a:pPr algn="l"/>
            <a:r>
              <a:rPr sz="1200" b="0">
                <a:solidFill>
                  <a:srgbClr val="E0DED8"/>
                </a:solidFill>
                <a:latin typeface="SF Mono"/>
              </a:rPr>
              <a:t>---</a:t>
            </a:r>
          </a:p>
          <a:p>
            <a:pPr algn="l"/>
            <a:r>
              <a:rPr sz="1200" b="0">
                <a:solidFill>
                  <a:srgbClr val="E0DED8"/>
                </a:solidFill>
                <a:latin typeface="SF Mono"/>
              </a:rPr>
              <a:t>name: api-conventions</a:t>
            </a:r>
          </a:p>
          <a:p>
            <a:pPr algn="l"/>
            <a:r>
              <a:rPr sz="1200" b="0">
                <a:solidFill>
                  <a:srgbClr val="E0DED8"/>
                </a:solidFill>
                <a:latin typeface="SF Mono"/>
              </a:rPr>
              <a:t>description: APIエンドポイント作成時の</a:t>
            </a:r>
          </a:p>
          <a:p>
            <a:pPr algn="l"/>
            <a:r>
              <a:rPr sz="1200" b="0">
                <a:solidFill>
                  <a:srgbClr val="E0DED8"/>
                </a:solidFill>
                <a:latin typeface="SF Mono"/>
              </a:rPr>
              <a:t>             設計パターン</a:t>
            </a:r>
          </a:p>
          <a:p>
            <a:pPr algn="l"/>
            <a:r>
              <a:rPr sz="1200" b="0">
                <a:solidFill>
                  <a:srgbClr val="E0DED8"/>
                </a:solidFill>
                <a:latin typeface="SF Mono"/>
              </a:rPr>
              <a:t>---</a:t>
            </a:r>
          </a:p>
          <a:p>
            <a:pPr algn="l"/>
            <a:r>
              <a:rPr sz="1200" b="0">
                <a:solidFill>
                  <a:srgbClr val="E0DED8"/>
                </a:solidFill>
                <a:latin typeface="SF Mono"/>
              </a:rPr>
              <a:t/>
            </a:r>
          </a:p>
          <a:p>
            <a:pPr algn="l"/>
            <a:r>
              <a:rPr sz="1200" b="0">
                <a:solidFill>
                  <a:srgbClr val="E0DED8"/>
                </a:solidFill>
                <a:latin typeface="SF Mono"/>
              </a:rPr>
              <a:t>APIエンドポイントを書くときは以下に従う。</a:t>
            </a:r>
          </a:p>
          <a:p>
            <a:pPr algn="l"/>
            <a:r>
              <a:rPr sz="1200" b="0">
                <a:solidFill>
                  <a:srgbClr val="E0DED8"/>
                </a:solidFill>
                <a:latin typeface="SF Mono"/>
              </a:rPr>
              <a:t>- RESTfulな命名規則を使う</a:t>
            </a:r>
          </a:p>
          <a:p>
            <a:pPr algn="l"/>
            <a:r>
              <a:rPr sz="1200" b="0">
                <a:solidFill>
                  <a:srgbClr val="E0DED8"/>
                </a:solidFill>
                <a:latin typeface="SF Mono"/>
              </a:rPr>
              <a:t>- 一貫したエラーフォーマットを返す</a:t>
            </a:r>
          </a:p>
          <a:p>
            <a:pPr algn="l"/>
            <a:r>
              <a:rPr sz="1200" b="0">
                <a:solidFill>
                  <a:srgbClr val="E0DED8"/>
                </a:solidFill>
                <a:latin typeface="SF Mono"/>
              </a:rPr>
              <a:t>- リクエストバリデーションを含める</a:t>
            </a:r>
          </a:p>
        </p:txBody>
      </p:sp>
      <p:sp>
        <p:nvSpPr>
          <p:cNvPr id="7" name="TextBox 6"/>
          <p:cNvSpPr txBox="1"/>
          <p:nvPr/>
        </p:nvSpPr>
        <p:spPr>
          <a:xfrm>
            <a:off x="731520" y="4150000"/>
            <a:ext cx="5200000" cy="365760"/>
          </a:xfrm>
          <a:prstGeom prst="rect">
            <a:avLst/>
          </a:prstGeom>
          <a:noFill/>
        </p:spPr>
        <p:txBody>
          <a:bodyPr wrap="square">
            <a:spAutoFit/>
          </a:bodyPr>
          <a:lstStyle/>
          <a:p>
            <a:pPr algn="l"/>
            <a:r>
              <a:rPr sz="1400" b="1">
                <a:solidFill>
                  <a:srgbClr val="D97757"/>
                </a:solidFill>
                <a:latin typeface="Hiragino Sans"/>
              </a:rPr>
              <a:t>→ Claudeが関連する作業を検知したとき、自動で読み込まれる</a:t>
            </a:r>
          </a:p>
        </p:txBody>
      </p:sp>
      <p:sp>
        <p:nvSpPr>
          <p:cNvPr id="8" name="TextBox 7"/>
          <p:cNvSpPr txBox="1"/>
          <p:nvPr/>
        </p:nvSpPr>
        <p:spPr>
          <a:xfrm>
            <a:off x="6160000" y="1200000"/>
            <a:ext cx="5200000" cy="365760"/>
          </a:xfrm>
          <a:prstGeom prst="rect">
            <a:avLst/>
          </a:prstGeom>
          <a:noFill/>
        </p:spPr>
        <p:txBody>
          <a:bodyPr wrap="square">
            <a:spAutoFit/>
          </a:bodyPr>
          <a:lstStyle/>
          <a:p>
            <a:pPr algn="l"/>
            <a:r>
              <a:rPr sz="1800" b="1">
                <a:solidFill>
                  <a:srgbClr val="6A9BCC"/>
                </a:solidFill>
                <a:latin typeface="Hiragino Sans"/>
              </a:rPr>
              <a:t>タスクコンテンツ — 手順を渡す</a:t>
            </a:r>
          </a:p>
        </p:txBody>
      </p:sp>
      <p:sp>
        <p:nvSpPr>
          <p:cNvPr id="9" name="Rounded Rectangle 8"/>
          <p:cNvSpPr/>
          <p:nvPr/>
        </p:nvSpPr>
        <p:spPr>
          <a:xfrm>
            <a:off x="6160000" y="1650000"/>
            <a:ext cx="5200000" cy="24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97160" y="1741440"/>
            <a:ext cx="4925680" cy="2217120"/>
          </a:xfrm>
          <a:prstGeom prst="rect">
            <a:avLst/>
          </a:prstGeom>
          <a:noFill/>
        </p:spPr>
        <p:txBody>
          <a:bodyPr wrap="square">
            <a:spAutoFit/>
          </a:bodyPr>
          <a:lstStyle/>
          <a:p>
            <a:pPr algn="l"/>
            <a:r>
              <a:rPr sz="1200" b="0">
                <a:solidFill>
                  <a:srgbClr val="E0DED8"/>
                </a:solidFill>
                <a:latin typeface="SF Mono"/>
              </a:rPr>
              <a:t>---</a:t>
            </a:r>
          </a:p>
          <a:p>
            <a:pPr algn="l"/>
            <a:r>
              <a:rPr sz="1200" b="0">
                <a:solidFill>
                  <a:srgbClr val="E0DED8"/>
                </a:solidFill>
                <a:latin typeface="SF Mono"/>
              </a:rPr>
              <a:t>name: issue-planner</a:t>
            </a:r>
          </a:p>
          <a:p>
            <a:pPr algn="l"/>
            <a:r>
              <a:rPr sz="1200" b="0">
                <a:solidFill>
                  <a:srgbClr val="E0DED8"/>
                </a:solidFill>
                <a:latin typeface="SF Mono"/>
              </a:rPr>
              <a:t>description: Issueの調査と設計を行う</a:t>
            </a:r>
          </a:p>
          <a:p>
            <a:pPr algn="l"/>
            <a:r>
              <a:rPr sz="1200" b="0">
                <a:solidFill>
                  <a:srgbClr val="E0DED8"/>
                </a:solidFill>
                <a:latin typeface="SF Mono"/>
              </a:rPr>
              <a:t>disable-model-invocation: true</a:t>
            </a:r>
          </a:p>
          <a:p>
            <a:pPr algn="l"/>
            <a:r>
              <a:rPr sz="1200" b="0">
                <a:solidFill>
                  <a:srgbClr val="E0DED8"/>
                </a:solidFill>
                <a:latin typeface="SF Mono"/>
              </a:rPr>
              <a:t>---</a:t>
            </a:r>
          </a:p>
          <a:p>
            <a:pPr algn="l"/>
            <a:r>
              <a:rPr sz="1200" b="0">
                <a:solidFill>
                  <a:srgbClr val="E0DED8"/>
                </a:solidFill>
                <a:latin typeface="SF Mono"/>
              </a:rPr>
              <a:t/>
            </a:r>
          </a:p>
          <a:p>
            <a:pPr algn="l"/>
            <a:r>
              <a:rPr sz="1200" b="0">
                <a:solidFill>
                  <a:srgbClr val="E0DED8"/>
                </a:solidFill>
                <a:latin typeface="SF Mono"/>
              </a:rPr>
              <a:t>Issue #$ARGUMENTS の設計を行う。</a:t>
            </a:r>
          </a:p>
          <a:p>
            <a:pPr algn="l"/>
            <a:r>
              <a:rPr sz="1200" b="0">
                <a:solidFill>
                  <a:srgbClr val="E0DED8"/>
                </a:solidFill>
                <a:latin typeface="SF Mono"/>
              </a:rPr>
              <a:t>1. gh issue viewでIssue詳細を取得</a:t>
            </a:r>
          </a:p>
          <a:p>
            <a:pPr algn="l"/>
            <a:r>
              <a:rPr sz="1200" b="0">
                <a:solidFill>
                  <a:srgbClr val="E0DED8"/>
                </a:solidFill>
                <a:latin typeface="SF Mono"/>
              </a:rPr>
              <a:t>2. 関連コードを検索し影響範囲を特定</a:t>
            </a:r>
          </a:p>
          <a:p>
            <a:pPr algn="l"/>
            <a:r>
              <a:rPr sz="1200" b="0">
                <a:solidFill>
                  <a:srgbClr val="E0DED8"/>
                </a:solidFill>
                <a:latin typeface="SF Mono"/>
              </a:rPr>
              <a:t>3. 実装方針をまとめる</a:t>
            </a:r>
          </a:p>
          <a:p>
            <a:pPr algn="l"/>
            <a:r>
              <a:rPr sz="1200" b="0">
                <a:solidFill>
                  <a:srgbClr val="E0DED8"/>
                </a:solidFill>
                <a:latin typeface="SF Mono"/>
              </a:rPr>
              <a:t>4. ISSUE.mdに設計メモを追記</a:t>
            </a:r>
          </a:p>
        </p:txBody>
      </p:sp>
      <p:sp>
        <p:nvSpPr>
          <p:cNvPr id="11" name="TextBox 10"/>
          <p:cNvSpPr txBox="1"/>
          <p:nvPr/>
        </p:nvSpPr>
        <p:spPr>
          <a:xfrm>
            <a:off x="6160000" y="4150000"/>
            <a:ext cx="5200000" cy="365760"/>
          </a:xfrm>
          <a:prstGeom prst="rect">
            <a:avLst/>
          </a:prstGeom>
          <a:noFill/>
        </p:spPr>
        <p:txBody>
          <a:bodyPr wrap="square">
            <a:spAutoFit/>
          </a:bodyPr>
          <a:lstStyle/>
          <a:p>
            <a:pPr algn="l"/>
            <a:r>
              <a:rPr sz="1400" b="1">
                <a:solidFill>
                  <a:srgbClr val="6A9BCC"/>
                </a:solidFill>
                <a:latin typeface="Hiragino Sans"/>
              </a:rPr>
              <a:t>→ /issue-planner 42 のように明示的に呼び出す</a:t>
            </a:r>
          </a:p>
        </p:txBody>
      </p:sp>
      <p:sp>
        <p:nvSpPr>
          <p:cNvPr id="12" name="Rectangle 11"/>
          <p:cNvSpPr/>
          <p:nvPr/>
        </p:nvSpPr>
        <p:spPr>
          <a:xfrm>
            <a:off x="731520" y="62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62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6291440"/>
            <a:ext cx="10400000" cy="365760"/>
          </a:xfrm>
          <a:prstGeom prst="rect">
            <a:avLst/>
          </a:prstGeom>
          <a:noFill/>
        </p:spPr>
        <p:txBody>
          <a:bodyPr wrap="square">
            <a:spAutoFit/>
          </a:bodyPr>
          <a:lstStyle/>
          <a:p>
            <a:pPr algn="l"/>
            <a:r>
              <a:rPr sz="1400" b="1">
                <a:solidFill>
                  <a:srgbClr val="D97757"/>
                </a:solidFill>
                <a:latin typeface="Hiragino Sans"/>
              </a:rPr>
              <a:t>→ $ARGUMENTSで引数を受け取り、!`command`でシェル結果を動的注入</a:t>
            </a:r>
          </a:p>
        </p:txBody>
      </p:sp>
      <p:sp>
        <p:nvSpPr>
          <p:cNvPr id="15" name="TextBox 14"/>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Skills &amp;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実践的なスキル例</a:t>
            </a:r>
          </a:p>
        </p:txBody>
      </p:sp>
      <p:sp>
        <p:nvSpPr>
          <p:cNvPr id="4" name="TextBox 3"/>
          <p:cNvSpPr txBox="1"/>
          <p:nvPr/>
        </p:nvSpPr>
        <p:spPr>
          <a:xfrm>
            <a:off x="731520" y="1200000"/>
            <a:ext cx="5200000" cy="365760"/>
          </a:xfrm>
          <a:prstGeom prst="rect">
            <a:avLst/>
          </a:prstGeom>
          <a:noFill/>
        </p:spPr>
        <p:txBody>
          <a:bodyPr wrap="square">
            <a:spAutoFit/>
          </a:bodyPr>
          <a:lstStyle/>
          <a:p>
            <a:pPr algn="l"/>
            <a:r>
              <a:rPr sz="1800" b="1">
                <a:solidFill>
                  <a:srgbClr val="D97757"/>
                </a:solidFill>
                <a:latin typeface="Hiragino Sans"/>
              </a:rPr>
              <a:t>例1: Issue作業スキル</a:t>
            </a:r>
          </a:p>
        </p:txBody>
      </p:sp>
      <p:sp>
        <p:nvSpPr>
          <p:cNvPr id="5" name="Rounded Rectangle 4"/>
          <p:cNvSpPr/>
          <p:nvPr/>
        </p:nvSpPr>
        <p:spPr>
          <a:xfrm>
            <a:off x="731520" y="1650000"/>
            <a:ext cx="5200000" cy="22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41440"/>
            <a:ext cx="4925680" cy="2017120"/>
          </a:xfrm>
          <a:prstGeom prst="rect">
            <a:avLst/>
          </a:prstGeom>
          <a:noFill/>
        </p:spPr>
        <p:txBody>
          <a:bodyPr wrap="square">
            <a:spAutoFit/>
          </a:bodyPr>
          <a:lstStyle/>
          <a:p>
            <a:pPr algn="l"/>
            <a:r>
              <a:rPr sz="1200" b="0">
                <a:solidFill>
                  <a:srgbClr val="E0DED8"/>
                </a:solidFill>
                <a:latin typeface="SF Mono"/>
              </a:rPr>
              <a:t>---</a:t>
            </a:r>
          </a:p>
          <a:p>
            <a:pPr algn="l"/>
            <a:r>
              <a:rPr sz="1200" b="0">
                <a:solidFill>
                  <a:srgbClr val="E0DED8"/>
                </a:solidFill>
                <a:latin typeface="SF Mono"/>
              </a:rPr>
              <a:t>name: issue-worker</a:t>
            </a:r>
          </a:p>
          <a:p>
            <a:pPr algn="l"/>
            <a:r>
              <a:rPr sz="1200" b="0">
                <a:solidFill>
                  <a:srgbClr val="E0DED8"/>
                </a:solidFill>
                <a:latin typeface="SF Mono"/>
              </a:rPr>
              <a:t>description: GitHub Issueを分析し、</a:t>
            </a:r>
          </a:p>
          <a:p>
            <a:pPr algn="l"/>
            <a:r>
              <a:rPr sz="1200" b="0">
                <a:solidFill>
                  <a:srgbClr val="E0DED8"/>
                </a:solidFill>
                <a:latin typeface="SF Mono"/>
              </a:rPr>
              <a:t>             worktreeで作業開始まで導く</a:t>
            </a:r>
          </a:p>
          <a:p>
            <a:pPr algn="l"/>
            <a:r>
              <a:rPr sz="1200" b="0">
                <a:solidFill>
                  <a:srgbClr val="E0DED8"/>
                </a:solidFill>
                <a:latin typeface="SF Mono"/>
              </a:rPr>
              <a:t>disable-model-invocation: true</a:t>
            </a:r>
          </a:p>
          <a:p>
            <a:pPr algn="l"/>
            <a:r>
              <a:rPr sz="1200" b="0">
                <a:solidFill>
                  <a:srgbClr val="E0DED8"/>
                </a:solidFill>
                <a:latin typeface="SF Mono"/>
              </a:rPr>
              <a:t>---</a:t>
            </a:r>
          </a:p>
          <a:p>
            <a:pPr algn="l"/>
            <a:r>
              <a:rPr sz="1200" b="0">
                <a:solidFill>
                  <a:srgbClr val="E0DED8"/>
                </a:solidFill>
                <a:latin typeface="SF Mono"/>
              </a:rPr>
              <a:t/>
            </a:r>
          </a:p>
          <a:p>
            <a:pPr algn="l"/>
            <a:r>
              <a:rPr sz="1200" b="0">
                <a:solidFill>
                  <a:srgbClr val="E0DED8"/>
                </a:solidFill>
                <a:latin typeface="SF Mono"/>
              </a:rPr>
              <a:t>$ARGUMENTS のIssue番号について以下を実行。</a:t>
            </a:r>
          </a:p>
          <a:p>
            <a:pPr algn="l"/>
            <a:r>
              <a:rPr sz="1200" b="0">
                <a:solidFill>
                  <a:srgbClr val="E0DED8"/>
                </a:solidFill>
                <a:latin typeface="SF Mono"/>
              </a:rPr>
              <a:t>1. gh issue view で Issue 詳細を取得</a:t>
            </a:r>
          </a:p>
          <a:p>
            <a:pPr algn="l"/>
            <a:r>
              <a:rPr sz="1200" b="0">
                <a:solidFill>
                  <a:srgbClr val="E0DED8"/>
                </a:solidFill>
                <a:latin typeface="SF Mono"/>
              </a:rPr>
              <a:t>2. git worktree add で作業ブランチを作成</a:t>
            </a:r>
          </a:p>
          <a:p>
            <a:pPr algn="l"/>
            <a:r>
              <a:rPr sz="1200" b="0">
                <a:solidFill>
                  <a:srgbClr val="E0DED8"/>
                </a:solidFill>
                <a:latin typeface="SF Mono"/>
              </a:rPr>
              <a:t>3. Issue内容から ISSUE.md を自動生成</a:t>
            </a:r>
          </a:p>
          <a:p>
            <a:pPr algn="l"/>
            <a:r>
              <a:rPr sz="1200" b="0">
                <a:solidFill>
                  <a:srgbClr val="E0DED8"/>
                </a:solidFill>
                <a:latin typeface="SF Mono"/>
              </a:rPr>
              <a:t>4. 新しいworktreeでClaude Codeを起動</a:t>
            </a:r>
          </a:p>
        </p:txBody>
      </p:sp>
      <p:sp>
        <p:nvSpPr>
          <p:cNvPr id="7" name="TextBox 6"/>
          <p:cNvSpPr txBox="1"/>
          <p:nvPr/>
        </p:nvSpPr>
        <p:spPr>
          <a:xfrm>
            <a:off x="731520" y="3950000"/>
            <a:ext cx="5200000" cy="274320"/>
          </a:xfrm>
          <a:prstGeom prst="rect">
            <a:avLst/>
          </a:prstGeom>
          <a:noFill/>
        </p:spPr>
        <p:txBody>
          <a:bodyPr wrap="square">
            <a:spAutoFit/>
          </a:bodyPr>
          <a:lstStyle/>
          <a:p>
            <a:pPr algn="l"/>
            <a:r>
              <a:rPr sz="1400" b="0">
                <a:solidFill>
                  <a:srgbClr val="D97757"/>
                </a:solidFill>
                <a:latin typeface="SF Mono"/>
              </a:rPr>
              <a:t>使い方: /issue-worker 42</a:t>
            </a:r>
          </a:p>
        </p:txBody>
      </p:sp>
      <p:sp>
        <p:nvSpPr>
          <p:cNvPr id="8" name="TextBox 7"/>
          <p:cNvSpPr txBox="1"/>
          <p:nvPr/>
        </p:nvSpPr>
        <p:spPr>
          <a:xfrm>
            <a:off x="6160000" y="1200000"/>
            <a:ext cx="5200000" cy="365760"/>
          </a:xfrm>
          <a:prstGeom prst="rect">
            <a:avLst/>
          </a:prstGeom>
          <a:noFill/>
        </p:spPr>
        <p:txBody>
          <a:bodyPr wrap="square">
            <a:spAutoFit/>
          </a:bodyPr>
          <a:lstStyle/>
          <a:p>
            <a:pPr algn="l"/>
            <a:r>
              <a:rPr sz="1800" b="1">
                <a:solidFill>
                  <a:srgbClr val="6A9BCC"/>
                </a:solidFill>
                <a:latin typeface="Hiragino Sans"/>
              </a:rPr>
              <a:t>例2: PR作成スキル</a:t>
            </a:r>
          </a:p>
        </p:txBody>
      </p:sp>
      <p:sp>
        <p:nvSpPr>
          <p:cNvPr id="9" name="Rounded Rectangle 8"/>
          <p:cNvSpPr/>
          <p:nvPr/>
        </p:nvSpPr>
        <p:spPr>
          <a:xfrm>
            <a:off x="6160000" y="1650000"/>
            <a:ext cx="5200000" cy="22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97160" y="1741440"/>
            <a:ext cx="4925680" cy="2017120"/>
          </a:xfrm>
          <a:prstGeom prst="rect">
            <a:avLst/>
          </a:prstGeom>
          <a:noFill/>
        </p:spPr>
        <p:txBody>
          <a:bodyPr wrap="square">
            <a:spAutoFit/>
          </a:bodyPr>
          <a:lstStyle/>
          <a:p>
            <a:pPr algn="l"/>
            <a:r>
              <a:rPr sz="1200" b="0">
                <a:solidFill>
                  <a:srgbClr val="E0DED8"/>
                </a:solidFill>
                <a:latin typeface="SF Mono"/>
              </a:rPr>
              <a:t>---</a:t>
            </a:r>
          </a:p>
          <a:p>
            <a:pPr algn="l"/>
            <a:r>
              <a:rPr sz="1200" b="0">
                <a:solidFill>
                  <a:srgbClr val="E0DED8"/>
                </a:solidFill>
                <a:latin typeface="SF Mono"/>
              </a:rPr>
              <a:t>name: pr-creator</a:t>
            </a:r>
          </a:p>
          <a:p>
            <a:pPr algn="l"/>
            <a:r>
              <a:rPr sz="1200" b="0">
                <a:solidFill>
                  <a:srgbClr val="E0DED8"/>
                </a:solidFill>
                <a:latin typeface="SF Mono"/>
              </a:rPr>
              <a:t>description: チームのテンプレートに沿って</a:t>
            </a:r>
          </a:p>
          <a:p>
            <a:pPr algn="l"/>
            <a:r>
              <a:rPr sz="1200" b="0">
                <a:solidFill>
                  <a:srgbClr val="E0DED8"/>
                </a:solidFill>
                <a:latin typeface="SF Mono"/>
              </a:rPr>
              <a:t>             PRを作成する</a:t>
            </a:r>
          </a:p>
          <a:p>
            <a:pPr algn="l"/>
            <a:r>
              <a:rPr sz="1200" b="0">
                <a:solidFill>
                  <a:srgbClr val="E0DED8"/>
                </a:solidFill>
                <a:latin typeface="SF Mono"/>
              </a:rPr>
              <a:t>disable-model-invocation: true</a:t>
            </a:r>
          </a:p>
          <a:p>
            <a:pPr algn="l"/>
            <a:r>
              <a:rPr sz="1200" b="0">
                <a:solidFill>
                  <a:srgbClr val="E0DED8"/>
                </a:solidFill>
                <a:latin typeface="SF Mono"/>
              </a:rPr>
              <a:t>---</a:t>
            </a:r>
          </a:p>
          <a:p>
            <a:pPr algn="l"/>
            <a:r>
              <a:rPr sz="1200" b="0">
                <a:solidFill>
                  <a:srgbClr val="E0DED8"/>
                </a:solidFill>
                <a:latin typeface="SF Mono"/>
              </a:rPr>
              <a:t/>
            </a:r>
          </a:p>
          <a:p>
            <a:pPr algn="l"/>
            <a:r>
              <a:rPr sz="1200" b="0">
                <a:solidFill>
                  <a:srgbClr val="E0DED8"/>
                </a:solidFill>
                <a:latin typeface="SF Mono"/>
              </a:rPr>
              <a:t>PRを作成する。</a:t>
            </a:r>
          </a:p>
          <a:p>
            <a:pPr algn="l"/>
            <a:r>
              <a:rPr sz="1200" b="0">
                <a:solidFill>
                  <a:srgbClr val="E0DED8"/>
                </a:solidFill>
                <a:latin typeface="SF Mono"/>
              </a:rPr>
              <a:t>1. git diff で変更内容を確認</a:t>
            </a:r>
          </a:p>
          <a:p>
            <a:pPr algn="l"/>
            <a:r>
              <a:rPr sz="1200" b="0">
                <a:solidFill>
                  <a:srgbClr val="E0DED8"/>
                </a:solidFill>
                <a:latin typeface="SF Mono"/>
              </a:rPr>
              <a:t>2. 以下のテンプレートに沿って本文を作成</a:t>
            </a:r>
          </a:p>
          <a:p>
            <a:pPr algn="l"/>
            <a:r>
              <a:rPr sz="1200" b="0">
                <a:solidFill>
                  <a:srgbClr val="E0DED8"/>
                </a:solidFill>
                <a:latin typeface="SF Mono"/>
              </a:rPr>
              <a:t>   - ## 概要（何をしたか）</a:t>
            </a:r>
          </a:p>
          <a:p>
            <a:pPr algn="l"/>
            <a:r>
              <a:rPr sz="1200" b="0">
                <a:solidFill>
                  <a:srgbClr val="E0DED8"/>
                </a:solidFill>
                <a:latin typeface="SF Mono"/>
              </a:rPr>
              <a:t>   - ## 背景（なぜやるか）</a:t>
            </a:r>
          </a:p>
          <a:p>
            <a:pPr algn="l"/>
            <a:r>
              <a:rPr sz="1200" b="0">
                <a:solidFill>
                  <a:srgbClr val="E0DED8"/>
                </a:solidFill>
                <a:latin typeface="SF Mono"/>
              </a:rPr>
              <a:t>   - ## 影響範囲</a:t>
            </a:r>
          </a:p>
          <a:p>
            <a:pPr algn="l"/>
            <a:r>
              <a:rPr sz="1200" b="0">
                <a:solidFill>
                  <a:srgbClr val="E0DED8"/>
                </a:solidFill>
                <a:latin typeface="SF Mono"/>
              </a:rPr>
              <a:t>   - ## テスト結果</a:t>
            </a:r>
          </a:p>
          <a:p>
            <a:pPr algn="l"/>
            <a:r>
              <a:rPr sz="1200" b="0">
                <a:solidFill>
                  <a:srgbClr val="E0DED8"/>
                </a:solidFill>
                <a:latin typeface="SF Mono"/>
              </a:rPr>
              <a:t>3. gh pr create で提出</a:t>
            </a:r>
          </a:p>
        </p:txBody>
      </p:sp>
      <p:sp>
        <p:nvSpPr>
          <p:cNvPr id="11" name="TextBox 10"/>
          <p:cNvSpPr txBox="1"/>
          <p:nvPr/>
        </p:nvSpPr>
        <p:spPr>
          <a:xfrm>
            <a:off x="6160000" y="3950000"/>
            <a:ext cx="5200000" cy="274320"/>
          </a:xfrm>
          <a:prstGeom prst="rect">
            <a:avLst/>
          </a:prstGeom>
          <a:noFill/>
        </p:spPr>
        <p:txBody>
          <a:bodyPr wrap="square">
            <a:spAutoFit/>
          </a:bodyPr>
          <a:lstStyle/>
          <a:p>
            <a:pPr algn="l"/>
            <a:r>
              <a:rPr sz="1400" b="0">
                <a:solidFill>
                  <a:srgbClr val="6A9BCC"/>
                </a:solidFill>
                <a:latin typeface="SF Mono"/>
              </a:rPr>
              <a:t>使い方: /pr-creator</a:t>
            </a:r>
          </a:p>
        </p:txBody>
      </p:sp>
      <p:sp>
        <p:nvSpPr>
          <p:cNvPr id="12" name="Rectangle 11"/>
          <p:cNvSpPr/>
          <p:nvPr/>
        </p:nvSpPr>
        <p:spPr>
          <a:xfrm>
            <a:off x="731520" y="44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44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491440"/>
            <a:ext cx="10400000" cy="365760"/>
          </a:xfrm>
          <a:prstGeom prst="rect">
            <a:avLst/>
          </a:prstGeom>
          <a:noFill/>
        </p:spPr>
        <p:txBody>
          <a:bodyPr wrap="square">
            <a:spAutoFit/>
          </a:bodyPr>
          <a:lstStyle/>
          <a:p>
            <a:pPr algn="l"/>
            <a:r>
              <a:rPr sz="1400" b="1">
                <a:solidFill>
                  <a:srgbClr val="D97757"/>
                </a:solidFill>
                <a:latin typeface="Hiragino Sans"/>
              </a:rPr>
              <a:t>→ 同じ指示を何度も書いている → スキル化を検討。.claude/skills/ をgit管理でチーム共有</a:t>
            </a:r>
          </a:p>
        </p:txBody>
      </p:sp>
      <p:sp>
        <p:nvSpPr>
          <p:cNvPr id="15" name="TextBox 14"/>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Skills &amp;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スキルの設計ポイント</a:t>
            </a:r>
          </a:p>
        </p:txBody>
      </p:sp>
      <p:sp>
        <p:nvSpPr>
          <p:cNvPr id="4" name="TextBox 3"/>
          <p:cNvSpPr txBox="1"/>
          <p:nvPr/>
        </p:nvSpPr>
        <p:spPr>
          <a:xfrm>
            <a:off x="731520" y="1100000"/>
            <a:ext cx="5000000" cy="365760"/>
          </a:xfrm>
          <a:prstGeom prst="rect">
            <a:avLst/>
          </a:prstGeom>
          <a:noFill/>
        </p:spPr>
        <p:txBody>
          <a:bodyPr wrap="square">
            <a:spAutoFit/>
          </a:bodyPr>
          <a:lstStyle/>
          <a:p>
            <a:pPr algn="l"/>
            <a:r>
              <a:rPr sz="1600" b="1">
                <a:solidFill>
                  <a:srgbClr val="FAF9F5"/>
                </a:solidFill>
                <a:latin typeface="Hiragino Sans"/>
              </a:rPr>
              <a:t>設定フィールド</a:t>
            </a:r>
          </a:p>
        </p:txBody>
      </p:sp>
      <p:sp>
        <p:nvSpPr>
          <p:cNvPr id="5" name="Rectangle 4"/>
          <p:cNvSpPr/>
          <p:nvPr/>
        </p:nvSpPr>
        <p:spPr>
          <a:xfrm>
            <a:off x="731520" y="1450000"/>
            <a:ext cx="2800000" cy="34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07150"/>
            <a:ext cx="2617120" cy="274320"/>
          </a:xfrm>
          <a:prstGeom prst="rect">
            <a:avLst/>
          </a:prstGeom>
          <a:noFill/>
        </p:spPr>
        <p:txBody>
          <a:bodyPr wrap="square">
            <a:spAutoFit/>
          </a:bodyPr>
          <a:lstStyle/>
          <a:p>
            <a:pPr algn="l"/>
            <a:r>
              <a:rPr sz="1300" b="1">
                <a:solidFill>
                  <a:srgbClr val="D97757"/>
                </a:solidFill>
                <a:latin typeface="Hiragino Sans"/>
              </a:rPr>
              <a:t>フィールド</a:t>
            </a:r>
          </a:p>
        </p:txBody>
      </p:sp>
      <p:sp>
        <p:nvSpPr>
          <p:cNvPr id="7" name="Rectangle 6"/>
          <p:cNvSpPr/>
          <p:nvPr/>
        </p:nvSpPr>
        <p:spPr>
          <a:xfrm>
            <a:off x="3531520" y="1450000"/>
            <a:ext cx="800000" cy="34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2960" y="1507150"/>
            <a:ext cx="617120" cy="274320"/>
          </a:xfrm>
          <a:prstGeom prst="rect">
            <a:avLst/>
          </a:prstGeom>
          <a:noFill/>
        </p:spPr>
        <p:txBody>
          <a:bodyPr wrap="square">
            <a:spAutoFit/>
          </a:bodyPr>
          <a:lstStyle/>
          <a:p>
            <a:pPr algn="l"/>
            <a:r>
              <a:rPr sz="1300" b="1">
                <a:solidFill>
                  <a:srgbClr val="D97757"/>
                </a:solidFill>
                <a:latin typeface="Hiragino Sans"/>
              </a:rPr>
              <a:t>必須</a:t>
            </a:r>
          </a:p>
        </p:txBody>
      </p:sp>
      <p:sp>
        <p:nvSpPr>
          <p:cNvPr id="9" name="Rectangle 8"/>
          <p:cNvSpPr/>
          <p:nvPr/>
        </p:nvSpPr>
        <p:spPr>
          <a:xfrm>
            <a:off x="4331520" y="1450000"/>
            <a:ext cx="7128960" cy="34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22960" y="1507150"/>
            <a:ext cx="6946080" cy="274320"/>
          </a:xfrm>
          <a:prstGeom prst="rect">
            <a:avLst/>
          </a:prstGeom>
          <a:noFill/>
        </p:spPr>
        <p:txBody>
          <a:bodyPr wrap="square">
            <a:spAutoFit/>
          </a:bodyPr>
          <a:lstStyle/>
          <a:p>
            <a:pPr algn="l"/>
            <a:r>
              <a:rPr sz="1300" b="1">
                <a:solidFill>
                  <a:srgbClr val="D97757"/>
                </a:solidFill>
                <a:latin typeface="Hiragino Sans"/>
              </a:rPr>
              <a:t>説明</a:t>
            </a:r>
          </a:p>
        </p:txBody>
      </p:sp>
      <p:sp>
        <p:nvSpPr>
          <p:cNvPr id="11" name="Rectangle 10"/>
          <p:cNvSpPr/>
          <p:nvPr/>
        </p:nvSpPr>
        <p:spPr>
          <a:xfrm>
            <a:off x="731520" y="1790000"/>
            <a:ext cx="280000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1835720"/>
            <a:ext cx="2617120" cy="274320"/>
          </a:xfrm>
          <a:prstGeom prst="rect">
            <a:avLst/>
          </a:prstGeom>
          <a:noFill/>
        </p:spPr>
        <p:txBody>
          <a:bodyPr wrap="square">
            <a:spAutoFit/>
          </a:bodyPr>
          <a:lstStyle/>
          <a:p>
            <a:pPr algn="l"/>
            <a:r>
              <a:rPr sz="1200" b="0">
                <a:solidFill>
                  <a:srgbClr val="D97757"/>
                </a:solidFill>
                <a:latin typeface="SF Mono"/>
              </a:rPr>
              <a:t>name</a:t>
            </a:r>
          </a:p>
        </p:txBody>
      </p:sp>
      <p:sp>
        <p:nvSpPr>
          <p:cNvPr id="13" name="Rectangle 12"/>
          <p:cNvSpPr/>
          <p:nvPr/>
        </p:nvSpPr>
        <p:spPr>
          <a:xfrm>
            <a:off x="3531520" y="1790000"/>
            <a:ext cx="80000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2960" y="1835720"/>
            <a:ext cx="617120" cy="274320"/>
          </a:xfrm>
          <a:prstGeom prst="rect">
            <a:avLst/>
          </a:prstGeom>
          <a:noFill/>
        </p:spPr>
        <p:txBody>
          <a:bodyPr wrap="square">
            <a:spAutoFit/>
          </a:bodyPr>
          <a:lstStyle/>
          <a:p>
            <a:pPr algn="l"/>
            <a:r>
              <a:rPr sz="1200" b="0">
                <a:solidFill>
                  <a:srgbClr val="E0DED8"/>
                </a:solidFill>
                <a:latin typeface="Hiragino Sans"/>
              </a:rPr>
              <a:t>Yes</a:t>
            </a:r>
          </a:p>
        </p:txBody>
      </p:sp>
      <p:sp>
        <p:nvSpPr>
          <p:cNvPr id="15" name="Rectangle 14"/>
          <p:cNvSpPr/>
          <p:nvPr/>
        </p:nvSpPr>
        <p:spPr>
          <a:xfrm>
            <a:off x="4331520" y="1790000"/>
            <a:ext cx="712896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2960" y="1835720"/>
            <a:ext cx="6946080" cy="274320"/>
          </a:xfrm>
          <a:prstGeom prst="rect">
            <a:avLst/>
          </a:prstGeom>
          <a:noFill/>
        </p:spPr>
        <p:txBody>
          <a:bodyPr wrap="square">
            <a:spAutoFit/>
          </a:bodyPr>
          <a:lstStyle/>
          <a:p>
            <a:pPr algn="l"/>
            <a:r>
              <a:rPr sz="1200" b="0">
                <a:solidFill>
                  <a:srgbClr val="E0DED8"/>
                </a:solidFill>
                <a:latin typeface="Hiragino Sans"/>
              </a:rPr>
              <a:t>一意の識別子。/name で呼び出せる</a:t>
            </a:r>
          </a:p>
        </p:txBody>
      </p:sp>
      <p:sp>
        <p:nvSpPr>
          <p:cNvPr id="17" name="Rectangle 16"/>
          <p:cNvSpPr/>
          <p:nvPr/>
        </p:nvSpPr>
        <p:spPr>
          <a:xfrm>
            <a:off x="731520" y="2100000"/>
            <a:ext cx="280000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2145720"/>
            <a:ext cx="2617120" cy="274320"/>
          </a:xfrm>
          <a:prstGeom prst="rect">
            <a:avLst/>
          </a:prstGeom>
          <a:noFill/>
        </p:spPr>
        <p:txBody>
          <a:bodyPr wrap="square">
            <a:spAutoFit/>
          </a:bodyPr>
          <a:lstStyle/>
          <a:p>
            <a:pPr algn="l"/>
            <a:r>
              <a:rPr sz="1200" b="0">
                <a:solidFill>
                  <a:srgbClr val="D97757"/>
                </a:solidFill>
                <a:latin typeface="SF Mono"/>
              </a:rPr>
              <a:t>description</a:t>
            </a:r>
          </a:p>
        </p:txBody>
      </p:sp>
      <p:sp>
        <p:nvSpPr>
          <p:cNvPr id="19" name="Rectangle 18"/>
          <p:cNvSpPr/>
          <p:nvPr/>
        </p:nvSpPr>
        <p:spPr>
          <a:xfrm>
            <a:off x="3531520" y="2100000"/>
            <a:ext cx="80000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22960" y="2145720"/>
            <a:ext cx="617120" cy="274320"/>
          </a:xfrm>
          <a:prstGeom prst="rect">
            <a:avLst/>
          </a:prstGeom>
          <a:noFill/>
        </p:spPr>
        <p:txBody>
          <a:bodyPr wrap="square">
            <a:spAutoFit/>
          </a:bodyPr>
          <a:lstStyle/>
          <a:p>
            <a:pPr algn="l"/>
            <a:r>
              <a:rPr sz="1200" b="0">
                <a:solidFill>
                  <a:srgbClr val="E0DED8"/>
                </a:solidFill>
                <a:latin typeface="Hiragino Sans"/>
              </a:rPr>
              <a:t>Yes</a:t>
            </a:r>
          </a:p>
        </p:txBody>
      </p:sp>
      <p:sp>
        <p:nvSpPr>
          <p:cNvPr id="21" name="Rectangle 20"/>
          <p:cNvSpPr/>
          <p:nvPr/>
        </p:nvSpPr>
        <p:spPr>
          <a:xfrm>
            <a:off x="4331520" y="2100000"/>
            <a:ext cx="712896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2960" y="2145720"/>
            <a:ext cx="6946080" cy="274320"/>
          </a:xfrm>
          <a:prstGeom prst="rect">
            <a:avLst/>
          </a:prstGeom>
          <a:noFill/>
        </p:spPr>
        <p:txBody>
          <a:bodyPr wrap="square">
            <a:spAutoFit/>
          </a:bodyPr>
          <a:lstStyle/>
          <a:p>
            <a:pPr algn="l"/>
            <a:r>
              <a:rPr sz="1200" b="0">
                <a:solidFill>
                  <a:srgbClr val="E0DED8"/>
                </a:solidFill>
                <a:latin typeface="Hiragino Sans"/>
              </a:rPr>
              <a:t>Claudeが自動読み込みを判断する際に使用</a:t>
            </a:r>
          </a:p>
        </p:txBody>
      </p:sp>
      <p:sp>
        <p:nvSpPr>
          <p:cNvPr id="23" name="Rectangle 22"/>
          <p:cNvSpPr/>
          <p:nvPr/>
        </p:nvSpPr>
        <p:spPr>
          <a:xfrm>
            <a:off x="731520" y="2410000"/>
            <a:ext cx="280000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2455720"/>
            <a:ext cx="2617120" cy="274320"/>
          </a:xfrm>
          <a:prstGeom prst="rect">
            <a:avLst/>
          </a:prstGeom>
          <a:noFill/>
        </p:spPr>
        <p:txBody>
          <a:bodyPr wrap="square">
            <a:spAutoFit/>
          </a:bodyPr>
          <a:lstStyle/>
          <a:p>
            <a:pPr algn="l"/>
            <a:r>
              <a:rPr sz="1200" b="0">
                <a:solidFill>
                  <a:srgbClr val="D97757"/>
                </a:solidFill>
                <a:latin typeface="SF Mono"/>
              </a:rPr>
              <a:t>allowed-tools</a:t>
            </a:r>
          </a:p>
        </p:txBody>
      </p:sp>
      <p:sp>
        <p:nvSpPr>
          <p:cNvPr id="25" name="Rectangle 24"/>
          <p:cNvSpPr/>
          <p:nvPr/>
        </p:nvSpPr>
        <p:spPr>
          <a:xfrm>
            <a:off x="3531520" y="2410000"/>
            <a:ext cx="80000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22960" y="2455720"/>
            <a:ext cx="617120" cy="274320"/>
          </a:xfrm>
          <a:prstGeom prst="rect">
            <a:avLst/>
          </a:prstGeom>
          <a:noFill/>
        </p:spPr>
        <p:txBody>
          <a:bodyPr wrap="square">
            <a:spAutoFit/>
          </a:bodyPr>
          <a:lstStyle/>
          <a:p>
            <a:pPr algn="l"/>
            <a:r>
              <a:rPr sz="1200" b="0">
                <a:solidFill>
                  <a:srgbClr val="E0DED8"/>
                </a:solidFill>
                <a:latin typeface="Hiragino Sans"/>
              </a:rPr>
              <a:t>No</a:t>
            </a:r>
          </a:p>
        </p:txBody>
      </p:sp>
      <p:sp>
        <p:nvSpPr>
          <p:cNvPr id="27" name="Rectangle 26"/>
          <p:cNvSpPr/>
          <p:nvPr/>
        </p:nvSpPr>
        <p:spPr>
          <a:xfrm>
            <a:off x="4331520" y="2410000"/>
            <a:ext cx="712896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2960" y="2455720"/>
            <a:ext cx="6946080" cy="274320"/>
          </a:xfrm>
          <a:prstGeom prst="rect">
            <a:avLst/>
          </a:prstGeom>
          <a:noFill/>
        </p:spPr>
        <p:txBody>
          <a:bodyPr wrap="square">
            <a:spAutoFit/>
          </a:bodyPr>
          <a:lstStyle/>
          <a:p>
            <a:pPr algn="l"/>
            <a:r>
              <a:rPr sz="1200" b="0">
                <a:solidFill>
                  <a:srgbClr val="E0DED8"/>
                </a:solidFill>
                <a:latin typeface="Hiragino Sans"/>
              </a:rPr>
              <a:t>使用可能なツールを制限（Read, Grepなど）</a:t>
            </a:r>
          </a:p>
        </p:txBody>
      </p:sp>
      <p:sp>
        <p:nvSpPr>
          <p:cNvPr id="29" name="Rectangle 28"/>
          <p:cNvSpPr/>
          <p:nvPr/>
        </p:nvSpPr>
        <p:spPr>
          <a:xfrm>
            <a:off x="731520" y="2720000"/>
            <a:ext cx="280000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2765720"/>
            <a:ext cx="2617120" cy="274320"/>
          </a:xfrm>
          <a:prstGeom prst="rect">
            <a:avLst/>
          </a:prstGeom>
          <a:noFill/>
        </p:spPr>
        <p:txBody>
          <a:bodyPr wrap="square">
            <a:spAutoFit/>
          </a:bodyPr>
          <a:lstStyle/>
          <a:p>
            <a:pPr algn="l"/>
            <a:r>
              <a:rPr sz="1200" b="0">
                <a:solidFill>
                  <a:srgbClr val="D97757"/>
                </a:solidFill>
                <a:latin typeface="SF Mono"/>
              </a:rPr>
              <a:t>disable-model-invocation</a:t>
            </a:r>
          </a:p>
        </p:txBody>
      </p:sp>
      <p:sp>
        <p:nvSpPr>
          <p:cNvPr id="31" name="Rectangle 30"/>
          <p:cNvSpPr/>
          <p:nvPr/>
        </p:nvSpPr>
        <p:spPr>
          <a:xfrm>
            <a:off x="3531520" y="2720000"/>
            <a:ext cx="80000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22960" y="2765720"/>
            <a:ext cx="617120" cy="274320"/>
          </a:xfrm>
          <a:prstGeom prst="rect">
            <a:avLst/>
          </a:prstGeom>
          <a:noFill/>
        </p:spPr>
        <p:txBody>
          <a:bodyPr wrap="square">
            <a:spAutoFit/>
          </a:bodyPr>
          <a:lstStyle/>
          <a:p>
            <a:pPr algn="l"/>
            <a:r>
              <a:rPr sz="1200" b="0">
                <a:solidFill>
                  <a:srgbClr val="E0DED8"/>
                </a:solidFill>
                <a:latin typeface="Hiragino Sans"/>
              </a:rPr>
              <a:t>No</a:t>
            </a:r>
          </a:p>
        </p:txBody>
      </p:sp>
      <p:sp>
        <p:nvSpPr>
          <p:cNvPr id="33" name="Rectangle 32"/>
          <p:cNvSpPr/>
          <p:nvPr/>
        </p:nvSpPr>
        <p:spPr>
          <a:xfrm>
            <a:off x="4331520" y="2720000"/>
            <a:ext cx="712896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2960" y="2765720"/>
            <a:ext cx="6946080" cy="274320"/>
          </a:xfrm>
          <a:prstGeom prst="rect">
            <a:avLst/>
          </a:prstGeom>
          <a:noFill/>
        </p:spPr>
        <p:txBody>
          <a:bodyPr wrap="square">
            <a:spAutoFit/>
          </a:bodyPr>
          <a:lstStyle/>
          <a:p>
            <a:pPr algn="l"/>
            <a:r>
              <a:rPr sz="1200" b="0">
                <a:solidFill>
                  <a:srgbClr val="E0DED8"/>
                </a:solidFill>
                <a:latin typeface="Hiragino Sans"/>
              </a:rPr>
              <a:t>trueにするとClaudeが自動で呼び出さない</a:t>
            </a:r>
          </a:p>
        </p:txBody>
      </p:sp>
      <p:sp>
        <p:nvSpPr>
          <p:cNvPr id="35" name="Rectangle 34"/>
          <p:cNvSpPr/>
          <p:nvPr/>
        </p:nvSpPr>
        <p:spPr>
          <a:xfrm>
            <a:off x="731520" y="3030000"/>
            <a:ext cx="280000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3075720"/>
            <a:ext cx="2617120" cy="274320"/>
          </a:xfrm>
          <a:prstGeom prst="rect">
            <a:avLst/>
          </a:prstGeom>
          <a:noFill/>
        </p:spPr>
        <p:txBody>
          <a:bodyPr wrap="square">
            <a:spAutoFit/>
          </a:bodyPr>
          <a:lstStyle/>
          <a:p>
            <a:pPr algn="l"/>
            <a:r>
              <a:rPr sz="1200" b="0">
                <a:solidFill>
                  <a:srgbClr val="D97757"/>
                </a:solidFill>
                <a:latin typeface="SF Mono"/>
              </a:rPr>
              <a:t>argument-hint</a:t>
            </a:r>
          </a:p>
        </p:txBody>
      </p:sp>
      <p:sp>
        <p:nvSpPr>
          <p:cNvPr id="37" name="Rectangle 36"/>
          <p:cNvSpPr/>
          <p:nvPr/>
        </p:nvSpPr>
        <p:spPr>
          <a:xfrm>
            <a:off x="3531520" y="3030000"/>
            <a:ext cx="80000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22960" y="3075720"/>
            <a:ext cx="617120" cy="274320"/>
          </a:xfrm>
          <a:prstGeom prst="rect">
            <a:avLst/>
          </a:prstGeom>
          <a:noFill/>
        </p:spPr>
        <p:txBody>
          <a:bodyPr wrap="square">
            <a:spAutoFit/>
          </a:bodyPr>
          <a:lstStyle/>
          <a:p>
            <a:pPr algn="l"/>
            <a:r>
              <a:rPr sz="1200" b="0">
                <a:solidFill>
                  <a:srgbClr val="E0DED8"/>
                </a:solidFill>
                <a:latin typeface="Hiragino Sans"/>
              </a:rPr>
              <a:t>No</a:t>
            </a:r>
          </a:p>
        </p:txBody>
      </p:sp>
      <p:sp>
        <p:nvSpPr>
          <p:cNvPr id="39" name="Rectangle 38"/>
          <p:cNvSpPr/>
          <p:nvPr/>
        </p:nvSpPr>
        <p:spPr>
          <a:xfrm>
            <a:off x="4331520" y="3030000"/>
            <a:ext cx="712896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2960" y="3075720"/>
            <a:ext cx="6946080" cy="274320"/>
          </a:xfrm>
          <a:prstGeom prst="rect">
            <a:avLst/>
          </a:prstGeom>
          <a:noFill/>
        </p:spPr>
        <p:txBody>
          <a:bodyPr wrap="square">
            <a:spAutoFit/>
          </a:bodyPr>
          <a:lstStyle/>
          <a:p>
            <a:pPr algn="l"/>
            <a:r>
              <a:rPr sz="1200" b="0">
                <a:solidFill>
                  <a:srgbClr val="E0DED8"/>
                </a:solidFill>
                <a:latin typeface="Hiragino Sans"/>
              </a:rPr>
              <a:t>引数のヒント。/name の後に補完表示される</a:t>
            </a:r>
          </a:p>
        </p:txBody>
      </p:sp>
      <p:sp>
        <p:nvSpPr>
          <p:cNvPr id="41" name="Rectangle 40"/>
          <p:cNvSpPr/>
          <p:nvPr/>
        </p:nvSpPr>
        <p:spPr>
          <a:xfrm>
            <a:off x="731520" y="3340000"/>
            <a:ext cx="280000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2960" y="3385720"/>
            <a:ext cx="2617120" cy="274320"/>
          </a:xfrm>
          <a:prstGeom prst="rect">
            <a:avLst/>
          </a:prstGeom>
          <a:noFill/>
        </p:spPr>
        <p:txBody>
          <a:bodyPr wrap="square">
            <a:spAutoFit/>
          </a:bodyPr>
          <a:lstStyle/>
          <a:p>
            <a:pPr algn="l"/>
            <a:r>
              <a:rPr sz="1200" b="0">
                <a:solidFill>
                  <a:srgbClr val="D97757"/>
                </a:solidFill>
                <a:latin typeface="SF Mono"/>
              </a:rPr>
              <a:t>model</a:t>
            </a:r>
          </a:p>
        </p:txBody>
      </p:sp>
      <p:sp>
        <p:nvSpPr>
          <p:cNvPr id="43" name="Rectangle 42"/>
          <p:cNvSpPr/>
          <p:nvPr/>
        </p:nvSpPr>
        <p:spPr>
          <a:xfrm>
            <a:off x="3531520" y="3340000"/>
            <a:ext cx="80000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22960" y="3385720"/>
            <a:ext cx="617120" cy="274320"/>
          </a:xfrm>
          <a:prstGeom prst="rect">
            <a:avLst/>
          </a:prstGeom>
          <a:noFill/>
        </p:spPr>
        <p:txBody>
          <a:bodyPr wrap="square">
            <a:spAutoFit/>
          </a:bodyPr>
          <a:lstStyle/>
          <a:p>
            <a:pPr algn="l"/>
            <a:r>
              <a:rPr sz="1200" b="0">
                <a:solidFill>
                  <a:srgbClr val="E0DED8"/>
                </a:solidFill>
                <a:latin typeface="Hiragino Sans"/>
              </a:rPr>
              <a:t>No</a:t>
            </a:r>
          </a:p>
        </p:txBody>
      </p:sp>
      <p:sp>
        <p:nvSpPr>
          <p:cNvPr id="45" name="Rectangle 44"/>
          <p:cNvSpPr/>
          <p:nvPr/>
        </p:nvSpPr>
        <p:spPr>
          <a:xfrm>
            <a:off x="4331520" y="3340000"/>
            <a:ext cx="712896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22960" y="3385720"/>
            <a:ext cx="6946080" cy="274320"/>
          </a:xfrm>
          <a:prstGeom prst="rect">
            <a:avLst/>
          </a:prstGeom>
          <a:noFill/>
        </p:spPr>
        <p:txBody>
          <a:bodyPr wrap="square">
            <a:spAutoFit/>
          </a:bodyPr>
          <a:lstStyle/>
          <a:p>
            <a:pPr algn="l"/>
            <a:r>
              <a:rPr sz="1200" b="0">
                <a:solidFill>
                  <a:srgbClr val="E0DED8"/>
                </a:solidFill>
                <a:latin typeface="Hiragino Sans"/>
              </a:rPr>
              <a:t>実行時のモデルを指定（例: haiku）</a:t>
            </a:r>
          </a:p>
        </p:txBody>
      </p:sp>
      <p:sp>
        <p:nvSpPr>
          <p:cNvPr id="47" name="Rectangle 46"/>
          <p:cNvSpPr/>
          <p:nvPr/>
        </p:nvSpPr>
        <p:spPr>
          <a:xfrm>
            <a:off x="731520" y="3650000"/>
            <a:ext cx="280000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60" y="3695720"/>
            <a:ext cx="2617120" cy="274320"/>
          </a:xfrm>
          <a:prstGeom prst="rect">
            <a:avLst/>
          </a:prstGeom>
          <a:noFill/>
        </p:spPr>
        <p:txBody>
          <a:bodyPr wrap="square">
            <a:spAutoFit/>
          </a:bodyPr>
          <a:lstStyle/>
          <a:p>
            <a:pPr algn="l"/>
            <a:r>
              <a:rPr sz="1200" b="0">
                <a:solidFill>
                  <a:srgbClr val="D97757"/>
                </a:solidFill>
                <a:latin typeface="SF Mono"/>
              </a:rPr>
              <a:t>context</a:t>
            </a:r>
          </a:p>
        </p:txBody>
      </p:sp>
      <p:sp>
        <p:nvSpPr>
          <p:cNvPr id="49" name="Rectangle 48"/>
          <p:cNvSpPr/>
          <p:nvPr/>
        </p:nvSpPr>
        <p:spPr>
          <a:xfrm>
            <a:off x="3531520" y="3650000"/>
            <a:ext cx="80000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22960" y="3695720"/>
            <a:ext cx="617120" cy="274320"/>
          </a:xfrm>
          <a:prstGeom prst="rect">
            <a:avLst/>
          </a:prstGeom>
          <a:noFill/>
        </p:spPr>
        <p:txBody>
          <a:bodyPr wrap="square">
            <a:spAutoFit/>
          </a:bodyPr>
          <a:lstStyle/>
          <a:p>
            <a:pPr algn="l"/>
            <a:r>
              <a:rPr sz="1200" b="0">
                <a:solidFill>
                  <a:srgbClr val="E0DED8"/>
                </a:solidFill>
                <a:latin typeface="Hiragino Sans"/>
              </a:rPr>
              <a:t>No</a:t>
            </a:r>
          </a:p>
        </p:txBody>
      </p:sp>
      <p:sp>
        <p:nvSpPr>
          <p:cNvPr id="51" name="Rectangle 50"/>
          <p:cNvSpPr/>
          <p:nvPr/>
        </p:nvSpPr>
        <p:spPr>
          <a:xfrm>
            <a:off x="4331520" y="3650000"/>
            <a:ext cx="712896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422960" y="3695720"/>
            <a:ext cx="6946080" cy="274320"/>
          </a:xfrm>
          <a:prstGeom prst="rect">
            <a:avLst/>
          </a:prstGeom>
          <a:noFill/>
        </p:spPr>
        <p:txBody>
          <a:bodyPr wrap="square">
            <a:spAutoFit/>
          </a:bodyPr>
          <a:lstStyle/>
          <a:p>
            <a:pPr algn="l"/>
            <a:r>
              <a:rPr sz="1200" b="0">
                <a:solidFill>
                  <a:srgbClr val="E0DED8"/>
                </a:solidFill>
                <a:latin typeface="Hiragino Sans"/>
              </a:rPr>
              <a:t>fork でサブエージェントとして隔離実行</a:t>
            </a:r>
          </a:p>
        </p:txBody>
      </p:sp>
      <p:cxnSp>
        <p:nvCxnSpPr>
          <p:cNvPr id="53" name="Connector 52"/>
          <p:cNvCxnSpPr/>
          <p:nvPr/>
        </p:nvCxnSpPr>
        <p:spPr>
          <a:xfrm>
            <a:off x="731520" y="380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731520" y="3950000"/>
            <a:ext cx="5000000" cy="365760"/>
          </a:xfrm>
          <a:prstGeom prst="rect">
            <a:avLst/>
          </a:prstGeom>
          <a:noFill/>
        </p:spPr>
        <p:txBody>
          <a:bodyPr wrap="square">
            <a:spAutoFit/>
          </a:bodyPr>
          <a:lstStyle/>
          <a:p>
            <a:pPr algn="l"/>
            <a:r>
              <a:rPr sz="1600" b="1">
                <a:solidFill>
                  <a:srgbClr val="FAF9F5"/>
                </a:solidFill>
                <a:latin typeface="Hiragino Sans"/>
              </a:rPr>
              <a:t>保存場所</a:t>
            </a:r>
          </a:p>
        </p:txBody>
      </p:sp>
      <p:sp>
        <p:nvSpPr>
          <p:cNvPr id="55" name="Rectangle 54"/>
          <p:cNvSpPr/>
          <p:nvPr/>
        </p:nvSpPr>
        <p:spPr>
          <a:xfrm>
            <a:off x="731520" y="4350000"/>
            <a:ext cx="5364480" cy="34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2960" y="4407150"/>
            <a:ext cx="5181600" cy="274320"/>
          </a:xfrm>
          <a:prstGeom prst="rect">
            <a:avLst/>
          </a:prstGeom>
          <a:noFill/>
        </p:spPr>
        <p:txBody>
          <a:bodyPr wrap="square">
            <a:spAutoFit/>
          </a:bodyPr>
          <a:lstStyle/>
          <a:p>
            <a:pPr algn="l"/>
            <a:r>
              <a:rPr sz="1300" b="1">
                <a:solidFill>
                  <a:srgbClr val="D97757"/>
                </a:solidFill>
                <a:latin typeface="Hiragino Sans"/>
              </a:rPr>
              <a:t>場所</a:t>
            </a:r>
          </a:p>
        </p:txBody>
      </p:sp>
      <p:sp>
        <p:nvSpPr>
          <p:cNvPr id="57" name="Rectangle 56"/>
          <p:cNvSpPr/>
          <p:nvPr/>
        </p:nvSpPr>
        <p:spPr>
          <a:xfrm>
            <a:off x="6096000" y="4350000"/>
            <a:ext cx="5364480" cy="34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187440" y="4407150"/>
            <a:ext cx="5181600" cy="274320"/>
          </a:xfrm>
          <a:prstGeom prst="rect">
            <a:avLst/>
          </a:prstGeom>
          <a:noFill/>
        </p:spPr>
        <p:txBody>
          <a:bodyPr wrap="square">
            <a:spAutoFit/>
          </a:bodyPr>
          <a:lstStyle/>
          <a:p>
            <a:pPr algn="l"/>
            <a:r>
              <a:rPr sz="1300" b="1">
                <a:solidFill>
                  <a:srgbClr val="D97757"/>
                </a:solidFill>
                <a:latin typeface="Hiragino Sans"/>
              </a:rPr>
              <a:t>スコープ</a:t>
            </a:r>
          </a:p>
        </p:txBody>
      </p:sp>
      <p:sp>
        <p:nvSpPr>
          <p:cNvPr id="59" name="Rectangle 58"/>
          <p:cNvSpPr/>
          <p:nvPr/>
        </p:nvSpPr>
        <p:spPr>
          <a:xfrm>
            <a:off x="731520" y="4690000"/>
            <a:ext cx="5364480" cy="33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22960" y="4747150"/>
            <a:ext cx="5181600" cy="274320"/>
          </a:xfrm>
          <a:prstGeom prst="rect">
            <a:avLst/>
          </a:prstGeom>
          <a:noFill/>
        </p:spPr>
        <p:txBody>
          <a:bodyPr wrap="square">
            <a:spAutoFit/>
          </a:bodyPr>
          <a:lstStyle/>
          <a:p>
            <a:pPr algn="l"/>
            <a:r>
              <a:rPr sz="1200" b="0">
                <a:solidFill>
                  <a:srgbClr val="FAF9F5"/>
                </a:solidFill>
                <a:latin typeface="SF Mono"/>
              </a:rPr>
              <a:t>.claude/skills/（プロジェクト）</a:t>
            </a:r>
          </a:p>
        </p:txBody>
      </p:sp>
      <p:sp>
        <p:nvSpPr>
          <p:cNvPr id="61" name="Rectangle 60"/>
          <p:cNvSpPr/>
          <p:nvPr/>
        </p:nvSpPr>
        <p:spPr>
          <a:xfrm>
            <a:off x="6096000" y="4690000"/>
            <a:ext cx="5364480" cy="33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187440" y="4747150"/>
            <a:ext cx="5181600" cy="274320"/>
          </a:xfrm>
          <a:prstGeom prst="rect">
            <a:avLst/>
          </a:prstGeom>
          <a:noFill/>
        </p:spPr>
        <p:txBody>
          <a:bodyPr wrap="square">
            <a:spAutoFit/>
          </a:bodyPr>
          <a:lstStyle/>
          <a:p>
            <a:pPr algn="l"/>
            <a:r>
              <a:rPr sz="1200" b="0">
                <a:solidFill>
                  <a:srgbClr val="E0DED8"/>
                </a:solidFill>
                <a:latin typeface="Hiragino Sans"/>
              </a:rPr>
              <a:t>現在のプロジェクトのみ。git管理でチーム共有</a:t>
            </a:r>
          </a:p>
        </p:txBody>
      </p:sp>
      <p:sp>
        <p:nvSpPr>
          <p:cNvPr id="63" name="Rectangle 62"/>
          <p:cNvSpPr/>
          <p:nvPr/>
        </p:nvSpPr>
        <p:spPr>
          <a:xfrm>
            <a:off x="731520" y="5030000"/>
            <a:ext cx="5364480" cy="33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22960" y="5087150"/>
            <a:ext cx="5181600" cy="274320"/>
          </a:xfrm>
          <a:prstGeom prst="rect">
            <a:avLst/>
          </a:prstGeom>
          <a:noFill/>
        </p:spPr>
        <p:txBody>
          <a:bodyPr wrap="square">
            <a:spAutoFit/>
          </a:bodyPr>
          <a:lstStyle/>
          <a:p>
            <a:pPr algn="l"/>
            <a:r>
              <a:rPr sz="1200" b="0">
                <a:solidFill>
                  <a:srgbClr val="FAF9F5"/>
                </a:solidFill>
                <a:latin typeface="SF Mono"/>
              </a:rPr>
              <a:t>~/.claude/skills/（ユーザー）</a:t>
            </a:r>
          </a:p>
        </p:txBody>
      </p:sp>
      <p:sp>
        <p:nvSpPr>
          <p:cNvPr id="65" name="Rectangle 64"/>
          <p:cNvSpPr/>
          <p:nvPr/>
        </p:nvSpPr>
        <p:spPr>
          <a:xfrm>
            <a:off x="6096000" y="5030000"/>
            <a:ext cx="5364480" cy="33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87440" y="5087150"/>
            <a:ext cx="5181600" cy="274320"/>
          </a:xfrm>
          <a:prstGeom prst="rect">
            <a:avLst/>
          </a:prstGeom>
          <a:noFill/>
        </p:spPr>
        <p:txBody>
          <a:bodyPr wrap="square">
            <a:spAutoFit/>
          </a:bodyPr>
          <a:lstStyle/>
          <a:p>
            <a:pPr algn="l"/>
            <a:r>
              <a:rPr sz="1200" b="0">
                <a:solidFill>
                  <a:srgbClr val="E0DED8"/>
                </a:solidFill>
                <a:latin typeface="Hiragino Sans"/>
              </a:rPr>
              <a:t>全プロジェクト共通。個人用</a:t>
            </a:r>
          </a:p>
        </p:txBody>
      </p:sp>
      <p:sp>
        <p:nvSpPr>
          <p:cNvPr id="67" name="Rectangle 66"/>
          <p:cNvSpPr/>
          <p:nvPr/>
        </p:nvSpPr>
        <p:spPr>
          <a:xfrm>
            <a:off x="731520" y="55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31520" y="55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14400" y="5591440"/>
            <a:ext cx="10400000" cy="365760"/>
          </a:xfrm>
          <a:prstGeom prst="rect">
            <a:avLst/>
          </a:prstGeom>
          <a:noFill/>
        </p:spPr>
        <p:txBody>
          <a:bodyPr wrap="square">
            <a:spAutoFit/>
          </a:bodyPr>
          <a:lstStyle/>
          <a:p>
            <a:pPr algn="l"/>
            <a:r>
              <a:rPr sz="1400" b="1">
                <a:solidFill>
                  <a:srgbClr val="D97757"/>
                </a:solidFill>
                <a:latin typeface="Hiragino Sans"/>
              </a:rPr>
              <a:t>→ descriptionが鍵。1スキル1責務。大きくなったら分割する</a:t>
            </a:r>
          </a:p>
        </p:txBody>
      </p:sp>
      <p:sp>
        <p:nvSpPr>
          <p:cNvPr id="70" name="TextBox 69"/>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Skills &amp;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最初から使えるコマンド &amp; スキル</a:t>
            </a:r>
          </a:p>
        </p:txBody>
      </p:sp>
      <p:sp>
        <p:nvSpPr>
          <p:cNvPr id="4" name="TextBox 3"/>
          <p:cNvSpPr txBox="1"/>
          <p:nvPr/>
        </p:nvSpPr>
        <p:spPr>
          <a:xfrm>
            <a:off x="731520" y="1100000"/>
            <a:ext cx="10000000" cy="365760"/>
          </a:xfrm>
          <a:prstGeom prst="rect">
            <a:avLst/>
          </a:prstGeom>
          <a:noFill/>
        </p:spPr>
        <p:txBody>
          <a:bodyPr wrap="square">
            <a:spAutoFit/>
          </a:bodyPr>
          <a:lstStyle/>
          <a:p>
            <a:pPr algn="l"/>
            <a:r>
              <a:rPr sz="1600" b="1">
                <a:solidFill>
                  <a:srgbClr val="D97757"/>
                </a:solidFill>
                <a:latin typeface="Hiragino Sans"/>
              </a:rPr>
              <a:t>ビルトインコマンド（固定ロジック）— 即座に結果を返す</a:t>
            </a:r>
          </a:p>
        </p:txBody>
      </p:sp>
      <p:sp>
        <p:nvSpPr>
          <p:cNvPr id="5" name="Rectangle 4"/>
          <p:cNvSpPr/>
          <p:nvPr/>
        </p:nvSpPr>
        <p:spPr>
          <a:xfrm>
            <a:off x="731520" y="1500000"/>
            <a:ext cx="3000000" cy="32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7150"/>
            <a:ext cx="2817120" cy="274320"/>
          </a:xfrm>
          <a:prstGeom prst="rect">
            <a:avLst/>
          </a:prstGeom>
          <a:noFill/>
        </p:spPr>
        <p:txBody>
          <a:bodyPr wrap="square">
            <a:spAutoFit/>
          </a:bodyPr>
          <a:lstStyle/>
          <a:p>
            <a:pPr algn="l"/>
            <a:r>
              <a:rPr sz="1300" b="1">
                <a:solidFill>
                  <a:srgbClr val="D97757"/>
                </a:solidFill>
                <a:latin typeface="Hiragino Sans"/>
              </a:rPr>
              <a:t>コマンド</a:t>
            </a:r>
          </a:p>
        </p:txBody>
      </p:sp>
      <p:sp>
        <p:nvSpPr>
          <p:cNvPr id="7" name="Rectangle 6"/>
          <p:cNvSpPr/>
          <p:nvPr/>
        </p:nvSpPr>
        <p:spPr>
          <a:xfrm>
            <a:off x="3731520" y="1500000"/>
            <a:ext cx="7728960" cy="32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22960" y="1557150"/>
            <a:ext cx="7546080" cy="274320"/>
          </a:xfrm>
          <a:prstGeom prst="rect">
            <a:avLst/>
          </a:prstGeom>
          <a:noFill/>
        </p:spPr>
        <p:txBody>
          <a:bodyPr wrap="square">
            <a:spAutoFit/>
          </a:bodyPr>
          <a:lstStyle/>
          <a:p>
            <a:pPr algn="l"/>
            <a:r>
              <a:rPr sz="1300" b="1">
                <a:solidFill>
                  <a:srgbClr val="D97757"/>
                </a:solidFill>
                <a:latin typeface="Hiragino Sans"/>
              </a:rPr>
              <a:t>用途</a:t>
            </a:r>
          </a:p>
        </p:txBody>
      </p:sp>
      <p:sp>
        <p:nvSpPr>
          <p:cNvPr id="9" name="Rectangle 8"/>
          <p:cNvSpPr/>
          <p:nvPr/>
        </p:nvSpPr>
        <p:spPr>
          <a:xfrm>
            <a:off x="731520" y="1820000"/>
            <a:ext cx="300000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865720"/>
            <a:ext cx="2817120" cy="274320"/>
          </a:xfrm>
          <a:prstGeom prst="rect">
            <a:avLst/>
          </a:prstGeom>
          <a:noFill/>
        </p:spPr>
        <p:txBody>
          <a:bodyPr wrap="square">
            <a:spAutoFit/>
          </a:bodyPr>
          <a:lstStyle/>
          <a:p>
            <a:pPr algn="l"/>
            <a:r>
              <a:rPr sz="1200" b="0">
                <a:solidFill>
                  <a:srgbClr val="D97757"/>
                </a:solidFill>
                <a:latin typeface="SF Mono"/>
              </a:rPr>
              <a:t>/security-review</a:t>
            </a:r>
          </a:p>
        </p:txBody>
      </p:sp>
      <p:sp>
        <p:nvSpPr>
          <p:cNvPr id="11" name="Rectangle 10"/>
          <p:cNvSpPr/>
          <p:nvPr/>
        </p:nvSpPr>
        <p:spPr>
          <a:xfrm>
            <a:off x="3731520" y="1820000"/>
            <a:ext cx="772896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22960" y="1865720"/>
            <a:ext cx="7546080" cy="274320"/>
          </a:xfrm>
          <a:prstGeom prst="rect">
            <a:avLst/>
          </a:prstGeom>
          <a:noFill/>
        </p:spPr>
        <p:txBody>
          <a:bodyPr wrap="square">
            <a:spAutoFit/>
          </a:bodyPr>
          <a:lstStyle/>
          <a:p>
            <a:pPr algn="l"/>
            <a:r>
              <a:rPr sz="1200" b="0">
                <a:solidFill>
                  <a:srgbClr val="E0DED8"/>
                </a:solidFill>
                <a:latin typeface="Hiragino Sans"/>
              </a:rPr>
              <a:t>ブランチの変更をセキュリティ脆弱性分析</a:t>
            </a:r>
          </a:p>
        </p:txBody>
      </p:sp>
      <p:sp>
        <p:nvSpPr>
          <p:cNvPr id="13" name="Rectangle 12"/>
          <p:cNvSpPr/>
          <p:nvPr/>
        </p:nvSpPr>
        <p:spPr>
          <a:xfrm>
            <a:off x="731520" y="2110000"/>
            <a:ext cx="300000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155720"/>
            <a:ext cx="2817120" cy="274320"/>
          </a:xfrm>
          <a:prstGeom prst="rect">
            <a:avLst/>
          </a:prstGeom>
          <a:noFill/>
        </p:spPr>
        <p:txBody>
          <a:bodyPr wrap="square">
            <a:spAutoFit/>
          </a:bodyPr>
          <a:lstStyle/>
          <a:p>
            <a:pPr algn="l"/>
            <a:r>
              <a:rPr sz="1200" b="0">
                <a:solidFill>
                  <a:srgbClr val="D97757"/>
                </a:solidFill>
                <a:latin typeface="SF Mono"/>
              </a:rPr>
              <a:t>/pr-comments</a:t>
            </a:r>
          </a:p>
        </p:txBody>
      </p:sp>
      <p:sp>
        <p:nvSpPr>
          <p:cNvPr id="15" name="Rectangle 14"/>
          <p:cNvSpPr/>
          <p:nvPr/>
        </p:nvSpPr>
        <p:spPr>
          <a:xfrm>
            <a:off x="3731520" y="2110000"/>
            <a:ext cx="772896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22960" y="2155720"/>
            <a:ext cx="7546080" cy="274320"/>
          </a:xfrm>
          <a:prstGeom prst="rect">
            <a:avLst/>
          </a:prstGeom>
          <a:noFill/>
        </p:spPr>
        <p:txBody>
          <a:bodyPr wrap="square">
            <a:spAutoFit/>
          </a:bodyPr>
          <a:lstStyle/>
          <a:p>
            <a:pPr algn="l"/>
            <a:r>
              <a:rPr sz="1200" b="0">
                <a:solidFill>
                  <a:srgbClr val="E0DED8"/>
                </a:solidFill>
                <a:latin typeface="Hiragino Sans"/>
              </a:rPr>
              <a:t>GitHub PRのコメントを取得・表示</a:t>
            </a:r>
          </a:p>
        </p:txBody>
      </p:sp>
      <p:sp>
        <p:nvSpPr>
          <p:cNvPr id="17" name="Rectangle 16"/>
          <p:cNvSpPr/>
          <p:nvPr/>
        </p:nvSpPr>
        <p:spPr>
          <a:xfrm>
            <a:off x="731520" y="2400000"/>
            <a:ext cx="300000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2445720"/>
            <a:ext cx="2817120" cy="274320"/>
          </a:xfrm>
          <a:prstGeom prst="rect">
            <a:avLst/>
          </a:prstGeom>
          <a:noFill/>
        </p:spPr>
        <p:txBody>
          <a:bodyPr wrap="square">
            <a:spAutoFit/>
          </a:bodyPr>
          <a:lstStyle/>
          <a:p>
            <a:pPr algn="l"/>
            <a:r>
              <a:rPr sz="1200" b="0">
                <a:solidFill>
                  <a:srgbClr val="D97757"/>
                </a:solidFill>
                <a:latin typeface="SF Mono"/>
              </a:rPr>
              <a:t>/diff</a:t>
            </a:r>
          </a:p>
        </p:txBody>
      </p:sp>
      <p:sp>
        <p:nvSpPr>
          <p:cNvPr id="19" name="Rectangle 18"/>
          <p:cNvSpPr/>
          <p:nvPr/>
        </p:nvSpPr>
        <p:spPr>
          <a:xfrm>
            <a:off x="3731520" y="2400000"/>
            <a:ext cx="772896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22960" y="2445720"/>
            <a:ext cx="7546080" cy="274320"/>
          </a:xfrm>
          <a:prstGeom prst="rect">
            <a:avLst/>
          </a:prstGeom>
          <a:noFill/>
        </p:spPr>
        <p:txBody>
          <a:bodyPr wrap="square">
            <a:spAutoFit/>
          </a:bodyPr>
          <a:lstStyle/>
          <a:p>
            <a:pPr algn="l"/>
            <a:r>
              <a:rPr sz="1200" b="0">
                <a:solidFill>
                  <a:srgbClr val="E0DED8"/>
                </a:solidFill>
                <a:latin typeface="Hiragino Sans"/>
              </a:rPr>
              <a:t>差分のインタラクティブビューア</a:t>
            </a:r>
          </a:p>
        </p:txBody>
      </p:sp>
      <p:sp>
        <p:nvSpPr>
          <p:cNvPr id="21" name="Rectangle 20"/>
          <p:cNvSpPr/>
          <p:nvPr/>
        </p:nvSpPr>
        <p:spPr>
          <a:xfrm>
            <a:off x="731520" y="2690000"/>
            <a:ext cx="300000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2735720"/>
            <a:ext cx="2817120" cy="274320"/>
          </a:xfrm>
          <a:prstGeom prst="rect">
            <a:avLst/>
          </a:prstGeom>
          <a:noFill/>
        </p:spPr>
        <p:txBody>
          <a:bodyPr wrap="square">
            <a:spAutoFit/>
          </a:bodyPr>
          <a:lstStyle/>
          <a:p>
            <a:pPr algn="l"/>
            <a:r>
              <a:rPr sz="1200" b="0">
                <a:solidFill>
                  <a:srgbClr val="D97757"/>
                </a:solidFill>
                <a:latin typeface="SF Mono"/>
              </a:rPr>
              <a:t>/compact</a:t>
            </a:r>
          </a:p>
        </p:txBody>
      </p:sp>
      <p:sp>
        <p:nvSpPr>
          <p:cNvPr id="23" name="Rectangle 22"/>
          <p:cNvSpPr/>
          <p:nvPr/>
        </p:nvSpPr>
        <p:spPr>
          <a:xfrm>
            <a:off x="3731520" y="2690000"/>
            <a:ext cx="772896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22960" y="2735720"/>
            <a:ext cx="7546080" cy="274320"/>
          </a:xfrm>
          <a:prstGeom prst="rect">
            <a:avLst/>
          </a:prstGeom>
          <a:noFill/>
        </p:spPr>
        <p:txBody>
          <a:bodyPr wrap="square">
            <a:spAutoFit/>
          </a:bodyPr>
          <a:lstStyle/>
          <a:p>
            <a:pPr algn="l"/>
            <a:r>
              <a:rPr sz="1200" b="0">
                <a:solidFill>
                  <a:srgbClr val="E0DED8"/>
                </a:solidFill>
                <a:latin typeface="Hiragino Sans"/>
              </a:rPr>
              <a:t>コンテキストを圧縮して空きを作る</a:t>
            </a:r>
          </a:p>
        </p:txBody>
      </p:sp>
      <p:sp>
        <p:nvSpPr>
          <p:cNvPr id="25" name="Rectangle 24"/>
          <p:cNvSpPr/>
          <p:nvPr/>
        </p:nvSpPr>
        <p:spPr>
          <a:xfrm>
            <a:off x="731520" y="2980000"/>
            <a:ext cx="300000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3025720"/>
            <a:ext cx="2817120" cy="274320"/>
          </a:xfrm>
          <a:prstGeom prst="rect">
            <a:avLst/>
          </a:prstGeom>
          <a:noFill/>
        </p:spPr>
        <p:txBody>
          <a:bodyPr wrap="square">
            <a:spAutoFit/>
          </a:bodyPr>
          <a:lstStyle/>
          <a:p>
            <a:pPr algn="l"/>
            <a:r>
              <a:rPr sz="1200" b="0">
                <a:solidFill>
                  <a:srgbClr val="D97757"/>
                </a:solidFill>
                <a:latin typeface="SF Mono"/>
              </a:rPr>
              <a:t>/init</a:t>
            </a:r>
          </a:p>
        </p:txBody>
      </p:sp>
      <p:sp>
        <p:nvSpPr>
          <p:cNvPr id="27" name="Rectangle 26"/>
          <p:cNvSpPr/>
          <p:nvPr/>
        </p:nvSpPr>
        <p:spPr>
          <a:xfrm>
            <a:off x="3731520" y="2980000"/>
            <a:ext cx="772896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22960" y="3025720"/>
            <a:ext cx="7546080" cy="274320"/>
          </a:xfrm>
          <a:prstGeom prst="rect">
            <a:avLst/>
          </a:prstGeom>
          <a:noFill/>
        </p:spPr>
        <p:txBody>
          <a:bodyPr wrap="square">
            <a:spAutoFit/>
          </a:bodyPr>
          <a:lstStyle/>
          <a:p>
            <a:pPr algn="l"/>
            <a:r>
              <a:rPr sz="1200" b="0">
                <a:solidFill>
                  <a:srgbClr val="E0DED8"/>
                </a:solidFill>
                <a:latin typeface="Hiragino Sans"/>
              </a:rPr>
              <a:t>CLAUDE.md を対話的に初期化</a:t>
            </a:r>
          </a:p>
        </p:txBody>
      </p:sp>
      <p:sp>
        <p:nvSpPr>
          <p:cNvPr id="29" name="Rectangle 28"/>
          <p:cNvSpPr/>
          <p:nvPr/>
        </p:nvSpPr>
        <p:spPr>
          <a:xfrm>
            <a:off x="731520" y="3270000"/>
            <a:ext cx="300000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3315720"/>
            <a:ext cx="2817120" cy="274320"/>
          </a:xfrm>
          <a:prstGeom prst="rect">
            <a:avLst/>
          </a:prstGeom>
          <a:noFill/>
        </p:spPr>
        <p:txBody>
          <a:bodyPr wrap="square">
            <a:spAutoFit/>
          </a:bodyPr>
          <a:lstStyle/>
          <a:p>
            <a:pPr algn="l"/>
            <a:r>
              <a:rPr sz="1200" b="0">
                <a:solidFill>
                  <a:srgbClr val="D97757"/>
                </a:solidFill>
                <a:latin typeface="SF Mono"/>
              </a:rPr>
              <a:t>他50以上</a:t>
            </a:r>
          </a:p>
        </p:txBody>
      </p:sp>
      <p:sp>
        <p:nvSpPr>
          <p:cNvPr id="31" name="Rectangle 30"/>
          <p:cNvSpPr/>
          <p:nvPr/>
        </p:nvSpPr>
        <p:spPr>
          <a:xfrm>
            <a:off x="3731520" y="3270000"/>
            <a:ext cx="772896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22960" y="3315720"/>
            <a:ext cx="7546080" cy="274320"/>
          </a:xfrm>
          <a:prstGeom prst="rect">
            <a:avLst/>
          </a:prstGeom>
          <a:noFill/>
        </p:spPr>
        <p:txBody>
          <a:bodyPr wrap="square">
            <a:spAutoFit/>
          </a:bodyPr>
          <a:lstStyle/>
          <a:p>
            <a:pPr algn="l"/>
            <a:r>
              <a:rPr sz="1200" b="0">
                <a:solidFill>
                  <a:srgbClr val="E0DED8"/>
                </a:solidFill>
                <a:latin typeface="Hiragino Sans"/>
              </a:rPr>
              <a:t>/help で一覧表示</a:t>
            </a:r>
          </a:p>
        </p:txBody>
      </p:sp>
      <p:cxnSp>
        <p:nvCxnSpPr>
          <p:cNvPr id="33" name="Connector 32"/>
          <p:cNvCxnSpPr/>
          <p:nvPr/>
        </p:nvCxnSpPr>
        <p:spPr>
          <a:xfrm>
            <a:off x="731520" y="350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31520" y="3600000"/>
            <a:ext cx="10000000" cy="365760"/>
          </a:xfrm>
          <a:prstGeom prst="rect">
            <a:avLst/>
          </a:prstGeom>
          <a:noFill/>
        </p:spPr>
        <p:txBody>
          <a:bodyPr wrap="square">
            <a:spAutoFit/>
          </a:bodyPr>
          <a:lstStyle/>
          <a:p>
            <a:pPr algn="l"/>
            <a:r>
              <a:rPr sz="1600" b="1">
                <a:solidFill>
                  <a:srgbClr val="6A9BCC"/>
                </a:solidFill>
                <a:latin typeface="Hiragino Sans"/>
              </a:rPr>
              <a:t>バンドルスキル（プロンプトベース）— エージェントを起動し複雑なタスクを遂行</a:t>
            </a:r>
          </a:p>
        </p:txBody>
      </p:sp>
      <p:sp>
        <p:nvSpPr>
          <p:cNvPr id="35" name="Rectangle 34"/>
          <p:cNvSpPr/>
          <p:nvPr/>
        </p:nvSpPr>
        <p:spPr>
          <a:xfrm>
            <a:off x="731520" y="4000000"/>
            <a:ext cx="3000000" cy="32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4057150"/>
            <a:ext cx="2817120" cy="274320"/>
          </a:xfrm>
          <a:prstGeom prst="rect">
            <a:avLst/>
          </a:prstGeom>
          <a:noFill/>
        </p:spPr>
        <p:txBody>
          <a:bodyPr wrap="square">
            <a:spAutoFit/>
          </a:bodyPr>
          <a:lstStyle/>
          <a:p>
            <a:pPr algn="l"/>
            <a:r>
              <a:rPr sz="1300" b="1">
                <a:solidFill>
                  <a:srgbClr val="6A9BCC"/>
                </a:solidFill>
                <a:latin typeface="Hiragino Sans"/>
              </a:rPr>
              <a:t>コマンド</a:t>
            </a:r>
          </a:p>
        </p:txBody>
      </p:sp>
      <p:sp>
        <p:nvSpPr>
          <p:cNvPr id="37" name="Rectangle 36"/>
          <p:cNvSpPr/>
          <p:nvPr/>
        </p:nvSpPr>
        <p:spPr>
          <a:xfrm>
            <a:off x="3731520" y="4000000"/>
            <a:ext cx="7728960" cy="32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822960" y="4057150"/>
            <a:ext cx="7546080" cy="274320"/>
          </a:xfrm>
          <a:prstGeom prst="rect">
            <a:avLst/>
          </a:prstGeom>
          <a:noFill/>
        </p:spPr>
        <p:txBody>
          <a:bodyPr wrap="square">
            <a:spAutoFit/>
          </a:bodyPr>
          <a:lstStyle/>
          <a:p>
            <a:pPr algn="l"/>
            <a:r>
              <a:rPr sz="1300" b="1">
                <a:solidFill>
                  <a:srgbClr val="6A9BCC"/>
                </a:solidFill>
                <a:latin typeface="Hiragino Sans"/>
              </a:rPr>
              <a:t>用途</a:t>
            </a:r>
          </a:p>
        </p:txBody>
      </p:sp>
      <p:sp>
        <p:nvSpPr>
          <p:cNvPr id="39" name="Rectangle 38"/>
          <p:cNvSpPr/>
          <p:nvPr/>
        </p:nvSpPr>
        <p:spPr>
          <a:xfrm>
            <a:off x="731520" y="4320000"/>
            <a:ext cx="300000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 y="4365720"/>
            <a:ext cx="2817120" cy="274320"/>
          </a:xfrm>
          <a:prstGeom prst="rect">
            <a:avLst/>
          </a:prstGeom>
          <a:noFill/>
        </p:spPr>
        <p:txBody>
          <a:bodyPr wrap="square">
            <a:spAutoFit/>
          </a:bodyPr>
          <a:lstStyle/>
          <a:p>
            <a:pPr algn="l"/>
            <a:r>
              <a:rPr sz="1200" b="0">
                <a:solidFill>
                  <a:srgbClr val="6A9BCC"/>
                </a:solidFill>
                <a:latin typeface="SF Mono"/>
              </a:rPr>
              <a:t>/batch</a:t>
            </a:r>
          </a:p>
        </p:txBody>
      </p:sp>
      <p:sp>
        <p:nvSpPr>
          <p:cNvPr id="41" name="Rectangle 40"/>
          <p:cNvSpPr/>
          <p:nvPr/>
        </p:nvSpPr>
        <p:spPr>
          <a:xfrm>
            <a:off x="3731520" y="4320000"/>
            <a:ext cx="772896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822960" y="4365720"/>
            <a:ext cx="7546080" cy="274320"/>
          </a:xfrm>
          <a:prstGeom prst="rect">
            <a:avLst/>
          </a:prstGeom>
          <a:noFill/>
        </p:spPr>
        <p:txBody>
          <a:bodyPr wrap="square">
            <a:spAutoFit/>
          </a:bodyPr>
          <a:lstStyle/>
          <a:p>
            <a:pPr algn="l"/>
            <a:r>
              <a:rPr sz="1200" b="0">
                <a:solidFill>
                  <a:srgbClr val="E0DED8"/>
                </a:solidFill>
                <a:latin typeface="Hiragino Sans"/>
              </a:rPr>
              <a:t>大規模変更を5〜30ユニットに分解、worktreeで並列実行→PR作成</a:t>
            </a:r>
          </a:p>
        </p:txBody>
      </p:sp>
      <p:sp>
        <p:nvSpPr>
          <p:cNvPr id="43" name="Rectangle 42"/>
          <p:cNvSpPr/>
          <p:nvPr/>
        </p:nvSpPr>
        <p:spPr>
          <a:xfrm>
            <a:off x="731520" y="4610000"/>
            <a:ext cx="300000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2960" y="4655720"/>
            <a:ext cx="2817120" cy="274320"/>
          </a:xfrm>
          <a:prstGeom prst="rect">
            <a:avLst/>
          </a:prstGeom>
          <a:noFill/>
        </p:spPr>
        <p:txBody>
          <a:bodyPr wrap="square">
            <a:spAutoFit/>
          </a:bodyPr>
          <a:lstStyle/>
          <a:p>
            <a:pPr algn="l"/>
            <a:r>
              <a:rPr sz="1200" b="0">
                <a:solidFill>
                  <a:srgbClr val="6A9BCC"/>
                </a:solidFill>
                <a:latin typeface="SF Mono"/>
              </a:rPr>
              <a:t>/simplify</a:t>
            </a:r>
          </a:p>
        </p:txBody>
      </p:sp>
      <p:sp>
        <p:nvSpPr>
          <p:cNvPr id="45" name="Rectangle 44"/>
          <p:cNvSpPr/>
          <p:nvPr/>
        </p:nvSpPr>
        <p:spPr>
          <a:xfrm>
            <a:off x="3731520" y="4610000"/>
            <a:ext cx="772896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822960" y="4655720"/>
            <a:ext cx="7546080" cy="274320"/>
          </a:xfrm>
          <a:prstGeom prst="rect">
            <a:avLst/>
          </a:prstGeom>
          <a:noFill/>
        </p:spPr>
        <p:txBody>
          <a:bodyPr wrap="square">
            <a:spAutoFit/>
          </a:bodyPr>
          <a:lstStyle/>
          <a:p>
            <a:pPr algn="l"/>
            <a:r>
              <a:rPr sz="1200" b="0">
                <a:solidFill>
                  <a:srgbClr val="E0DED8"/>
                </a:solidFill>
                <a:latin typeface="Hiragino Sans"/>
              </a:rPr>
              <a:t>3つのレビューエージェントが品質・効率・再利用性を並列検証</a:t>
            </a:r>
          </a:p>
        </p:txBody>
      </p:sp>
      <p:sp>
        <p:nvSpPr>
          <p:cNvPr id="47" name="Rectangle 46"/>
          <p:cNvSpPr/>
          <p:nvPr/>
        </p:nvSpPr>
        <p:spPr>
          <a:xfrm>
            <a:off x="731520" y="4900000"/>
            <a:ext cx="300000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60" y="4945720"/>
            <a:ext cx="2817120" cy="274320"/>
          </a:xfrm>
          <a:prstGeom prst="rect">
            <a:avLst/>
          </a:prstGeom>
          <a:noFill/>
        </p:spPr>
        <p:txBody>
          <a:bodyPr wrap="square">
            <a:spAutoFit/>
          </a:bodyPr>
          <a:lstStyle/>
          <a:p>
            <a:pPr algn="l"/>
            <a:r>
              <a:rPr sz="1200" b="0">
                <a:solidFill>
                  <a:srgbClr val="6A9BCC"/>
                </a:solidFill>
                <a:latin typeface="SF Mono"/>
              </a:rPr>
              <a:t>/loop</a:t>
            </a:r>
          </a:p>
        </p:txBody>
      </p:sp>
      <p:sp>
        <p:nvSpPr>
          <p:cNvPr id="49" name="Rectangle 48"/>
          <p:cNvSpPr/>
          <p:nvPr/>
        </p:nvSpPr>
        <p:spPr>
          <a:xfrm>
            <a:off x="3731520" y="4900000"/>
            <a:ext cx="772896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822960" y="4945720"/>
            <a:ext cx="7546080" cy="274320"/>
          </a:xfrm>
          <a:prstGeom prst="rect">
            <a:avLst/>
          </a:prstGeom>
          <a:noFill/>
        </p:spPr>
        <p:txBody>
          <a:bodyPr wrap="square">
            <a:spAutoFit/>
          </a:bodyPr>
          <a:lstStyle/>
          <a:p>
            <a:pPr algn="l"/>
            <a:r>
              <a:rPr sz="1200" b="0">
                <a:solidFill>
                  <a:srgbClr val="E0DED8"/>
                </a:solidFill>
                <a:latin typeface="Hiragino Sans"/>
              </a:rPr>
              <a:t>定期的にプロンプト実行（cron対応、最大3日間）</a:t>
            </a:r>
          </a:p>
        </p:txBody>
      </p:sp>
      <p:sp>
        <p:nvSpPr>
          <p:cNvPr id="51" name="Rectangle 50"/>
          <p:cNvSpPr/>
          <p:nvPr/>
        </p:nvSpPr>
        <p:spPr>
          <a:xfrm>
            <a:off x="731520" y="5190000"/>
            <a:ext cx="300000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2960" y="5235720"/>
            <a:ext cx="2817120" cy="274320"/>
          </a:xfrm>
          <a:prstGeom prst="rect">
            <a:avLst/>
          </a:prstGeom>
          <a:noFill/>
        </p:spPr>
        <p:txBody>
          <a:bodyPr wrap="square">
            <a:spAutoFit/>
          </a:bodyPr>
          <a:lstStyle/>
          <a:p>
            <a:pPr algn="l"/>
            <a:r>
              <a:rPr sz="1200" b="0">
                <a:solidFill>
                  <a:srgbClr val="6A9BCC"/>
                </a:solidFill>
                <a:latin typeface="SF Mono"/>
              </a:rPr>
              <a:t>/claude-api</a:t>
            </a:r>
          </a:p>
        </p:txBody>
      </p:sp>
      <p:sp>
        <p:nvSpPr>
          <p:cNvPr id="53" name="Rectangle 52"/>
          <p:cNvSpPr/>
          <p:nvPr/>
        </p:nvSpPr>
        <p:spPr>
          <a:xfrm>
            <a:off x="3731520" y="5190000"/>
            <a:ext cx="772896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822960" y="5235720"/>
            <a:ext cx="7546080" cy="274320"/>
          </a:xfrm>
          <a:prstGeom prst="rect">
            <a:avLst/>
          </a:prstGeom>
          <a:noFill/>
        </p:spPr>
        <p:txBody>
          <a:bodyPr wrap="square">
            <a:spAutoFit/>
          </a:bodyPr>
          <a:lstStyle/>
          <a:p>
            <a:pPr algn="l"/>
            <a:r>
              <a:rPr sz="1200" b="0">
                <a:solidFill>
                  <a:srgbClr val="E0DED8"/>
                </a:solidFill>
                <a:latin typeface="Hiragino Sans"/>
              </a:rPr>
              <a:t>Claude API / Agent SDKリファレンスを自動読み込み</a:t>
            </a:r>
          </a:p>
        </p:txBody>
      </p:sp>
      <p:sp>
        <p:nvSpPr>
          <p:cNvPr id="55" name="Rectangle 54"/>
          <p:cNvSpPr/>
          <p:nvPr/>
        </p:nvSpPr>
        <p:spPr>
          <a:xfrm>
            <a:off x="731520" y="54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31520" y="54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14400" y="5491440"/>
            <a:ext cx="10400000" cy="365760"/>
          </a:xfrm>
          <a:prstGeom prst="rect">
            <a:avLst/>
          </a:prstGeom>
          <a:noFill/>
        </p:spPr>
        <p:txBody>
          <a:bodyPr wrap="square">
            <a:spAutoFit/>
          </a:bodyPr>
          <a:lstStyle/>
          <a:p>
            <a:pPr algn="l"/>
            <a:r>
              <a:rPr sz="1400" b="1">
                <a:solidFill>
                  <a:srgbClr val="D97757"/>
                </a:solidFill>
                <a:latin typeface="Hiragino Sans"/>
              </a:rPr>
              <a:t>→ 特に /batch と /simplify が強力。PART 3のworktreeで再登場する</a:t>
            </a:r>
          </a:p>
        </p:txBody>
      </p:sp>
      <p:sp>
        <p:nvSpPr>
          <p:cNvPr id="58" name="TextBox 57"/>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Skills &amp;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サブエージェントとは</a:t>
            </a:r>
          </a:p>
        </p:txBody>
      </p:sp>
      <p:sp>
        <p:nvSpPr>
          <p:cNvPr id="4" name="TextBox 3"/>
          <p:cNvSpPr txBox="1"/>
          <p:nvPr/>
        </p:nvSpPr>
        <p:spPr>
          <a:xfrm>
            <a:off x="731520" y="1200000"/>
            <a:ext cx="10000000" cy="365760"/>
          </a:xfrm>
          <a:prstGeom prst="rect">
            <a:avLst/>
          </a:prstGeom>
          <a:noFill/>
        </p:spPr>
        <p:txBody>
          <a:bodyPr wrap="square">
            <a:spAutoFit/>
          </a:bodyPr>
          <a:lstStyle/>
          <a:p>
            <a:pPr algn="l"/>
            <a:r>
              <a:rPr sz="1800" b="1">
                <a:solidFill>
                  <a:srgbClr val="D97757"/>
                </a:solidFill>
                <a:latin typeface="Hiragino Sans"/>
              </a:rPr>
              <a:t>独立したコンテキストで動く専門エージェント</a:t>
            </a:r>
          </a:p>
        </p:txBody>
      </p:sp>
      <p:sp>
        <p:nvSpPr>
          <p:cNvPr id="5" name="Rounded Rectangle 4"/>
          <p:cNvSpPr/>
          <p:nvPr/>
        </p:nvSpPr>
        <p:spPr>
          <a:xfrm>
            <a:off x="731520" y="1800000"/>
            <a:ext cx="4400000" cy="457200"/>
          </a:xfrm>
          <a:prstGeom prst="roundRect">
            <a:avLst>
              <a:gd name="adj" fmla="val 4000"/>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1520" y="1891440"/>
            <a:ext cx="4200000" cy="274320"/>
          </a:xfrm>
          <a:prstGeom prst="rect">
            <a:avLst/>
          </a:prstGeom>
          <a:noFill/>
        </p:spPr>
        <p:txBody>
          <a:bodyPr wrap="square">
            <a:spAutoFit/>
          </a:bodyPr>
          <a:lstStyle/>
          <a:p>
            <a:pPr algn="ctr"/>
            <a:r>
              <a:rPr sz="1600" b="1">
                <a:solidFill>
                  <a:srgbClr val="FAF9F5"/>
                </a:solidFill>
                <a:latin typeface="Hiragino Sans"/>
              </a:rPr>
              <a:t>メインエージェント</a:t>
            </a:r>
          </a:p>
        </p:txBody>
      </p:sp>
      <p:sp>
        <p:nvSpPr>
          <p:cNvPr id="7" name="TextBox 6"/>
          <p:cNvSpPr txBox="1"/>
          <p:nvPr/>
        </p:nvSpPr>
        <p:spPr>
          <a:xfrm>
            <a:off x="2500000" y="2257200"/>
            <a:ext cx="800000" cy="365760"/>
          </a:xfrm>
          <a:prstGeom prst="rect">
            <a:avLst/>
          </a:prstGeom>
          <a:noFill/>
        </p:spPr>
        <p:txBody>
          <a:bodyPr wrap="square">
            <a:spAutoFit/>
          </a:bodyPr>
          <a:lstStyle/>
          <a:p>
            <a:pPr algn="ctr"/>
            <a:r>
              <a:rPr sz="1200" b="0">
                <a:solidFill>
                  <a:srgbClr val="D97757"/>
                </a:solidFill>
                <a:latin typeface="Hiragino Sans"/>
              </a:rPr>
              <a:t>指示 ▼</a:t>
            </a:r>
          </a:p>
        </p:txBody>
      </p:sp>
      <p:sp>
        <p:nvSpPr>
          <p:cNvPr id="8" name="Rounded Rectangle 7"/>
          <p:cNvSpPr/>
          <p:nvPr/>
        </p:nvSpPr>
        <p:spPr>
          <a:xfrm>
            <a:off x="731520" y="2714400"/>
            <a:ext cx="4400000" cy="8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714400"/>
            <a:ext cx="54864" cy="800000"/>
          </a:xfrm>
          <a:prstGeom prst="rect">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782980"/>
            <a:ext cx="4000000" cy="274320"/>
          </a:xfrm>
          <a:prstGeom prst="rect">
            <a:avLst/>
          </a:prstGeom>
          <a:noFill/>
        </p:spPr>
        <p:txBody>
          <a:bodyPr wrap="square">
            <a:spAutoFit/>
          </a:bodyPr>
          <a:lstStyle/>
          <a:p>
            <a:pPr algn="l"/>
            <a:r>
              <a:rPr sz="1500" b="1">
                <a:solidFill>
                  <a:srgbClr val="6A9BCC"/>
                </a:solidFill>
                <a:latin typeface="Hiragino Sans"/>
              </a:rPr>
              <a:t>サブエージェント（独立コンテキスト）</a:t>
            </a:r>
          </a:p>
        </p:txBody>
      </p:sp>
      <p:sp>
        <p:nvSpPr>
          <p:cNvPr id="11" name="TextBox 10"/>
          <p:cNvSpPr txBox="1"/>
          <p:nvPr/>
        </p:nvSpPr>
        <p:spPr>
          <a:xfrm>
            <a:off x="914400" y="3080160"/>
            <a:ext cx="4000000" cy="365760"/>
          </a:xfrm>
          <a:prstGeom prst="rect">
            <a:avLst/>
          </a:prstGeom>
          <a:noFill/>
        </p:spPr>
        <p:txBody>
          <a:bodyPr wrap="square">
            <a:spAutoFit/>
          </a:bodyPr>
          <a:lstStyle/>
          <a:p>
            <a:pPr algn="l"/>
            <a:r>
              <a:rPr sz="1400" b="0">
                <a:solidFill>
                  <a:srgbClr val="E0DED8"/>
                </a:solidFill>
                <a:latin typeface="Hiragino Sans"/>
              </a:rPr>
              <a:t>数十ファイルを検索・分析...</a:t>
            </a:r>
          </a:p>
        </p:txBody>
      </p:sp>
      <p:sp>
        <p:nvSpPr>
          <p:cNvPr id="12" name="TextBox 11"/>
          <p:cNvSpPr txBox="1"/>
          <p:nvPr/>
        </p:nvSpPr>
        <p:spPr>
          <a:xfrm>
            <a:off x="2500000" y="3514400"/>
            <a:ext cx="800000" cy="365760"/>
          </a:xfrm>
          <a:prstGeom prst="rect">
            <a:avLst/>
          </a:prstGeom>
          <a:noFill/>
        </p:spPr>
        <p:txBody>
          <a:bodyPr wrap="square">
            <a:spAutoFit/>
          </a:bodyPr>
          <a:lstStyle/>
          <a:p>
            <a:pPr algn="ctr"/>
            <a:r>
              <a:rPr sz="1200" b="0">
                <a:solidFill>
                  <a:srgbClr val="7BC9A0"/>
                </a:solidFill>
                <a:latin typeface="Hiragino Sans"/>
              </a:rPr>
              <a:t>▲ 要約だけ返る</a:t>
            </a:r>
          </a:p>
        </p:txBody>
      </p:sp>
      <p:sp>
        <p:nvSpPr>
          <p:cNvPr id="13" name="Rounded Rectangle 12"/>
          <p:cNvSpPr/>
          <p:nvPr/>
        </p:nvSpPr>
        <p:spPr>
          <a:xfrm>
            <a:off x="731520" y="3994400"/>
            <a:ext cx="4400000" cy="457200"/>
          </a:xfrm>
          <a:prstGeom prst="roundRect">
            <a:avLst>
              <a:gd name="adj" fmla="val 4000"/>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1520" y="4085840"/>
            <a:ext cx="4200000" cy="274320"/>
          </a:xfrm>
          <a:prstGeom prst="rect">
            <a:avLst/>
          </a:prstGeom>
          <a:noFill/>
        </p:spPr>
        <p:txBody>
          <a:bodyPr wrap="square">
            <a:spAutoFit/>
          </a:bodyPr>
          <a:lstStyle/>
          <a:p>
            <a:pPr algn="ctr"/>
            <a:r>
              <a:rPr sz="1500" b="1">
                <a:solidFill>
                  <a:srgbClr val="7BC9A0"/>
                </a:solidFill>
                <a:latin typeface="Hiragino Sans"/>
              </a:rPr>
              <a:t>メインのコンテキストを圧迫しない</a:t>
            </a:r>
          </a:p>
        </p:txBody>
      </p:sp>
      <p:sp>
        <p:nvSpPr>
          <p:cNvPr id="15" name="TextBox 14"/>
          <p:cNvSpPr txBox="1"/>
          <p:nvPr/>
        </p:nvSpPr>
        <p:spPr>
          <a:xfrm>
            <a:off x="5600000" y="1800000"/>
            <a:ext cx="6000000" cy="365760"/>
          </a:xfrm>
          <a:prstGeom prst="rect">
            <a:avLst/>
          </a:prstGeom>
          <a:noFill/>
        </p:spPr>
        <p:txBody>
          <a:bodyPr wrap="square">
            <a:spAutoFit/>
          </a:bodyPr>
          <a:lstStyle/>
          <a:p>
            <a:pPr algn="l"/>
            <a:r>
              <a:rPr sz="2000" b="1">
                <a:solidFill>
                  <a:srgbClr val="FAF9F5"/>
                </a:solidFill>
                <a:latin typeface="Hiragino Sans"/>
              </a:rPr>
              <a:t>本質: コンテキストの分離</a:t>
            </a:r>
          </a:p>
        </p:txBody>
      </p:sp>
      <p:sp>
        <p:nvSpPr>
          <p:cNvPr id="16" name="Rounded Rectangle 15"/>
          <p:cNvSpPr/>
          <p:nvPr/>
        </p:nvSpPr>
        <p:spPr>
          <a:xfrm>
            <a:off x="5600000" y="2300000"/>
            <a:ext cx="5860960" cy="54864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00000" y="2368580"/>
            <a:ext cx="5460960" cy="457200"/>
          </a:xfrm>
          <a:prstGeom prst="rect">
            <a:avLst/>
          </a:prstGeom>
          <a:noFill/>
        </p:spPr>
        <p:txBody>
          <a:bodyPr wrap="square">
            <a:spAutoFit/>
          </a:bodyPr>
          <a:lstStyle/>
          <a:p>
            <a:pPr algn="l"/>
            <a:r>
              <a:rPr sz="1400" b="0">
                <a:solidFill>
                  <a:srgbClr val="E0DED8"/>
                </a:solidFill>
                <a:latin typeface="Hiragino Sans"/>
              </a:rPr>
              <a:t>サブエージェントに委譲したタスクは</a:t>
            </a:r>
          </a:p>
          <a:p>
            <a:pPr algn="l"/>
            <a:r>
              <a:rPr sz="1400" b="0">
                <a:solidFill>
                  <a:srgbClr val="E0DED8"/>
                </a:solidFill>
                <a:latin typeface="Hiragino Sans"/>
              </a:rPr>
              <a:t>独立して処理される</a:t>
            </a:r>
          </a:p>
        </p:txBody>
      </p:sp>
      <p:sp>
        <p:nvSpPr>
          <p:cNvPr id="18" name="Rounded Rectangle 17"/>
          <p:cNvSpPr/>
          <p:nvPr/>
        </p:nvSpPr>
        <p:spPr>
          <a:xfrm>
            <a:off x="5600000" y="2940000"/>
            <a:ext cx="5860960" cy="54864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00000" y="3008580"/>
            <a:ext cx="5460960" cy="457200"/>
          </a:xfrm>
          <a:prstGeom prst="rect">
            <a:avLst/>
          </a:prstGeom>
          <a:noFill/>
        </p:spPr>
        <p:txBody>
          <a:bodyPr wrap="square">
            <a:spAutoFit/>
          </a:bodyPr>
          <a:lstStyle/>
          <a:p>
            <a:pPr algn="l"/>
            <a:r>
              <a:rPr sz="1400" b="0">
                <a:solidFill>
                  <a:srgbClr val="E0DED8"/>
                </a:solidFill>
                <a:latin typeface="Hiragino Sans"/>
              </a:rPr>
              <a:t>作業結果の要約だけが</a:t>
            </a:r>
          </a:p>
          <a:p>
            <a:pPr algn="l"/>
            <a:r>
              <a:rPr sz="1400" b="0">
                <a:solidFill>
                  <a:srgbClr val="E0DED8"/>
                </a:solidFill>
                <a:latin typeface="Hiragino Sans"/>
              </a:rPr>
              <a:t>メイン会話に返される</a:t>
            </a:r>
          </a:p>
        </p:txBody>
      </p:sp>
      <p:sp>
        <p:nvSpPr>
          <p:cNvPr id="20" name="Rounded Rectangle 19"/>
          <p:cNvSpPr/>
          <p:nvPr/>
        </p:nvSpPr>
        <p:spPr>
          <a:xfrm>
            <a:off x="5600000" y="3580000"/>
            <a:ext cx="5860960" cy="54864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00000" y="3648580"/>
            <a:ext cx="5460960" cy="457200"/>
          </a:xfrm>
          <a:prstGeom prst="rect">
            <a:avLst/>
          </a:prstGeom>
          <a:noFill/>
        </p:spPr>
        <p:txBody>
          <a:bodyPr wrap="square">
            <a:spAutoFit/>
          </a:bodyPr>
          <a:lstStyle/>
          <a:p>
            <a:pPr algn="l"/>
            <a:r>
              <a:rPr sz="1400" b="0">
                <a:solidFill>
                  <a:srgbClr val="E0DED8"/>
                </a:solidFill>
                <a:latin typeface="Hiragino Sans"/>
              </a:rPr>
              <a:t>メイン会話のコンテキストを消費しない</a:t>
            </a:r>
          </a:p>
        </p:txBody>
      </p:sp>
      <p:sp>
        <p:nvSpPr>
          <p:cNvPr id="22" name="Rectangle 21"/>
          <p:cNvSpPr/>
          <p:nvPr/>
        </p:nvSpPr>
        <p:spPr>
          <a:xfrm>
            <a:off x="731520" y="62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62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6291440"/>
            <a:ext cx="10400000" cy="365760"/>
          </a:xfrm>
          <a:prstGeom prst="rect">
            <a:avLst/>
          </a:prstGeom>
          <a:noFill/>
        </p:spPr>
        <p:txBody>
          <a:bodyPr wrap="square">
            <a:spAutoFit/>
          </a:bodyPr>
          <a:lstStyle/>
          <a:p>
            <a:pPr algn="l"/>
            <a:r>
              <a:rPr sz="1400" b="1">
                <a:solidFill>
                  <a:srgbClr val="D97757"/>
                </a:solidFill>
                <a:latin typeface="Hiragino Sans"/>
              </a:rPr>
              <a:t>→ 大量のファイル検索や広範な調査をしてもメインの作業に影響しない</a:t>
            </a:r>
          </a:p>
        </p:txBody>
      </p:sp>
      <p:sp>
        <p:nvSpPr>
          <p:cNvPr id="25" name="TextBox 24"/>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Skills &amp;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組み込み &amp; カスタムサブエージェント</a:t>
            </a:r>
          </a:p>
        </p:txBody>
      </p:sp>
      <p:sp>
        <p:nvSpPr>
          <p:cNvPr id="4" name="TextBox 3"/>
          <p:cNvSpPr txBox="1"/>
          <p:nvPr/>
        </p:nvSpPr>
        <p:spPr>
          <a:xfrm>
            <a:off x="731520" y="1100000"/>
            <a:ext cx="5000000" cy="365760"/>
          </a:xfrm>
          <a:prstGeom prst="rect">
            <a:avLst/>
          </a:prstGeom>
          <a:noFill/>
        </p:spPr>
        <p:txBody>
          <a:bodyPr wrap="square">
            <a:spAutoFit/>
          </a:bodyPr>
          <a:lstStyle/>
          <a:p>
            <a:pPr algn="l"/>
            <a:r>
              <a:rPr sz="1600" b="1">
                <a:solidFill>
                  <a:srgbClr val="FAF9F5"/>
                </a:solidFill>
                <a:latin typeface="Hiragino Sans"/>
              </a:rPr>
              <a:t>3つの組み込みサブエージェント</a:t>
            </a:r>
          </a:p>
        </p:txBody>
      </p:sp>
      <p:sp>
        <p:nvSpPr>
          <p:cNvPr id="5" name="Rectangle 4"/>
          <p:cNvSpPr/>
          <p:nvPr/>
        </p:nvSpPr>
        <p:spPr>
          <a:xfrm>
            <a:off x="731520" y="1450000"/>
            <a:ext cx="2600000" cy="32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07150"/>
            <a:ext cx="2417120" cy="274320"/>
          </a:xfrm>
          <a:prstGeom prst="rect">
            <a:avLst/>
          </a:prstGeom>
          <a:noFill/>
        </p:spPr>
        <p:txBody>
          <a:bodyPr wrap="square">
            <a:spAutoFit/>
          </a:bodyPr>
          <a:lstStyle/>
          <a:p>
            <a:pPr algn="l"/>
            <a:r>
              <a:rPr sz="1300" b="1">
                <a:solidFill>
                  <a:srgbClr val="D97757"/>
                </a:solidFill>
                <a:latin typeface="Hiragino Sans"/>
              </a:rPr>
              <a:t>名前</a:t>
            </a:r>
          </a:p>
        </p:txBody>
      </p:sp>
      <p:sp>
        <p:nvSpPr>
          <p:cNvPr id="7" name="Rectangle 6"/>
          <p:cNvSpPr/>
          <p:nvPr/>
        </p:nvSpPr>
        <p:spPr>
          <a:xfrm>
            <a:off x="3331520" y="1450000"/>
            <a:ext cx="2000000" cy="32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2960" y="1507150"/>
            <a:ext cx="1817120" cy="274320"/>
          </a:xfrm>
          <a:prstGeom prst="rect">
            <a:avLst/>
          </a:prstGeom>
          <a:noFill/>
        </p:spPr>
        <p:txBody>
          <a:bodyPr wrap="square">
            <a:spAutoFit/>
          </a:bodyPr>
          <a:lstStyle/>
          <a:p>
            <a:pPr algn="l"/>
            <a:r>
              <a:rPr sz="1300" b="1">
                <a:solidFill>
                  <a:srgbClr val="D97757"/>
                </a:solidFill>
                <a:latin typeface="Hiragino Sans"/>
              </a:rPr>
              <a:t>モデル</a:t>
            </a:r>
          </a:p>
        </p:txBody>
      </p:sp>
      <p:sp>
        <p:nvSpPr>
          <p:cNvPr id="9" name="Rectangle 8"/>
          <p:cNvSpPr/>
          <p:nvPr/>
        </p:nvSpPr>
        <p:spPr>
          <a:xfrm>
            <a:off x="5331520" y="1450000"/>
            <a:ext cx="6128960" cy="32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22960" y="1507150"/>
            <a:ext cx="5946080" cy="274320"/>
          </a:xfrm>
          <a:prstGeom prst="rect">
            <a:avLst/>
          </a:prstGeom>
          <a:noFill/>
        </p:spPr>
        <p:txBody>
          <a:bodyPr wrap="square">
            <a:spAutoFit/>
          </a:bodyPr>
          <a:lstStyle/>
          <a:p>
            <a:pPr algn="l"/>
            <a:r>
              <a:rPr sz="1300" b="1">
                <a:solidFill>
                  <a:srgbClr val="D97757"/>
                </a:solidFill>
                <a:latin typeface="Hiragino Sans"/>
              </a:rPr>
              <a:t>用途</a:t>
            </a:r>
          </a:p>
        </p:txBody>
      </p:sp>
      <p:sp>
        <p:nvSpPr>
          <p:cNvPr id="11" name="Rectangle 10"/>
          <p:cNvSpPr/>
          <p:nvPr/>
        </p:nvSpPr>
        <p:spPr>
          <a:xfrm>
            <a:off x="731520" y="1770000"/>
            <a:ext cx="260000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1815720"/>
            <a:ext cx="2417120" cy="274320"/>
          </a:xfrm>
          <a:prstGeom prst="rect">
            <a:avLst/>
          </a:prstGeom>
          <a:noFill/>
        </p:spPr>
        <p:txBody>
          <a:bodyPr wrap="square">
            <a:spAutoFit/>
          </a:bodyPr>
          <a:lstStyle/>
          <a:p>
            <a:pPr algn="l"/>
            <a:r>
              <a:rPr sz="1200" b="0">
                <a:solidFill>
                  <a:srgbClr val="D97757"/>
                </a:solidFill>
                <a:latin typeface="Helvetica Neue"/>
              </a:rPr>
              <a:t>Explore</a:t>
            </a:r>
          </a:p>
        </p:txBody>
      </p:sp>
      <p:sp>
        <p:nvSpPr>
          <p:cNvPr id="13" name="Rectangle 12"/>
          <p:cNvSpPr/>
          <p:nvPr/>
        </p:nvSpPr>
        <p:spPr>
          <a:xfrm>
            <a:off x="3331520" y="1770000"/>
            <a:ext cx="200000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22960" y="1815720"/>
            <a:ext cx="1817120" cy="274320"/>
          </a:xfrm>
          <a:prstGeom prst="rect">
            <a:avLst/>
          </a:prstGeom>
          <a:noFill/>
        </p:spPr>
        <p:txBody>
          <a:bodyPr wrap="square">
            <a:spAutoFit/>
          </a:bodyPr>
          <a:lstStyle/>
          <a:p>
            <a:pPr algn="l"/>
            <a:r>
              <a:rPr sz="1200" b="0">
                <a:solidFill>
                  <a:srgbClr val="E0DED8"/>
                </a:solidFill>
                <a:latin typeface="Hiragino Sans"/>
              </a:rPr>
              <a:t>Haiku（高速）</a:t>
            </a:r>
          </a:p>
        </p:txBody>
      </p:sp>
      <p:sp>
        <p:nvSpPr>
          <p:cNvPr id="15" name="Rectangle 14"/>
          <p:cNvSpPr/>
          <p:nvPr/>
        </p:nvSpPr>
        <p:spPr>
          <a:xfrm>
            <a:off x="5331520" y="1770000"/>
            <a:ext cx="612896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22960" y="1815720"/>
            <a:ext cx="5946080" cy="274320"/>
          </a:xfrm>
          <a:prstGeom prst="rect">
            <a:avLst/>
          </a:prstGeom>
          <a:noFill/>
        </p:spPr>
        <p:txBody>
          <a:bodyPr wrap="square">
            <a:spAutoFit/>
          </a:bodyPr>
          <a:lstStyle/>
          <a:p>
            <a:pPr algn="l"/>
            <a:r>
              <a:rPr sz="1200" b="0">
                <a:solidFill>
                  <a:srgbClr val="E0DED8"/>
                </a:solidFill>
                <a:latin typeface="Hiragino Sans"/>
              </a:rPr>
              <a:t>コードベースの検索・分析（読み取り専用）</a:t>
            </a:r>
          </a:p>
        </p:txBody>
      </p:sp>
      <p:sp>
        <p:nvSpPr>
          <p:cNvPr id="17" name="Rectangle 16"/>
          <p:cNvSpPr/>
          <p:nvPr/>
        </p:nvSpPr>
        <p:spPr>
          <a:xfrm>
            <a:off x="731520" y="2070000"/>
            <a:ext cx="2600000" cy="29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2115720"/>
            <a:ext cx="2417120" cy="274320"/>
          </a:xfrm>
          <a:prstGeom prst="rect">
            <a:avLst/>
          </a:prstGeom>
          <a:noFill/>
        </p:spPr>
        <p:txBody>
          <a:bodyPr wrap="square">
            <a:spAutoFit/>
          </a:bodyPr>
          <a:lstStyle/>
          <a:p>
            <a:pPr algn="l"/>
            <a:r>
              <a:rPr sz="1200" b="0">
                <a:solidFill>
                  <a:srgbClr val="D97757"/>
                </a:solidFill>
                <a:latin typeface="Helvetica Neue"/>
              </a:rPr>
              <a:t>Plan</a:t>
            </a:r>
          </a:p>
        </p:txBody>
      </p:sp>
      <p:sp>
        <p:nvSpPr>
          <p:cNvPr id="19" name="Rectangle 18"/>
          <p:cNvSpPr/>
          <p:nvPr/>
        </p:nvSpPr>
        <p:spPr>
          <a:xfrm>
            <a:off x="3331520" y="2070000"/>
            <a:ext cx="2000000" cy="29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22960" y="2115720"/>
            <a:ext cx="1817120" cy="274320"/>
          </a:xfrm>
          <a:prstGeom prst="rect">
            <a:avLst/>
          </a:prstGeom>
          <a:noFill/>
        </p:spPr>
        <p:txBody>
          <a:bodyPr wrap="square">
            <a:spAutoFit/>
          </a:bodyPr>
          <a:lstStyle/>
          <a:p>
            <a:pPr algn="l"/>
            <a:r>
              <a:rPr sz="1200" b="0">
                <a:solidFill>
                  <a:srgbClr val="E0DED8"/>
                </a:solidFill>
                <a:latin typeface="Hiragino Sans"/>
              </a:rPr>
              <a:t>—</a:t>
            </a:r>
          </a:p>
        </p:txBody>
      </p:sp>
      <p:sp>
        <p:nvSpPr>
          <p:cNvPr id="21" name="Rectangle 20"/>
          <p:cNvSpPr/>
          <p:nvPr/>
        </p:nvSpPr>
        <p:spPr>
          <a:xfrm>
            <a:off x="5331520" y="2070000"/>
            <a:ext cx="6128960" cy="29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22960" y="2115720"/>
            <a:ext cx="5946080" cy="274320"/>
          </a:xfrm>
          <a:prstGeom prst="rect">
            <a:avLst/>
          </a:prstGeom>
          <a:noFill/>
        </p:spPr>
        <p:txBody>
          <a:bodyPr wrap="square">
            <a:spAutoFit/>
          </a:bodyPr>
          <a:lstStyle/>
          <a:p>
            <a:pPr algn="l"/>
            <a:r>
              <a:rPr sz="1200" b="0">
                <a:solidFill>
                  <a:srgbClr val="E0DED8"/>
                </a:solidFill>
                <a:latin typeface="Hiragino Sans"/>
              </a:rPr>
              <a:t>Planモード中の調査</a:t>
            </a:r>
          </a:p>
        </p:txBody>
      </p:sp>
      <p:sp>
        <p:nvSpPr>
          <p:cNvPr id="23" name="Rectangle 22"/>
          <p:cNvSpPr/>
          <p:nvPr/>
        </p:nvSpPr>
        <p:spPr>
          <a:xfrm>
            <a:off x="731520" y="2370000"/>
            <a:ext cx="260000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2415720"/>
            <a:ext cx="2417120" cy="274320"/>
          </a:xfrm>
          <a:prstGeom prst="rect">
            <a:avLst/>
          </a:prstGeom>
          <a:noFill/>
        </p:spPr>
        <p:txBody>
          <a:bodyPr wrap="square">
            <a:spAutoFit/>
          </a:bodyPr>
          <a:lstStyle/>
          <a:p>
            <a:pPr algn="l"/>
            <a:r>
              <a:rPr sz="1200" b="0">
                <a:solidFill>
                  <a:srgbClr val="D97757"/>
                </a:solidFill>
                <a:latin typeface="Helvetica Neue"/>
              </a:rPr>
              <a:t>general-purpose</a:t>
            </a:r>
          </a:p>
        </p:txBody>
      </p:sp>
      <p:sp>
        <p:nvSpPr>
          <p:cNvPr id="25" name="Rectangle 24"/>
          <p:cNvSpPr/>
          <p:nvPr/>
        </p:nvSpPr>
        <p:spPr>
          <a:xfrm>
            <a:off x="3331520" y="2370000"/>
            <a:ext cx="200000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22960" y="2415720"/>
            <a:ext cx="1817120" cy="274320"/>
          </a:xfrm>
          <a:prstGeom prst="rect">
            <a:avLst/>
          </a:prstGeom>
          <a:noFill/>
        </p:spPr>
        <p:txBody>
          <a:bodyPr wrap="square">
            <a:spAutoFit/>
          </a:bodyPr>
          <a:lstStyle/>
          <a:p>
            <a:pPr algn="l"/>
            <a:r>
              <a:rPr sz="1200" b="0">
                <a:solidFill>
                  <a:srgbClr val="E0DED8"/>
                </a:solidFill>
                <a:latin typeface="Hiragino Sans"/>
              </a:rPr>
              <a:t>Sonnet</a:t>
            </a:r>
          </a:p>
        </p:txBody>
      </p:sp>
      <p:sp>
        <p:nvSpPr>
          <p:cNvPr id="27" name="Rectangle 26"/>
          <p:cNvSpPr/>
          <p:nvPr/>
        </p:nvSpPr>
        <p:spPr>
          <a:xfrm>
            <a:off x="5331520" y="2370000"/>
            <a:ext cx="612896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22960" y="2415720"/>
            <a:ext cx="5946080" cy="274320"/>
          </a:xfrm>
          <a:prstGeom prst="rect">
            <a:avLst/>
          </a:prstGeom>
          <a:noFill/>
        </p:spPr>
        <p:txBody>
          <a:bodyPr wrap="square">
            <a:spAutoFit/>
          </a:bodyPr>
          <a:lstStyle/>
          <a:p>
            <a:pPr algn="l"/>
            <a:r>
              <a:rPr sz="1200" b="0">
                <a:solidFill>
                  <a:srgbClr val="E0DED8"/>
                </a:solidFill>
                <a:latin typeface="Hiragino Sans"/>
              </a:rPr>
              <a:t>複雑なマルチステップタスク（全ツール利用可）</a:t>
            </a:r>
          </a:p>
        </p:txBody>
      </p:sp>
      <p:sp>
        <p:nvSpPr>
          <p:cNvPr id="29" name="TextBox 28"/>
          <p:cNvSpPr txBox="1"/>
          <p:nvPr/>
        </p:nvSpPr>
        <p:spPr>
          <a:xfrm>
            <a:off x="731520" y="2500000"/>
            <a:ext cx="10000000" cy="274320"/>
          </a:xfrm>
          <a:prstGeom prst="rect">
            <a:avLst/>
          </a:prstGeom>
          <a:noFill/>
        </p:spPr>
        <p:txBody>
          <a:bodyPr wrap="square">
            <a:spAutoFit/>
          </a:bodyPr>
          <a:lstStyle/>
          <a:p>
            <a:pPr algn="l"/>
            <a:r>
              <a:rPr sz="1300" b="1">
                <a:solidFill>
                  <a:srgbClr val="D97757"/>
                </a:solidFill>
                <a:latin typeface="Hiragino Sans"/>
              </a:rPr>
              <a:t>→ Claudeが状況に応じて自動的に使い分ける</a:t>
            </a:r>
          </a:p>
        </p:txBody>
      </p:sp>
      <p:cxnSp>
        <p:nvCxnSpPr>
          <p:cNvPr id="30" name="Connector 29"/>
          <p:cNvCxnSpPr/>
          <p:nvPr/>
        </p:nvCxnSpPr>
        <p:spPr>
          <a:xfrm>
            <a:off x="731520" y="290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31520" y="3050000"/>
            <a:ext cx="10000000" cy="365760"/>
          </a:xfrm>
          <a:prstGeom prst="rect">
            <a:avLst/>
          </a:prstGeom>
          <a:noFill/>
        </p:spPr>
        <p:txBody>
          <a:bodyPr wrap="square">
            <a:spAutoFit/>
          </a:bodyPr>
          <a:lstStyle/>
          <a:p>
            <a:pPr algn="l"/>
            <a:r>
              <a:rPr sz="1600" b="1">
                <a:solidFill>
                  <a:srgbClr val="6A9BCC"/>
                </a:solidFill>
                <a:latin typeface="Hiragino Sans"/>
              </a:rPr>
              <a:t>カスタムサブエージェント — .claude/agents/ にMarkdownファイルを配置</a:t>
            </a:r>
          </a:p>
        </p:txBody>
      </p:sp>
      <p:sp>
        <p:nvSpPr>
          <p:cNvPr id="32" name="Rounded Rectangle 31"/>
          <p:cNvSpPr/>
          <p:nvPr/>
        </p:nvSpPr>
        <p:spPr>
          <a:xfrm>
            <a:off x="731520" y="3450000"/>
            <a:ext cx="6000000" cy="22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3541440"/>
            <a:ext cx="5725680" cy="2017120"/>
          </a:xfrm>
          <a:prstGeom prst="rect">
            <a:avLst/>
          </a:prstGeom>
          <a:noFill/>
        </p:spPr>
        <p:txBody>
          <a:bodyPr wrap="square">
            <a:spAutoFit/>
          </a:bodyPr>
          <a:lstStyle/>
          <a:p>
            <a:pPr algn="l"/>
            <a:r>
              <a:rPr sz="1200" b="0">
                <a:solidFill>
                  <a:srgbClr val="E0DED8"/>
                </a:solidFill>
                <a:latin typeface="SF Mono"/>
              </a:rPr>
              <a:t>---</a:t>
            </a:r>
          </a:p>
          <a:p>
            <a:pPr algn="l"/>
            <a:r>
              <a:rPr sz="1200" b="0">
                <a:solidFill>
                  <a:srgbClr val="E0DED8"/>
                </a:solidFill>
                <a:latin typeface="SF Mono"/>
              </a:rPr>
              <a:t>name: code-reviewer</a:t>
            </a:r>
          </a:p>
          <a:p>
            <a:pPr algn="l"/>
            <a:r>
              <a:rPr sz="1200" b="0">
                <a:solidFill>
                  <a:srgbClr val="E0DED8"/>
                </a:solidFill>
                <a:latin typeface="SF Mono"/>
              </a:rPr>
              <a:t>description: コードレビューの専門家。</a:t>
            </a:r>
          </a:p>
          <a:p>
            <a:pPr algn="l"/>
            <a:r>
              <a:rPr sz="1200" b="0">
                <a:solidFill>
                  <a:srgbClr val="E0DED8"/>
                </a:solidFill>
                <a:latin typeface="SF Mono"/>
              </a:rPr>
              <a:t>             コード変更後に積極的にレビュー。</a:t>
            </a:r>
          </a:p>
          <a:p>
            <a:pPr algn="l"/>
            <a:r>
              <a:rPr sz="1200" b="0">
                <a:solidFill>
                  <a:srgbClr val="E0DED8"/>
                </a:solidFill>
                <a:latin typeface="SF Mono"/>
              </a:rPr>
              <a:t>tools: Read, Grep, Glob, Bash</a:t>
            </a:r>
          </a:p>
          <a:p>
            <a:pPr algn="l"/>
            <a:r>
              <a:rPr sz="1200" b="0">
                <a:solidFill>
                  <a:srgbClr val="E0DED8"/>
                </a:solidFill>
                <a:latin typeface="SF Mono"/>
              </a:rPr>
              <a:t>model: sonnet</a:t>
            </a:r>
          </a:p>
          <a:p>
            <a:pPr algn="l"/>
            <a:r>
              <a:rPr sz="1200" b="0">
                <a:solidFill>
                  <a:srgbClr val="E0DED8"/>
                </a:solidFill>
                <a:latin typeface="SF Mono"/>
              </a:rPr>
              <a:t>memory: project</a:t>
            </a:r>
          </a:p>
          <a:p>
            <a:pPr algn="l"/>
            <a:r>
              <a:rPr sz="1200" b="0">
                <a:solidFill>
                  <a:srgbClr val="E0DED8"/>
                </a:solidFill>
                <a:latin typeface="SF Mono"/>
              </a:rPr>
              <a:t>---</a:t>
            </a:r>
          </a:p>
          <a:p>
            <a:pPr algn="l"/>
            <a:r>
              <a:rPr sz="1200" b="0">
                <a:solidFill>
                  <a:srgbClr val="E0DED8"/>
                </a:solidFill>
                <a:latin typeface="SF Mono"/>
              </a:rPr>
              <a:t/>
            </a:r>
          </a:p>
          <a:p>
            <a:pPr algn="l"/>
            <a:r>
              <a:rPr sz="1200" b="0">
                <a:solidFill>
                  <a:srgbClr val="E0DED8"/>
                </a:solidFill>
                <a:latin typeface="SF Mono"/>
              </a:rPr>
              <a:t>あなたはシニアコードレビューアーです。</a:t>
            </a:r>
          </a:p>
          <a:p>
            <a:pPr algn="l"/>
            <a:r>
              <a:rPr sz="1200" b="0">
                <a:solidFill>
                  <a:srgbClr val="E0DED8"/>
                </a:solidFill>
                <a:latin typeface="SF Mono"/>
              </a:rPr>
              <a:t/>
            </a:r>
          </a:p>
          <a:p>
            <a:pPr algn="l"/>
            <a:r>
              <a:rPr sz="1200" b="0">
                <a:solidFill>
                  <a:srgbClr val="E0DED8"/>
                </a:solidFill>
                <a:latin typeface="SF Mono"/>
              </a:rPr>
              <a:t>呼び出されたときは以下を実行する。</a:t>
            </a:r>
          </a:p>
          <a:p>
            <a:pPr algn="l"/>
            <a:r>
              <a:rPr sz="1200" b="0">
                <a:solidFill>
                  <a:srgbClr val="E0DED8"/>
                </a:solidFill>
                <a:latin typeface="SF Mono"/>
              </a:rPr>
              <a:t>1. git diffで最近の変更を確認</a:t>
            </a:r>
          </a:p>
          <a:p>
            <a:pPr algn="l"/>
            <a:r>
              <a:rPr sz="1200" b="0">
                <a:solidFill>
                  <a:srgbClr val="E0DED8"/>
                </a:solidFill>
                <a:latin typeface="SF Mono"/>
              </a:rPr>
              <a:t>2. 変更されたファイルに焦点を当てる</a:t>
            </a:r>
          </a:p>
          <a:p>
            <a:pPr algn="l"/>
            <a:r>
              <a:rPr sz="1200" b="0">
                <a:solidFill>
                  <a:srgbClr val="E0DED8"/>
                </a:solidFill>
                <a:latin typeface="SF Mono"/>
              </a:rPr>
              <a:t>3. 即座にレビューを開始</a:t>
            </a:r>
          </a:p>
        </p:txBody>
      </p:sp>
      <p:sp>
        <p:nvSpPr>
          <p:cNvPr id="34" name="Rounded Rectangle 33"/>
          <p:cNvSpPr/>
          <p:nvPr/>
        </p:nvSpPr>
        <p:spPr>
          <a:xfrm>
            <a:off x="7000000" y="3450000"/>
            <a:ext cx="4460960" cy="54864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000000" y="3450000"/>
            <a:ext cx="54864" cy="54864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00000" y="3495720"/>
            <a:ext cx="2000000" cy="274320"/>
          </a:xfrm>
          <a:prstGeom prst="rect">
            <a:avLst/>
          </a:prstGeom>
          <a:noFill/>
        </p:spPr>
        <p:txBody>
          <a:bodyPr wrap="square">
            <a:spAutoFit/>
          </a:bodyPr>
          <a:lstStyle/>
          <a:p>
            <a:pPr algn="l"/>
            <a:r>
              <a:rPr sz="1200" b="1">
                <a:solidFill>
                  <a:srgbClr val="D97757"/>
                </a:solidFill>
                <a:latin typeface="SF Mono"/>
              </a:rPr>
              <a:t>description</a:t>
            </a:r>
          </a:p>
        </p:txBody>
      </p:sp>
      <p:sp>
        <p:nvSpPr>
          <p:cNvPr id="37" name="TextBox 36"/>
          <p:cNvSpPr txBox="1"/>
          <p:nvPr/>
        </p:nvSpPr>
        <p:spPr>
          <a:xfrm>
            <a:off x="9000000" y="3495720"/>
            <a:ext cx="2300000" cy="457200"/>
          </a:xfrm>
          <a:prstGeom prst="rect">
            <a:avLst/>
          </a:prstGeom>
          <a:noFill/>
        </p:spPr>
        <p:txBody>
          <a:bodyPr wrap="square">
            <a:spAutoFit/>
          </a:bodyPr>
          <a:lstStyle/>
          <a:p>
            <a:pPr algn="l"/>
            <a:r>
              <a:rPr sz="1200" b="0">
                <a:solidFill>
                  <a:srgbClr val="E0DED8"/>
                </a:solidFill>
                <a:latin typeface="Hiragino Sans"/>
              </a:rPr>
              <a:t>Claudeが委譲先を</a:t>
            </a:r>
          </a:p>
          <a:p>
            <a:pPr algn="l"/>
            <a:r>
              <a:rPr sz="1200" b="0">
                <a:solidFill>
                  <a:srgbClr val="E0DED8"/>
                </a:solidFill>
                <a:latin typeface="Hiragino Sans"/>
              </a:rPr>
              <a:t>判断する鍵</a:t>
            </a:r>
          </a:p>
        </p:txBody>
      </p:sp>
      <p:sp>
        <p:nvSpPr>
          <p:cNvPr id="38" name="Rounded Rectangle 37"/>
          <p:cNvSpPr/>
          <p:nvPr/>
        </p:nvSpPr>
        <p:spPr>
          <a:xfrm>
            <a:off x="7000000" y="4090000"/>
            <a:ext cx="4460960" cy="54864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000000" y="4090000"/>
            <a:ext cx="54864" cy="548640"/>
          </a:xfrm>
          <a:prstGeom prst="rect">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00000" y="4135720"/>
            <a:ext cx="2000000" cy="274320"/>
          </a:xfrm>
          <a:prstGeom prst="rect">
            <a:avLst/>
          </a:prstGeom>
          <a:noFill/>
        </p:spPr>
        <p:txBody>
          <a:bodyPr wrap="square">
            <a:spAutoFit/>
          </a:bodyPr>
          <a:lstStyle/>
          <a:p>
            <a:pPr algn="l"/>
            <a:r>
              <a:rPr sz="1200" b="1">
                <a:solidFill>
                  <a:srgbClr val="6A9BCC"/>
                </a:solidFill>
                <a:latin typeface="SF Mono"/>
              </a:rPr>
              <a:t>isolation: worktree</a:t>
            </a:r>
          </a:p>
        </p:txBody>
      </p:sp>
      <p:sp>
        <p:nvSpPr>
          <p:cNvPr id="41" name="TextBox 40"/>
          <p:cNvSpPr txBox="1"/>
          <p:nvPr/>
        </p:nvSpPr>
        <p:spPr>
          <a:xfrm>
            <a:off x="9000000" y="4135720"/>
            <a:ext cx="2300000" cy="457200"/>
          </a:xfrm>
          <a:prstGeom prst="rect">
            <a:avLst/>
          </a:prstGeom>
          <a:noFill/>
        </p:spPr>
        <p:txBody>
          <a:bodyPr wrap="square">
            <a:spAutoFit/>
          </a:bodyPr>
          <a:lstStyle/>
          <a:p>
            <a:pPr algn="l"/>
            <a:r>
              <a:rPr sz="1200" b="0">
                <a:solidFill>
                  <a:srgbClr val="E0DED8"/>
                </a:solidFill>
                <a:latin typeface="Hiragino Sans"/>
              </a:rPr>
              <a:t>独立したworktreeで</a:t>
            </a:r>
          </a:p>
          <a:p>
            <a:pPr algn="l"/>
            <a:r>
              <a:rPr sz="1200" b="0">
                <a:solidFill>
                  <a:srgbClr val="E0DED8"/>
                </a:solidFill>
                <a:latin typeface="Hiragino Sans"/>
              </a:rPr>
              <a:t>動作させる</a:t>
            </a:r>
          </a:p>
        </p:txBody>
      </p:sp>
      <p:sp>
        <p:nvSpPr>
          <p:cNvPr id="42" name="Rounded Rectangle 41"/>
          <p:cNvSpPr/>
          <p:nvPr/>
        </p:nvSpPr>
        <p:spPr>
          <a:xfrm>
            <a:off x="7000000" y="4730000"/>
            <a:ext cx="4460960" cy="54864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000000" y="4730000"/>
            <a:ext cx="54864" cy="548640"/>
          </a:xfrm>
          <a:prstGeom prst="rect">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00000" y="4775720"/>
            <a:ext cx="2000000" cy="274320"/>
          </a:xfrm>
          <a:prstGeom prst="rect">
            <a:avLst/>
          </a:prstGeom>
          <a:noFill/>
        </p:spPr>
        <p:txBody>
          <a:bodyPr wrap="square">
            <a:spAutoFit/>
          </a:bodyPr>
          <a:lstStyle/>
          <a:p>
            <a:pPr algn="l"/>
            <a:r>
              <a:rPr sz="1200" b="1">
                <a:solidFill>
                  <a:srgbClr val="7BC9A0"/>
                </a:solidFill>
                <a:latin typeface="SF Mono"/>
              </a:rPr>
              <a:t>memory: project</a:t>
            </a:r>
          </a:p>
        </p:txBody>
      </p:sp>
      <p:sp>
        <p:nvSpPr>
          <p:cNvPr id="45" name="TextBox 44"/>
          <p:cNvSpPr txBox="1"/>
          <p:nvPr/>
        </p:nvSpPr>
        <p:spPr>
          <a:xfrm>
            <a:off x="9000000" y="4775720"/>
            <a:ext cx="2300000" cy="457200"/>
          </a:xfrm>
          <a:prstGeom prst="rect">
            <a:avLst/>
          </a:prstGeom>
          <a:noFill/>
        </p:spPr>
        <p:txBody>
          <a:bodyPr wrap="square">
            <a:spAutoFit/>
          </a:bodyPr>
          <a:lstStyle/>
          <a:p>
            <a:pPr algn="l"/>
            <a:r>
              <a:rPr sz="1200" b="0">
                <a:solidFill>
                  <a:srgbClr val="E0DED8"/>
                </a:solidFill>
                <a:latin typeface="Hiragino Sans"/>
              </a:rPr>
              <a:t>セッションをまたいで</a:t>
            </a:r>
          </a:p>
          <a:p>
            <a:pPr algn="l"/>
            <a:r>
              <a:rPr sz="1200" b="0">
                <a:solidFill>
                  <a:srgbClr val="E0DED8"/>
                </a:solidFill>
                <a:latin typeface="Hiragino Sans"/>
              </a:rPr>
              <a:t>知見を蓄積</a:t>
            </a:r>
          </a:p>
        </p:txBody>
      </p:sp>
      <p:sp>
        <p:nvSpPr>
          <p:cNvPr id="46" name="TextBox 45"/>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Skills &amp;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スキル vs サブエージェント</a:t>
            </a:r>
          </a:p>
        </p:txBody>
      </p:sp>
      <p:sp>
        <p:nvSpPr>
          <p:cNvPr id="4" name="TextBox 3"/>
          <p:cNvSpPr txBox="1"/>
          <p:nvPr/>
        </p:nvSpPr>
        <p:spPr>
          <a:xfrm>
            <a:off x="731520" y="1200000"/>
            <a:ext cx="10000000" cy="365760"/>
          </a:xfrm>
          <a:prstGeom prst="rect">
            <a:avLst/>
          </a:prstGeom>
          <a:noFill/>
        </p:spPr>
        <p:txBody>
          <a:bodyPr wrap="square">
            <a:spAutoFit/>
          </a:bodyPr>
          <a:lstStyle/>
          <a:p>
            <a:pPr algn="l"/>
            <a:r>
              <a:rPr sz="1600" b="0">
                <a:solidFill>
                  <a:srgbClr val="B0AEA5"/>
                </a:solidFill>
                <a:latin typeface="Hiragino Sans"/>
              </a:rPr>
              <a:t>どちらもClaudeの能力を拡張するが、動作が異なる</a:t>
            </a:r>
          </a:p>
        </p:txBody>
      </p:sp>
      <p:sp>
        <p:nvSpPr>
          <p:cNvPr id="5" name="Rectangle 4"/>
          <p:cNvSpPr/>
          <p:nvPr/>
        </p:nvSpPr>
        <p:spPr>
          <a:xfrm>
            <a:off x="731520" y="1700000"/>
            <a:ext cx="260000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768580"/>
            <a:ext cx="2417120" cy="274320"/>
          </a:xfrm>
          <a:prstGeom prst="rect">
            <a:avLst/>
          </a:prstGeom>
          <a:noFill/>
        </p:spPr>
        <p:txBody>
          <a:bodyPr wrap="square">
            <a:spAutoFit/>
          </a:bodyPr>
          <a:lstStyle/>
          <a:p>
            <a:pPr algn="l"/>
            <a:r>
              <a:rPr sz="1500" b="1">
                <a:solidFill>
                  <a:srgbClr val="D97757"/>
                </a:solidFill>
                <a:latin typeface="Hiragino Sans"/>
              </a:rPr>
              <a:t/>
            </a:r>
          </a:p>
        </p:txBody>
      </p:sp>
      <p:sp>
        <p:nvSpPr>
          <p:cNvPr id="7" name="Rectangle 6"/>
          <p:cNvSpPr/>
          <p:nvPr/>
        </p:nvSpPr>
        <p:spPr>
          <a:xfrm>
            <a:off x="3331520" y="1700000"/>
            <a:ext cx="406448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2960" y="1768580"/>
            <a:ext cx="3881600" cy="274320"/>
          </a:xfrm>
          <a:prstGeom prst="rect">
            <a:avLst/>
          </a:prstGeom>
          <a:noFill/>
        </p:spPr>
        <p:txBody>
          <a:bodyPr wrap="square">
            <a:spAutoFit/>
          </a:bodyPr>
          <a:lstStyle/>
          <a:p>
            <a:pPr algn="l"/>
            <a:r>
              <a:rPr sz="1500" b="1">
                <a:solidFill>
                  <a:srgbClr val="D97757"/>
                </a:solidFill>
                <a:latin typeface="Hiragino Sans"/>
              </a:rPr>
              <a:t>スキル</a:t>
            </a:r>
          </a:p>
        </p:txBody>
      </p:sp>
      <p:sp>
        <p:nvSpPr>
          <p:cNvPr id="9" name="Rectangle 8"/>
          <p:cNvSpPr/>
          <p:nvPr/>
        </p:nvSpPr>
        <p:spPr>
          <a:xfrm>
            <a:off x="7396000" y="1700000"/>
            <a:ext cx="406448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7440" y="1768580"/>
            <a:ext cx="3881600" cy="274320"/>
          </a:xfrm>
          <a:prstGeom prst="rect">
            <a:avLst/>
          </a:prstGeom>
          <a:noFill/>
        </p:spPr>
        <p:txBody>
          <a:bodyPr wrap="square">
            <a:spAutoFit/>
          </a:bodyPr>
          <a:lstStyle/>
          <a:p>
            <a:pPr algn="l"/>
            <a:r>
              <a:rPr sz="1500" b="1">
                <a:solidFill>
                  <a:srgbClr val="D97757"/>
                </a:solidFill>
                <a:latin typeface="Hiragino Sans"/>
              </a:rPr>
              <a:t>サブエージェント</a:t>
            </a:r>
          </a:p>
        </p:txBody>
      </p:sp>
      <p:sp>
        <p:nvSpPr>
          <p:cNvPr id="11" name="Rectangle 10"/>
          <p:cNvSpPr/>
          <p:nvPr/>
        </p:nvSpPr>
        <p:spPr>
          <a:xfrm>
            <a:off x="731520" y="2065760"/>
            <a:ext cx="26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134340"/>
            <a:ext cx="2417120" cy="274320"/>
          </a:xfrm>
          <a:prstGeom prst="rect">
            <a:avLst/>
          </a:prstGeom>
          <a:noFill/>
        </p:spPr>
        <p:txBody>
          <a:bodyPr wrap="square">
            <a:spAutoFit/>
          </a:bodyPr>
          <a:lstStyle/>
          <a:p>
            <a:pPr algn="l"/>
            <a:r>
              <a:rPr sz="1400" b="1">
                <a:solidFill>
                  <a:srgbClr val="FAF9F5"/>
                </a:solidFill>
                <a:latin typeface="Hiragino Sans"/>
              </a:rPr>
              <a:t>コンテキスト</a:t>
            </a:r>
          </a:p>
        </p:txBody>
      </p:sp>
      <p:sp>
        <p:nvSpPr>
          <p:cNvPr id="13" name="Rectangle 12"/>
          <p:cNvSpPr/>
          <p:nvPr/>
        </p:nvSpPr>
        <p:spPr>
          <a:xfrm>
            <a:off x="3331520" y="2065760"/>
            <a:ext cx="406448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22960" y="2134340"/>
            <a:ext cx="3881600" cy="274320"/>
          </a:xfrm>
          <a:prstGeom prst="rect">
            <a:avLst/>
          </a:prstGeom>
          <a:noFill/>
        </p:spPr>
        <p:txBody>
          <a:bodyPr wrap="square">
            <a:spAutoFit/>
          </a:bodyPr>
          <a:lstStyle/>
          <a:p>
            <a:pPr algn="l"/>
            <a:r>
              <a:rPr sz="1400" b="0">
                <a:solidFill>
                  <a:srgbClr val="E0DED8"/>
                </a:solidFill>
                <a:latin typeface="Hiragino Sans"/>
              </a:rPr>
              <a:t>メイン会話内</a:t>
            </a:r>
          </a:p>
        </p:txBody>
      </p:sp>
      <p:sp>
        <p:nvSpPr>
          <p:cNvPr id="15" name="Rectangle 14"/>
          <p:cNvSpPr/>
          <p:nvPr/>
        </p:nvSpPr>
        <p:spPr>
          <a:xfrm>
            <a:off x="7396000" y="2065760"/>
            <a:ext cx="406448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7440" y="2134340"/>
            <a:ext cx="3881600" cy="274320"/>
          </a:xfrm>
          <a:prstGeom prst="rect">
            <a:avLst/>
          </a:prstGeom>
          <a:noFill/>
        </p:spPr>
        <p:txBody>
          <a:bodyPr wrap="square">
            <a:spAutoFit/>
          </a:bodyPr>
          <a:lstStyle/>
          <a:p>
            <a:pPr algn="l"/>
            <a:r>
              <a:rPr sz="1400" b="0">
                <a:solidFill>
                  <a:srgbClr val="E0DED8"/>
                </a:solidFill>
                <a:latin typeface="Hiragino Sans"/>
              </a:rPr>
              <a:t>独立（要約だけ返る）</a:t>
            </a:r>
          </a:p>
        </p:txBody>
      </p:sp>
      <p:sp>
        <p:nvSpPr>
          <p:cNvPr id="17" name="Rectangle 16"/>
          <p:cNvSpPr/>
          <p:nvPr/>
        </p:nvSpPr>
        <p:spPr>
          <a:xfrm>
            <a:off x="731520" y="2435760"/>
            <a:ext cx="260000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2504340"/>
            <a:ext cx="2417120" cy="274320"/>
          </a:xfrm>
          <a:prstGeom prst="rect">
            <a:avLst/>
          </a:prstGeom>
          <a:noFill/>
        </p:spPr>
        <p:txBody>
          <a:bodyPr wrap="square">
            <a:spAutoFit/>
          </a:bodyPr>
          <a:lstStyle/>
          <a:p>
            <a:pPr algn="l"/>
            <a:r>
              <a:rPr sz="1400" b="1">
                <a:solidFill>
                  <a:srgbClr val="FAF9F5"/>
                </a:solidFill>
                <a:latin typeface="Hiragino Sans"/>
              </a:rPr>
              <a:t>向いている作業</a:t>
            </a:r>
          </a:p>
        </p:txBody>
      </p:sp>
      <p:sp>
        <p:nvSpPr>
          <p:cNvPr id="19" name="Rectangle 18"/>
          <p:cNvSpPr/>
          <p:nvPr/>
        </p:nvSpPr>
        <p:spPr>
          <a:xfrm>
            <a:off x="3331520" y="2435760"/>
            <a:ext cx="406448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22960" y="2504340"/>
            <a:ext cx="3881600" cy="274320"/>
          </a:xfrm>
          <a:prstGeom prst="rect">
            <a:avLst/>
          </a:prstGeom>
          <a:noFill/>
        </p:spPr>
        <p:txBody>
          <a:bodyPr wrap="square">
            <a:spAutoFit/>
          </a:bodyPr>
          <a:lstStyle/>
          <a:p>
            <a:pPr algn="l"/>
            <a:r>
              <a:rPr sz="1400" b="0">
                <a:solidFill>
                  <a:srgbClr val="E0DED8"/>
                </a:solidFill>
                <a:latin typeface="Hiragino Sans"/>
              </a:rPr>
              <a:t>知識参照、軽量なワークフロー</a:t>
            </a:r>
          </a:p>
        </p:txBody>
      </p:sp>
      <p:sp>
        <p:nvSpPr>
          <p:cNvPr id="21" name="Rectangle 20"/>
          <p:cNvSpPr/>
          <p:nvPr/>
        </p:nvSpPr>
        <p:spPr>
          <a:xfrm>
            <a:off x="7396000" y="2435760"/>
            <a:ext cx="406448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87440" y="2504340"/>
            <a:ext cx="3881600" cy="274320"/>
          </a:xfrm>
          <a:prstGeom prst="rect">
            <a:avLst/>
          </a:prstGeom>
          <a:noFill/>
        </p:spPr>
        <p:txBody>
          <a:bodyPr wrap="square">
            <a:spAutoFit/>
          </a:bodyPr>
          <a:lstStyle/>
          <a:p>
            <a:pPr algn="l"/>
            <a:r>
              <a:rPr sz="1400" b="0">
                <a:solidFill>
                  <a:srgbClr val="E0DED8"/>
                </a:solidFill>
                <a:latin typeface="Hiragino Sans"/>
              </a:rPr>
              <a:t>大量の探索、並列実行</a:t>
            </a:r>
          </a:p>
        </p:txBody>
      </p:sp>
      <p:sp>
        <p:nvSpPr>
          <p:cNvPr id="23" name="Rectangle 22"/>
          <p:cNvSpPr/>
          <p:nvPr/>
        </p:nvSpPr>
        <p:spPr>
          <a:xfrm>
            <a:off x="731520" y="2805760"/>
            <a:ext cx="26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2874340"/>
            <a:ext cx="2417120" cy="274320"/>
          </a:xfrm>
          <a:prstGeom prst="rect">
            <a:avLst/>
          </a:prstGeom>
          <a:noFill/>
        </p:spPr>
        <p:txBody>
          <a:bodyPr wrap="square">
            <a:spAutoFit/>
          </a:bodyPr>
          <a:lstStyle/>
          <a:p>
            <a:pPr algn="l"/>
            <a:r>
              <a:rPr sz="1400" b="1">
                <a:solidFill>
                  <a:srgbClr val="FAF9F5"/>
                </a:solidFill>
                <a:latin typeface="Hiragino Sans"/>
              </a:rPr>
              <a:t>配置場所</a:t>
            </a:r>
          </a:p>
        </p:txBody>
      </p:sp>
      <p:sp>
        <p:nvSpPr>
          <p:cNvPr id="25" name="Rectangle 24"/>
          <p:cNvSpPr/>
          <p:nvPr/>
        </p:nvSpPr>
        <p:spPr>
          <a:xfrm>
            <a:off x="3331520" y="2805760"/>
            <a:ext cx="406448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22960" y="2874340"/>
            <a:ext cx="3881600" cy="274320"/>
          </a:xfrm>
          <a:prstGeom prst="rect">
            <a:avLst/>
          </a:prstGeom>
          <a:noFill/>
        </p:spPr>
        <p:txBody>
          <a:bodyPr wrap="square">
            <a:spAutoFit/>
          </a:bodyPr>
          <a:lstStyle/>
          <a:p>
            <a:pPr algn="l"/>
            <a:r>
              <a:rPr sz="1400" b="0">
                <a:solidFill>
                  <a:srgbClr val="E0DED8"/>
                </a:solidFill>
                <a:latin typeface="SF Mono"/>
              </a:rPr>
              <a:t>.claude/skills/</a:t>
            </a:r>
          </a:p>
        </p:txBody>
      </p:sp>
      <p:sp>
        <p:nvSpPr>
          <p:cNvPr id="27" name="Rectangle 26"/>
          <p:cNvSpPr/>
          <p:nvPr/>
        </p:nvSpPr>
        <p:spPr>
          <a:xfrm>
            <a:off x="7396000" y="2805760"/>
            <a:ext cx="406448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87440" y="2874340"/>
            <a:ext cx="3881600" cy="274320"/>
          </a:xfrm>
          <a:prstGeom prst="rect">
            <a:avLst/>
          </a:prstGeom>
          <a:noFill/>
        </p:spPr>
        <p:txBody>
          <a:bodyPr wrap="square">
            <a:spAutoFit/>
          </a:bodyPr>
          <a:lstStyle/>
          <a:p>
            <a:pPr algn="l"/>
            <a:r>
              <a:rPr sz="1400" b="0">
                <a:solidFill>
                  <a:srgbClr val="E0DED8"/>
                </a:solidFill>
                <a:latin typeface="SF Mono"/>
              </a:rPr>
              <a:t>.claude/agents/</a:t>
            </a:r>
          </a:p>
        </p:txBody>
      </p:sp>
      <p:sp>
        <p:nvSpPr>
          <p:cNvPr id="29" name="Rectangle 28"/>
          <p:cNvSpPr/>
          <p:nvPr/>
        </p:nvSpPr>
        <p:spPr>
          <a:xfrm>
            <a:off x="731520" y="3175760"/>
            <a:ext cx="260000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3244340"/>
            <a:ext cx="2417120" cy="274320"/>
          </a:xfrm>
          <a:prstGeom prst="rect">
            <a:avLst/>
          </a:prstGeom>
          <a:noFill/>
        </p:spPr>
        <p:txBody>
          <a:bodyPr wrap="square">
            <a:spAutoFit/>
          </a:bodyPr>
          <a:lstStyle/>
          <a:p>
            <a:pPr algn="l"/>
            <a:r>
              <a:rPr sz="1400" b="1">
                <a:solidFill>
                  <a:srgbClr val="FAF9F5"/>
                </a:solidFill>
                <a:latin typeface="Hiragino Sans"/>
              </a:rPr>
              <a:t>設定ファイル</a:t>
            </a:r>
          </a:p>
        </p:txBody>
      </p:sp>
      <p:sp>
        <p:nvSpPr>
          <p:cNvPr id="31" name="Rectangle 30"/>
          <p:cNvSpPr/>
          <p:nvPr/>
        </p:nvSpPr>
        <p:spPr>
          <a:xfrm>
            <a:off x="3331520" y="3175760"/>
            <a:ext cx="406448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22960" y="3244340"/>
            <a:ext cx="3881600" cy="274320"/>
          </a:xfrm>
          <a:prstGeom prst="rect">
            <a:avLst/>
          </a:prstGeom>
          <a:noFill/>
        </p:spPr>
        <p:txBody>
          <a:bodyPr wrap="square">
            <a:spAutoFit/>
          </a:bodyPr>
          <a:lstStyle/>
          <a:p>
            <a:pPr algn="l"/>
            <a:r>
              <a:rPr sz="1400" b="0">
                <a:solidFill>
                  <a:srgbClr val="E0DED8"/>
                </a:solidFill>
                <a:latin typeface="Hiragino Sans"/>
              </a:rPr>
              <a:t>SKILL.md</a:t>
            </a:r>
          </a:p>
        </p:txBody>
      </p:sp>
      <p:sp>
        <p:nvSpPr>
          <p:cNvPr id="33" name="Rectangle 32"/>
          <p:cNvSpPr/>
          <p:nvPr/>
        </p:nvSpPr>
        <p:spPr>
          <a:xfrm>
            <a:off x="7396000" y="3175760"/>
            <a:ext cx="406448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87440" y="3244340"/>
            <a:ext cx="3881600" cy="274320"/>
          </a:xfrm>
          <a:prstGeom prst="rect">
            <a:avLst/>
          </a:prstGeom>
          <a:noFill/>
        </p:spPr>
        <p:txBody>
          <a:bodyPr wrap="square">
            <a:spAutoFit/>
          </a:bodyPr>
          <a:lstStyle/>
          <a:p>
            <a:pPr algn="l"/>
            <a:r>
              <a:rPr sz="1400" b="0">
                <a:solidFill>
                  <a:srgbClr val="E0DED8"/>
                </a:solidFill>
                <a:latin typeface="Hiragino Sans"/>
              </a:rPr>
              <a:t>Markdown</a:t>
            </a:r>
          </a:p>
        </p:txBody>
      </p:sp>
      <p:cxnSp>
        <p:nvCxnSpPr>
          <p:cNvPr id="35" name="Connector 34"/>
          <p:cNvCxnSpPr/>
          <p:nvPr/>
        </p:nvCxnSpPr>
        <p:spPr>
          <a:xfrm>
            <a:off x="731520" y="360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31520" y="3750000"/>
            <a:ext cx="5000000" cy="365760"/>
          </a:xfrm>
          <a:prstGeom prst="rect">
            <a:avLst/>
          </a:prstGeom>
          <a:noFill/>
        </p:spPr>
        <p:txBody>
          <a:bodyPr wrap="square">
            <a:spAutoFit/>
          </a:bodyPr>
          <a:lstStyle/>
          <a:p>
            <a:pPr algn="l"/>
            <a:r>
              <a:rPr sz="1800" b="1">
                <a:solidFill>
                  <a:srgbClr val="FAF9F5"/>
                </a:solidFill>
                <a:latin typeface="Hiragino Sans"/>
              </a:rPr>
              <a:t>使い分けの基準</a:t>
            </a:r>
          </a:p>
        </p:txBody>
      </p:sp>
      <p:sp>
        <p:nvSpPr>
          <p:cNvPr id="37" name="TextBox 36"/>
          <p:cNvSpPr txBox="1"/>
          <p:nvPr/>
        </p:nvSpPr>
        <p:spPr>
          <a:xfrm>
            <a:off x="914400" y="4200000"/>
            <a:ext cx="5000000" cy="274320"/>
          </a:xfrm>
          <a:prstGeom prst="rect">
            <a:avLst/>
          </a:prstGeom>
          <a:noFill/>
        </p:spPr>
        <p:txBody>
          <a:bodyPr wrap="square">
            <a:spAutoFit/>
          </a:bodyPr>
          <a:lstStyle/>
          <a:p>
            <a:pPr algn="l"/>
            <a:r>
              <a:rPr sz="1400" b="0">
                <a:solidFill>
                  <a:srgbClr val="E0DED8"/>
                </a:solidFill>
                <a:latin typeface="Hiragino Sans"/>
              </a:rPr>
              <a:t>•  1〜3ファイルの作業</a:t>
            </a:r>
          </a:p>
        </p:txBody>
      </p:sp>
      <p:sp>
        <p:nvSpPr>
          <p:cNvPr id="38" name="TextBox 37"/>
          <p:cNvSpPr txBox="1"/>
          <p:nvPr/>
        </p:nvSpPr>
        <p:spPr>
          <a:xfrm>
            <a:off x="5800000" y="4200000"/>
            <a:ext cx="5000000" cy="274320"/>
          </a:xfrm>
          <a:prstGeom prst="rect">
            <a:avLst/>
          </a:prstGeom>
          <a:noFill/>
        </p:spPr>
        <p:txBody>
          <a:bodyPr wrap="square">
            <a:spAutoFit/>
          </a:bodyPr>
          <a:lstStyle/>
          <a:p>
            <a:pPr algn="l"/>
            <a:r>
              <a:rPr sz="1400" b="1">
                <a:solidFill>
                  <a:srgbClr val="D97757"/>
                </a:solidFill>
                <a:latin typeface="Hiragino Sans"/>
              </a:rPr>
              <a:t>→ スキル</a:t>
            </a:r>
          </a:p>
        </p:txBody>
      </p:sp>
      <p:sp>
        <p:nvSpPr>
          <p:cNvPr id="39" name="TextBox 38"/>
          <p:cNvSpPr txBox="1"/>
          <p:nvPr/>
        </p:nvSpPr>
        <p:spPr>
          <a:xfrm>
            <a:off x="914400" y="4540000"/>
            <a:ext cx="5000000" cy="274320"/>
          </a:xfrm>
          <a:prstGeom prst="rect">
            <a:avLst/>
          </a:prstGeom>
          <a:noFill/>
        </p:spPr>
        <p:txBody>
          <a:bodyPr wrap="square">
            <a:spAutoFit/>
          </a:bodyPr>
          <a:lstStyle/>
          <a:p>
            <a:pPr algn="l"/>
            <a:r>
              <a:rPr sz="1400" b="0">
                <a:solidFill>
                  <a:srgbClr val="E0DED8"/>
                </a:solidFill>
                <a:latin typeface="Hiragino Sans"/>
              </a:rPr>
              <a:t>•  数十ファイルの探索</a:t>
            </a:r>
          </a:p>
        </p:txBody>
      </p:sp>
      <p:sp>
        <p:nvSpPr>
          <p:cNvPr id="40" name="TextBox 39"/>
          <p:cNvSpPr txBox="1"/>
          <p:nvPr/>
        </p:nvSpPr>
        <p:spPr>
          <a:xfrm>
            <a:off x="5800000" y="4540000"/>
            <a:ext cx="5000000" cy="274320"/>
          </a:xfrm>
          <a:prstGeom prst="rect">
            <a:avLst/>
          </a:prstGeom>
          <a:noFill/>
        </p:spPr>
        <p:txBody>
          <a:bodyPr wrap="square">
            <a:spAutoFit/>
          </a:bodyPr>
          <a:lstStyle/>
          <a:p>
            <a:pPr algn="l"/>
            <a:r>
              <a:rPr sz="1400" b="1">
                <a:solidFill>
                  <a:srgbClr val="6A9BCC"/>
                </a:solidFill>
                <a:latin typeface="Hiragino Sans"/>
              </a:rPr>
              <a:t>→ サブエージェント</a:t>
            </a:r>
          </a:p>
        </p:txBody>
      </p:sp>
      <p:sp>
        <p:nvSpPr>
          <p:cNvPr id="41" name="TextBox 40"/>
          <p:cNvSpPr txBox="1"/>
          <p:nvPr/>
        </p:nvSpPr>
        <p:spPr>
          <a:xfrm>
            <a:off x="914400" y="4880000"/>
            <a:ext cx="5000000" cy="274320"/>
          </a:xfrm>
          <a:prstGeom prst="rect">
            <a:avLst/>
          </a:prstGeom>
          <a:noFill/>
        </p:spPr>
        <p:txBody>
          <a:bodyPr wrap="square">
            <a:spAutoFit/>
          </a:bodyPr>
          <a:lstStyle/>
          <a:p>
            <a:pPr algn="l"/>
            <a:r>
              <a:rPr sz="1400" b="0">
                <a:solidFill>
                  <a:srgbClr val="E0DED8"/>
                </a:solidFill>
                <a:latin typeface="Hiragino Sans"/>
              </a:rPr>
              <a:t>•  結果を会話で直接使いたい</a:t>
            </a:r>
          </a:p>
        </p:txBody>
      </p:sp>
      <p:sp>
        <p:nvSpPr>
          <p:cNvPr id="42" name="TextBox 41"/>
          <p:cNvSpPr txBox="1"/>
          <p:nvPr/>
        </p:nvSpPr>
        <p:spPr>
          <a:xfrm>
            <a:off x="5800000" y="4880000"/>
            <a:ext cx="5000000" cy="274320"/>
          </a:xfrm>
          <a:prstGeom prst="rect">
            <a:avLst/>
          </a:prstGeom>
          <a:noFill/>
        </p:spPr>
        <p:txBody>
          <a:bodyPr wrap="square">
            <a:spAutoFit/>
          </a:bodyPr>
          <a:lstStyle/>
          <a:p>
            <a:pPr algn="l"/>
            <a:r>
              <a:rPr sz="1400" b="1">
                <a:solidFill>
                  <a:srgbClr val="D97757"/>
                </a:solidFill>
                <a:latin typeface="Hiragino Sans"/>
              </a:rPr>
              <a:t>→ スキル</a:t>
            </a:r>
          </a:p>
        </p:txBody>
      </p:sp>
      <p:sp>
        <p:nvSpPr>
          <p:cNvPr id="43" name="TextBox 42"/>
          <p:cNvSpPr txBox="1"/>
          <p:nvPr/>
        </p:nvSpPr>
        <p:spPr>
          <a:xfrm>
            <a:off x="914400" y="5220000"/>
            <a:ext cx="5000000" cy="274320"/>
          </a:xfrm>
          <a:prstGeom prst="rect">
            <a:avLst/>
          </a:prstGeom>
          <a:noFill/>
        </p:spPr>
        <p:txBody>
          <a:bodyPr wrap="square">
            <a:spAutoFit/>
          </a:bodyPr>
          <a:lstStyle/>
          <a:p>
            <a:pPr algn="l"/>
            <a:r>
              <a:rPr sz="1400" b="0">
                <a:solidFill>
                  <a:srgbClr val="E0DED8"/>
                </a:solidFill>
                <a:latin typeface="Hiragino Sans"/>
              </a:rPr>
              <a:t>•  メインのコンテキストを守りたい</a:t>
            </a:r>
          </a:p>
        </p:txBody>
      </p:sp>
      <p:sp>
        <p:nvSpPr>
          <p:cNvPr id="44" name="TextBox 43"/>
          <p:cNvSpPr txBox="1"/>
          <p:nvPr/>
        </p:nvSpPr>
        <p:spPr>
          <a:xfrm>
            <a:off x="5800000" y="5220000"/>
            <a:ext cx="5000000" cy="274320"/>
          </a:xfrm>
          <a:prstGeom prst="rect">
            <a:avLst/>
          </a:prstGeom>
          <a:noFill/>
        </p:spPr>
        <p:txBody>
          <a:bodyPr wrap="square">
            <a:spAutoFit/>
          </a:bodyPr>
          <a:lstStyle/>
          <a:p>
            <a:pPr algn="l"/>
            <a:r>
              <a:rPr sz="1400" b="1">
                <a:solidFill>
                  <a:srgbClr val="6A9BCC"/>
                </a:solidFill>
                <a:latin typeface="Hiragino Sans"/>
              </a:rPr>
              <a:t>→ サブエージェント</a:t>
            </a:r>
          </a:p>
        </p:txBody>
      </p:sp>
      <p:sp>
        <p:nvSpPr>
          <p:cNvPr id="45" name="Rectangle 44"/>
          <p:cNvSpPr/>
          <p:nvPr/>
        </p:nvSpPr>
        <p:spPr>
          <a:xfrm>
            <a:off x="731520" y="58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31520" y="58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4400" y="5891440"/>
            <a:ext cx="10400000" cy="365760"/>
          </a:xfrm>
          <a:prstGeom prst="rect">
            <a:avLst/>
          </a:prstGeom>
          <a:noFill/>
        </p:spPr>
        <p:txBody>
          <a:bodyPr wrap="square">
            <a:spAutoFit/>
          </a:bodyPr>
          <a:lstStyle/>
          <a:p>
            <a:pPr algn="l"/>
            <a:r>
              <a:rPr sz="1400" b="1">
                <a:solidFill>
                  <a:srgbClr val="D97757"/>
                </a:solidFill>
                <a:latin typeface="Hiragino Sans"/>
              </a:rPr>
              <a:t>→ スキル = 手順書、サブエージェント = 専門チームメンバー</a:t>
            </a:r>
          </a:p>
        </p:txBody>
      </p:sp>
      <p:sp>
        <p:nvSpPr>
          <p:cNvPr id="48" name="TextBox 47"/>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31F1D"/>
        </a:solidFill>
        <a:effectLst/>
      </p:bgPr>
    </p:bg>
    <p:spTree>
      <p:nvGrpSpPr>
        <p:cNvPr id="1" name=""/>
        <p:cNvGrpSpPr/>
        <p:nvPr/>
      </p:nvGrpSpPr>
      <p:grpSpPr/>
      <p:cxnSp>
        <p:nvCxnSpPr>
          <p:cNvPr id="2" name="Connector 1"/>
          <p:cNvCxnSpPr/>
          <p:nvPr/>
        </p:nvCxnSpPr>
        <p:spPr>
          <a:xfrm>
            <a:off x="73152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63168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0" y="2000000"/>
            <a:ext cx="12192000" cy="457200"/>
          </a:xfrm>
          <a:prstGeom prst="rect">
            <a:avLst/>
          </a:prstGeom>
          <a:noFill/>
        </p:spPr>
        <p:txBody>
          <a:bodyPr wrap="square">
            <a:spAutoFit/>
          </a:bodyPr>
          <a:lstStyle/>
          <a:p>
            <a:pPr algn="ctr"/>
            <a:r>
              <a:rPr sz="1800" b="1">
                <a:solidFill>
                  <a:srgbClr val="D97757"/>
                </a:solidFill>
                <a:latin typeface="Helvetica Neue"/>
              </a:rPr>
              <a:t>PART 2</a:t>
            </a:r>
          </a:p>
        </p:txBody>
      </p:sp>
      <p:sp>
        <p:nvSpPr>
          <p:cNvPr id="5" name="TextBox 4"/>
          <p:cNvSpPr txBox="1"/>
          <p:nvPr/>
        </p:nvSpPr>
        <p:spPr>
          <a:xfrm>
            <a:off x="0" y="2600000"/>
            <a:ext cx="12192000" cy="762000"/>
          </a:xfrm>
          <a:prstGeom prst="rect">
            <a:avLst/>
          </a:prstGeom>
          <a:noFill/>
        </p:spPr>
        <p:txBody>
          <a:bodyPr wrap="square">
            <a:spAutoFit/>
          </a:bodyPr>
          <a:lstStyle/>
          <a:p>
            <a:pPr algn="ctr"/>
            <a:r>
              <a:rPr sz="4000" b="1">
                <a:solidFill>
                  <a:srgbClr val="FAF9F5"/>
                </a:solidFill>
                <a:latin typeface="Hiragino Sans"/>
              </a:rPr>
              <a:t>Hooks &amp; MCP</a:t>
            </a:r>
          </a:p>
        </p:txBody>
      </p:sp>
      <p:sp>
        <p:nvSpPr>
          <p:cNvPr id="6" name="TextBox 5"/>
          <p:cNvSpPr txBox="1"/>
          <p:nvPr/>
        </p:nvSpPr>
        <p:spPr>
          <a:xfrm>
            <a:off x="0" y="3500000"/>
            <a:ext cx="12192000" cy="457200"/>
          </a:xfrm>
          <a:prstGeom prst="rect">
            <a:avLst/>
          </a:prstGeom>
          <a:noFill/>
        </p:spPr>
        <p:txBody>
          <a:bodyPr wrap="square">
            <a:spAutoFit/>
          </a:bodyPr>
          <a:lstStyle/>
          <a:p>
            <a:pPr algn="ctr"/>
            <a:r>
              <a:rPr sz="2400" b="0">
                <a:solidFill>
                  <a:srgbClr val="C5C3BB"/>
                </a:solidFill>
                <a:latin typeface="Hiragino Sans"/>
              </a:rPr>
              <a:t>自動化し、つなぐ</a:t>
            </a:r>
          </a:p>
        </p:txBody>
      </p:sp>
      <p:sp>
        <p:nvSpPr>
          <p:cNvPr id="7" name="TextBox 6"/>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2 — Hooks &amp; MCP</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Hooksとは</a:t>
            </a:r>
          </a:p>
        </p:txBody>
      </p:sp>
      <p:sp>
        <p:nvSpPr>
          <p:cNvPr id="4" name="TextBox 3"/>
          <p:cNvSpPr txBox="1"/>
          <p:nvPr/>
        </p:nvSpPr>
        <p:spPr>
          <a:xfrm>
            <a:off x="731520" y="1200000"/>
            <a:ext cx="10000000" cy="365760"/>
          </a:xfrm>
          <a:prstGeom prst="rect">
            <a:avLst/>
          </a:prstGeom>
          <a:noFill/>
        </p:spPr>
        <p:txBody>
          <a:bodyPr wrap="square">
            <a:spAutoFit/>
          </a:bodyPr>
          <a:lstStyle/>
          <a:p>
            <a:pPr algn="l"/>
            <a:r>
              <a:rPr sz="1600" b="1">
                <a:solidFill>
                  <a:srgbClr val="D97757"/>
                </a:solidFill>
                <a:latin typeface="Hiragino Sans"/>
              </a:rPr>
              <a:t>Claude Codeの特定のタイミングで、自動で処理を実行する仕組み</a:t>
            </a:r>
          </a:p>
        </p:txBody>
      </p:sp>
      <p:sp>
        <p:nvSpPr>
          <p:cNvPr id="5" name="TextBox 4"/>
          <p:cNvSpPr txBox="1"/>
          <p:nvPr/>
        </p:nvSpPr>
        <p:spPr>
          <a:xfrm>
            <a:off x="731520" y="1600000"/>
            <a:ext cx="10000000" cy="274320"/>
          </a:xfrm>
          <a:prstGeom prst="rect">
            <a:avLst/>
          </a:prstGeom>
          <a:noFill/>
        </p:spPr>
        <p:txBody>
          <a:bodyPr wrap="square">
            <a:spAutoFit/>
          </a:bodyPr>
          <a:lstStyle/>
          <a:p>
            <a:pPr algn="l"/>
            <a:r>
              <a:rPr sz="1300" b="0">
                <a:solidFill>
                  <a:srgbClr val="B0AEA5"/>
                </a:solidFill>
                <a:latin typeface="SF Mono"/>
              </a:rPr>
              <a:t>設定場所: .claude/settings.json</a:t>
            </a:r>
          </a:p>
        </p:txBody>
      </p:sp>
      <p:sp>
        <p:nvSpPr>
          <p:cNvPr id="6" name="TextBox 5"/>
          <p:cNvSpPr txBox="1"/>
          <p:nvPr/>
        </p:nvSpPr>
        <p:spPr>
          <a:xfrm>
            <a:off x="731520" y="1950000"/>
            <a:ext cx="3200000" cy="274320"/>
          </a:xfrm>
          <a:prstGeom prst="rect">
            <a:avLst/>
          </a:prstGeom>
          <a:noFill/>
        </p:spPr>
        <p:txBody>
          <a:bodyPr wrap="square">
            <a:spAutoFit/>
          </a:bodyPr>
          <a:lstStyle/>
          <a:p>
            <a:pPr algn="l"/>
            <a:r>
              <a:rPr sz="1200" b="1">
                <a:solidFill>
                  <a:srgbClr val="D97757"/>
                </a:solidFill>
                <a:latin typeface="Hiragino Sans"/>
              </a:rPr>
              <a:t>例1: 編集後にlintを自動修正（PostToolUse）</a:t>
            </a:r>
          </a:p>
        </p:txBody>
      </p:sp>
      <p:sp>
        <p:nvSpPr>
          <p:cNvPr id="7" name="Rounded Rectangle 6"/>
          <p:cNvSpPr/>
          <p:nvPr/>
        </p:nvSpPr>
        <p:spPr>
          <a:xfrm>
            <a:off x="731520" y="2300000"/>
            <a:ext cx="3200000" cy="15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91440"/>
            <a:ext cx="2925680" cy="1317120"/>
          </a:xfrm>
          <a:prstGeom prst="rect">
            <a:avLst/>
          </a:prstGeom>
          <a:noFill/>
        </p:spPr>
        <p:txBody>
          <a:bodyPr wrap="square">
            <a:spAutoFit/>
          </a:bodyPr>
          <a:lstStyle/>
          <a:p>
            <a:pPr algn="l"/>
            <a:r>
              <a:rPr sz="1200" b="0">
                <a:solidFill>
                  <a:srgbClr val="E0DED8"/>
                </a:solidFill>
                <a:latin typeface="SF Mono"/>
              </a:rPr>
              <a:t>{</a:t>
            </a:r>
          </a:p>
          <a:p>
            <a:pPr algn="l"/>
            <a:r>
              <a:rPr sz="1200" b="0">
                <a:solidFill>
                  <a:srgbClr val="E0DED8"/>
                </a:solidFill>
                <a:latin typeface="SF Mono"/>
              </a:rPr>
              <a:t>  "matcher": "Edit|Write",</a:t>
            </a:r>
          </a:p>
          <a:p>
            <a:pPr algn="l"/>
            <a:r>
              <a:rPr sz="1200" b="0">
                <a:solidFill>
                  <a:srgbClr val="E0DED8"/>
                </a:solidFill>
                <a:latin typeface="SF Mono"/>
              </a:rPr>
              <a:t>  "hooks": [{</a:t>
            </a:r>
          </a:p>
          <a:p>
            <a:pPr algn="l"/>
            <a:r>
              <a:rPr sz="1200" b="0">
                <a:solidFill>
                  <a:srgbClr val="E0DED8"/>
                </a:solidFill>
                <a:latin typeface="SF Mono"/>
              </a:rPr>
              <a:t>    "type": "command",</a:t>
            </a:r>
          </a:p>
          <a:p>
            <a:pPr algn="l"/>
            <a:r>
              <a:rPr sz="1200" b="0">
                <a:solidFill>
                  <a:srgbClr val="E0DED8"/>
                </a:solidFill>
                <a:latin typeface="SF Mono"/>
              </a:rPr>
              <a:t>    "command": "npm run lint:fix"</a:t>
            </a:r>
          </a:p>
          <a:p>
            <a:pPr algn="l"/>
            <a:r>
              <a:rPr sz="1200" b="0">
                <a:solidFill>
                  <a:srgbClr val="E0DED8"/>
                </a:solidFill>
                <a:latin typeface="SF Mono"/>
              </a:rPr>
              <a:t>  }]</a:t>
            </a:r>
          </a:p>
          <a:p>
            <a:pPr algn="l"/>
            <a:r>
              <a:rPr sz="1200" b="0">
                <a:solidFill>
                  <a:srgbClr val="E0DED8"/>
                </a:solidFill>
                <a:latin typeface="SF Mono"/>
              </a:rPr>
              <a:t>}</a:t>
            </a:r>
          </a:p>
        </p:txBody>
      </p:sp>
      <p:sp>
        <p:nvSpPr>
          <p:cNvPr id="9" name="TextBox 8"/>
          <p:cNvSpPr txBox="1"/>
          <p:nvPr/>
        </p:nvSpPr>
        <p:spPr>
          <a:xfrm>
            <a:off x="4200000" y="1950000"/>
            <a:ext cx="3200000" cy="274320"/>
          </a:xfrm>
          <a:prstGeom prst="rect">
            <a:avLst/>
          </a:prstGeom>
          <a:noFill/>
        </p:spPr>
        <p:txBody>
          <a:bodyPr wrap="square">
            <a:spAutoFit/>
          </a:bodyPr>
          <a:lstStyle/>
          <a:p>
            <a:pPr algn="l"/>
            <a:r>
              <a:rPr sz="1200" b="1">
                <a:solidFill>
                  <a:srgbClr val="6A9BCC"/>
                </a:solidFill>
                <a:latin typeface="Hiragino Sans"/>
              </a:rPr>
              <a:t>例2: テストを自動実行（PostToolUse）</a:t>
            </a:r>
          </a:p>
        </p:txBody>
      </p:sp>
      <p:sp>
        <p:nvSpPr>
          <p:cNvPr id="10" name="Rounded Rectangle 9"/>
          <p:cNvSpPr/>
          <p:nvPr/>
        </p:nvSpPr>
        <p:spPr>
          <a:xfrm>
            <a:off x="4200000" y="2300000"/>
            <a:ext cx="3200000" cy="15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37160" y="2391440"/>
            <a:ext cx="2925680" cy="1317120"/>
          </a:xfrm>
          <a:prstGeom prst="rect">
            <a:avLst/>
          </a:prstGeom>
          <a:noFill/>
        </p:spPr>
        <p:txBody>
          <a:bodyPr wrap="square">
            <a:spAutoFit/>
          </a:bodyPr>
          <a:lstStyle/>
          <a:p>
            <a:pPr algn="l"/>
            <a:r>
              <a:rPr sz="1200" b="0">
                <a:solidFill>
                  <a:srgbClr val="E0DED8"/>
                </a:solidFill>
                <a:latin typeface="SF Mono"/>
              </a:rPr>
              <a:t>{</a:t>
            </a:r>
          </a:p>
          <a:p>
            <a:pPr algn="l"/>
            <a:r>
              <a:rPr sz="1200" b="0">
                <a:solidFill>
                  <a:srgbClr val="E0DED8"/>
                </a:solidFill>
                <a:latin typeface="SF Mono"/>
              </a:rPr>
              <a:t>  "matcher": "Edit|Write",</a:t>
            </a:r>
          </a:p>
          <a:p>
            <a:pPr algn="l"/>
            <a:r>
              <a:rPr sz="1200" b="0">
                <a:solidFill>
                  <a:srgbClr val="E0DED8"/>
                </a:solidFill>
                <a:latin typeface="SF Mono"/>
              </a:rPr>
              <a:t>  "hooks": [{</a:t>
            </a:r>
          </a:p>
          <a:p>
            <a:pPr algn="l"/>
            <a:r>
              <a:rPr sz="1200" b="0">
                <a:solidFill>
                  <a:srgbClr val="E0DED8"/>
                </a:solidFill>
                <a:latin typeface="SF Mono"/>
              </a:rPr>
              <a:t>    "type": "command",</a:t>
            </a:r>
          </a:p>
          <a:p>
            <a:pPr algn="l"/>
            <a:r>
              <a:rPr sz="1200" b="0">
                <a:solidFill>
                  <a:srgbClr val="E0DED8"/>
                </a:solidFill>
                <a:latin typeface="SF Mono"/>
              </a:rPr>
              <a:t>    "command": "npm test -- --bail"</a:t>
            </a:r>
          </a:p>
          <a:p>
            <a:pPr algn="l"/>
            <a:r>
              <a:rPr sz="1200" b="0">
                <a:solidFill>
                  <a:srgbClr val="E0DED8"/>
                </a:solidFill>
                <a:latin typeface="SF Mono"/>
              </a:rPr>
              <a:t>  }]</a:t>
            </a:r>
          </a:p>
          <a:p>
            <a:pPr algn="l"/>
            <a:r>
              <a:rPr sz="1200" b="0">
                <a:solidFill>
                  <a:srgbClr val="E0DED8"/>
                </a:solidFill>
                <a:latin typeface="SF Mono"/>
              </a:rPr>
              <a:t>}</a:t>
            </a:r>
          </a:p>
        </p:txBody>
      </p:sp>
      <p:sp>
        <p:nvSpPr>
          <p:cNvPr id="12" name="TextBox 11"/>
          <p:cNvSpPr txBox="1"/>
          <p:nvPr/>
        </p:nvSpPr>
        <p:spPr>
          <a:xfrm>
            <a:off x="7668480" y="1950000"/>
            <a:ext cx="3200000" cy="274320"/>
          </a:xfrm>
          <a:prstGeom prst="rect">
            <a:avLst/>
          </a:prstGeom>
          <a:noFill/>
        </p:spPr>
        <p:txBody>
          <a:bodyPr wrap="square">
            <a:spAutoFit/>
          </a:bodyPr>
          <a:lstStyle/>
          <a:p>
            <a:pPr algn="l"/>
            <a:r>
              <a:rPr sz="1200" b="1">
                <a:solidFill>
                  <a:srgbClr val="7BC9A0"/>
                </a:solidFill>
                <a:latin typeface="Hiragino Sans"/>
              </a:rPr>
              <a:t>例3: 完了通知（Notification）</a:t>
            </a:r>
          </a:p>
        </p:txBody>
      </p:sp>
      <p:sp>
        <p:nvSpPr>
          <p:cNvPr id="13" name="Rounded Rectangle 12"/>
          <p:cNvSpPr/>
          <p:nvPr/>
        </p:nvSpPr>
        <p:spPr>
          <a:xfrm>
            <a:off x="7668480" y="2300000"/>
            <a:ext cx="3200000" cy="15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05640" y="2391440"/>
            <a:ext cx="2925680" cy="1317120"/>
          </a:xfrm>
          <a:prstGeom prst="rect">
            <a:avLst/>
          </a:prstGeom>
          <a:noFill/>
        </p:spPr>
        <p:txBody>
          <a:bodyPr wrap="square">
            <a:spAutoFit/>
          </a:bodyPr>
          <a:lstStyle/>
          <a:p>
            <a:pPr algn="l"/>
            <a:r>
              <a:rPr sz="1200" b="0">
                <a:solidFill>
                  <a:srgbClr val="E0DED8"/>
                </a:solidFill>
                <a:latin typeface="SF Mono"/>
              </a:rPr>
              <a:t>{</a:t>
            </a:r>
          </a:p>
          <a:p>
            <a:pPr algn="l"/>
            <a:r>
              <a:rPr sz="1200" b="0">
                <a:solidFill>
                  <a:srgbClr val="E0DED8"/>
                </a:solidFill>
                <a:latin typeface="SF Mono"/>
              </a:rPr>
              <a:t>  "hooks": [{</a:t>
            </a:r>
          </a:p>
          <a:p>
            <a:pPr algn="l"/>
            <a:r>
              <a:rPr sz="1200" b="0">
                <a:solidFill>
                  <a:srgbClr val="E0DED8"/>
                </a:solidFill>
                <a:latin typeface="SF Mono"/>
              </a:rPr>
              <a:t>    "type": "command",</a:t>
            </a:r>
          </a:p>
          <a:p>
            <a:pPr algn="l"/>
            <a:r>
              <a:rPr sz="1200" b="0">
                <a:solidFill>
                  <a:srgbClr val="E0DED8"/>
                </a:solidFill>
                <a:latin typeface="SF Mono"/>
              </a:rPr>
              <a:t>    "command": "say '完了しました'"</a:t>
            </a:r>
          </a:p>
          <a:p>
            <a:pPr algn="l"/>
            <a:r>
              <a:rPr sz="1200" b="0">
                <a:solidFill>
                  <a:srgbClr val="E0DED8"/>
                </a:solidFill>
                <a:latin typeface="SF Mono"/>
              </a:rPr>
              <a:t>  }]</a:t>
            </a:r>
          </a:p>
          <a:p>
            <a:pPr algn="l"/>
            <a:r>
              <a:rPr sz="1200" b="0">
                <a:solidFill>
                  <a:srgbClr val="E0DED8"/>
                </a:solidFill>
                <a:latin typeface="SF Mono"/>
              </a:rPr>
              <a:t>}</a:t>
            </a:r>
          </a:p>
        </p:txBody>
      </p:sp>
      <p:cxnSp>
        <p:nvCxnSpPr>
          <p:cNvPr id="15" name="Connector 14"/>
          <p:cNvCxnSpPr/>
          <p:nvPr/>
        </p:nvCxnSpPr>
        <p:spPr>
          <a:xfrm>
            <a:off x="731520" y="400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31520" y="4150000"/>
            <a:ext cx="10000000" cy="365760"/>
          </a:xfrm>
          <a:prstGeom prst="rect">
            <a:avLst/>
          </a:prstGeom>
          <a:noFill/>
        </p:spPr>
        <p:txBody>
          <a:bodyPr wrap="square">
            <a:spAutoFit/>
          </a:bodyPr>
          <a:lstStyle/>
          <a:p>
            <a:pPr algn="l"/>
            <a:r>
              <a:rPr sz="1600" b="1">
                <a:solidFill>
                  <a:srgbClr val="FAF9F5"/>
                </a:solidFill>
                <a:latin typeface="Hiragino Sans"/>
              </a:rPr>
              <a:t>ポイント: Hooksが失敗 → Claudeに通知 → Claudeが自動で修正を試みる</a:t>
            </a:r>
          </a:p>
        </p:txBody>
      </p:sp>
      <p:sp>
        <p:nvSpPr>
          <p:cNvPr id="17" name="TextBox 16"/>
          <p:cNvSpPr txBox="1"/>
          <p:nvPr/>
        </p:nvSpPr>
        <p:spPr>
          <a:xfrm>
            <a:off x="914400" y="4600000"/>
            <a:ext cx="10000000" cy="274320"/>
          </a:xfrm>
          <a:prstGeom prst="rect">
            <a:avLst/>
          </a:prstGeom>
          <a:noFill/>
        </p:spPr>
        <p:txBody>
          <a:bodyPr wrap="square">
            <a:spAutoFit/>
          </a:bodyPr>
          <a:lstStyle/>
          <a:p>
            <a:pPr algn="l"/>
            <a:r>
              <a:rPr sz="1400" b="0">
                <a:solidFill>
                  <a:srgbClr val="E0DED8"/>
                </a:solidFill>
                <a:latin typeface="Hiragino Sans"/>
              </a:rPr>
              <a:t>•  ハンドラタイプ: command（シェル実行）、http、prompt、agent</a:t>
            </a:r>
          </a:p>
        </p:txBody>
      </p:sp>
      <p:sp>
        <p:nvSpPr>
          <p:cNvPr id="18" name="TextBox 17"/>
          <p:cNvSpPr txBox="1"/>
          <p:nvPr/>
        </p:nvSpPr>
        <p:spPr>
          <a:xfrm>
            <a:off x="914400" y="4940000"/>
            <a:ext cx="10000000" cy="274320"/>
          </a:xfrm>
          <a:prstGeom prst="rect">
            <a:avLst/>
          </a:prstGeom>
          <a:noFill/>
        </p:spPr>
        <p:txBody>
          <a:bodyPr wrap="square">
            <a:spAutoFit/>
          </a:bodyPr>
          <a:lstStyle/>
          <a:p>
            <a:pPr algn="l"/>
            <a:r>
              <a:rPr sz="1400" b="0">
                <a:solidFill>
                  <a:srgbClr val="E0DED8"/>
                </a:solidFill>
                <a:latin typeface="Hiragino Sans"/>
              </a:rPr>
              <a:t>•  まずはcommandだけ覚えておけば十分</a:t>
            </a:r>
          </a:p>
        </p:txBody>
      </p:sp>
      <p:sp>
        <p:nvSpPr>
          <p:cNvPr id="19" name="TextBox 18"/>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2 — Hooks &amp; MCP</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MCPとは</a:t>
            </a:r>
          </a:p>
        </p:txBody>
      </p:sp>
      <p:sp>
        <p:nvSpPr>
          <p:cNvPr id="4" name="TextBox 3"/>
          <p:cNvSpPr txBox="1"/>
          <p:nvPr/>
        </p:nvSpPr>
        <p:spPr>
          <a:xfrm>
            <a:off x="731520" y="1200000"/>
            <a:ext cx="10000000" cy="365760"/>
          </a:xfrm>
          <a:prstGeom prst="rect">
            <a:avLst/>
          </a:prstGeom>
          <a:noFill/>
        </p:spPr>
        <p:txBody>
          <a:bodyPr wrap="square">
            <a:spAutoFit/>
          </a:bodyPr>
          <a:lstStyle/>
          <a:p>
            <a:pPr algn="l"/>
            <a:r>
              <a:rPr sz="1800" b="1">
                <a:solidFill>
                  <a:srgbClr val="D97757"/>
                </a:solidFill>
                <a:latin typeface="Helvetica Neue"/>
              </a:rPr>
              <a:t>MCP = Model Context Protocol — 外部サービスとの連携プロトコル</a:t>
            </a:r>
          </a:p>
        </p:txBody>
      </p:sp>
      <p:sp>
        <p:nvSpPr>
          <p:cNvPr id="5" name="Rounded Rectangle 4"/>
          <p:cNvSpPr/>
          <p:nvPr/>
        </p:nvSpPr>
        <p:spPr>
          <a:xfrm>
            <a:off x="731520" y="1800000"/>
            <a:ext cx="22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1520" y="1868580"/>
            <a:ext cx="2000000" cy="274320"/>
          </a:xfrm>
          <a:prstGeom prst="rect">
            <a:avLst/>
          </a:prstGeom>
          <a:noFill/>
        </p:spPr>
        <p:txBody>
          <a:bodyPr wrap="square">
            <a:spAutoFit/>
          </a:bodyPr>
          <a:lstStyle/>
          <a:p>
            <a:pPr algn="ctr"/>
            <a:r>
              <a:rPr sz="1200" b="1">
                <a:solidFill>
                  <a:srgbClr val="FAF9F5"/>
                </a:solidFill>
                <a:latin typeface="Helvetica Neue"/>
              </a:rPr>
              <a:t>Claude Code</a:t>
            </a:r>
          </a:p>
        </p:txBody>
      </p:sp>
      <p:sp>
        <p:nvSpPr>
          <p:cNvPr id="7" name="TextBox 6"/>
          <p:cNvSpPr txBox="1"/>
          <p:nvPr/>
        </p:nvSpPr>
        <p:spPr>
          <a:xfrm>
            <a:off x="3000000" y="1822860"/>
            <a:ext cx="1200000" cy="320000"/>
          </a:xfrm>
          <a:prstGeom prst="rect">
            <a:avLst/>
          </a:prstGeom>
          <a:noFill/>
        </p:spPr>
        <p:txBody>
          <a:bodyPr wrap="square">
            <a:spAutoFit/>
          </a:bodyPr>
          <a:lstStyle/>
          <a:p>
            <a:pPr algn="ctr"/>
            <a:r>
              <a:rPr sz="1100" b="0">
                <a:solidFill>
                  <a:srgbClr val="D97757"/>
                </a:solidFill>
                <a:latin typeface="Helvetica Neue"/>
              </a:rPr>
              <a:t>← MCP →</a:t>
            </a:r>
          </a:p>
        </p:txBody>
      </p:sp>
      <p:sp>
        <p:nvSpPr>
          <p:cNvPr id="8" name="Rounded Rectangle 7"/>
          <p:cNvSpPr/>
          <p:nvPr/>
        </p:nvSpPr>
        <p:spPr>
          <a:xfrm>
            <a:off x="4200000" y="1800000"/>
            <a:ext cx="16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00000" y="1868580"/>
            <a:ext cx="1400000" cy="274320"/>
          </a:xfrm>
          <a:prstGeom prst="rect">
            <a:avLst/>
          </a:prstGeom>
          <a:noFill/>
        </p:spPr>
        <p:txBody>
          <a:bodyPr wrap="square">
            <a:spAutoFit/>
          </a:bodyPr>
          <a:lstStyle/>
          <a:p>
            <a:pPr algn="ctr"/>
            <a:r>
              <a:rPr sz="1200" b="1">
                <a:solidFill>
                  <a:srgbClr val="D97757"/>
                </a:solidFill>
                <a:latin typeface="Helvetica Neue"/>
              </a:rPr>
              <a:t>Figma</a:t>
            </a:r>
          </a:p>
        </p:txBody>
      </p:sp>
      <p:sp>
        <p:nvSpPr>
          <p:cNvPr id="10" name="TextBox 9"/>
          <p:cNvSpPr txBox="1"/>
          <p:nvPr/>
        </p:nvSpPr>
        <p:spPr>
          <a:xfrm>
            <a:off x="6100000" y="1868580"/>
            <a:ext cx="5000000" cy="274320"/>
          </a:xfrm>
          <a:prstGeom prst="rect">
            <a:avLst/>
          </a:prstGeom>
          <a:noFill/>
        </p:spPr>
        <p:txBody>
          <a:bodyPr wrap="square">
            <a:spAutoFit/>
          </a:bodyPr>
          <a:lstStyle/>
          <a:p>
            <a:pPr algn="l"/>
            <a:r>
              <a:rPr sz="1400" b="0">
                <a:solidFill>
                  <a:srgbClr val="E0DED8"/>
                </a:solidFill>
                <a:latin typeface="Hiragino Sans"/>
              </a:rPr>
              <a:t>デザインからコンポーネント生成</a:t>
            </a:r>
          </a:p>
        </p:txBody>
      </p:sp>
      <p:sp>
        <p:nvSpPr>
          <p:cNvPr id="11" name="Rounded Rectangle 10"/>
          <p:cNvSpPr/>
          <p:nvPr/>
        </p:nvSpPr>
        <p:spPr>
          <a:xfrm>
            <a:off x="731520" y="2257200"/>
            <a:ext cx="22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1520" y="2325780"/>
            <a:ext cx="2000000" cy="274320"/>
          </a:xfrm>
          <a:prstGeom prst="rect">
            <a:avLst/>
          </a:prstGeom>
          <a:noFill/>
        </p:spPr>
        <p:txBody>
          <a:bodyPr wrap="square">
            <a:spAutoFit/>
          </a:bodyPr>
          <a:lstStyle/>
          <a:p>
            <a:pPr algn="ctr"/>
            <a:r>
              <a:rPr sz="1200" b="1">
                <a:solidFill>
                  <a:srgbClr val="FAF9F5"/>
                </a:solidFill>
                <a:latin typeface="Helvetica Neue"/>
              </a:rPr>
              <a:t>Claude Code</a:t>
            </a:r>
          </a:p>
        </p:txBody>
      </p:sp>
      <p:sp>
        <p:nvSpPr>
          <p:cNvPr id="13" name="TextBox 12"/>
          <p:cNvSpPr txBox="1"/>
          <p:nvPr/>
        </p:nvSpPr>
        <p:spPr>
          <a:xfrm>
            <a:off x="3000000" y="2280060"/>
            <a:ext cx="1200000" cy="320000"/>
          </a:xfrm>
          <a:prstGeom prst="rect">
            <a:avLst/>
          </a:prstGeom>
          <a:noFill/>
        </p:spPr>
        <p:txBody>
          <a:bodyPr wrap="square">
            <a:spAutoFit/>
          </a:bodyPr>
          <a:lstStyle/>
          <a:p>
            <a:pPr algn="ctr"/>
            <a:r>
              <a:rPr sz="1100" b="0">
                <a:solidFill>
                  <a:srgbClr val="6A9BCC"/>
                </a:solidFill>
                <a:latin typeface="Helvetica Neue"/>
              </a:rPr>
              <a:t>← MCP →</a:t>
            </a:r>
          </a:p>
        </p:txBody>
      </p:sp>
      <p:sp>
        <p:nvSpPr>
          <p:cNvPr id="14" name="Rounded Rectangle 13"/>
          <p:cNvSpPr/>
          <p:nvPr/>
        </p:nvSpPr>
        <p:spPr>
          <a:xfrm>
            <a:off x="4200000" y="2257200"/>
            <a:ext cx="16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00000" y="2325780"/>
            <a:ext cx="1400000" cy="274320"/>
          </a:xfrm>
          <a:prstGeom prst="rect">
            <a:avLst/>
          </a:prstGeom>
          <a:noFill/>
        </p:spPr>
        <p:txBody>
          <a:bodyPr wrap="square">
            <a:spAutoFit/>
          </a:bodyPr>
          <a:lstStyle/>
          <a:p>
            <a:pPr algn="ctr"/>
            <a:r>
              <a:rPr sz="1200" b="1">
                <a:solidFill>
                  <a:srgbClr val="6A9BCC"/>
                </a:solidFill>
                <a:latin typeface="Helvetica Neue"/>
              </a:rPr>
              <a:t>Chrome</a:t>
            </a:r>
          </a:p>
        </p:txBody>
      </p:sp>
      <p:sp>
        <p:nvSpPr>
          <p:cNvPr id="16" name="TextBox 15"/>
          <p:cNvSpPr txBox="1"/>
          <p:nvPr/>
        </p:nvSpPr>
        <p:spPr>
          <a:xfrm>
            <a:off x="6100000" y="2325780"/>
            <a:ext cx="5000000" cy="274320"/>
          </a:xfrm>
          <a:prstGeom prst="rect">
            <a:avLst/>
          </a:prstGeom>
          <a:noFill/>
        </p:spPr>
        <p:txBody>
          <a:bodyPr wrap="square">
            <a:spAutoFit/>
          </a:bodyPr>
          <a:lstStyle/>
          <a:p>
            <a:pPr algn="l"/>
            <a:r>
              <a:rPr sz="1400" b="0">
                <a:solidFill>
                  <a:srgbClr val="E0DED8"/>
                </a:solidFill>
                <a:latin typeface="Hiragino Sans"/>
              </a:rPr>
              <a:t>ブラウザ操作・E2Eデバッグ</a:t>
            </a:r>
          </a:p>
        </p:txBody>
      </p:sp>
      <p:sp>
        <p:nvSpPr>
          <p:cNvPr id="17" name="Rounded Rectangle 16"/>
          <p:cNvSpPr/>
          <p:nvPr/>
        </p:nvSpPr>
        <p:spPr>
          <a:xfrm>
            <a:off x="731520" y="2714400"/>
            <a:ext cx="22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1520" y="2782980"/>
            <a:ext cx="2000000" cy="274320"/>
          </a:xfrm>
          <a:prstGeom prst="rect">
            <a:avLst/>
          </a:prstGeom>
          <a:noFill/>
        </p:spPr>
        <p:txBody>
          <a:bodyPr wrap="square">
            <a:spAutoFit/>
          </a:bodyPr>
          <a:lstStyle/>
          <a:p>
            <a:pPr algn="ctr"/>
            <a:r>
              <a:rPr sz="1200" b="1">
                <a:solidFill>
                  <a:srgbClr val="FAF9F5"/>
                </a:solidFill>
                <a:latin typeface="Helvetica Neue"/>
              </a:rPr>
              <a:t>Claude Code</a:t>
            </a:r>
          </a:p>
        </p:txBody>
      </p:sp>
      <p:sp>
        <p:nvSpPr>
          <p:cNvPr id="19" name="TextBox 18"/>
          <p:cNvSpPr txBox="1"/>
          <p:nvPr/>
        </p:nvSpPr>
        <p:spPr>
          <a:xfrm>
            <a:off x="3000000" y="2737260"/>
            <a:ext cx="1200000" cy="320000"/>
          </a:xfrm>
          <a:prstGeom prst="rect">
            <a:avLst/>
          </a:prstGeom>
          <a:noFill/>
        </p:spPr>
        <p:txBody>
          <a:bodyPr wrap="square">
            <a:spAutoFit/>
          </a:bodyPr>
          <a:lstStyle/>
          <a:p>
            <a:pPr algn="ctr"/>
            <a:r>
              <a:rPr sz="1100" b="0">
                <a:solidFill>
                  <a:srgbClr val="7BC9A0"/>
                </a:solidFill>
                <a:latin typeface="Helvetica Neue"/>
              </a:rPr>
              <a:t>← MCP →</a:t>
            </a:r>
          </a:p>
        </p:txBody>
      </p:sp>
      <p:sp>
        <p:nvSpPr>
          <p:cNvPr id="20" name="Rounded Rectangle 19"/>
          <p:cNvSpPr/>
          <p:nvPr/>
        </p:nvSpPr>
        <p:spPr>
          <a:xfrm>
            <a:off x="4200000" y="2714400"/>
            <a:ext cx="16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00000" y="2782980"/>
            <a:ext cx="1400000" cy="274320"/>
          </a:xfrm>
          <a:prstGeom prst="rect">
            <a:avLst/>
          </a:prstGeom>
          <a:noFill/>
        </p:spPr>
        <p:txBody>
          <a:bodyPr wrap="square">
            <a:spAutoFit/>
          </a:bodyPr>
          <a:lstStyle/>
          <a:p>
            <a:pPr algn="ctr"/>
            <a:r>
              <a:rPr sz="1200" b="1">
                <a:solidFill>
                  <a:srgbClr val="7BC9A0"/>
                </a:solidFill>
                <a:latin typeface="Helvetica Neue"/>
              </a:rPr>
              <a:t>Jira</a:t>
            </a:r>
          </a:p>
        </p:txBody>
      </p:sp>
      <p:sp>
        <p:nvSpPr>
          <p:cNvPr id="22" name="TextBox 21"/>
          <p:cNvSpPr txBox="1"/>
          <p:nvPr/>
        </p:nvSpPr>
        <p:spPr>
          <a:xfrm>
            <a:off x="6100000" y="2782980"/>
            <a:ext cx="5000000" cy="274320"/>
          </a:xfrm>
          <a:prstGeom prst="rect">
            <a:avLst/>
          </a:prstGeom>
          <a:noFill/>
        </p:spPr>
        <p:txBody>
          <a:bodyPr wrap="square">
            <a:spAutoFit/>
          </a:bodyPr>
          <a:lstStyle/>
          <a:p>
            <a:pPr algn="l"/>
            <a:r>
              <a:rPr sz="1400" b="0">
                <a:solidFill>
                  <a:srgbClr val="E0DED8"/>
                </a:solidFill>
                <a:latin typeface="Hiragino Sans"/>
              </a:rPr>
              <a:t>チケット管理の自動化</a:t>
            </a:r>
          </a:p>
        </p:txBody>
      </p:sp>
      <p:cxnSp>
        <p:nvCxnSpPr>
          <p:cNvPr id="23" name="Connector 22"/>
          <p:cNvCxnSpPr/>
          <p:nvPr/>
        </p:nvCxnSpPr>
        <p:spPr>
          <a:xfrm>
            <a:off x="731520" y="330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31520" y="3450000"/>
            <a:ext cx="5000000" cy="365760"/>
          </a:xfrm>
          <a:prstGeom prst="rect">
            <a:avLst/>
          </a:prstGeom>
          <a:noFill/>
        </p:spPr>
        <p:txBody>
          <a:bodyPr wrap="square">
            <a:spAutoFit/>
          </a:bodyPr>
          <a:lstStyle/>
          <a:p>
            <a:pPr algn="l"/>
            <a:r>
              <a:rPr sz="1800" b="1">
                <a:solidFill>
                  <a:srgbClr val="FAF9F5"/>
                </a:solidFill>
                <a:latin typeface="Hiragino Sans"/>
              </a:rPr>
              <a:t>判断基準</a:t>
            </a:r>
          </a:p>
        </p:txBody>
      </p:sp>
      <p:sp>
        <p:nvSpPr>
          <p:cNvPr id="25" name="Rectangle 24"/>
          <p:cNvSpPr/>
          <p:nvPr/>
        </p:nvSpPr>
        <p:spPr>
          <a:xfrm>
            <a:off x="731520" y="3900000"/>
            <a:ext cx="5364480" cy="34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3957150"/>
            <a:ext cx="5181600" cy="274320"/>
          </a:xfrm>
          <a:prstGeom prst="rect">
            <a:avLst/>
          </a:prstGeom>
          <a:noFill/>
        </p:spPr>
        <p:txBody>
          <a:bodyPr wrap="square">
            <a:spAutoFit/>
          </a:bodyPr>
          <a:lstStyle/>
          <a:p>
            <a:pPr algn="l"/>
            <a:r>
              <a:rPr sz="1300" b="1">
                <a:solidFill>
                  <a:srgbClr val="D97757"/>
                </a:solidFill>
                <a:latin typeface="Hiragino Sans"/>
              </a:rPr>
              <a:t>状況</a:t>
            </a:r>
          </a:p>
        </p:txBody>
      </p:sp>
      <p:sp>
        <p:nvSpPr>
          <p:cNvPr id="27" name="Rectangle 26"/>
          <p:cNvSpPr/>
          <p:nvPr/>
        </p:nvSpPr>
        <p:spPr>
          <a:xfrm>
            <a:off x="6096000" y="3900000"/>
            <a:ext cx="5364480" cy="34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87440" y="3957150"/>
            <a:ext cx="5181600" cy="274320"/>
          </a:xfrm>
          <a:prstGeom prst="rect">
            <a:avLst/>
          </a:prstGeom>
          <a:noFill/>
        </p:spPr>
        <p:txBody>
          <a:bodyPr wrap="square">
            <a:spAutoFit/>
          </a:bodyPr>
          <a:lstStyle/>
          <a:p>
            <a:pPr algn="l"/>
            <a:r>
              <a:rPr sz="1300" b="1">
                <a:solidFill>
                  <a:srgbClr val="D97757"/>
                </a:solidFill>
                <a:latin typeface="Hiragino Sans"/>
              </a:rPr>
              <a:t>推奨</a:t>
            </a:r>
          </a:p>
        </p:txBody>
      </p:sp>
      <p:sp>
        <p:nvSpPr>
          <p:cNvPr id="29" name="Rectangle 28"/>
          <p:cNvSpPr/>
          <p:nvPr/>
        </p:nvSpPr>
        <p:spPr>
          <a:xfrm>
            <a:off x="731520" y="4240000"/>
            <a:ext cx="5364480" cy="32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297150"/>
            <a:ext cx="5181600" cy="274320"/>
          </a:xfrm>
          <a:prstGeom prst="rect">
            <a:avLst/>
          </a:prstGeom>
          <a:noFill/>
        </p:spPr>
        <p:txBody>
          <a:bodyPr wrap="square">
            <a:spAutoFit/>
          </a:bodyPr>
          <a:lstStyle/>
          <a:p>
            <a:pPr algn="l"/>
            <a:r>
              <a:rPr sz="1300" b="0">
                <a:solidFill>
                  <a:srgbClr val="FAF9F5"/>
                </a:solidFill>
                <a:latin typeface="Hiragino Sans"/>
              </a:rPr>
              <a:t>CLIで十分（GitHub、AWS等）</a:t>
            </a:r>
          </a:p>
        </p:txBody>
      </p:sp>
      <p:sp>
        <p:nvSpPr>
          <p:cNvPr id="31" name="Rectangle 30"/>
          <p:cNvSpPr/>
          <p:nvPr/>
        </p:nvSpPr>
        <p:spPr>
          <a:xfrm>
            <a:off x="6096000" y="4240000"/>
            <a:ext cx="5364480" cy="32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87440" y="4297150"/>
            <a:ext cx="5181600" cy="274320"/>
          </a:xfrm>
          <a:prstGeom prst="rect">
            <a:avLst/>
          </a:prstGeom>
          <a:noFill/>
        </p:spPr>
        <p:txBody>
          <a:bodyPr wrap="square">
            <a:spAutoFit/>
          </a:bodyPr>
          <a:lstStyle/>
          <a:p>
            <a:pPr algn="l"/>
            <a:r>
              <a:rPr sz="1300" b="0">
                <a:solidFill>
                  <a:srgbClr val="E0DED8"/>
                </a:solidFill>
                <a:latin typeface="Hiragino Sans"/>
              </a:rPr>
              <a:t>CLI使用（gh、aws等）</a:t>
            </a:r>
          </a:p>
        </p:txBody>
      </p:sp>
      <p:sp>
        <p:nvSpPr>
          <p:cNvPr id="33" name="Rectangle 32"/>
          <p:cNvSpPr/>
          <p:nvPr/>
        </p:nvSpPr>
        <p:spPr>
          <a:xfrm>
            <a:off x="731520" y="4570000"/>
            <a:ext cx="5364480" cy="32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4627150"/>
            <a:ext cx="5181600" cy="274320"/>
          </a:xfrm>
          <a:prstGeom prst="rect">
            <a:avLst/>
          </a:prstGeom>
          <a:noFill/>
        </p:spPr>
        <p:txBody>
          <a:bodyPr wrap="square">
            <a:spAutoFit/>
          </a:bodyPr>
          <a:lstStyle/>
          <a:p>
            <a:pPr algn="l"/>
            <a:r>
              <a:rPr sz="1300" b="0">
                <a:solidFill>
                  <a:srgbClr val="FAF9F5"/>
                </a:solidFill>
                <a:latin typeface="Hiragino Sans"/>
              </a:rPr>
              <a:t>複雑な操作の連携が必要</a:t>
            </a:r>
          </a:p>
        </p:txBody>
      </p:sp>
      <p:sp>
        <p:nvSpPr>
          <p:cNvPr id="35" name="Rectangle 34"/>
          <p:cNvSpPr/>
          <p:nvPr/>
        </p:nvSpPr>
        <p:spPr>
          <a:xfrm>
            <a:off x="6096000" y="4570000"/>
            <a:ext cx="5364480" cy="32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87440" y="4627150"/>
            <a:ext cx="5181600" cy="274320"/>
          </a:xfrm>
          <a:prstGeom prst="rect">
            <a:avLst/>
          </a:prstGeom>
          <a:noFill/>
        </p:spPr>
        <p:txBody>
          <a:bodyPr wrap="square">
            <a:spAutoFit/>
          </a:bodyPr>
          <a:lstStyle/>
          <a:p>
            <a:pPr algn="l"/>
            <a:r>
              <a:rPr sz="1300" b="0">
                <a:solidFill>
                  <a:srgbClr val="E0DED8"/>
                </a:solidFill>
                <a:latin typeface="Hiragino Sans"/>
              </a:rPr>
              <a:t>MCP検討</a:t>
            </a:r>
          </a:p>
        </p:txBody>
      </p:sp>
      <p:sp>
        <p:nvSpPr>
          <p:cNvPr id="37" name="Rectangle 36"/>
          <p:cNvSpPr/>
          <p:nvPr/>
        </p:nvSpPr>
        <p:spPr>
          <a:xfrm>
            <a:off x="731520" y="4900000"/>
            <a:ext cx="5364480" cy="32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 y="4957150"/>
            <a:ext cx="5181600" cy="274320"/>
          </a:xfrm>
          <a:prstGeom prst="rect">
            <a:avLst/>
          </a:prstGeom>
          <a:noFill/>
        </p:spPr>
        <p:txBody>
          <a:bodyPr wrap="square">
            <a:spAutoFit/>
          </a:bodyPr>
          <a:lstStyle/>
          <a:p>
            <a:pPr algn="l"/>
            <a:r>
              <a:rPr sz="1300" b="0">
                <a:solidFill>
                  <a:srgbClr val="FAF9F5"/>
                </a:solidFill>
                <a:latin typeface="Hiragino Sans"/>
              </a:rPr>
              <a:t>ブラウザ操作が必要</a:t>
            </a:r>
          </a:p>
        </p:txBody>
      </p:sp>
      <p:sp>
        <p:nvSpPr>
          <p:cNvPr id="39" name="Rectangle 38"/>
          <p:cNvSpPr/>
          <p:nvPr/>
        </p:nvSpPr>
        <p:spPr>
          <a:xfrm>
            <a:off x="6096000" y="4900000"/>
            <a:ext cx="5364480" cy="32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187440" y="4957150"/>
            <a:ext cx="5181600" cy="274320"/>
          </a:xfrm>
          <a:prstGeom prst="rect">
            <a:avLst/>
          </a:prstGeom>
          <a:noFill/>
        </p:spPr>
        <p:txBody>
          <a:bodyPr wrap="square">
            <a:spAutoFit/>
          </a:bodyPr>
          <a:lstStyle/>
          <a:p>
            <a:pPr algn="l"/>
            <a:r>
              <a:rPr sz="1300" b="0">
                <a:solidFill>
                  <a:srgbClr val="E0DED8"/>
                </a:solidFill>
                <a:latin typeface="Hiragino Sans"/>
              </a:rPr>
              <a:t>MCP使用（Chrome DevTools）</a:t>
            </a:r>
          </a:p>
        </p:txBody>
      </p:sp>
      <p:sp>
        <p:nvSpPr>
          <p:cNvPr id="41" name="Rectangle 40"/>
          <p:cNvSpPr/>
          <p:nvPr/>
        </p:nvSpPr>
        <p:spPr>
          <a:xfrm>
            <a:off x="731520" y="54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1520" y="54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5491440"/>
            <a:ext cx="10400000" cy="365760"/>
          </a:xfrm>
          <a:prstGeom prst="rect">
            <a:avLst/>
          </a:prstGeom>
          <a:noFill/>
        </p:spPr>
        <p:txBody>
          <a:bodyPr wrap="square">
            <a:spAutoFit/>
          </a:bodyPr>
          <a:lstStyle/>
          <a:p>
            <a:pPr algn="l"/>
            <a:r>
              <a:rPr sz="1400" b="1">
                <a:solidFill>
                  <a:srgbClr val="D97757"/>
                </a:solidFill>
                <a:latin typeface="Hiragino Sans"/>
              </a:rPr>
              <a:t>→ 原則: CLIで足りるならCLI。MCPは「CLIで足りないとき」の選択肢。設定は .mcp.json</a:t>
            </a:r>
          </a:p>
        </p:txBody>
      </p:sp>
      <p:sp>
        <p:nvSpPr>
          <p:cNvPr id="44" name="TextBox 43"/>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31F1D"/>
        </a:solidFill>
        <a:effectLst/>
      </p:bgPr>
    </p:bg>
    <p:spTree>
      <p:nvGrpSpPr>
        <p:cNvPr id="1" name=""/>
        <p:cNvGrpSpPr/>
        <p:nvPr/>
      </p:nvGrpSpPr>
      <p:grpSpPr/>
      <p:cxnSp>
        <p:nvCxnSpPr>
          <p:cNvPr id="2" name="Connector 1"/>
          <p:cNvCxnSpPr/>
          <p:nvPr/>
        </p:nvCxnSpPr>
        <p:spPr>
          <a:xfrm>
            <a:off x="73152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63168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0" y="2000000"/>
            <a:ext cx="12192000" cy="457200"/>
          </a:xfrm>
          <a:prstGeom prst="rect">
            <a:avLst/>
          </a:prstGeom>
          <a:noFill/>
        </p:spPr>
        <p:txBody>
          <a:bodyPr wrap="square">
            <a:spAutoFit/>
          </a:bodyPr>
          <a:lstStyle/>
          <a:p>
            <a:pPr algn="ctr"/>
            <a:r>
              <a:rPr sz="1800" b="1">
                <a:solidFill>
                  <a:srgbClr val="D97757"/>
                </a:solidFill>
                <a:latin typeface="Helvetica Neue"/>
              </a:rPr>
              <a:t>PART 3</a:t>
            </a:r>
          </a:p>
        </p:txBody>
      </p:sp>
      <p:sp>
        <p:nvSpPr>
          <p:cNvPr id="5" name="TextBox 4"/>
          <p:cNvSpPr txBox="1"/>
          <p:nvPr/>
        </p:nvSpPr>
        <p:spPr>
          <a:xfrm>
            <a:off x="0" y="2600000"/>
            <a:ext cx="12192000" cy="762000"/>
          </a:xfrm>
          <a:prstGeom prst="rect">
            <a:avLst/>
          </a:prstGeom>
          <a:noFill/>
        </p:spPr>
        <p:txBody>
          <a:bodyPr wrap="square">
            <a:spAutoFit/>
          </a:bodyPr>
          <a:lstStyle/>
          <a:p>
            <a:pPr algn="ctr"/>
            <a:r>
              <a:rPr sz="4000" b="1">
                <a:solidFill>
                  <a:srgbClr val="FAF9F5"/>
                </a:solidFill>
                <a:latin typeface="Hiragino Sans"/>
              </a:rPr>
              <a:t>worktree</a:t>
            </a:r>
          </a:p>
        </p:txBody>
      </p:sp>
      <p:sp>
        <p:nvSpPr>
          <p:cNvPr id="6" name="TextBox 5"/>
          <p:cNvSpPr txBox="1"/>
          <p:nvPr/>
        </p:nvSpPr>
        <p:spPr>
          <a:xfrm>
            <a:off x="0" y="3500000"/>
            <a:ext cx="12192000" cy="457200"/>
          </a:xfrm>
          <a:prstGeom prst="rect">
            <a:avLst/>
          </a:prstGeom>
          <a:noFill/>
        </p:spPr>
        <p:txBody>
          <a:bodyPr wrap="square">
            <a:spAutoFit/>
          </a:bodyPr>
          <a:lstStyle/>
          <a:p>
            <a:pPr algn="ctr"/>
            <a:r>
              <a:rPr sz="2400" b="0">
                <a:solidFill>
                  <a:srgbClr val="C5C3BB"/>
                </a:solidFill>
                <a:latin typeface="Hiragino Sans"/>
              </a:rPr>
              <a:t>すべてを束ねて、並列で挑む</a:t>
            </a:r>
          </a:p>
        </p:txBody>
      </p:sp>
      <p:sp>
        <p:nvSpPr>
          <p:cNvPr id="7" name="TextBox 6"/>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3 — worktree</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worktree + ISSUE.md</a:t>
            </a:r>
          </a:p>
        </p:txBody>
      </p:sp>
      <p:sp>
        <p:nvSpPr>
          <p:cNvPr id="4" name="TextBox 3"/>
          <p:cNvSpPr txBox="1"/>
          <p:nvPr/>
        </p:nvSpPr>
        <p:spPr>
          <a:xfrm>
            <a:off x="731520" y="1200000"/>
            <a:ext cx="10000000" cy="365760"/>
          </a:xfrm>
          <a:prstGeom prst="rect">
            <a:avLst/>
          </a:prstGeom>
          <a:noFill/>
        </p:spPr>
        <p:txBody>
          <a:bodyPr wrap="square">
            <a:spAutoFit/>
          </a:bodyPr>
          <a:lstStyle/>
          <a:p>
            <a:pPr algn="l"/>
            <a:r>
              <a:rPr sz="1600" b="1">
                <a:solidFill>
                  <a:srgbClr val="D97757"/>
                </a:solidFill>
                <a:latin typeface="Hiragino Sans"/>
              </a:rPr>
              <a:t>Claude Codeにはworktree機能が組み込まれている</a:t>
            </a:r>
          </a:p>
        </p:txBody>
      </p:sp>
      <p:sp>
        <p:nvSpPr>
          <p:cNvPr id="5" name="Rounded Rectangle 4"/>
          <p:cNvSpPr/>
          <p:nvPr/>
        </p:nvSpPr>
        <p:spPr>
          <a:xfrm>
            <a:off x="731520" y="1650000"/>
            <a:ext cx="5200000" cy="64008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41440"/>
            <a:ext cx="4925680" cy="457200"/>
          </a:xfrm>
          <a:prstGeom prst="rect">
            <a:avLst/>
          </a:prstGeom>
          <a:noFill/>
        </p:spPr>
        <p:txBody>
          <a:bodyPr wrap="square">
            <a:spAutoFit/>
          </a:bodyPr>
          <a:lstStyle/>
          <a:p>
            <a:pPr algn="l"/>
            <a:r>
              <a:rPr sz="1200" b="0">
                <a:solidFill>
                  <a:srgbClr val="E0DED8"/>
                </a:solidFill>
                <a:latin typeface="SF Mono"/>
              </a:rPr>
              <a:t>claude --worktree feature-auth    # 自動でworktree作成+ブランチ切替</a:t>
            </a:r>
          </a:p>
          <a:p>
            <a:pPr algn="l"/>
            <a:r>
              <a:rPr sz="1200" b="0">
                <a:solidFill>
                  <a:srgbClr val="E0DED8"/>
                </a:solidFill>
                <a:latin typeface="SF Mono"/>
              </a:rPr>
              <a:t>claude --worktree bugfix-payment  # 別ターミナルで並列実行</a:t>
            </a:r>
          </a:p>
        </p:txBody>
      </p:sp>
      <p:sp>
        <p:nvSpPr>
          <p:cNvPr id="7" name="TextBox 6"/>
          <p:cNvSpPr txBox="1"/>
          <p:nvPr/>
        </p:nvSpPr>
        <p:spPr>
          <a:xfrm>
            <a:off x="731520" y="2400000"/>
            <a:ext cx="10000000" cy="274320"/>
          </a:xfrm>
          <a:prstGeom prst="rect">
            <a:avLst/>
          </a:prstGeom>
          <a:noFill/>
        </p:spPr>
        <p:txBody>
          <a:bodyPr wrap="square">
            <a:spAutoFit/>
          </a:bodyPr>
          <a:lstStyle/>
          <a:p>
            <a:pPr algn="l"/>
            <a:r>
              <a:rPr sz="1300" b="0">
                <a:solidFill>
                  <a:srgbClr val="B0AEA5"/>
                </a:solidFill>
                <a:latin typeface="Hiragino Sans"/>
              </a:rPr>
              <a:t>各worktreeは独立したファイル状態。CLAUDE.md・Skills・Hooksの設定もすべて引き継がれる</a:t>
            </a:r>
          </a:p>
        </p:txBody>
      </p:sp>
      <p:cxnSp>
        <p:nvCxnSpPr>
          <p:cNvPr id="8" name="Connector 7"/>
          <p:cNvCxnSpPr/>
          <p:nvPr/>
        </p:nvCxnSpPr>
        <p:spPr>
          <a:xfrm>
            <a:off x="731520" y="275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2900000"/>
            <a:ext cx="10000000" cy="365760"/>
          </a:xfrm>
          <a:prstGeom prst="rect">
            <a:avLst/>
          </a:prstGeom>
          <a:noFill/>
        </p:spPr>
        <p:txBody>
          <a:bodyPr wrap="square">
            <a:spAutoFit/>
          </a:bodyPr>
          <a:lstStyle/>
          <a:p>
            <a:pPr algn="l"/>
            <a:r>
              <a:rPr sz="1600" b="1">
                <a:solidFill>
                  <a:srgbClr val="FAF9F5"/>
                </a:solidFill>
                <a:latin typeface="Hiragino Sans"/>
              </a:rPr>
              <a:t>/issue-worker スキルは --worktree にISSUE.md生成を足す</a:t>
            </a:r>
          </a:p>
        </p:txBody>
      </p:sp>
      <p:sp>
        <p:nvSpPr>
          <p:cNvPr id="10" name="Rounded Rectangle 9"/>
          <p:cNvSpPr/>
          <p:nvPr/>
        </p:nvSpPr>
        <p:spPr>
          <a:xfrm>
            <a:off x="731520" y="3350000"/>
            <a:ext cx="5800000" cy="9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441440"/>
            <a:ext cx="5525680" cy="717120"/>
          </a:xfrm>
          <a:prstGeom prst="rect">
            <a:avLst/>
          </a:prstGeom>
          <a:noFill/>
        </p:spPr>
        <p:txBody>
          <a:bodyPr wrap="square">
            <a:spAutoFit/>
          </a:bodyPr>
          <a:lstStyle/>
          <a:p>
            <a:pPr algn="l"/>
            <a:r>
              <a:rPr sz="1200" b="0">
                <a:solidFill>
                  <a:srgbClr val="E0DED8"/>
                </a:solidFill>
                <a:latin typeface="SF Mono"/>
              </a:rPr>
              <a:t>/issue-worker 123 456 789</a:t>
            </a:r>
          </a:p>
          <a:p>
            <a:pPr algn="l"/>
            <a:r>
              <a:rPr sz="1200" b="0">
                <a:solidFill>
                  <a:srgbClr val="E0DED8"/>
                </a:solidFill>
                <a:latin typeface="SF Mono"/>
              </a:rPr>
              <a:t>  ├── worktree A: issue-123  ← ISSUE.md自動生成 → Claude起動</a:t>
            </a:r>
          </a:p>
          <a:p>
            <a:pPr algn="l"/>
            <a:r>
              <a:rPr sz="1200" b="0">
                <a:solidFill>
                  <a:srgbClr val="E0DED8"/>
                </a:solidFill>
                <a:latin typeface="SF Mono"/>
              </a:rPr>
              <a:t>  ├── worktree B: issue-456  ← ISSUE.md自動生成 → Claude起動</a:t>
            </a:r>
          </a:p>
          <a:p>
            <a:pPr algn="l"/>
            <a:r>
              <a:rPr sz="1200" b="0">
                <a:solidFill>
                  <a:srgbClr val="E0DED8"/>
                </a:solidFill>
                <a:latin typeface="SF Mono"/>
              </a:rPr>
              <a:t>  └── worktree C: issue-789  ← ISSUE.md自動生成 → Claude起動</a:t>
            </a:r>
          </a:p>
        </p:txBody>
      </p:sp>
      <p:sp>
        <p:nvSpPr>
          <p:cNvPr id="12" name="TextBox 11"/>
          <p:cNvSpPr txBox="1"/>
          <p:nvPr/>
        </p:nvSpPr>
        <p:spPr>
          <a:xfrm>
            <a:off x="6800000" y="2900000"/>
            <a:ext cx="5000000" cy="365760"/>
          </a:xfrm>
          <a:prstGeom prst="rect">
            <a:avLst/>
          </a:prstGeom>
          <a:noFill/>
        </p:spPr>
        <p:txBody>
          <a:bodyPr wrap="square">
            <a:spAutoFit/>
          </a:bodyPr>
          <a:lstStyle/>
          <a:p>
            <a:pPr algn="l"/>
            <a:r>
              <a:rPr sz="1600" b="1">
                <a:solidFill>
                  <a:srgbClr val="6A9BCC"/>
                </a:solidFill>
                <a:latin typeface="Hiragino Sans"/>
              </a:rPr>
              <a:t>組み込みスキルもworktreeを活用</a:t>
            </a:r>
          </a:p>
        </p:txBody>
      </p:sp>
      <p:sp>
        <p:nvSpPr>
          <p:cNvPr id="13" name="Rounded Rectangle 12"/>
          <p:cNvSpPr/>
          <p:nvPr/>
        </p:nvSpPr>
        <p:spPr>
          <a:xfrm>
            <a:off x="6800000" y="3350000"/>
            <a:ext cx="4660960" cy="4572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00000" y="3418580"/>
            <a:ext cx="1800000" cy="274320"/>
          </a:xfrm>
          <a:prstGeom prst="rect">
            <a:avLst/>
          </a:prstGeom>
          <a:noFill/>
        </p:spPr>
        <p:txBody>
          <a:bodyPr wrap="square">
            <a:spAutoFit/>
          </a:bodyPr>
          <a:lstStyle/>
          <a:p>
            <a:pPr algn="l"/>
            <a:r>
              <a:rPr sz="1200" b="1">
                <a:solidFill>
                  <a:srgbClr val="6A9BCC"/>
                </a:solidFill>
                <a:latin typeface="SF Mono"/>
              </a:rPr>
              <a:t>/batch &lt;指示&gt;</a:t>
            </a:r>
          </a:p>
        </p:txBody>
      </p:sp>
      <p:sp>
        <p:nvSpPr>
          <p:cNvPr id="15" name="TextBox 14"/>
          <p:cNvSpPr txBox="1"/>
          <p:nvPr/>
        </p:nvSpPr>
        <p:spPr>
          <a:xfrm>
            <a:off x="8700000" y="3418580"/>
            <a:ext cx="2600000" cy="365760"/>
          </a:xfrm>
          <a:prstGeom prst="rect">
            <a:avLst/>
          </a:prstGeom>
          <a:noFill/>
        </p:spPr>
        <p:txBody>
          <a:bodyPr wrap="square">
            <a:spAutoFit/>
          </a:bodyPr>
          <a:lstStyle/>
          <a:p>
            <a:pPr algn="l"/>
            <a:r>
              <a:rPr sz="1000" b="0">
                <a:solidFill>
                  <a:srgbClr val="E0DED8"/>
                </a:solidFill>
                <a:latin typeface="Hiragino Sans"/>
              </a:rPr>
              <a:t>大規模変更を5〜30ユニットに</a:t>
            </a:r>
          </a:p>
          <a:p>
            <a:pPr algn="l"/>
            <a:r>
              <a:rPr sz="1000" b="0">
                <a:solidFill>
                  <a:srgbClr val="E0DED8"/>
                </a:solidFill>
                <a:latin typeface="Hiragino Sans"/>
              </a:rPr>
              <a:t>分解、各worktreeで並列実行</a:t>
            </a:r>
          </a:p>
          <a:p>
            <a:pPr algn="l"/>
            <a:r>
              <a:rPr sz="1000" b="0">
                <a:solidFill>
                  <a:srgbClr val="E0DED8"/>
                </a:solidFill>
                <a:latin typeface="Hiragino Sans"/>
              </a:rPr>
              <a:t>→ PR自動作成</a:t>
            </a:r>
          </a:p>
        </p:txBody>
      </p:sp>
      <p:sp>
        <p:nvSpPr>
          <p:cNvPr id="16" name="Rounded Rectangle 15"/>
          <p:cNvSpPr/>
          <p:nvPr/>
        </p:nvSpPr>
        <p:spPr>
          <a:xfrm>
            <a:off x="6800000" y="3850000"/>
            <a:ext cx="4660960" cy="4572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00000" y="3918580"/>
            <a:ext cx="1800000" cy="274320"/>
          </a:xfrm>
          <a:prstGeom prst="rect">
            <a:avLst/>
          </a:prstGeom>
          <a:noFill/>
        </p:spPr>
        <p:txBody>
          <a:bodyPr wrap="square">
            <a:spAutoFit/>
          </a:bodyPr>
          <a:lstStyle/>
          <a:p>
            <a:pPr algn="l"/>
            <a:r>
              <a:rPr sz="1200" b="1">
                <a:solidFill>
                  <a:srgbClr val="6A9BCC"/>
                </a:solidFill>
                <a:latin typeface="SF Mono"/>
              </a:rPr>
              <a:t>/simplify</a:t>
            </a:r>
          </a:p>
        </p:txBody>
      </p:sp>
      <p:sp>
        <p:nvSpPr>
          <p:cNvPr id="18" name="TextBox 17"/>
          <p:cNvSpPr txBox="1"/>
          <p:nvPr/>
        </p:nvSpPr>
        <p:spPr>
          <a:xfrm>
            <a:off x="8700000" y="3918580"/>
            <a:ext cx="2600000" cy="365760"/>
          </a:xfrm>
          <a:prstGeom prst="rect">
            <a:avLst/>
          </a:prstGeom>
          <a:noFill/>
        </p:spPr>
        <p:txBody>
          <a:bodyPr wrap="square">
            <a:spAutoFit/>
          </a:bodyPr>
          <a:lstStyle/>
          <a:p>
            <a:pPr algn="l"/>
            <a:r>
              <a:rPr sz="1000" b="0">
                <a:solidFill>
                  <a:srgbClr val="E0DED8"/>
                </a:solidFill>
                <a:latin typeface="Hiragino Sans"/>
              </a:rPr>
              <a:t>3つのレビューエージェントを</a:t>
            </a:r>
          </a:p>
          <a:p>
            <a:pPr algn="l"/>
            <a:r>
              <a:rPr sz="1000" b="0">
                <a:solidFill>
                  <a:srgbClr val="E0DED8"/>
                </a:solidFill>
                <a:latin typeface="Hiragino Sans"/>
              </a:rPr>
              <a:t>並列起動、品質・効率・</a:t>
            </a:r>
          </a:p>
          <a:p>
            <a:pPr algn="l"/>
            <a:r>
              <a:rPr sz="1000" b="0">
                <a:solidFill>
                  <a:srgbClr val="E0DED8"/>
                </a:solidFill>
                <a:latin typeface="Hiragino Sans"/>
              </a:rPr>
              <a:t>再利用性を検証</a:t>
            </a:r>
          </a:p>
        </p:txBody>
      </p:sp>
      <p:sp>
        <p:nvSpPr>
          <p:cNvPr id="19" name="Rectangle 18"/>
          <p:cNvSpPr/>
          <p:nvPr/>
        </p:nvSpPr>
        <p:spPr>
          <a:xfrm>
            <a:off x="731520" y="46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46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691440"/>
            <a:ext cx="10400000" cy="365760"/>
          </a:xfrm>
          <a:prstGeom prst="rect">
            <a:avLst/>
          </a:prstGeom>
          <a:noFill/>
        </p:spPr>
        <p:txBody>
          <a:bodyPr wrap="square">
            <a:spAutoFit/>
          </a:bodyPr>
          <a:lstStyle/>
          <a:p>
            <a:pPr algn="l"/>
            <a:r>
              <a:rPr sz="1400" b="1">
                <a:solidFill>
                  <a:srgbClr val="D97757"/>
                </a:solidFill>
                <a:latin typeface="Hiragino Sans"/>
              </a:rPr>
              <a:t>→ カスタム（/issue-worker）と組み込み（/batch）を使い分け。設定はすべてのworktreeに引き継がれる</a:t>
            </a:r>
          </a:p>
        </p:txBody>
      </p:sp>
      <p:sp>
        <p:nvSpPr>
          <p:cNvPr id="22" name="TextBox 21"/>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10000000" cy="548640"/>
          </a:xfrm>
          <a:prstGeom prst="rect">
            <a:avLst/>
          </a:prstGeom>
          <a:noFill/>
        </p:spPr>
        <p:txBody>
          <a:bodyPr wrap="square">
            <a:spAutoFit/>
          </a:bodyPr>
          <a:lstStyle/>
          <a:p>
            <a:pPr algn="l"/>
            <a:r>
              <a:rPr sz="2800" b="1">
                <a:solidFill>
                  <a:srgbClr val="FAF9F5"/>
                </a:solidFill>
                <a:latin typeface="Hiragino Sans"/>
              </a:rPr>
              <a:t>大規模開発の全体像</a:t>
            </a:r>
          </a:p>
        </p:txBody>
      </p:sp>
      <p:sp>
        <p:nvSpPr>
          <p:cNvPr id="3" name="TextBox 2"/>
          <p:cNvSpPr txBox="1"/>
          <p:nvPr/>
        </p:nvSpPr>
        <p:spPr>
          <a:xfrm>
            <a:off x="731520" y="914400"/>
            <a:ext cx="10000000" cy="365760"/>
          </a:xfrm>
          <a:prstGeom prst="rect">
            <a:avLst/>
          </a:prstGeom>
          <a:noFill/>
        </p:spPr>
        <p:txBody>
          <a:bodyPr wrap="square">
            <a:spAutoFit/>
          </a:bodyPr>
          <a:lstStyle/>
          <a:p>
            <a:pPr algn="l"/>
            <a:r>
              <a:rPr sz="1600" b="1">
                <a:solidFill>
                  <a:srgbClr val="B0AEA5"/>
                </a:solidFill>
                <a:latin typeface="Hiragino Sans"/>
              </a:rPr>
              <a:t>Claude Codeを強化する仕組みの全体像</a:t>
            </a:r>
          </a:p>
        </p:txBody>
      </p:sp>
      <p:sp>
        <p:nvSpPr>
          <p:cNvPr id="4" name="Rectangle 3"/>
          <p:cNvSpPr/>
          <p:nvPr/>
        </p:nvSpPr>
        <p:spPr>
          <a:xfrm>
            <a:off x="731520" y="1300000"/>
            <a:ext cx="2400000" cy="34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57150"/>
            <a:ext cx="2217120" cy="274320"/>
          </a:xfrm>
          <a:prstGeom prst="rect">
            <a:avLst/>
          </a:prstGeom>
          <a:noFill/>
        </p:spPr>
        <p:txBody>
          <a:bodyPr wrap="square">
            <a:spAutoFit/>
          </a:bodyPr>
          <a:lstStyle/>
          <a:p>
            <a:pPr algn="l"/>
            <a:r>
              <a:rPr sz="1300" b="1">
                <a:solidFill>
                  <a:srgbClr val="D97757"/>
                </a:solidFill>
                <a:latin typeface="Hiragino Sans"/>
              </a:rPr>
              <a:t>仕組み</a:t>
            </a:r>
          </a:p>
        </p:txBody>
      </p:sp>
      <p:sp>
        <p:nvSpPr>
          <p:cNvPr id="6" name="Rectangle 5"/>
          <p:cNvSpPr/>
          <p:nvPr/>
        </p:nvSpPr>
        <p:spPr>
          <a:xfrm>
            <a:off x="3131520" y="1300000"/>
            <a:ext cx="4264480" cy="34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22960" y="1357150"/>
            <a:ext cx="4081600" cy="274320"/>
          </a:xfrm>
          <a:prstGeom prst="rect">
            <a:avLst/>
          </a:prstGeom>
          <a:noFill/>
        </p:spPr>
        <p:txBody>
          <a:bodyPr wrap="square">
            <a:spAutoFit/>
          </a:bodyPr>
          <a:lstStyle/>
          <a:p>
            <a:pPr algn="l"/>
            <a:r>
              <a:rPr sz="1300" b="1">
                <a:solidFill>
                  <a:srgbClr val="D97757"/>
                </a:solidFill>
                <a:latin typeface="Hiragino Sans"/>
              </a:rPr>
              <a:t>役割</a:t>
            </a:r>
          </a:p>
        </p:txBody>
      </p:sp>
      <p:sp>
        <p:nvSpPr>
          <p:cNvPr id="8" name="Rectangle 7"/>
          <p:cNvSpPr/>
          <p:nvPr/>
        </p:nvSpPr>
        <p:spPr>
          <a:xfrm>
            <a:off x="7396000" y="1300000"/>
            <a:ext cx="4064480" cy="34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87440" y="1357150"/>
            <a:ext cx="3881600" cy="274320"/>
          </a:xfrm>
          <a:prstGeom prst="rect">
            <a:avLst/>
          </a:prstGeom>
          <a:noFill/>
        </p:spPr>
        <p:txBody>
          <a:bodyPr wrap="square">
            <a:spAutoFit/>
          </a:bodyPr>
          <a:lstStyle/>
          <a:p>
            <a:pPr algn="l"/>
            <a:r>
              <a:rPr sz="1300" b="1">
                <a:solidFill>
                  <a:srgbClr val="D97757"/>
                </a:solidFill>
                <a:latin typeface="Hiragino Sans"/>
              </a:rPr>
              <a:t>設定場所</a:t>
            </a:r>
          </a:p>
        </p:txBody>
      </p:sp>
      <p:sp>
        <p:nvSpPr>
          <p:cNvPr id="10" name="Rectangle 9"/>
          <p:cNvSpPr/>
          <p:nvPr/>
        </p:nvSpPr>
        <p:spPr>
          <a:xfrm>
            <a:off x="731520" y="1640000"/>
            <a:ext cx="240000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85720"/>
            <a:ext cx="2217120" cy="274320"/>
          </a:xfrm>
          <a:prstGeom prst="rect">
            <a:avLst/>
          </a:prstGeom>
          <a:noFill/>
        </p:spPr>
        <p:txBody>
          <a:bodyPr wrap="square">
            <a:spAutoFit/>
          </a:bodyPr>
          <a:lstStyle/>
          <a:p>
            <a:pPr algn="l"/>
            <a:r>
              <a:rPr sz="1200" b="1">
                <a:solidFill>
                  <a:srgbClr val="D97757"/>
                </a:solidFill>
                <a:latin typeface="Hiragino Sans"/>
              </a:rPr>
              <a:t>CLAUDE.md</a:t>
            </a:r>
          </a:p>
        </p:txBody>
      </p:sp>
      <p:sp>
        <p:nvSpPr>
          <p:cNvPr id="12" name="Rectangle 11"/>
          <p:cNvSpPr/>
          <p:nvPr/>
        </p:nvSpPr>
        <p:spPr>
          <a:xfrm>
            <a:off x="3131520" y="1640000"/>
            <a:ext cx="426448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22960" y="1685720"/>
            <a:ext cx="4081600" cy="274320"/>
          </a:xfrm>
          <a:prstGeom prst="rect">
            <a:avLst/>
          </a:prstGeom>
          <a:noFill/>
        </p:spPr>
        <p:txBody>
          <a:bodyPr wrap="square">
            <a:spAutoFit/>
          </a:bodyPr>
          <a:lstStyle/>
          <a:p>
            <a:pPr algn="l"/>
            <a:r>
              <a:rPr sz="1200" b="0">
                <a:solidFill>
                  <a:srgbClr val="E0DED8"/>
                </a:solidFill>
                <a:latin typeface="Hiragino Sans"/>
              </a:rPr>
              <a:t>常識を教える</a:t>
            </a:r>
          </a:p>
        </p:txBody>
      </p:sp>
      <p:sp>
        <p:nvSpPr>
          <p:cNvPr id="14" name="Rectangle 13"/>
          <p:cNvSpPr/>
          <p:nvPr/>
        </p:nvSpPr>
        <p:spPr>
          <a:xfrm>
            <a:off x="7396000" y="1640000"/>
            <a:ext cx="406448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87440" y="1685720"/>
            <a:ext cx="3881600" cy="274320"/>
          </a:xfrm>
          <a:prstGeom prst="rect">
            <a:avLst/>
          </a:prstGeom>
          <a:noFill/>
        </p:spPr>
        <p:txBody>
          <a:bodyPr wrap="square">
            <a:spAutoFit/>
          </a:bodyPr>
          <a:lstStyle/>
          <a:p>
            <a:pPr algn="l"/>
            <a:r>
              <a:rPr sz="1200" b="0">
                <a:solidFill>
                  <a:srgbClr val="E0DED8"/>
                </a:solidFill>
                <a:latin typeface="SF Mono"/>
              </a:rPr>
              <a:t>プロジェクトルート</a:t>
            </a:r>
          </a:p>
        </p:txBody>
      </p:sp>
      <p:sp>
        <p:nvSpPr>
          <p:cNvPr id="16" name="Rectangle 15"/>
          <p:cNvSpPr/>
          <p:nvPr/>
        </p:nvSpPr>
        <p:spPr>
          <a:xfrm>
            <a:off x="731520" y="1950000"/>
            <a:ext cx="240000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1995720"/>
            <a:ext cx="2217120" cy="274320"/>
          </a:xfrm>
          <a:prstGeom prst="rect">
            <a:avLst/>
          </a:prstGeom>
          <a:noFill/>
        </p:spPr>
        <p:txBody>
          <a:bodyPr wrap="square">
            <a:spAutoFit/>
          </a:bodyPr>
          <a:lstStyle/>
          <a:p>
            <a:pPr algn="l"/>
            <a:r>
              <a:rPr sz="1200" b="1">
                <a:solidFill>
                  <a:srgbClr val="D97757"/>
                </a:solidFill>
                <a:latin typeface="Hiragino Sans"/>
              </a:rPr>
              <a:t>Skills</a:t>
            </a:r>
          </a:p>
        </p:txBody>
      </p:sp>
      <p:sp>
        <p:nvSpPr>
          <p:cNvPr id="18" name="Rectangle 17"/>
          <p:cNvSpPr/>
          <p:nvPr/>
        </p:nvSpPr>
        <p:spPr>
          <a:xfrm>
            <a:off x="3131520" y="1950000"/>
            <a:ext cx="426448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22960" y="1995720"/>
            <a:ext cx="4081600" cy="274320"/>
          </a:xfrm>
          <a:prstGeom prst="rect">
            <a:avLst/>
          </a:prstGeom>
          <a:noFill/>
        </p:spPr>
        <p:txBody>
          <a:bodyPr wrap="square">
            <a:spAutoFit/>
          </a:bodyPr>
          <a:lstStyle/>
          <a:p>
            <a:pPr algn="l"/>
            <a:r>
              <a:rPr sz="1200" b="0">
                <a:solidFill>
                  <a:srgbClr val="E0DED8"/>
                </a:solidFill>
                <a:latin typeface="Hiragino Sans"/>
              </a:rPr>
              <a:t>手順を仕組み化</a:t>
            </a:r>
          </a:p>
        </p:txBody>
      </p:sp>
      <p:sp>
        <p:nvSpPr>
          <p:cNvPr id="20" name="Rectangle 19"/>
          <p:cNvSpPr/>
          <p:nvPr/>
        </p:nvSpPr>
        <p:spPr>
          <a:xfrm>
            <a:off x="7396000" y="1950000"/>
            <a:ext cx="406448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87440" y="1995720"/>
            <a:ext cx="3881600" cy="274320"/>
          </a:xfrm>
          <a:prstGeom prst="rect">
            <a:avLst/>
          </a:prstGeom>
          <a:noFill/>
        </p:spPr>
        <p:txBody>
          <a:bodyPr wrap="square">
            <a:spAutoFit/>
          </a:bodyPr>
          <a:lstStyle/>
          <a:p>
            <a:pPr algn="l"/>
            <a:r>
              <a:rPr sz="1200" b="0">
                <a:solidFill>
                  <a:srgbClr val="E0DED8"/>
                </a:solidFill>
                <a:latin typeface="SF Mono"/>
              </a:rPr>
              <a:t>.claude/skills/</a:t>
            </a:r>
          </a:p>
        </p:txBody>
      </p:sp>
      <p:sp>
        <p:nvSpPr>
          <p:cNvPr id="22" name="Rectangle 21"/>
          <p:cNvSpPr/>
          <p:nvPr/>
        </p:nvSpPr>
        <p:spPr>
          <a:xfrm>
            <a:off x="731520" y="2260000"/>
            <a:ext cx="240000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2305720"/>
            <a:ext cx="2217120" cy="274320"/>
          </a:xfrm>
          <a:prstGeom prst="rect">
            <a:avLst/>
          </a:prstGeom>
          <a:noFill/>
        </p:spPr>
        <p:txBody>
          <a:bodyPr wrap="square">
            <a:spAutoFit/>
          </a:bodyPr>
          <a:lstStyle/>
          <a:p>
            <a:pPr algn="l"/>
            <a:r>
              <a:rPr sz="1200" b="1">
                <a:solidFill>
                  <a:srgbClr val="D97757"/>
                </a:solidFill>
                <a:latin typeface="Hiragino Sans"/>
              </a:rPr>
              <a:t>Hooks</a:t>
            </a:r>
          </a:p>
        </p:txBody>
      </p:sp>
      <p:sp>
        <p:nvSpPr>
          <p:cNvPr id="24" name="Rectangle 23"/>
          <p:cNvSpPr/>
          <p:nvPr/>
        </p:nvSpPr>
        <p:spPr>
          <a:xfrm>
            <a:off x="3131520" y="2260000"/>
            <a:ext cx="426448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22960" y="2305720"/>
            <a:ext cx="4081600" cy="274320"/>
          </a:xfrm>
          <a:prstGeom prst="rect">
            <a:avLst/>
          </a:prstGeom>
          <a:noFill/>
        </p:spPr>
        <p:txBody>
          <a:bodyPr wrap="square">
            <a:spAutoFit/>
          </a:bodyPr>
          <a:lstStyle/>
          <a:p>
            <a:pPr algn="l"/>
            <a:r>
              <a:rPr sz="1200" b="0">
                <a:solidFill>
                  <a:srgbClr val="E0DED8"/>
                </a:solidFill>
                <a:latin typeface="Hiragino Sans"/>
              </a:rPr>
              <a:t>品質チェックを自動化</a:t>
            </a:r>
          </a:p>
        </p:txBody>
      </p:sp>
      <p:sp>
        <p:nvSpPr>
          <p:cNvPr id="26" name="Rectangle 25"/>
          <p:cNvSpPr/>
          <p:nvPr/>
        </p:nvSpPr>
        <p:spPr>
          <a:xfrm>
            <a:off x="7396000" y="2260000"/>
            <a:ext cx="406448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87440" y="2305720"/>
            <a:ext cx="3881600" cy="274320"/>
          </a:xfrm>
          <a:prstGeom prst="rect">
            <a:avLst/>
          </a:prstGeom>
          <a:noFill/>
        </p:spPr>
        <p:txBody>
          <a:bodyPr wrap="square">
            <a:spAutoFit/>
          </a:bodyPr>
          <a:lstStyle/>
          <a:p>
            <a:pPr algn="l"/>
            <a:r>
              <a:rPr sz="1200" b="0">
                <a:solidFill>
                  <a:srgbClr val="E0DED8"/>
                </a:solidFill>
                <a:latin typeface="SF Mono"/>
              </a:rPr>
              <a:t>.claude/settings.json</a:t>
            </a:r>
          </a:p>
        </p:txBody>
      </p:sp>
      <p:sp>
        <p:nvSpPr>
          <p:cNvPr id="28" name="Rectangle 27"/>
          <p:cNvSpPr/>
          <p:nvPr/>
        </p:nvSpPr>
        <p:spPr>
          <a:xfrm>
            <a:off x="731520" y="2570000"/>
            <a:ext cx="240000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2615720"/>
            <a:ext cx="2217120" cy="274320"/>
          </a:xfrm>
          <a:prstGeom prst="rect">
            <a:avLst/>
          </a:prstGeom>
          <a:noFill/>
        </p:spPr>
        <p:txBody>
          <a:bodyPr wrap="square">
            <a:spAutoFit/>
          </a:bodyPr>
          <a:lstStyle/>
          <a:p>
            <a:pPr algn="l"/>
            <a:r>
              <a:rPr sz="1200" b="1">
                <a:solidFill>
                  <a:srgbClr val="D97757"/>
                </a:solidFill>
                <a:latin typeface="Hiragino Sans"/>
              </a:rPr>
              <a:t>サブエージェント</a:t>
            </a:r>
          </a:p>
        </p:txBody>
      </p:sp>
      <p:sp>
        <p:nvSpPr>
          <p:cNvPr id="30" name="Rectangle 29"/>
          <p:cNvSpPr/>
          <p:nvPr/>
        </p:nvSpPr>
        <p:spPr>
          <a:xfrm>
            <a:off x="3131520" y="2570000"/>
            <a:ext cx="426448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22960" y="2615720"/>
            <a:ext cx="4081600" cy="274320"/>
          </a:xfrm>
          <a:prstGeom prst="rect">
            <a:avLst/>
          </a:prstGeom>
          <a:noFill/>
        </p:spPr>
        <p:txBody>
          <a:bodyPr wrap="square">
            <a:spAutoFit/>
          </a:bodyPr>
          <a:lstStyle/>
          <a:p>
            <a:pPr algn="l"/>
            <a:r>
              <a:rPr sz="1200" b="0">
                <a:solidFill>
                  <a:srgbClr val="E0DED8"/>
                </a:solidFill>
                <a:latin typeface="Hiragino Sans"/>
              </a:rPr>
              <a:t>重い作業を委譲</a:t>
            </a:r>
          </a:p>
        </p:txBody>
      </p:sp>
      <p:sp>
        <p:nvSpPr>
          <p:cNvPr id="32" name="Rectangle 31"/>
          <p:cNvSpPr/>
          <p:nvPr/>
        </p:nvSpPr>
        <p:spPr>
          <a:xfrm>
            <a:off x="7396000" y="2570000"/>
            <a:ext cx="406448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87440" y="2615720"/>
            <a:ext cx="3881600" cy="274320"/>
          </a:xfrm>
          <a:prstGeom prst="rect">
            <a:avLst/>
          </a:prstGeom>
          <a:noFill/>
        </p:spPr>
        <p:txBody>
          <a:bodyPr wrap="square">
            <a:spAutoFit/>
          </a:bodyPr>
          <a:lstStyle/>
          <a:p>
            <a:pPr algn="l"/>
            <a:r>
              <a:rPr sz="1200" b="0">
                <a:solidFill>
                  <a:srgbClr val="E0DED8"/>
                </a:solidFill>
                <a:latin typeface="SF Mono"/>
              </a:rPr>
              <a:t>.claude/agents/</a:t>
            </a:r>
          </a:p>
        </p:txBody>
      </p:sp>
      <p:sp>
        <p:nvSpPr>
          <p:cNvPr id="34" name="Rectangle 33"/>
          <p:cNvSpPr/>
          <p:nvPr/>
        </p:nvSpPr>
        <p:spPr>
          <a:xfrm>
            <a:off x="731520" y="2880000"/>
            <a:ext cx="240000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60" y="2925720"/>
            <a:ext cx="2217120" cy="274320"/>
          </a:xfrm>
          <a:prstGeom prst="rect">
            <a:avLst/>
          </a:prstGeom>
          <a:noFill/>
        </p:spPr>
        <p:txBody>
          <a:bodyPr wrap="square">
            <a:spAutoFit/>
          </a:bodyPr>
          <a:lstStyle/>
          <a:p>
            <a:pPr algn="l"/>
            <a:r>
              <a:rPr sz="1200" b="1">
                <a:solidFill>
                  <a:srgbClr val="D97757"/>
                </a:solidFill>
                <a:latin typeface="Hiragino Sans"/>
              </a:rPr>
              <a:t>MCP</a:t>
            </a:r>
          </a:p>
        </p:txBody>
      </p:sp>
      <p:sp>
        <p:nvSpPr>
          <p:cNvPr id="36" name="Rectangle 35"/>
          <p:cNvSpPr/>
          <p:nvPr/>
        </p:nvSpPr>
        <p:spPr>
          <a:xfrm>
            <a:off x="3131520" y="2880000"/>
            <a:ext cx="426448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22960" y="2925720"/>
            <a:ext cx="4081600" cy="274320"/>
          </a:xfrm>
          <a:prstGeom prst="rect">
            <a:avLst/>
          </a:prstGeom>
          <a:noFill/>
        </p:spPr>
        <p:txBody>
          <a:bodyPr wrap="square">
            <a:spAutoFit/>
          </a:bodyPr>
          <a:lstStyle/>
          <a:p>
            <a:pPr algn="l"/>
            <a:r>
              <a:rPr sz="1200" b="0">
                <a:solidFill>
                  <a:srgbClr val="E0DED8"/>
                </a:solidFill>
                <a:latin typeface="Hiragino Sans"/>
              </a:rPr>
              <a:t>外部サービスとつなぐ</a:t>
            </a:r>
          </a:p>
        </p:txBody>
      </p:sp>
      <p:sp>
        <p:nvSpPr>
          <p:cNvPr id="38" name="Rectangle 37"/>
          <p:cNvSpPr/>
          <p:nvPr/>
        </p:nvSpPr>
        <p:spPr>
          <a:xfrm>
            <a:off x="7396000" y="2880000"/>
            <a:ext cx="406448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87440" y="2925720"/>
            <a:ext cx="3881600" cy="274320"/>
          </a:xfrm>
          <a:prstGeom prst="rect">
            <a:avLst/>
          </a:prstGeom>
          <a:noFill/>
        </p:spPr>
        <p:txBody>
          <a:bodyPr wrap="square">
            <a:spAutoFit/>
          </a:bodyPr>
          <a:lstStyle/>
          <a:p>
            <a:pPr algn="l"/>
            <a:r>
              <a:rPr sz="1200" b="0">
                <a:solidFill>
                  <a:srgbClr val="E0DED8"/>
                </a:solidFill>
                <a:latin typeface="SF Mono"/>
              </a:rPr>
              <a:t>.mcp.json</a:t>
            </a:r>
          </a:p>
        </p:txBody>
      </p:sp>
      <p:sp>
        <p:nvSpPr>
          <p:cNvPr id="40" name="Rectangle 39"/>
          <p:cNvSpPr/>
          <p:nvPr/>
        </p:nvSpPr>
        <p:spPr>
          <a:xfrm>
            <a:off x="731520" y="3190000"/>
            <a:ext cx="240000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60" y="3235720"/>
            <a:ext cx="2217120" cy="274320"/>
          </a:xfrm>
          <a:prstGeom prst="rect">
            <a:avLst/>
          </a:prstGeom>
          <a:noFill/>
        </p:spPr>
        <p:txBody>
          <a:bodyPr wrap="square">
            <a:spAutoFit/>
          </a:bodyPr>
          <a:lstStyle/>
          <a:p>
            <a:pPr algn="l"/>
            <a:r>
              <a:rPr sz="1200" b="1">
                <a:solidFill>
                  <a:srgbClr val="D97757"/>
                </a:solidFill>
                <a:latin typeface="Hiragino Sans"/>
              </a:rPr>
              <a:t>worktree</a:t>
            </a:r>
          </a:p>
        </p:txBody>
      </p:sp>
      <p:sp>
        <p:nvSpPr>
          <p:cNvPr id="42" name="Rectangle 41"/>
          <p:cNvSpPr/>
          <p:nvPr/>
        </p:nvSpPr>
        <p:spPr>
          <a:xfrm>
            <a:off x="3131520" y="3190000"/>
            <a:ext cx="426448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222960" y="3235720"/>
            <a:ext cx="4081600" cy="274320"/>
          </a:xfrm>
          <a:prstGeom prst="rect">
            <a:avLst/>
          </a:prstGeom>
          <a:noFill/>
        </p:spPr>
        <p:txBody>
          <a:bodyPr wrap="square">
            <a:spAutoFit/>
          </a:bodyPr>
          <a:lstStyle/>
          <a:p>
            <a:pPr algn="l"/>
            <a:r>
              <a:rPr sz="1200" b="0">
                <a:solidFill>
                  <a:srgbClr val="E0DED8"/>
                </a:solidFill>
                <a:latin typeface="Hiragino Sans"/>
              </a:rPr>
              <a:t>並列開発を実現</a:t>
            </a:r>
          </a:p>
        </p:txBody>
      </p:sp>
      <p:sp>
        <p:nvSpPr>
          <p:cNvPr id="44" name="Rectangle 43"/>
          <p:cNvSpPr/>
          <p:nvPr/>
        </p:nvSpPr>
        <p:spPr>
          <a:xfrm>
            <a:off x="7396000" y="3190000"/>
            <a:ext cx="406448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87440" y="3235720"/>
            <a:ext cx="3881600" cy="274320"/>
          </a:xfrm>
          <a:prstGeom prst="rect">
            <a:avLst/>
          </a:prstGeom>
          <a:noFill/>
        </p:spPr>
        <p:txBody>
          <a:bodyPr wrap="square">
            <a:spAutoFit/>
          </a:bodyPr>
          <a:lstStyle/>
          <a:p>
            <a:pPr algn="l"/>
            <a:r>
              <a:rPr sz="1200" b="0">
                <a:solidFill>
                  <a:srgbClr val="E0DED8"/>
                </a:solidFill>
                <a:latin typeface="SF Mono"/>
              </a:rPr>
              <a:t>Git機能</a:t>
            </a:r>
          </a:p>
        </p:txBody>
      </p:sp>
      <p:cxnSp>
        <p:nvCxnSpPr>
          <p:cNvPr id="46" name="Connector 45"/>
          <p:cNvCxnSpPr/>
          <p:nvPr/>
        </p:nvCxnSpPr>
        <p:spPr>
          <a:xfrm>
            <a:off x="731520" y="335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731520" y="3500000"/>
            <a:ext cx="10000000" cy="365760"/>
          </a:xfrm>
          <a:prstGeom prst="rect">
            <a:avLst/>
          </a:prstGeom>
          <a:noFill/>
        </p:spPr>
        <p:txBody>
          <a:bodyPr wrap="square">
            <a:spAutoFit/>
          </a:bodyPr>
          <a:lstStyle/>
          <a:p>
            <a:pPr algn="l"/>
            <a:r>
              <a:rPr sz="1800" b="1">
                <a:solidFill>
                  <a:srgbClr val="FAF9F5"/>
                </a:solidFill>
                <a:latin typeface="Hiragino Sans"/>
              </a:rPr>
              <a:t>大規模開発のフロー</a:t>
            </a:r>
          </a:p>
        </p:txBody>
      </p:sp>
      <p:sp>
        <p:nvSpPr>
          <p:cNvPr id="48" name="Rounded Rectangle 47"/>
          <p:cNvSpPr/>
          <p:nvPr/>
        </p:nvSpPr>
        <p:spPr>
          <a:xfrm>
            <a:off x="731520" y="3950000"/>
            <a:ext cx="2100000" cy="18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31520" y="3950000"/>
            <a:ext cx="2100000" cy="54864"/>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22960" y="4087160"/>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AF9F5"/>
                </a:solidFill>
                <a:latin typeface="Helvetica Neue"/>
              </a:rPr>
              <a:t>1</a:t>
            </a:r>
          </a:p>
        </p:txBody>
      </p:sp>
      <p:sp>
        <p:nvSpPr>
          <p:cNvPr id="51" name="TextBox 50"/>
          <p:cNvSpPr txBox="1"/>
          <p:nvPr/>
        </p:nvSpPr>
        <p:spPr>
          <a:xfrm>
            <a:off x="1280160" y="4087160"/>
            <a:ext cx="1459920" cy="365760"/>
          </a:xfrm>
          <a:prstGeom prst="rect">
            <a:avLst/>
          </a:prstGeom>
          <a:noFill/>
        </p:spPr>
        <p:txBody>
          <a:bodyPr wrap="square">
            <a:spAutoFit/>
          </a:bodyPr>
          <a:lstStyle/>
          <a:p>
            <a:pPr algn="l"/>
            <a:r>
              <a:rPr sz="1300" b="1">
                <a:solidFill>
                  <a:srgbClr val="D97757"/>
                </a:solidFill>
                <a:latin typeface="Hiragino Sans"/>
              </a:rPr>
              <a:t>セットアップ</a:t>
            </a:r>
          </a:p>
        </p:txBody>
      </p:sp>
      <p:sp>
        <p:nvSpPr>
          <p:cNvPr id="52" name="TextBox 51"/>
          <p:cNvSpPr txBox="1"/>
          <p:nvPr/>
        </p:nvSpPr>
        <p:spPr>
          <a:xfrm>
            <a:off x="822960" y="4590080"/>
            <a:ext cx="1917120" cy="1097280"/>
          </a:xfrm>
          <a:prstGeom prst="rect">
            <a:avLst/>
          </a:prstGeom>
          <a:noFill/>
        </p:spPr>
        <p:txBody>
          <a:bodyPr wrap="square">
            <a:spAutoFit/>
          </a:bodyPr>
          <a:lstStyle/>
          <a:p>
            <a:pPr algn="l">
              <a:spcAft>
                <a:spcPts val="300"/>
              </a:spcAft>
            </a:pPr>
            <a:r>
              <a:rPr sz="1000" b="0">
                <a:solidFill>
                  <a:srgbClr val="E0DED8"/>
                </a:solidFill>
                <a:latin typeface="Hiragino Sans"/>
              </a:rPr>
              <a:t>CLAUDE.md / Skills / Hooks /</a:t>
            </a:r>
          </a:p>
          <a:p>
            <a:pPr algn="l">
              <a:spcAft>
                <a:spcPts val="300"/>
              </a:spcAft>
            </a:pPr>
            <a:r>
              <a:rPr sz="1000" b="0">
                <a:solidFill>
                  <a:srgbClr val="E0DED8"/>
                </a:solidFill>
                <a:latin typeface="Hiragino Sans"/>
              </a:rPr>
              <a:t>サブエージェント / MCP を設定</a:t>
            </a:r>
          </a:p>
        </p:txBody>
      </p:sp>
      <p:sp>
        <p:nvSpPr>
          <p:cNvPr id="53" name="Rounded Rectangle 52"/>
          <p:cNvSpPr/>
          <p:nvPr/>
        </p:nvSpPr>
        <p:spPr>
          <a:xfrm>
            <a:off x="2913520" y="3950000"/>
            <a:ext cx="2100000" cy="18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913520" y="3950000"/>
            <a:ext cx="2100000" cy="54864"/>
          </a:xfrm>
          <a:prstGeom prst="rect">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3004960" y="4087160"/>
            <a:ext cx="365760" cy="365760"/>
          </a:xfrm>
          <a:prstGeom prst="ellipse">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AF9F5"/>
                </a:solidFill>
                <a:latin typeface="Helvetica Neue"/>
              </a:rPr>
              <a:t>2</a:t>
            </a:r>
          </a:p>
        </p:txBody>
      </p:sp>
      <p:sp>
        <p:nvSpPr>
          <p:cNvPr id="56" name="TextBox 55"/>
          <p:cNvSpPr txBox="1"/>
          <p:nvPr/>
        </p:nvSpPr>
        <p:spPr>
          <a:xfrm>
            <a:off x="3462160" y="4087160"/>
            <a:ext cx="1459920" cy="365760"/>
          </a:xfrm>
          <a:prstGeom prst="rect">
            <a:avLst/>
          </a:prstGeom>
          <a:noFill/>
        </p:spPr>
        <p:txBody>
          <a:bodyPr wrap="square">
            <a:spAutoFit/>
          </a:bodyPr>
          <a:lstStyle/>
          <a:p>
            <a:pPr algn="l"/>
            <a:r>
              <a:rPr sz="1300" b="1">
                <a:solidFill>
                  <a:srgbClr val="6A9BCC"/>
                </a:solidFill>
                <a:latin typeface="Hiragino Sans"/>
              </a:rPr>
              <a:t>Issue割り当て</a:t>
            </a:r>
          </a:p>
        </p:txBody>
      </p:sp>
      <p:sp>
        <p:nvSpPr>
          <p:cNvPr id="57" name="TextBox 56"/>
          <p:cNvSpPr txBox="1"/>
          <p:nvPr/>
        </p:nvSpPr>
        <p:spPr>
          <a:xfrm>
            <a:off x="3004960" y="4590080"/>
            <a:ext cx="1917120" cy="1097280"/>
          </a:xfrm>
          <a:prstGeom prst="rect">
            <a:avLst/>
          </a:prstGeom>
          <a:noFill/>
        </p:spPr>
        <p:txBody>
          <a:bodyPr wrap="square">
            <a:spAutoFit/>
          </a:bodyPr>
          <a:lstStyle/>
          <a:p>
            <a:pPr algn="l">
              <a:spcAft>
                <a:spcPts val="300"/>
              </a:spcAft>
            </a:pPr>
            <a:r>
              <a:rPr sz="1000" b="0">
                <a:solidFill>
                  <a:srgbClr val="E0DED8"/>
                </a:solidFill>
                <a:latin typeface="Hiragino Sans"/>
              </a:rPr>
              <a:t>/issue-worker で</a:t>
            </a:r>
          </a:p>
          <a:p>
            <a:pPr algn="l">
              <a:spcAft>
                <a:spcPts val="300"/>
              </a:spcAft>
            </a:pPr>
            <a:r>
              <a:rPr sz="1000" b="0">
                <a:solidFill>
                  <a:srgbClr val="E0DED8"/>
                </a:solidFill>
                <a:latin typeface="Hiragino Sans"/>
              </a:rPr>
              <a:t>worktree + ISSUE.md を作成</a:t>
            </a:r>
          </a:p>
        </p:txBody>
      </p:sp>
      <p:sp>
        <p:nvSpPr>
          <p:cNvPr id="58" name="Rounded Rectangle 57"/>
          <p:cNvSpPr/>
          <p:nvPr/>
        </p:nvSpPr>
        <p:spPr>
          <a:xfrm>
            <a:off x="5095520" y="3950000"/>
            <a:ext cx="2100000" cy="18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095520" y="3950000"/>
            <a:ext cx="2100000" cy="54864"/>
          </a:xfrm>
          <a:prstGeom prst="rect">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5186960" y="4087160"/>
            <a:ext cx="365760" cy="365760"/>
          </a:xfrm>
          <a:prstGeom prst="ellipse">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AF9F5"/>
                </a:solidFill>
                <a:latin typeface="Helvetica Neue"/>
              </a:rPr>
              <a:t>3</a:t>
            </a:r>
          </a:p>
        </p:txBody>
      </p:sp>
      <p:sp>
        <p:nvSpPr>
          <p:cNvPr id="61" name="TextBox 60"/>
          <p:cNvSpPr txBox="1"/>
          <p:nvPr/>
        </p:nvSpPr>
        <p:spPr>
          <a:xfrm>
            <a:off x="5644160" y="4087160"/>
            <a:ext cx="1459920" cy="365760"/>
          </a:xfrm>
          <a:prstGeom prst="rect">
            <a:avLst/>
          </a:prstGeom>
          <a:noFill/>
        </p:spPr>
        <p:txBody>
          <a:bodyPr wrap="square">
            <a:spAutoFit/>
          </a:bodyPr>
          <a:lstStyle/>
          <a:p>
            <a:pPr algn="l"/>
            <a:r>
              <a:rPr sz="1300" b="1">
                <a:solidFill>
                  <a:srgbClr val="7BC9A0"/>
                </a:solidFill>
                <a:latin typeface="Hiragino Sans"/>
              </a:rPr>
              <a:t>並列実行</a:t>
            </a:r>
          </a:p>
        </p:txBody>
      </p:sp>
      <p:sp>
        <p:nvSpPr>
          <p:cNvPr id="62" name="TextBox 61"/>
          <p:cNvSpPr txBox="1"/>
          <p:nvPr/>
        </p:nvSpPr>
        <p:spPr>
          <a:xfrm>
            <a:off x="5186960" y="4590080"/>
            <a:ext cx="1917120" cy="1097280"/>
          </a:xfrm>
          <a:prstGeom prst="rect">
            <a:avLst/>
          </a:prstGeom>
          <a:noFill/>
        </p:spPr>
        <p:txBody>
          <a:bodyPr wrap="square">
            <a:spAutoFit/>
          </a:bodyPr>
          <a:lstStyle/>
          <a:p>
            <a:pPr algn="l">
              <a:spcAft>
                <a:spcPts val="300"/>
              </a:spcAft>
            </a:pPr>
            <a:r>
              <a:rPr sz="1000" b="0">
                <a:solidFill>
                  <a:srgbClr val="E0DED8"/>
                </a:solidFill>
                <a:latin typeface="Hiragino Sans"/>
              </a:rPr>
              <a:t>各worktreeでClaude Codeを</a:t>
            </a:r>
          </a:p>
          <a:p>
            <a:pPr algn="l">
              <a:spcAft>
                <a:spcPts val="300"/>
              </a:spcAft>
            </a:pPr>
            <a:r>
              <a:rPr sz="1000" b="0">
                <a:solidFill>
                  <a:srgbClr val="E0DED8"/>
                </a:solidFill>
                <a:latin typeface="Hiragino Sans"/>
              </a:rPr>
              <a:t>起動し、独立して作業を進める</a:t>
            </a:r>
          </a:p>
        </p:txBody>
      </p:sp>
      <p:sp>
        <p:nvSpPr>
          <p:cNvPr id="63" name="Rounded Rectangle 62"/>
          <p:cNvSpPr/>
          <p:nvPr/>
        </p:nvSpPr>
        <p:spPr>
          <a:xfrm>
            <a:off x="7277520" y="3950000"/>
            <a:ext cx="2100000" cy="18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277520" y="3950000"/>
            <a:ext cx="2100000" cy="54864"/>
          </a:xfrm>
          <a:prstGeom prst="rect">
            <a:avLst/>
          </a:prstGeom>
          <a:solidFill>
            <a:srgbClr val="CCA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7368960" y="4087160"/>
            <a:ext cx="365760" cy="365760"/>
          </a:xfrm>
          <a:prstGeom prst="ellipse">
            <a:avLst/>
          </a:prstGeom>
          <a:solidFill>
            <a:srgbClr val="CCA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AF9F5"/>
                </a:solidFill>
                <a:latin typeface="Helvetica Neue"/>
              </a:rPr>
              <a:t>4</a:t>
            </a:r>
          </a:p>
        </p:txBody>
      </p:sp>
      <p:sp>
        <p:nvSpPr>
          <p:cNvPr id="66" name="TextBox 65"/>
          <p:cNvSpPr txBox="1"/>
          <p:nvPr/>
        </p:nvSpPr>
        <p:spPr>
          <a:xfrm>
            <a:off x="7826160" y="4087160"/>
            <a:ext cx="1459920" cy="365760"/>
          </a:xfrm>
          <a:prstGeom prst="rect">
            <a:avLst/>
          </a:prstGeom>
          <a:noFill/>
        </p:spPr>
        <p:txBody>
          <a:bodyPr wrap="square">
            <a:spAutoFit/>
          </a:bodyPr>
          <a:lstStyle/>
          <a:p>
            <a:pPr algn="l"/>
            <a:r>
              <a:rPr sz="1300" b="1">
                <a:solidFill>
                  <a:srgbClr val="CCAA55"/>
                </a:solidFill>
                <a:latin typeface="Hiragino Sans"/>
              </a:rPr>
              <a:t>品質担保</a:t>
            </a:r>
          </a:p>
        </p:txBody>
      </p:sp>
      <p:sp>
        <p:nvSpPr>
          <p:cNvPr id="67" name="TextBox 66"/>
          <p:cNvSpPr txBox="1"/>
          <p:nvPr/>
        </p:nvSpPr>
        <p:spPr>
          <a:xfrm>
            <a:off x="7368960" y="4590080"/>
            <a:ext cx="1917120" cy="1097280"/>
          </a:xfrm>
          <a:prstGeom prst="rect">
            <a:avLst/>
          </a:prstGeom>
          <a:noFill/>
        </p:spPr>
        <p:txBody>
          <a:bodyPr wrap="square">
            <a:spAutoFit/>
          </a:bodyPr>
          <a:lstStyle/>
          <a:p>
            <a:pPr algn="l">
              <a:spcAft>
                <a:spcPts val="300"/>
              </a:spcAft>
            </a:pPr>
            <a:r>
              <a:rPr sz="1000" b="0">
                <a:solidFill>
                  <a:srgbClr val="E0DED8"/>
                </a:solidFill>
                <a:latin typeface="Hiragino Sans"/>
              </a:rPr>
              <a:t>Hooksが自動でlint・テスト</a:t>
            </a:r>
          </a:p>
        </p:txBody>
      </p:sp>
      <p:sp>
        <p:nvSpPr>
          <p:cNvPr id="68" name="Rounded Rectangle 67"/>
          <p:cNvSpPr/>
          <p:nvPr/>
        </p:nvSpPr>
        <p:spPr>
          <a:xfrm>
            <a:off x="9459520" y="3950000"/>
            <a:ext cx="2100000" cy="18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9459520" y="3950000"/>
            <a:ext cx="2100000" cy="54864"/>
          </a:xfrm>
          <a:prstGeom prst="rect">
            <a:avLst/>
          </a:prstGeom>
          <a:solidFill>
            <a:srgbClr val="C5C3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9550960" y="4087160"/>
            <a:ext cx="365760" cy="365760"/>
          </a:xfrm>
          <a:prstGeom prst="ellipse">
            <a:avLst/>
          </a:prstGeom>
          <a:solidFill>
            <a:srgbClr val="C5C3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AF9F5"/>
                </a:solidFill>
                <a:latin typeface="Helvetica Neue"/>
              </a:rPr>
              <a:t>5</a:t>
            </a:r>
          </a:p>
        </p:txBody>
      </p:sp>
      <p:sp>
        <p:nvSpPr>
          <p:cNvPr id="71" name="TextBox 70"/>
          <p:cNvSpPr txBox="1"/>
          <p:nvPr/>
        </p:nvSpPr>
        <p:spPr>
          <a:xfrm>
            <a:off x="10008160" y="4087160"/>
            <a:ext cx="1459920" cy="365760"/>
          </a:xfrm>
          <a:prstGeom prst="rect">
            <a:avLst/>
          </a:prstGeom>
          <a:noFill/>
        </p:spPr>
        <p:txBody>
          <a:bodyPr wrap="square">
            <a:spAutoFit/>
          </a:bodyPr>
          <a:lstStyle/>
          <a:p>
            <a:pPr algn="l"/>
            <a:r>
              <a:rPr sz="1300" b="1">
                <a:solidFill>
                  <a:srgbClr val="C5C3BB"/>
                </a:solidFill>
                <a:latin typeface="Hiragino Sans"/>
              </a:rPr>
              <a:t>完了</a:t>
            </a:r>
          </a:p>
        </p:txBody>
      </p:sp>
      <p:sp>
        <p:nvSpPr>
          <p:cNvPr id="72" name="TextBox 71"/>
          <p:cNvSpPr txBox="1"/>
          <p:nvPr/>
        </p:nvSpPr>
        <p:spPr>
          <a:xfrm>
            <a:off x="9550960" y="4590080"/>
            <a:ext cx="1917120" cy="1097280"/>
          </a:xfrm>
          <a:prstGeom prst="rect">
            <a:avLst/>
          </a:prstGeom>
          <a:noFill/>
        </p:spPr>
        <p:txBody>
          <a:bodyPr wrap="square">
            <a:spAutoFit/>
          </a:bodyPr>
          <a:lstStyle/>
          <a:p>
            <a:pPr algn="l">
              <a:spcAft>
                <a:spcPts val="300"/>
              </a:spcAft>
            </a:pPr>
            <a:r>
              <a:rPr sz="1000" b="0">
                <a:solidFill>
                  <a:srgbClr val="E0DED8"/>
                </a:solidFill>
                <a:latin typeface="Hiragino Sans"/>
              </a:rPr>
              <a:t>PR作成 → 人間がコードレビュー</a:t>
            </a:r>
          </a:p>
          <a:p>
            <a:pPr algn="l">
              <a:spcAft>
                <a:spcPts val="300"/>
              </a:spcAft>
            </a:pPr>
            <a:r>
              <a:rPr sz="1000" b="0">
                <a:solidFill>
                  <a:srgbClr val="E0DED8"/>
                </a:solidFill>
                <a:latin typeface="Hiragino Sans"/>
              </a:rPr>
              <a:t>→ マージ → worktree削除</a:t>
            </a:r>
          </a:p>
        </p:txBody>
      </p:sp>
      <p:sp>
        <p:nvSpPr>
          <p:cNvPr id="73" name="Rectangle 72"/>
          <p:cNvSpPr/>
          <p:nvPr/>
        </p:nvSpPr>
        <p:spPr>
          <a:xfrm>
            <a:off x="731520" y="605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31520" y="605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14400" y="6141440"/>
            <a:ext cx="10400000" cy="365760"/>
          </a:xfrm>
          <a:prstGeom prst="rect">
            <a:avLst/>
          </a:prstGeom>
          <a:noFill/>
        </p:spPr>
        <p:txBody>
          <a:bodyPr wrap="square">
            <a:spAutoFit/>
          </a:bodyPr>
          <a:lstStyle/>
          <a:p>
            <a:pPr algn="l"/>
            <a:r>
              <a:rPr sz="1400" b="1">
                <a:solidFill>
                  <a:srgbClr val="D97757"/>
                </a:solidFill>
                <a:latin typeface="Hiragino Sans"/>
              </a:rPr>
              <a:t>→ すべてgit管理可能。チーム全員が同じ環境で並列開発できる</a:t>
            </a:r>
          </a:p>
        </p:txBody>
      </p:sp>
      <p:sp>
        <p:nvSpPr>
          <p:cNvPr id="76" name="TextBox 75"/>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0" y="2200000"/>
            <a:ext cx="12192000" cy="762000"/>
          </a:xfrm>
          <a:prstGeom prst="rect">
            <a:avLst/>
          </a:prstGeom>
          <a:noFill/>
        </p:spPr>
        <p:txBody>
          <a:bodyPr wrap="square">
            <a:spAutoFit/>
          </a:bodyPr>
          <a:lstStyle/>
          <a:p>
            <a:pPr algn="ctr"/>
            <a:r>
              <a:rPr sz="6000" b="1">
                <a:solidFill>
                  <a:srgbClr val="D97757"/>
                </a:solidFill>
                <a:latin typeface="Helvetica Neue"/>
              </a:rPr>
              <a:t>DEMO</a:t>
            </a:r>
          </a:p>
        </p:txBody>
      </p:sp>
      <p:sp>
        <p:nvSpPr>
          <p:cNvPr id="3" name="TextBox 2"/>
          <p:cNvSpPr txBox="1"/>
          <p:nvPr/>
        </p:nvSpPr>
        <p:spPr>
          <a:xfrm>
            <a:off x="0" y="3200000"/>
            <a:ext cx="12192000" cy="457200"/>
          </a:xfrm>
          <a:prstGeom prst="rect">
            <a:avLst/>
          </a:prstGeom>
          <a:noFill/>
        </p:spPr>
        <p:txBody>
          <a:bodyPr wrap="square">
            <a:spAutoFit/>
          </a:bodyPr>
          <a:lstStyle/>
          <a:p>
            <a:pPr algn="ctr"/>
            <a:r>
              <a:rPr sz="2000" b="0">
                <a:solidFill>
                  <a:srgbClr val="B0AEA5"/>
                </a:solidFill>
                <a:latin typeface="Hiragino Sans"/>
              </a:rPr>
              <a:t>worktree + ISSUE.md</a:t>
            </a:r>
          </a:p>
        </p:txBody>
      </p:sp>
      <p:sp>
        <p:nvSpPr>
          <p:cNvPr id="4" name="TextBox 3"/>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10000000" cy="548640"/>
          </a:xfrm>
          <a:prstGeom prst="rect">
            <a:avLst/>
          </a:prstGeom>
          <a:noFill/>
        </p:spPr>
        <p:txBody>
          <a:bodyPr wrap="square">
            <a:spAutoFit/>
          </a:bodyPr>
          <a:lstStyle/>
          <a:p>
            <a:pPr algn="l"/>
            <a:r>
              <a:rPr sz="2800" b="1">
                <a:solidFill>
                  <a:srgbClr val="FAF9F5"/>
                </a:solidFill>
                <a:latin typeface="Hiragino Sans"/>
              </a:rPr>
              <a:t>まとめ / シリーズ総括</a:t>
            </a:r>
          </a:p>
        </p:txBody>
      </p:sp>
      <p:sp>
        <p:nvSpPr>
          <p:cNvPr id="3" name="TextBox 2"/>
          <p:cNvSpPr txBox="1"/>
          <p:nvPr/>
        </p:nvSpPr>
        <p:spPr>
          <a:xfrm>
            <a:off x="731520" y="914400"/>
            <a:ext cx="10000000" cy="365760"/>
          </a:xfrm>
          <a:prstGeom prst="rect">
            <a:avLst/>
          </a:prstGeom>
          <a:noFill/>
        </p:spPr>
        <p:txBody>
          <a:bodyPr wrap="square">
            <a:spAutoFit/>
          </a:bodyPr>
          <a:lstStyle/>
          <a:p>
            <a:pPr algn="l"/>
            <a:r>
              <a:rPr sz="2000" b="1">
                <a:solidFill>
                  <a:srgbClr val="B0AEA5"/>
                </a:solidFill>
                <a:latin typeface="Hiragino Sans"/>
              </a:rPr>
              <a:t>3つの持ち帰り</a:t>
            </a:r>
          </a:p>
        </p:txBody>
      </p:sp>
      <p:sp>
        <p:nvSpPr>
          <p:cNvPr id="4" name="Rounded Rectangle 3"/>
          <p:cNvSpPr/>
          <p:nvPr/>
        </p:nvSpPr>
        <p:spPr>
          <a:xfrm>
            <a:off x="731520" y="1371600"/>
            <a:ext cx="3429000" cy="27432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371600"/>
            <a:ext cx="3429000" cy="54864"/>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155448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1</a:t>
            </a:r>
          </a:p>
        </p:txBody>
      </p:sp>
      <p:sp>
        <p:nvSpPr>
          <p:cNvPr id="7" name="TextBox 6"/>
          <p:cNvSpPr txBox="1"/>
          <p:nvPr/>
        </p:nvSpPr>
        <p:spPr>
          <a:xfrm>
            <a:off x="914400" y="2194560"/>
            <a:ext cx="3063240" cy="640080"/>
          </a:xfrm>
          <a:prstGeom prst="rect">
            <a:avLst/>
          </a:prstGeom>
          <a:noFill/>
        </p:spPr>
        <p:txBody>
          <a:bodyPr wrap="square">
            <a:spAutoFit/>
          </a:bodyPr>
          <a:lstStyle/>
          <a:p>
            <a:pPr algn="l"/>
            <a:r>
              <a:rPr sz="1500" b="1">
                <a:solidFill>
                  <a:srgbClr val="FAF9F5"/>
                </a:solidFill>
                <a:latin typeface="Hiragino Sans"/>
              </a:rPr>
              <a:t>Skills &amp; サブエージェントで、</a:t>
            </a:r>
          </a:p>
          <a:p>
            <a:pPr algn="l"/>
            <a:r>
              <a:rPr sz="1500" b="1">
                <a:solidFill>
                  <a:srgbClr val="FAF9F5"/>
                </a:solidFill>
                <a:latin typeface="Hiragino Sans"/>
              </a:rPr>
              <a:t>指示と作業を仕組み化する</a:t>
            </a:r>
          </a:p>
        </p:txBody>
      </p:sp>
      <p:sp>
        <p:nvSpPr>
          <p:cNvPr id="8" name="TextBox 7"/>
          <p:cNvSpPr txBox="1"/>
          <p:nvPr/>
        </p:nvSpPr>
        <p:spPr>
          <a:xfrm>
            <a:off x="914400" y="2926080"/>
            <a:ext cx="3063240" cy="1097280"/>
          </a:xfrm>
          <a:prstGeom prst="rect">
            <a:avLst/>
          </a:prstGeom>
          <a:noFill/>
        </p:spPr>
        <p:txBody>
          <a:bodyPr wrap="square">
            <a:spAutoFit/>
          </a:bodyPr>
          <a:lstStyle/>
          <a:p>
            <a:pPr algn="l"/>
            <a:r>
              <a:rPr sz="1400" b="0">
                <a:solidFill>
                  <a:srgbClr val="E0DED8"/>
                </a:solidFill>
                <a:latin typeface="Hiragino Sans"/>
              </a:rPr>
              <a:t>スキル = 手順書（メイン会話内）</a:t>
            </a:r>
          </a:p>
          <a:p>
            <a:pPr algn="l"/>
            <a:r>
              <a:rPr sz="1400" b="0">
                <a:solidFill>
                  <a:srgbClr val="E0DED8"/>
                </a:solidFill>
                <a:latin typeface="Hiragino Sans"/>
              </a:rPr>
              <a:t>サブエージェント = 専門チーム</a:t>
            </a:r>
          </a:p>
          <a:p>
            <a:pPr algn="l"/>
            <a:r>
              <a:rPr sz="1400" b="0">
                <a:solidFill>
                  <a:srgbClr val="E0DED8"/>
                </a:solidFill>
                <a:latin typeface="Hiragino Sans"/>
              </a:rPr>
              <a:t>メンバー（独立コンテキスト）</a:t>
            </a:r>
          </a:p>
        </p:txBody>
      </p:sp>
      <p:sp>
        <p:nvSpPr>
          <p:cNvPr id="9" name="Rounded Rectangle 8"/>
          <p:cNvSpPr/>
          <p:nvPr/>
        </p:nvSpPr>
        <p:spPr>
          <a:xfrm>
            <a:off x="4389120" y="1371600"/>
            <a:ext cx="3429000" cy="27432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0" y="1371600"/>
            <a:ext cx="3429000" cy="54864"/>
          </a:xfrm>
          <a:prstGeom prst="rect">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72000" y="1554480"/>
            <a:ext cx="548640" cy="548640"/>
          </a:xfrm>
          <a:prstGeom prst="ellipse">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2</a:t>
            </a:r>
          </a:p>
        </p:txBody>
      </p:sp>
      <p:sp>
        <p:nvSpPr>
          <p:cNvPr id="12" name="TextBox 11"/>
          <p:cNvSpPr txBox="1"/>
          <p:nvPr/>
        </p:nvSpPr>
        <p:spPr>
          <a:xfrm>
            <a:off x="4572000" y="2194560"/>
            <a:ext cx="3063240" cy="640080"/>
          </a:xfrm>
          <a:prstGeom prst="rect">
            <a:avLst/>
          </a:prstGeom>
          <a:noFill/>
        </p:spPr>
        <p:txBody>
          <a:bodyPr wrap="square">
            <a:spAutoFit/>
          </a:bodyPr>
          <a:lstStyle/>
          <a:p>
            <a:pPr algn="l"/>
            <a:r>
              <a:rPr sz="1500" b="1">
                <a:solidFill>
                  <a:srgbClr val="FAF9F5"/>
                </a:solidFill>
                <a:latin typeface="Hiragino Sans"/>
              </a:rPr>
              <a:t>Hooks &amp; MCPで、</a:t>
            </a:r>
          </a:p>
          <a:p>
            <a:pPr algn="l"/>
            <a:r>
              <a:rPr sz="1500" b="1">
                <a:solidFill>
                  <a:srgbClr val="FAF9F5"/>
                </a:solidFill>
                <a:latin typeface="Hiragino Sans"/>
              </a:rPr>
              <a:t>品質と連携を自動化する</a:t>
            </a:r>
          </a:p>
        </p:txBody>
      </p:sp>
      <p:sp>
        <p:nvSpPr>
          <p:cNvPr id="13" name="TextBox 12"/>
          <p:cNvSpPr txBox="1"/>
          <p:nvPr/>
        </p:nvSpPr>
        <p:spPr>
          <a:xfrm>
            <a:off x="4572000" y="2926080"/>
            <a:ext cx="3063240" cy="1097280"/>
          </a:xfrm>
          <a:prstGeom prst="rect">
            <a:avLst/>
          </a:prstGeom>
          <a:noFill/>
        </p:spPr>
        <p:txBody>
          <a:bodyPr wrap="square">
            <a:spAutoFit/>
          </a:bodyPr>
          <a:lstStyle/>
          <a:p>
            <a:pPr algn="l"/>
            <a:r>
              <a:rPr sz="1400" b="0">
                <a:solidFill>
                  <a:srgbClr val="E0DED8"/>
                </a:solidFill>
                <a:latin typeface="Hiragino Sans"/>
              </a:rPr>
              <a:t>品質チェックの自動実行、</a:t>
            </a:r>
          </a:p>
          <a:p>
            <a:pPr algn="l"/>
            <a:r>
              <a:rPr sz="1400" b="0">
                <a:solidFill>
                  <a:srgbClr val="E0DED8"/>
                </a:solidFill>
                <a:latin typeface="Hiragino Sans"/>
              </a:rPr>
              <a:t>外部サービスとの連携。</a:t>
            </a:r>
          </a:p>
          <a:p>
            <a:pPr algn="l"/>
            <a:r>
              <a:rPr sz="1400" b="0">
                <a:solidFill>
                  <a:srgbClr val="E0DED8"/>
                </a:solidFill>
                <a:latin typeface="Hiragino Sans"/>
              </a:rPr>
              <a:t>CLIで足りるならCLI</a:t>
            </a:r>
          </a:p>
        </p:txBody>
      </p:sp>
      <p:sp>
        <p:nvSpPr>
          <p:cNvPr id="14" name="Rounded Rectangle 13"/>
          <p:cNvSpPr/>
          <p:nvPr/>
        </p:nvSpPr>
        <p:spPr>
          <a:xfrm>
            <a:off x="8046720" y="1371600"/>
            <a:ext cx="3429000" cy="27432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1371600"/>
            <a:ext cx="3429000" cy="54864"/>
          </a:xfrm>
          <a:prstGeom prst="rect">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229600" y="1554480"/>
            <a:ext cx="548640" cy="548640"/>
          </a:xfrm>
          <a:prstGeom prst="ellipse">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3</a:t>
            </a:r>
          </a:p>
        </p:txBody>
      </p:sp>
      <p:sp>
        <p:nvSpPr>
          <p:cNvPr id="17" name="TextBox 16"/>
          <p:cNvSpPr txBox="1"/>
          <p:nvPr/>
        </p:nvSpPr>
        <p:spPr>
          <a:xfrm>
            <a:off x="8229600" y="2194560"/>
            <a:ext cx="3063240" cy="640080"/>
          </a:xfrm>
          <a:prstGeom prst="rect">
            <a:avLst/>
          </a:prstGeom>
          <a:noFill/>
        </p:spPr>
        <p:txBody>
          <a:bodyPr wrap="square">
            <a:spAutoFit/>
          </a:bodyPr>
          <a:lstStyle/>
          <a:p>
            <a:pPr algn="l"/>
            <a:r>
              <a:rPr sz="1500" b="1">
                <a:solidFill>
                  <a:srgbClr val="FAF9F5"/>
                </a:solidFill>
                <a:latin typeface="Hiragino Sans"/>
              </a:rPr>
              <a:t>worktreeで、すべてを</a:t>
            </a:r>
          </a:p>
          <a:p>
            <a:pPr algn="l"/>
            <a:r>
              <a:rPr sz="1500" b="1">
                <a:solidFill>
                  <a:srgbClr val="FAF9F5"/>
                </a:solidFill>
                <a:latin typeface="Hiragino Sans"/>
              </a:rPr>
              <a:t>束ねて並列開発する</a:t>
            </a:r>
          </a:p>
        </p:txBody>
      </p:sp>
      <p:sp>
        <p:nvSpPr>
          <p:cNvPr id="18" name="TextBox 17"/>
          <p:cNvSpPr txBox="1"/>
          <p:nvPr/>
        </p:nvSpPr>
        <p:spPr>
          <a:xfrm>
            <a:off x="8229600" y="2926080"/>
            <a:ext cx="3063240" cy="1097280"/>
          </a:xfrm>
          <a:prstGeom prst="rect">
            <a:avLst/>
          </a:prstGeom>
          <a:noFill/>
        </p:spPr>
        <p:txBody>
          <a:bodyPr wrap="square">
            <a:spAutoFit/>
          </a:bodyPr>
          <a:lstStyle/>
          <a:p>
            <a:pPr algn="l"/>
            <a:r>
              <a:rPr sz="1400" b="0">
                <a:solidFill>
                  <a:srgbClr val="E0DED8"/>
                </a:solidFill>
                <a:latin typeface="Hiragino Sans"/>
              </a:rPr>
              <a:t>設定はすべてのworktreeに</a:t>
            </a:r>
          </a:p>
          <a:p>
            <a:pPr algn="l"/>
            <a:r>
              <a:rPr sz="1400" b="0">
                <a:solidFill>
                  <a:srgbClr val="E0DED8"/>
                </a:solidFill>
                <a:latin typeface="Hiragino Sans"/>
              </a:rPr>
              <a:t>引き継がれる。Issue番号を</a:t>
            </a:r>
          </a:p>
          <a:p>
            <a:pPr algn="l"/>
            <a:r>
              <a:rPr sz="1400" b="0">
                <a:solidFill>
                  <a:srgbClr val="E0DED8"/>
                </a:solidFill>
                <a:latin typeface="Hiragino Sans"/>
              </a:rPr>
              <a:t>渡すだけで作業環境が整う</a:t>
            </a:r>
          </a:p>
        </p:txBody>
      </p:sp>
      <p:cxnSp>
        <p:nvCxnSpPr>
          <p:cNvPr id="19" name="Connector 18"/>
          <p:cNvCxnSpPr/>
          <p:nvPr/>
        </p:nvCxnSpPr>
        <p:spPr>
          <a:xfrm>
            <a:off x="731520" y="430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731520" y="4450000"/>
            <a:ext cx="1400000" cy="30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495720"/>
            <a:ext cx="1217120" cy="274320"/>
          </a:xfrm>
          <a:prstGeom prst="rect">
            <a:avLst/>
          </a:prstGeom>
          <a:noFill/>
        </p:spPr>
        <p:txBody>
          <a:bodyPr wrap="square">
            <a:spAutoFit/>
          </a:bodyPr>
          <a:lstStyle/>
          <a:p>
            <a:pPr algn="l"/>
            <a:r>
              <a:rPr sz="1200" b="1">
                <a:solidFill>
                  <a:srgbClr val="D97757"/>
                </a:solidFill>
                <a:latin typeface="Hiragino Sans"/>
              </a:rPr>
              <a:t>回</a:t>
            </a:r>
          </a:p>
        </p:txBody>
      </p:sp>
      <p:sp>
        <p:nvSpPr>
          <p:cNvPr id="22" name="Rectangle 21"/>
          <p:cNvSpPr/>
          <p:nvPr/>
        </p:nvSpPr>
        <p:spPr>
          <a:xfrm>
            <a:off x="2131520" y="4450000"/>
            <a:ext cx="2600000" cy="30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22960" y="4495720"/>
            <a:ext cx="2417120" cy="274320"/>
          </a:xfrm>
          <a:prstGeom prst="rect">
            <a:avLst/>
          </a:prstGeom>
          <a:noFill/>
        </p:spPr>
        <p:txBody>
          <a:bodyPr wrap="square">
            <a:spAutoFit/>
          </a:bodyPr>
          <a:lstStyle/>
          <a:p>
            <a:pPr algn="l"/>
            <a:r>
              <a:rPr sz="1200" b="1">
                <a:solidFill>
                  <a:srgbClr val="D97757"/>
                </a:solidFill>
                <a:latin typeface="Hiragino Sans"/>
              </a:rPr>
              <a:t>テーマ</a:t>
            </a:r>
          </a:p>
        </p:txBody>
      </p:sp>
      <p:sp>
        <p:nvSpPr>
          <p:cNvPr id="24" name="Rectangle 23"/>
          <p:cNvSpPr/>
          <p:nvPr/>
        </p:nvSpPr>
        <p:spPr>
          <a:xfrm>
            <a:off x="4731520" y="4450000"/>
            <a:ext cx="6728960" cy="30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2960" y="4495720"/>
            <a:ext cx="6546080" cy="274320"/>
          </a:xfrm>
          <a:prstGeom prst="rect">
            <a:avLst/>
          </a:prstGeom>
          <a:noFill/>
        </p:spPr>
        <p:txBody>
          <a:bodyPr wrap="square">
            <a:spAutoFit/>
          </a:bodyPr>
          <a:lstStyle/>
          <a:p>
            <a:pPr algn="l"/>
            <a:r>
              <a:rPr sz="1200" b="1">
                <a:solidFill>
                  <a:srgbClr val="D97757"/>
                </a:solidFill>
                <a:latin typeface="Hiragino Sans"/>
              </a:rPr>
              <a:t>学んだこと</a:t>
            </a:r>
          </a:p>
        </p:txBody>
      </p:sp>
      <p:sp>
        <p:nvSpPr>
          <p:cNvPr id="26" name="Rectangle 25"/>
          <p:cNvSpPr/>
          <p:nvPr/>
        </p:nvSpPr>
        <p:spPr>
          <a:xfrm>
            <a:off x="731520" y="4750000"/>
            <a:ext cx="140000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795720"/>
            <a:ext cx="1217120" cy="274320"/>
          </a:xfrm>
          <a:prstGeom prst="rect">
            <a:avLst/>
          </a:prstGeom>
          <a:noFill/>
        </p:spPr>
        <p:txBody>
          <a:bodyPr wrap="square">
            <a:spAutoFit/>
          </a:bodyPr>
          <a:lstStyle/>
          <a:p>
            <a:pPr algn="l"/>
            <a:r>
              <a:rPr sz="1200" b="1">
                <a:solidFill>
                  <a:srgbClr val="FAF9F5"/>
                </a:solidFill>
                <a:latin typeface="Hiragino Sans"/>
              </a:rPr>
              <a:t>第1回</a:t>
            </a:r>
          </a:p>
        </p:txBody>
      </p:sp>
      <p:sp>
        <p:nvSpPr>
          <p:cNvPr id="28" name="Rectangle 27"/>
          <p:cNvSpPr/>
          <p:nvPr/>
        </p:nvSpPr>
        <p:spPr>
          <a:xfrm>
            <a:off x="2131520" y="4750000"/>
            <a:ext cx="260000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22960" y="4795720"/>
            <a:ext cx="2417120" cy="274320"/>
          </a:xfrm>
          <a:prstGeom prst="rect">
            <a:avLst/>
          </a:prstGeom>
          <a:noFill/>
        </p:spPr>
        <p:txBody>
          <a:bodyPr wrap="square">
            <a:spAutoFit/>
          </a:bodyPr>
          <a:lstStyle/>
          <a:p>
            <a:pPr algn="l"/>
            <a:r>
              <a:rPr sz="1200" b="1">
                <a:solidFill>
                  <a:srgbClr val="FAF9F5"/>
                </a:solidFill>
                <a:latin typeface="Hiragino Sans"/>
              </a:rPr>
              <a:t>理解する</a:t>
            </a:r>
          </a:p>
        </p:txBody>
      </p:sp>
      <p:sp>
        <p:nvSpPr>
          <p:cNvPr id="30" name="Rectangle 29"/>
          <p:cNvSpPr/>
          <p:nvPr/>
        </p:nvSpPr>
        <p:spPr>
          <a:xfrm>
            <a:off x="4731520" y="4750000"/>
            <a:ext cx="672896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22960" y="4795720"/>
            <a:ext cx="6546080" cy="274320"/>
          </a:xfrm>
          <a:prstGeom prst="rect">
            <a:avLst/>
          </a:prstGeom>
          <a:noFill/>
        </p:spPr>
        <p:txBody>
          <a:bodyPr wrap="square">
            <a:spAutoFit/>
          </a:bodyPr>
          <a:lstStyle/>
          <a:p>
            <a:pPr algn="l"/>
            <a:r>
              <a:rPr sz="1200" b="0">
                <a:solidFill>
                  <a:srgbClr val="E0DED8"/>
                </a:solidFill>
                <a:latin typeface="Hiragino Sans"/>
              </a:rPr>
              <a:t>基本操作 / コミュニケーション / Plan Mode</a:t>
            </a:r>
          </a:p>
        </p:txBody>
      </p:sp>
      <p:sp>
        <p:nvSpPr>
          <p:cNvPr id="32" name="Rectangle 31"/>
          <p:cNvSpPr/>
          <p:nvPr/>
        </p:nvSpPr>
        <p:spPr>
          <a:xfrm>
            <a:off x="731520" y="5040000"/>
            <a:ext cx="140000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085720"/>
            <a:ext cx="1217120" cy="274320"/>
          </a:xfrm>
          <a:prstGeom prst="rect">
            <a:avLst/>
          </a:prstGeom>
          <a:noFill/>
        </p:spPr>
        <p:txBody>
          <a:bodyPr wrap="square">
            <a:spAutoFit/>
          </a:bodyPr>
          <a:lstStyle/>
          <a:p>
            <a:pPr algn="l"/>
            <a:r>
              <a:rPr sz="1200" b="1">
                <a:solidFill>
                  <a:srgbClr val="FAF9F5"/>
                </a:solidFill>
                <a:latin typeface="Hiragino Sans"/>
              </a:rPr>
              <a:t>第2回</a:t>
            </a:r>
          </a:p>
        </p:txBody>
      </p:sp>
      <p:sp>
        <p:nvSpPr>
          <p:cNvPr id="34" name="Rectangle 33"/>
          <p:cNvSpPr/>
          <p:nvPr/>
        </p:nvSpPr>
        <p:spPr>
          <a:xfrm>
            <a:off x="2131520" y="5040000"/>
            <a:ext cx="260000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222960" y="5085720"/>
            <a:ext cx="2417120" cy="274320"/>
          </a:xfrm>
          <a:prstGeom prst="rect">
            <a:avLst/>
          </a:prstGeom>
          <a:noFill/>
        </p:spPr>
        <p:txBody>
          <a:bodyPr wrap="square">
            <a:spAutoFit/>
          </a:bodyPr>
          <a:lstStyle/>
          <a:p>
            <a:pPr algn="l"/>
            <a:r>
              <a:rPr sz="1200" b="1">
                <a:solidFill>
                  <a:srgbClr val="FAF9F5"/>
                </a:solidFill>
                <a:latin typeface="Hiragino Sans"/>
              </a:rPr>
              <a:t>定着させる</a:t>
            </a:r>
          </a:p>
        </p:txBody>
      </p:sp>
      <p:sp>
        <p:nvSpPr>
          <p:cNvPr id="36" name="Rectangle 35"/>
          <p:cNvSpPr/>
          <p:nvPr/>
        </p:nvSpPr>
        <p:spPr>
          <a:xfrm>
            <a:off x="4731520" y="5040000"/>
            <a:ext cx="672896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22960" y="5085720"/>
            <a:ext cx="6546080" cy="274320"/>
          </a:xfrm>
          <a:prstGeom prst="rect">
            <a:avLst/>
          </a:prstGeom>
          <a:noFill/>
        </p:spPr>
        <p:txBody>
          <a:bodyPr wrap="square">
            <a:spAutoFit/>
          </a:bodyPr>
          <a:lstStyle/>
          <a:p>
            <a:pPr algn="l"/>
            <a:r>
              <a:rPr sz="1200" b="0">
                <a:solidFill>
                  <a:srgbClr val="E0DED8"/>
                </a:solidFill>
                <a:latin typeface="Hiragino Sans"/>
              </a:rPr>
              <a:t>CLAUDE.md / settings.json</a:t>
            </a:r>
          </a:p>
        </p:txBody>
      </p:sp>
      <p:sp>
        <p:nvSpPr>
          <p:cNvPr id="38" name="Rectangle 37"/>
          <p:cNvSpPr/>
          <p:nvPr/>
        </p:nvSpPr>
        <p:spPr>
          <a:xfrm>
            <a:off x="731520" y="5330000"/>
            <a:ext cx="140000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60" y="5375720"/>
            <a:ext cx="1217120" cy="274320"/>
          </a:xfrm>
          <a:prstGeom prst="rect">
            <a:avLst/>
          </a:prstGeom>
          <a:noFill/>
        </p:spPr>
        <p:txBody>
          <a:bodyPr wrap="square">
            <a:spAutoFit/>
          </a:bodyPr>
          <a:lstStyle/>
          <a:p>
            <a:pPr algn="l"/>
            <a:r>
              <a:rPr sz="1200" b="1">
                <a:solidFill>
                  <a:srgbClr val="FAF9F5"/>
                </a:solidFill>
                <a:latin typeface="Hiragino Sans"/>
              </a:rPr>
              <a:t>第3回</a:t>
            </a:r>
          </a:p>
        </p:txBody>
      </p:sp>
      <p:sp>
        <p:nvSpPr>
          <p:cNvPr id="40" name="Rectangle 39"/>
          <p:cNvSpPr/>
          <p:nvPr/>
        </p:nvSpPr>
        <p:spPr>
          <a:xfrm>
            <a:off x="2131520" y="5330000"/>
            <a:ext cx="260000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222960" y="5375720"/>
            <a:ext cx="2417120" cy="274320"/>
          </a:xfrm>
          <a:prstGeom prst="rect">
            <a:avLst/>
          </a:prstGeom>
          <a:noFill/>
        </p:spPr>
        <p:txBody>
          <a:bodyPr wrap="square">
            <a:spAutoFit/>
          </a:bodyPr>
          <a:lstStyle/>
          <a:p>
            <a:pPr algn="l"/>
            <a:r>
              <a:rPr sz="1200" b="1">
                <a:solidFill>
                  <a:srgbClr val="FAF9F5"/>
                </a:solidFill>
                <a:latin typeface="Hiragino Sans"/>
              </a:rPr>
              <a:t>大規模開発に挑む</a:t>
            </a:r>
          </a:p>
        </p:txBody>
      </p:sp>
      <p:sp>
        <p:nvSpPr>
          <p:cNvPr id="42" name="Rectangle 41"/>
          <p:cNvSpPr/>
          <p:nvPr/>
        </p:nvSpPr>
        <p:spPr>
          <a:xfrm>
            <a:off x="4731520" y="5330000"/>
            <a:ext cx="672896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822960" y="5375720"/>
            <a:ext cx="6546080" cy="274320"/>
          </a:xfrm>
          <a:prstGeom prst="rect">
            <a:avLst/>
          </a:prstGeom>
          <a:noFill/>
        </p:spPr>
        <p:txBody>
          <a:bodyPr wrap="square">
            <a:spAutoFit/>
          </a:bodyPr>
          <a:lstStyle/>
          <a:p>
            <a:pPr algn="l"/>
            <a:r>
              <a:rPr sz="1200" b="0">
                <a:solidFill>
                  <a:srgbClr val="E0DED8"/>
                </a:solidFill>
                <a:latin typeface="Hiragino Sans"/>
              </a:rPr>
              <a:t>Skills / サブエージェント / Hooks / MCP / worktree</a:t>
            </a:r>
          </a:p>
        </p:txBody>
      </p:sp>
      <p:sp>
        <p:nvSpPr>
          <p:cNvPr id="44" name="TextBox 43"/>
          <p:cNvSpPr txBox="1"/>
          <p:nvPr/>
        </p:nvSpPr>
        <p:spPr>
          <a:xfrm>
            <a:off x="731520" y="5700000"/>
            <a:ext cx="10728960" cy="457200"/>
          </a:xfrm>
          <a:prstGeom prst="rect">
            <a:avLst/>
          </a:prstGeom>
          <a:noFill/>
        </p:spPr>
        <p:txBody>
          <a:bodyPr wrap="square">
            <a:spAutoFit/>
          </a:bodyPr>
          <a:lstStyle/>
          <a:p>
            <a:pPr algn="l"/>
            <a:r>
              <a:rPr sz="1600" b="0">
                <a:solidFill>
                  <a:srgbClr val="B0AEA5"/>
                </a:solidFill>
                <a:latin typeface="Hiragino Sans"/>
              </a:rPr>
              <a:t>まず使ってみて、プロジェクトに合わせて育てていってください</a:t>
            </a:r>
          </a:p>
        </p:txBody>
      </p:sp>
      <p:sp>
        <p:nvSpPr>
          <p:cNvPr id="45" name="TextBox 44"/>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