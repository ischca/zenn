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75" r:id="rId26"/>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Donut 1"/>
          <p:cNvSpPr/>
          <p:nvPr/>
        </p:nvSpPr>
        <p:spPr>
          <a:xfrm>
            <a:off x="8382000" y="-1143000"/>
            <a:ext cx="5486400" cy="5486400"/>
          </a:xfrm>
          <a:prstGeom prst="donut">
            <a:avLst/>
          </a:prstGeom>
          <a:noFill/>
          <a:ln w="25400">
            <a:solidFill>
              <a:srgbClr val="3A3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2743200"/>
            <a:ext cx="2286000" cy="22860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620000" y="1600200"/>
            <a:ext cx="3200400" cy="32004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 y="5486400"/>
            <a:ext cx="914400" cy="914400"/>
          </a:xfrm>
          <a:prstGeom prst="ellipse">
            <a:avLst/>
          </a:prstGeom>
          <a:noFill/>
          <a:ln w="25400">
            <a:solidFill>
              <a:srgbClr val="3A36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54864" cy="32004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1097280"/>
            <a:ext cx="91440" cy="914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0" y="5486400"/>
            <a:ext cx="1828800" cy="9144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371600"/>
            <a:ext cx="6400800" cy="1554480"/>
          </a:xfrm>
          <a:prstGeom prst="rect">
            <a:avLst/>
          </a:prstGeom>
          <a:noFill/>
        </p:spPr>
        <p:txBody>
          <a:bodyPr wrap="square">
            <a:spAutoFit/>
          </a:bodyPr>
          <a:lstStyle/>
          <a:p>
            <a:pPr algn="l"/>
            <a:r>
              <a:rPr sz="5200" b="1">
                <a:solidFill>
                  <a:srgbClr val="FAF9F5"/>
                </a:solidFill>
                <a:latin typeface="Hiragino Sans"/>
              </a:rPr>
              <a:t>Claude Code</a:t>
            </a:r>
          </a:p>
          <a:p>
            <a:pPr algn="l"/>
            <a:r>
              <a:rPr sz="5200" b="1">
                <a:solidFill>
                  <a:srgbClr val="FAF9F5"/>
                </a:solidFill>
                <a:latin typeface="Hiragino Sans"/>
              </a:rPr>
              <a:t>大規模開発に挑む</a:t>
            </a:r>
          </a:p>
        </p:txBody>
      </p:sp>
      <p:sp>
        <p:nvSpPr>
          <p:cNvPr id="12" name="TextBox 11"/>
          <p:cNvSpPr txBox="1"/>
          <p:nvPr/>
        </p:nvSpPr>
        <p:spPr>
          <a:xfrm>
            <a:off x="1097280" y="3109920"/>
            <a:ext cx="6400800" cy="548640"/>
          </a:xfrm>
          <a:prstGeom prst="rect">
            <a:avLst/>
          </a:prstGeom>
          <a:noFill/>
        </p:spPr>
        <p:txBody>
          <a:bodyPr wrap="square">
            <a:spAutoFit/>
          </a:bodyPr>
          <a:lstStyle/>
          <a:p>
            <a:pPr algn="l"/>
            <a:r>
              <a:rPr sz="2400" b="0">
                <a:solidFill>
                  <a:srgbClr val="D97757"/>
                </a:solidFill>
                <a:latin typeface="Hiragino Sans"/>
              </a:rPr>
              <a:t>〜 MCP / worktree / サブエージェント 〜</a:t>
            </a:r>
          </a:p>
        </p:txBody>
      </p:sp>
      <p:cxnSp>
        <p:nvCxnSpPr>
          <p:cNvPr id="13" name="Connector 12"/>
          <p:cNvCxnSpPr/>
          <p:nvPr/>
        </p:nvCxnSpPr>
        <p:spPr>
          <a:xfrm>
            <a:off x="1097280" y="3840480"/>
            <a:ext cx="27432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97280" y="4023360"/>
            <a:ext cx="6400800" cy="457200"/>
          </a:xfrm>
          <a:prstGeom prst="rect">
            <a:avLst/>
          </a:prstGeom>
          <a:noFill/>
        </p:spPr>
        <p:txBody>
          <a:bodyPr wrap="square">
            <a:spAutoFit/>
          </a:bodyPr>
          <a:lstStyle/>
          <a:p>
            <a:pPr algn="l"/>
            <a:r>
              <a:rPr sz="1600" b="0">
                <a:solidFill>
                  <a:srgbClr val="B0AEA5"/>
                </a:solidFill>
                <a:latin typeface="Helvetica Neue"/>
              </a:rPr>
              <a:t>社内勉強会  |  第3回 / 全3回  |  20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6600" y="457200"/>
            <a:ext cx="7620000" cy="635000"/>
          </a:xfrm>
          <a:prstGeom prst="rect">
            <a:avLst/>
          </a:prstGeom>
          <a:noFill/>
        </p:spPr>
        <p:txBody>
          <a:bodyPr wrap="square">
            <a:spAutoFit/>
          </a:bodyPr>
          <a:lstStyle/>
          <a:p>
            <a:pPr algn="l"/>
            <a:r>
              <a:rPr sz="3200" b="1">
                <a:solidFill>
                  <a:srgbClr val="FAF9F5"/>
                </a:solidFill>
                <a:latin typeface="Hiragino Sans"/>
              </a:rPr>
              <a:t>全3回のロードマップ</a:t>
            </a:r>
          </a:p>
        </p:txBody>
      </p:sp>
      <p:sp>
        <p:nvSpPr>
          <p:cNvPr id="3" name="Rounded Rectangle 2"/>
          <p:cNvSpPr/>
          <p:nvPr/>
        </p:nvSpPr>
        <p:spPr>
          <a:xfrm>
            <a:off x="736600" y="1270000"/>
            <a:ext cx="3429000" cy="3937000"/>
          </a:xfrm>
          <a:prstGeom prst="roundRect">
            <a:avLst>
              <a:gd name="adj" fmla="val 4000"/>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6600" y="1270000"/>
            <a:ext cx="3429000" cy="63500"/>
          </a:xfrm>
          <a:prstGeom prst="rect">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5200" y="1574800"/>
            <a:ext cx="609600" cy="6096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1</a:t>
            </a:r>
          </a:p>
        </p:txBody>
      </p:sp>
      <p:sp>
        <p:nvSpPr>
          <p:cNvPr id="6" name="TextBox 5"/>
          <p:cNvSpPr txBox="1"/>
          <p:nvPr/>
        </p:nvSpPr>
        <p:spPr>
          <a:xfrm>
            <a:off x="1701800" y="1625600"/>
            <a:ext cx="2286000" cy="508000"/>
          </a:xfrm>
          <a:prstGeom prst="rect">
            <a:avLst/>
          </a:prstGeom>
          <a:noFill/>
        </p:spPr>
        <p:txBody>
          <a:bodyPr wrap="square">
            <a:spAutoFit/>
          </a:bodyPr>
          <a:lstStyle/>
          <a:p>
            <a:pPr algn="l"/>
            <a:r>
              <a:rPr sz="1600" b="1">
                <a:solidFill>
                  <a:srgbClr val="B0AEA5"/>
                </a:solidFill>
                <a:latin typeface="Hiragino Sans"/>
              </a:rPr>
              <a:t>第1回（済）</a:t>
            </a:r>
          </a:p>
        </p:txBody>
      </p:sp>
      <p:sp>
        <p:nvSpPr>
          <p:cNvPr id="7" name="TextBox 6"/>
          <p:cNvSpPr txBox="1"/>
          <p:nvPr/>
        </p:nvSpPr>
        <p:spPr>
          <a:xfrm>
            <a:off x="965200" y="2413000"/>
            <a:ext cx="2984500" cy="1143000"/>
          </a:xfrm>
          <a:prstGeom prst="rect">
            <a:avLst/>
          </a:prstGeom>
          <a:noFill/>
        </p:spPr>
        <p:txBody>
          <a:bodyPr wrap="square">
            <a:spAutoFit/>
          </a:bodyPr>
          <a:lstStyle/>
          <a:p>
            <a:pPr algn="l"/>
            <a:r>
              <a:rPr sz="2200" b="1">
                <a:solidFill>
                  <a:srgbClr val="FAF9F5"/>
                </a:solidFill>
                <a:latin typeface="Hiragino Sans"/>
              </a:rPr>
              <a:t>理解する</a:t>
            </a:r>
          </a:p>
        </p:txBody>
      </p:sp>
      <p:cxnSp>
        <p:nvCxnSpPr>
          <p:cNvPr id="8" name="Connector 7"/>
          <p:cNvCxnSpPr/>
          <p:nvPr/>
        </p:nvCxnSpPr>
        <p:spPr>
          <a:xfrm>
            <a:off x="9652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5200" y="3924300"/>
            <a:ext cx="2984500" cy="1016000"/>
          </a:xfrm>
          <a:prstGeom prst="rect">
            <a:avLst/>
          </a:prstGeom>
          <a:noFill/>
        </p:spPr>
        <p:txBody>
          <a:bodyPr wrap="square">
            <a:spAutoFit/>
          </a:bodyPr>
          <a:lstStyle/>
          <a:p>
            <a:pPr algn="l"/>
            <a:r>
              <a:rPr sz="1500" b="0">
                <a:solidFill>
                  <a:srgbClr val="C5C3BB"/>
                </a:solidFill>
                <a:latin typeface="Hiragino Sans"/>
              </a:rPr>
              <a:t>基本 / コミュニケーション / Plan Mode</a:t>
            </a:r>
          </a:p>
        </p:txBody>
      </p:sp>
      <p:sp>
        <p:nvSpPr>
          <p:cNvPr id="10" name="Rounded Rectangle 9"/>
          <p:cNvSpPr/>
          <p:nvPr/>
        </p:nvSpPr>
        <p:spPr>
          <a:xfrm>
            <a:off x="4394200" y="1270000"/>
            <a:ext cx="3429000" cy="3937000"/>
          </a:xfrm>
          <a:prstGeom prst="roundRect">
            <a:avLst>
              <a:gd name="adj" fmla="val 4000"/>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4200" y="1270000"/>
            <a:ext cx="3429000" cy="63500"/>
          </a:xfrm>
          <a:prstGeom prst="rect">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22800" y="1574800"/>
            <a:ext cx="609600" cy="6096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2</a:t>
            </a:r>
          </a:p>
        </p:txBody>
      </p:sp>
      <p:sp>
        <p:nvSpPr>
          <p:cNvPr id="13" name="TextBox 12"/>
          <p:cNvSpPr txBox="1"/>
          <p:nvPr/>
        </p:nvSpPr>
        <p:spPr>
          <a:xfrm>
            <a:off x="5359400" y="1625600"/>
            <a:ext cx="2286000" cy="508000"/>
          </a:xfrm>
          <a:prstGeom prst="rect">
            <a:avLst/>
          </a:prstGeom>
          <a:noFill/>
        </p:spPr>
        <p:txBody>
          <a:bodyPr wrap="square">
            <a:spAutoFit/>
          </a:bodyPr>
          <a:lstStyle/>
          <a:p>
            <a:pPr algn="l"/>
            <a:r>
              <a:rPr sz="1600" b="1">
                <a:solidFill>
                  <a:srgbClr val="B0AEA5"/>
                </a:solidFill>
                <a:latin typeface="Hiragino Sans"/>
              </a:rPr>
              <a:t>第2回（済）</a:t>
            </a:r>
          </a:p>
        </p:txBody>
      </p:sp>
      <p:sp>
        <p:nvSpPr>
          <p:cNvPr id="14" name="TextBox 13"/>
          <p:cNvSpPr txBox="1"/>
          <p:nvPr/>
        </p:nvSpPr>
        <p:spPr>
          <a:xfrm>
            <a:off x="4622800" y="2413000"/>
            <a:ext cx="2984500" cy="1143000"/>
          </a:xfrm>
          <a:prstGeom prst="rect">
            <a:avLst/>
          </a:prstGeom>
          <a:noFill/>
        </p:spPr>
        <p:txBody>
          <a:bodyPr wrap="square">
            <a:spAutoFit/>
          </a:bodyPr>
          <a:lstStyle/>
          <a:p>
            <a:pPr algn="l"/>
            <a:r>
              <a:rPr sz="2200" b="1">
                <a:solidFill>
                  <a:srgbClr val="FAF9F5"/>
                </a:solidFill>
                <a:latin typeface="Hiragino Sans"/>
              </a:rPr>
              <a:t>プロジェクトに</a:t>
            </a:r>
          </a:p>
          <a:p>
            <a:pPr algn="l"/>
            <a:r>
              <a:rPr sz="2200" b="1">
                <a:solidFill>
                  <a:srgbClr val="FAF9F5"/>
                </a:solidFill>
                <a:latin typeface="Hiragino Sans"/>
              </a:rPr>
              <a:t>定着させる</a:t>
            </a:r>
          </a:p>
        </p:txBody>
      </p:sp>
      <p:cxnSp>
        <p:nvCxnSpPr>
          <p:cNvPr id="15" name="Connector 14"/>
          <p:cNvCxnSpPr/>
          <p:nvPr/>
        </p:nvCxnSpPr>
        <p:spPr>
          <a:xfrm>
            <a:off x="46228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22800" y="3924300"/>
            <a:ext cx="2984500" cy="1016000"/>
          </a:xfrm>
          <a:prstGeom prst="rect">
            <a:avLst/>
          </a:prstGeom>
          <a:noFill/>
        </p:spPr>
        <p:txBody>
          <a:bodyPr wrap="square">
            <a:spAutoFit/>
          </a:bodyPr>
          <a:lstStyle/>
          <a:p>
            <a:pPr algn="l"/>
            <a:r>
              <a:rPr sz="1500" b="0">
                <a:solidFill>
                  <a:srgbClr val="C5C3BB"/>
                </a:solidFill>
                <a:latin typeface="Hiragino Sans"/>
              </a:rPr>
              <a:t>コンテキスト・CLAUDE.md・</a:t>
            </a:r>
          </a:p>
          <a:p>
            <a:pPr algn="l"/>
            <a:r>
              <a:rPr sz="1500" b="0">
                <a:solidFill>
                  <a:srgbClr val="C5C3BB"/>
                </a:solidFill>
                <a:latin typeface="Hiragino Sans"/>
              </a:rPr>
              <a:t>Skills・Hooks</a:t>
            </a:r>
          </a:p>
        </p:txBody>
      </p:sp>
      <p:sp>
        <p:nvSpPr>
          <p:cNvPr id="17" name="Rounded Rectangle 16"/>
          <p:cNvSpPr/>
          <p:nvPr/>
        </p:nvSpPr>
        <p:spPr>
          <a:xfrm>
            <a:off x="8051800" y="1270000"/>
            <a:ext cx="3429000" cy="3937000"/>
          </a:xfrm>
          <a:prstGeom prst="roundRect">
            <a:avLst>
              <a:gd name="adj" fmla="val 4000"/>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1800" y="1270000"/>
            <a:ext cx="3429000" cy="635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80400" y="1574800"/>
            <a:ext cx="609600" cy="6096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3</a:t>
            </a:r>
          </a:p>
        </p:txBody>
      </p:sp>
      <p:sp>
        <p:nvSpPr>
          <p:cNvPr id="20" name="TextBox 19"/>
          <p:cNvSpPr txBox="1"/>
          <p:nvPr/>
        </p:nvSpPr>
        <p:spPr>
          <a:xfrm>
            <a:off x="9017000" y="1625600"/>
            <a:ext cx="2286000" cy="508000"/>
          </a:xfrm>
          <a:prstGeom prst="rect">
            <a:avLst/>
          </a:prstGeom>
          <a:noFill/>
        </p:spPr>
        <p:txBody>
          <a:bodyPr wrap="square">
            <a:spAutoFit/>
          </a:bodyPr>
          <a:lstStyle/>
          <a:p>
            <a:pPr algn="l"/>
            <a:r>
              <a:rPr sz="1600" b="1">
                <a:solidFill>
                  <a:srgbClr val="D97757"/>
                </a:solidFill>
                <a:latin typeface="Hiragino Sans"/>
              </a:rPr>
              <a:t>第3回（今日）</a:t>
            </a:r>
          </a:p>
        </p:txBody>
      </p:sp>
      <p:sp>
        <p:nvSpPr>
          <p:cNvPr id="21" name="TextBox 20"/>
          <p:cNvSpPr txBox="1"/>
          <p:nvPr/>
        </p:nvSpPr>
        <p:spPr>
          <a:xfrm>
            <a:off x="8280400" y="2413000"/>
            <a:ext cx="2984500" cy="1143000"/>
          </a:xfrm>
          <a:prstGeom prst="rect">
            <a:avLst/>
          </a:prstGeom>
          <a:noFill/>
        </p:spPr>
        <p:txBody>
          <a:bodyPr wrap="square">
            <a:spAutoFit/>
          </a:bodyPr>
          <a:lstStyle/>
          <a:p>
            <a:pPr algn="l"/>
            <a:r>
              <a:rPr sz="2200" b="1">
                <a:solidFill>
                  <a:srgbClr val="FAF9F5"/>
                </a:solidFill>
                <a:latin typeface="Hiragino Sans"/>
              </a:rPr>
              <a:t>大規模開発に挑む</a:t>
            </a:r>
          </a:p>
        </p:txBody>
      </p:sp>
      <p:cxnSp>
        <p:nvCxnSpPr>
          <p:cNvPr id="22" name="Connector 21"/>
          <p:cNvCxnSpPr/>
          <p:nvPr/>
        </p:nvCxnSpPr>
        <p:spPr>
          <a:xfrm>
            <a:off x="8280400" y="3746500"/>
            <a:ext cx="29845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280400" y="3924300"/>
            <a:ext cx="2984500" cy="1016000"/>
          </a:xfrm>
          <a:prstGeom prst="rect">
            <a:avLst/>
          </a:prstGeom>
          <a:noFill/>
        </p:spPr>
        <p:txBody>
          <a:bodyPr wrap="square">
            <a:spAutoFit/>
          </a:bodyPr>
          <a:lstStyle/>
          <a:p>
            <a:pPr algn="l"/>
            <a:r>
              <a:rPr sz="1500" b="0">
                <a:solidFill>
                  <a:srgbClr val="C5C3BB"/>
                </a:solidFill>
                <a:latin typeface="Hiragino Sans"/>
              </a:rPr>
              <a:t>MCP / worktree / サブエージェント</a:t>
            </a:r>
          </a:p>
        </p:txBody>
      </p:sp>
      <p:sp>
        <p:nvSpPr>
          <p:cNvPr id="24" name="TextBox 23"/>
          <p:cNvSpPr txBox="1"/>
          <p:nvPr/>
        </p:nvSpPr>
        <p:spPr>
          <a:xfrm>
            <a:off x="736600" y="5500000"/>
            <a:ext cx="10728960" cy="457200"/>
          </a:xfrm>
          <a:prstGeom prst="rect">
            <a:avLst/>
          </a:prstGeom>
          <a:noFill/>
        </p:spPr>
        <p:txBody>
          <a:bodyPr wrap="square">
            <a:spAutoFit/>
          </a:bodyPr>
          <a:lstStyle/>
          <a:p>
            <a:pPr algn="l"/>
            <a:r>
              <a:rPr sz="1600" b="1">
                <a:solidFill>
                  <a:srgbClr val="D97757"/>
                </a:solidFill>
                <a:latin typeface="Hiragino Sans"/>
              </a:rPr>
              <a:t>今日のゴール: 複数タスクの並列処理や外部サービス連携など、大規模な開発に対応できるようになる</a:t>
            </a:r>
          </a:p>
        </p:txBody>
      </p:sp>
      <p:sp>
        <p:nvSpPr>
          <p:cNvPr id="25" name="TextBox 24"/>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1</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MCP</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CLIで足りないとき、つなぐ</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MCP</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MCPとは</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2000" b="1">
                <a:solidFill>
                  <a:srgbClr val="D97757"/>
                </a:solidFill>
                <a:latin typeface="Helvetica Neue"/>
              </a:rPr>
              <a:t>MCP = Model Context Protocol</a:t>
            </a:r>
          </a:p>
        </p:txBody>
      </p:sp>
      <p:sp>
        <p:nvSpPr>
          <p:cNvPr id="5" name="TextBox 4"/>
          <p:cNvSpPr txBox="1"/>
          <p:nvPr/>
        </p:nvSpPr>
        <p:spPr>
          <a:xfrm>
            <a:off x="731520" y="1600000"/>
            <a:ext cx="10000000" cy="365760"/>
          </a:xfrm>
          <a:prstGeom prst="rect">
            <a:avLst/>
          </a:prstGeom>
          <a:noFill/>
        </p:spPr>
        <p:txBody>
          <a:bodyPr wrap="square">
            <a:spAutoFit/>
          </a:bodyPr>
          <a:lstStyle/>
          <a:p>
            <a:pPr algn="l"/>
            <a:r>
              <a:rPr sz="1600" b="0">
                <a:solidFill>
                  <a:srgbClr val="B0AEA5"/>
                </a:solidFill>
                <a:latin typeface="Hiragino Sans"/>
              </a:rPr>
              <a:t>外部サービスとの連携プロトコル。Claude Codeの能力を外に拡張する</a:t>
            </a:r>
          </a:p>
        </p:txBody>
      </p:sp>
      <p:cxnSp>
        <p:nvCxnSpPr>
          <p:cNvPr id="6" name="Connector 5"/>
          <p:cNvCxnSpPr/>
          <p:nvPr/>
        </p:nvCxnSpPr>
        <p:spPr>
          <a:xfrm>
            <a:off x="731520" y="205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31520" y="2200000"/>
            <a:ext cx="22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1520" y="2268580"/>
            <a:ext cx="2000000" cy="274320"/>
          </a:xfrm>
          <a:prstGeom prst="rect">
            <a:avLst/>
          </a:prstGeom>
          <a:noFill/>
        </p:spPr>
        <p:txBody>
          <a:bodyPr wrap="square">
            <a:spAutoFit/>
          </a:bodyPr>
          <a:lstStyle/>
          <a:p>
            <a:pPr algn="ctr"/>
            <a:r>
              <a:rPr sz="1200" b="1">
                <a:solidFill>
                  <a:srgbClr val="FAF9F5"/>
                </a:solidFill>
                <a:latin typeface="Helvetica Neue"/>
              </a:rPr>
              <a:t>Claude Code</a:t>
            </a:r>
          </a:p>
        </p:txBody>
      </p:sp>
      <p:sp>
        <p:nvSpPr>
          <p:cNvPr id="9" name="TextBox 8"/>
          <p:cNvSpPr txBox="1"/>
          <p:nvPr/>
        </p:nvSpPr>
        <p:spPr>
          <a:xfrm>
            <a:off x="3000000" y="2222860"/>
            <a:ext cx="1200000" cy="320000"/>
          </a:xfrm>
          <a:prstGeom prst="rect">
            <a:avLst/>
          </a:prstGeom>
          <a:noFill/>
        </p:spPr>
        <p:txBody>
          <a:bodyPr wrap="square">
            <a:spAutoFit/>
          </a:bodyPr>
          <a:lstStyle/>
          <a:p>
            <a:pPr algn="ctr"/>
            <a:r>
              <a:rPr sz="1100" b="0">
                <a:solidFill>
                  <a:srgbClr val="D97757"/>
                </a:solidFill>
                <a:latin typeface="Helvetica Neue"/>
              </a:rPr>
              <a:t>← MCP →</a:t>
            </a:r>
          </a:p>
        </p:txBody>
      </p:sp>
      <p:sp>
        <p:nvSpPr>
          <p:cNvPr id="10" name="Rounded Rectangle 9"/>
          <p:cNvSpPr/>
          <p:nvPr/>
        </p:nvSpPr>
        <p:spPr>
          <a:xfrm>
            <a:off x="4200000" y="2200000"/>
            <a:ext cx="16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00000" y="2268580"/>
            <a:ext cx="1400000" cy="274320"/>
          </a:xfrm>
          <a:prstGeom prst="rect">
            <a:avLst/>
          </a:prstGeom>
          <a:noFill/>
        </p:spPr>
        <p:txBody>
          <a:bodyPr wrap="square">
            <a:spAutoFit/>
          </a:bodyPr>
          <a:lstStyle/>
          <a:p>
            <a:pPr algn="ctr"/>
            <a:r>
              <a:rPr sz="1200" b="1">
                <a:solidFill>
                  <a:srgbClr val="D97757"/>
                </a:solidFill>
                <a:latin typeface="Helvetica Neue"/>
              </a:rPr>
              <a:t>Figma</a:t>
            </a:r>
          </a:p>
        </p:txBody>
      </p:sp>
      <p:sp>
        <p:nvSpPr>
          <p:cNvPr id="12" name="TextBox 11"/>
          <p:cNvSpPr txBox="1"/>
          <p:nvPr/>
        </p:nvSpPr>
        <p:spPr>
          <a:xfrm>
            <a:off x="6100000" y="2268580"/>
            <a:ext cx="5000000" cy="274320"/>
          </a:xfrm>
          <a:prstGeom prst="rect">
            <a:avLst/>
          </a:prstGeom>
          <a:noFill/>
        </p:spPr>
        <p:txBody>
          <a:bodyPr wrap="square">
            <a:spAutoFit/>
          </a:bodyPr>
          <a:lstStyle/>
          <a:p>
            <a:pPr algn="l"/>
            <a:r>
              <a:rPr sz="1400" b="0">
                <a:solidFill>
                  <a:srgbClr val="E0DED8"/>
                </a:solidFill>
                <a:latin typeface="Hiragino Sans"/>
              </a:rPr>
              <a:t>デザインからコンポーネント生成</a:t>
            </a:r>
          </a:p>
        </p:txBody>
      </p:sp>
      <p:sp>
        <p:nvSpPr>
          <p:cNvPr id="13" name="Rounded Rectangle 12"/>
          <p:cNvSpPr/>
          <p:nvPr/>
        </p:nvSpPr>
        <p:spPr>
          <a:xfrm>
            <a:off x="731520" y="2657200"/>
            <a:ext cx="22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520" y="2725780"/>
            <a:ext cx="2000000" cy="274320"/>
          </a:xfrm>
          <a:prstGeom prst="rect">
            <a:avLst/>
          </a:prstGeom>
          <a:noFill/>
        </p:spPr>
        <p:txBody>
          <a:bodyPr wrap="square">
            <a:spAutoFit/>
          </a:bodyPr>
          <a:lstStyle/>
          <a:p>
            <a:pPr algn="ctr"/>
            <a:r>
              <a:rPr sz="1200" b="1">
                <a:solidFill>
                  <a:srgbClr val="FAF9F5"/>
                </a:solidFill>
                <a:latin typeface="Helvetica Neue"/>
              </a:rPr>
              <a:t>Claude Code</a:t>
            </a:r>
          </a:p>
        </p:txBody>
      </p:sp>
      <p:sp>
        <p:nvSpPr>
          <p:cNvPr id="15" name="TextBox 14"/>
          <p:cNvSpPr txBox="1"/>
          <p:nvPr/>
        </p:nvSpPr>
        <p:spPr>
          <a:xfrm>
            <a:off x="3000000" y="2680060"/>
            <a:ext cx="1200000" cy="320000"/>
          </a:xfrm>
          <a:prstGeom prst="rect">
            <a:avLst/>
          </a:prstGeom>
          <a:noFill/>
        </p:spPr>
        <p:txBody>
          <a:bodyPr wrap="square">
            <a:spAutoFit/>
          </a:bodyPr>
          <a:lstStyle/>
          <a:p>
            <a:pPr algn="ctr"/>
            <a:r>
              <a:rPr sz="1100" b="0">
                <a:solidFill>
                  <a:srgbClr val="6A9BCC"/>
                </a:solidFill>
                <a:latin typeface="Helvetica Neue"/>
              </a:rPr>
              <a:t>← MCP →</a:t>
            </a:r>
          </a:p>
        </p:txBody>
      </p:sp>
      <p:sp>
        <p:nvSpPr>
          <p:cNvPr id="16" name="Rounded Rectangle 15"/>
          <p:cNvSpPr/>
          <p:nvPr/>
        </p:nvSpPr>
        <p:spPr>
          <a:xfrm>
            <a:off x="4200000" y="2657200"/>
            <a:ext cx="16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0000" y="2725780"/>
            <a:ext cx="1400000" cy="274320"/>
          </a:xfrm>
          <a:prstGeom prst="rect">
            <a:avLst/>
          </a:prstGeom>
          <a:noFill/>
        </p:spPr>
        <p:txBody>
          <a:bodyPr wrap="square">
            <a:spAutoFit/>
          </a:bodyPr>
          <a:lstStyle/>
          <a:p>
            <a:pPr algn="ctr"/>
            <a:r>
              <a:rPr sz="1200" b="1">
                <a:solidFill>
                  <a:srgbClr val="6A9BCC"/>
                </a:solidFill>
                <a:latin typeface="Helvetica Neue"/>
              </a:rPr>
              <a:t>Chrome</a:t>
            </a:r>
          </a:p>
        </p:txBody>
      </p:sp>
      <p:sp>
        <p:nvSpPr>
          <p:cNvPr id="18" name="TextBox 17"/>
          <p:cNvSpPr txBox="1"/>
          <p:nvPr/>
        </p:nvSpPr>
        <p:spPr>
          <a:xfrm>
            <a:off x="6100000" y="2725780"/>
            <a:ext cx="5000000" cy="274320"/>
          </a:xfrm>
          <a:prstGeom prst="rect">
            <a:avLst/>
          </a:prstGeom>
          <a:noFill/>
        </p:spPr>
        <p:txBody>
          <a:bodyPr wrap="square">
            <a:spAutoFit/>
          </a:bodyPr>
          <a:lstStyle/>
          <a:p>
            <a:pPr algn="l"/>
            <a:r>
              <a:rPr sz="1400" b="0">
                <a:solidFill>
                  <a:srgbClr val="E0DED8"/>
                </a:solidFill>
                <a:latin typeface="Hiragino Sans"/>
              </a:rPr>
              <a:t>ブラウザ操作・E2Eデバッグ</a:t>
            </a:r>
          </a:p>
        </p:txBody>
      </p:sp>
      <p:sp>
        <p:nvSpPr>
          <p:cNvPr id="19" name="Rounded Rectangle 18"/>
          <p:cNvSpPr/>
          <p:nvPr/>
        </p:nvSpPr>
        <p:spPr>
          <a:xfrm>
            <a:off x="731520" y="3114400"/>
            <a:ext cx="22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1520" y="3182980"/>
            <a:ext cx="2000000" cy="274320"/>
          </a:xfrm>
          <a:prstGeom prst="rect">
            <a:avLst/>
          </a:prstGeom>
          <a:noFill/>
        </p:spPr>
        <p:txBody>
          <a:bodyPr wrap="square">
            <a:spAutoFit/>
          </a:bodyPr>
          <a:lstStyle/>
          <a:p>
            <a:pPr algn="ctr"/>
            <a:r>
              <a:rPr sz="1200" b="1">
                <a:solidFill>
                  <a:srgbClr val="FAF9F5"/>
                </a:solidFill>
                <a:latin typeface="Helvetica Neue"/>
              </a:rPr>
              <a:t>Claude Code</a:t>
            </a:r>
          </a:p>
        </p:txBody>
      </p:sp>
      <p:sp>
        <p:nvSpPr>
          <p:cNvPr id="21" name="TextBox 20"/>
          <p:cNvSpPr txBox="1"/>
          <p:nvPr/>
        </p:nvSpPr>
        <p:spPr>
          <a:xfrm>
            <a:off x="3000000" y="3137260"/>
            <a:ext cx="1200000" cy="320000"/>
          </a:xfrm>
          <a:prstGeom prst="rect">
            <a:avLst/>
          </a:prstGeom>
          <a:noFill/>
        </p:spPr>
        <p:txBody>
          <a:bodyPr wrap="square">
            <a:spAutoFit/>
          </a:bodyPr>
          <a:lstStyle/>
          <a:p>
            <a:pPr algn="ctr"/>
            <a:r>
              <a:rPr sz="1100" b="0">
                <a:solidFill>
                  <a:srgbClr val="7BC9A0"/>
                </a:solidFill>
                <a:latin typeface="Helvetica Neue"/>
              </a:rPr>
              <a:t>← MCP →</a:t>
            </a:r>
          </a:p>
        </p:txBody>
      </p:sp>
      <p:sp>
        <p:nvSpPr>
          <p:cNvPr id="22" name="Rounded Rectangle 21"/>
          <p:cNvSpPr/>
          <p:nvPr/>
        </p:nvSpPr>
        <p:spPr>
          <a:xfrm>
            <a:off x="4200000" y="3114400"/>
            <a:ext cx="16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00000" y="3182980"/>
            <a:ext cx="1400000" cy="274320"/>
          </a:xfrm>
          <a:prstGeom prst="rect">
            <a:avLst/>
          </a:prstGeom>
          <a:noFill/>
        </p:spPr>
        <p:txBody>
          <a:bodyPr wrap="square">
            <a:spAutoFit/>
          </a:bodyPr>
          <a:lstStyle/>
          <a:p>
            <a:pPr algn="ctr"/>
            <a:r>
              <a:rPr sz="1200" b="1">
                <a:solidFill>
                  <a:srgbClr val="7BC9A0"/>
                </a:solidFill>
                <a:latin typeface="Helvetica Neue"/>
              </a:rPr>
              <a:t>Jira</a:t>
            </a:r>
          </a:p>
        </p:txBody>
      </p:sp>
      <p:sp>
        <p:nvSpPr>
          <p:cNvPr id="24" name="TextBox 23"/>
          <p:cNvSpPr txBox="1"/>
          <p:nvPr/>
        </p:nvSpPr>
        <p:spPr>
          <a:xfrm>
            <a:off x="6100000" y="3182980"/>
            <a:ext cx="5000000" cy="274320"/>
          </a:xfrm>
          <a:prstGeom prst="rect">
            <a:avLst/>
          </a:prstGeom>
          <a:noFill/>
        </p:spPr>
        <p:txBody>
          <a:bodyPr wrap="square">
            <a:spAutoFit/>
          </a:bodyPr>
          <a:lstStyle/>
          <a:p>
            <a:pPr algn="l"/>
            <a:r>
              <a:rPr sz="1400" b="0">
                <a:solidFill>
                  <a:srgbClr val="E0DED8"/>
                </a:solidFill>
                <a:latin typeface="Hiragino Sans"/>
              </a:rPr>
              <a:t>チケット管理の自動化</a:t>
            </a:r>
          </a:p>
        </p:txBody>
      </p:sp>
      <p:sp>
        <p:nvSpPr>
          <p:cNvPr id="25" name="Rounded Rectangle 24"/>
          <p:cNvSpPr/>
          <p:nvPr/>
        </p:nvSpPr>
        <p:spPr>
          <a:xfrm>
            <a:off x="731520" y="3571600"/>
            <a:ext cx="22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520" y="3640180"/>
            <a:ext cx="2000000" cy="274320"/>
          </a:xfrm>
          <a:prstGeom prst="rect">
            <a:avLst/>
          </a:prstGeom>
          <a:noFill/>
        </p:spPr>
        <p:txBody>
          <a:bodyPr wrap="square">
            <a:spAutoFit/>
          </a:bodyPr>
          <a:lstStyle/>
          <a:p>
            <a:pPr algn="ctr"/>
            <a:r>
              <a:rPr sz="1200" b="1">
                <a:solidFill>
                  <a:srgbClr val="FAF9F5"/>
                </a:solidFill>
                <a:latin typeface="Helvetica Neue"/>
              </a:rPr>
              <a:t>Claude Code</a:t>
            </a:r>
          </a:p>
        </p:txBody>
      </p:sp>
      <p:sp>
        <p:nvSpPr>
          <p:cNvPr id="27" name="TextBox 26"/>
          <p:cNvSpPr txBox="1"/>
          <p:nvPr/>
        </p:nvSpPr>
        <p:spPr>
          <a:xfrm>
            <a:off x="3000000" y="3594460"/>
            <a:ext cx="1200000" cy="320000"/>
          </a:xfrm>
          <a:prstGeom prst="rect">
            <a:avLst/>
          </a:prstGeom>
          <a:noFill/>
        </p:spPr>
        <p:txBody>
          <a:bodyPr wrap="square">
            <a:spAutoFit/>
          </a:bodyPr>
          <a:lstStyle/>
          <a:p>
            <a:pPr algn="ctr"/>
            <a:r>
              <a:rPr sz="1100" b="0">
                <a:solidFill>
                  <a:srgbClr val="CCAA55"/>
                </a:solidFill>
                <a:latin typeface="Helvetica Neue"/>
              </a:rPr>
              <a:t>← MCP →</a:t>
            </a:r>
          </a:p>
        </p:txBody>
      </p:sp>
      <p:sp>
        <p:nvSpPr>
          <p:cNvPr id="28" name="Rounded Rectangle 27"/>
          <p:cNvSpPr/>
          <p:nvPr/>
        </p:nvSpPr>
        <p:spPr>
          <a:xfrm>
            <a:off x="4200000" y="3571600"/>
            <a:ext cx="1600000" cy="36576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00000" y="3640180"/>
            <a:ext cx="1400000" cy="274320"/>
          </a:xfrm>
          <a:prstGeom prst="rect">
            <a:avLst/>
          </a:prstGeom>
          <a:noFill/>
        </p:spPr>
        <p:txBody>
          <a:bodyPr wrap="square">
            <a:spAutoFit/>
          </a:bodyPr>
          <a:lstStyle/>
          <a:p>
            <a:pPr algn="ctr"/>
            <a:r>
              <a:rPr sz="1200" b="1">
                <a:solidFill>
                  <a:srgbClr val="CCAA55"/>
                </a:solidFill>
                <a:latin typeface="Helvetica Neue"/>
              </a:rPr>
              <a:t>Context7</a:t>
            </a:r>
          </a:p>
        </p:txBody>
      </p:sp>
      <p:sp>
        <p:nvSpPr>
          <p:cNvPr id="30" name="TextBox 29"/>
          <p:cNvSpPr txBox="1"/>
          <p:nvPr/>
        </p:nvSpPr>
        <p:spPr>
          <a:xfrm>
            <a:off x="6100000" y="3640180"/>
            <a:ext cx="5000000" cy="274320"/>
          </a:xfrm>
          <a:prstGeom prst="rect">
            <a:avLst/>
          </a:prstGeom>
          <a:noFill/>
        </p:spPr>
        <p:txBody>
          <a:bodyPr wrap="square">
            <a:spAutoFit/>
          </a:bodyPr>
          <a:lstStyle/>
          <a:p>
            <a:pPr algn="l"/>
            <a:r>
              <a:rPr sz="1400" b="0">
                <a:solidFill>
                  <a:srgbClr val="E0DED8"/>
                </a:solidFill>
                <a:latin typeface="Hiragino Sans"/>
              </a:rPr>
              <a:t>ドキュメント取得</a:t>
            </a:r>
          </a:p>
        </p:txBody>
      </p:sp>
      <p:cxnSp>
        <p:nvCxnSpPr>
          <p:cNvPr id="31" name="Connector 30"/>
          <p:cNvCxnSpPr/>
          <p:nvPr/>
        </p:nvCxnSpPr>
        <p:spPr>
          <a:xfrm>
            <a:off x="731520" y="42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4400" y="4400000"/>
            <a:ext cx="10000000" cy="274320"/>
          </a:xfrm>
          <a:prstGeom prst="rect">
            <a:avLst/>
          </a:prstGeom>
          <a:noFill/>
        </p:spPr>
        <p:txBody>
          <a:bodyPr wrap="square">
            <a:spAutoFit/>
          </a:bodyPr>
          <a:lstStyle/>
          <a:p>
            <a:pPr algn="l"/>
            <a:r>
              <a:rPr sz="1500" b="0">
                <a:solidFill>
                  <a:srgbClr val="E0DED8"/>
                </a:solidFill>
                <a:latin typeface="Hiragino Sans"/>
              </a:rPr>
              <a:t>•  Claude Codeはクライアントとして任意のMCPサーバーに接続</a:t>
            </a:r>
          </a:p>
        </p:txBody>
      </p:sp>
      <p:sp>
        <p:nvSpPr>
          <p:cNvPr id="33" name="TextBox 32"/>
          <p:cNvSpPr txBox="1"/>
          <p:nvPr/>
        </p:nvSpPr>
        <p:spPr>
          <a:xfrm>
            <a:off x="914400" y="4765760"/>
            <a:ext cx="10000000" cy="274320"/>
          </a:xfrm>
          <a:prstGeom prst="rect">
            <a:avLst/>
          </a:prstGeom>
          <a:noFill/>
        </p:spPr>
        <p:txBody>
          <a:bodyPr wrap="square">
            <a:spAutoFit/>
          </a:bodyPr>
          <a:lstStyle/>
          <a:p>
            <a:pPr algn="l"/>
            <a:r>
              <a:rPr sz="1500" b="0">
                <a:solidFill>
                  <a:srgbClr val="E0DED8"/>
                </a:solidFill>
                <a:latin typeface="Hiragino Sans"/>
              </a:rPr>
              <a:t>•  .mcp.json をコミットすれば、チーム全員が同じMCPサーバーを利用可能</a:t>
            </a:r>
          </a:p>
        </p:txBody>
      </p:sp>
      <p:sp>
        <p:nvSpPr>
          <p:cNvPr id="34" name="TextBox 33"/>
          <p:cNvSpPr txBox="1"/>
          <p:nvPr/>
        </p:nvSpPr>
        <p:spPr>
          <a:xfrm>
            <a:off x="914400" y="5131520"/>
            <a:ext cx="10000000" cy="274320"/>
          </a:xfrm>
          <a:prstGeom prst="rect">
            <a:avLst/>
          </a:prstGeom>
          <a:noFill/>
        </p:spPr>
        <p:txBody>
          <a:bodyPr wrap="square">
            <a:spAutoFit/>
          </a:bodyPr>
          <a:lstStyle/>
          <a:p>
            <a:pPr algn="l"/>
            <a:r>
              <a:rPr sz="1500" b="0">
                <a:solidFill>
                  <a:srgbClr val="E0DED8"/>
                </a:solidFill>
                <a:latin typeface="Hiragino Sans"/>
              </a:rPr>
              <a:t>•  MCPの結果もコンテキストを消費する</a:t>
            </a:r>
          </a:p>
        </p:txBody>
      </p:sp>
      <p:sp>
        <p:nvSpPr>
          <p:cNvPr id="35" name="TextBox 34"/>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MCP</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MCPを使う / 使わない判断</a:t>
            </a:r>
          </a:p>
        </p:txBody>
      </p:sp>
      <p:sp>
        <p:nvSpPr>
          <p:cNvPr id="4" name="TextBox 3"/>
          <p:cNvSpPr txBox="1"/>
          <p:nvPr/>
        </p:nvSpPr>
        <p:spPr>
          <a:xfrm>
            <a:off x="731520" y="1200000"/>
            <a:ext cx="5200000" cy="365760"/>
          </a:xfrm>
          <a:prstGeom prst="rect">
            <a:avLst/>
          </a:prstGeom>
          <a:noFill/>
        </p:spPr>
        <p:txBody>
          <a:bodyPr wrap="square">
            <a:spAutoFit/>
          </a:bodyPr>
          <a:lstStyle/>
          <a:p>
            <a:pPr algn="l"/>
            <a:r>
              <a:rPr sz="1800" b="1">
                <a:solidFill>
                  <a:srgbClr val="7BC9A0"/>
                </a:solidFill>
                <a:latin typeface="Hiragino Sans"/>
              </a:rPr>
              <a:t>使うべき場面</a:t>
            </a:r>
          </a:p>
        </p:txBody>
      </p:sp>
      <p:sp>
        <p:nvSpPr>
          <p:cNvPr id="5" name="Rounded Rectangle 4"/>
          <p:cNvSpPr/>
          <p:nvPr/>
        </p:nvSpPr>
        <p:spPr>
          <a:xfrm>
            <a:off x="731520" y="165000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18580"/>
            <a:ext cx="4925680" cy="274320"/>
          </a:xfrm>
          <a:prstGeom prst="rect">
            <a:avLst/>
          </a:prstGeom>
          <a:noFill/>
        </p:spPr>
        <p:txBody>
          <a:bodyPr wrap="square">
            <a:spAutoFit/>
          </a:bodyPr>
          <a:lstStyle/>
          <a:p>
            <a:pPr algn="l"/>
            <a:r>
              <a:rPr sz="1500" b="1">
                <a:solidFill>
                  <a:srgbClr val="FAF9F5"/>
                </a:solidFill>
                <a:latin typeface="Hiragino Sans"/>
              </a:rPr>
              <a:t>複雑な操作の連携が必要</a:t>
            </a:r>
          </a:p>
        </p:txBody>
      </p:sp>
      <p:sp>
        <p:nvSpPr>
          <p:cNvPr id="7" name="TextBox 6"/>
          <p:cNvSpPr txBox="1"/>
          <p:nvPr/>
        </p:nvSpPr>
        <p:spPr>
          <a:xfrm>
            <a:off x="868680" y="1950000"/>
            <a:ext cx="4925680" cy="274320"/>
          </a:xfrm>
          <a:prstGeom prst="rect">
            <a:avLst/>
          </a:prstGeom>
          <a:noFill/>
        </p:spPr>
        <p:txBody>
          <a:bodyPr wrap="square">
            <a:spAutoFit/>
          </a:bodyPr>
          <a:lstStyle/>
          <a:p>
            <a:pPr algn="l"/>
            <a:r>
              <a:rPr sz="1200" b="0">
                <a:solidFill>
                  <a:srgbClr val="B0AEA5"/>
                </a:solidFill>
                <a:latin typeface="Hiragino Sans"/>
              </a:rPr>
              <a:t>Figmaデザイン → コンポーネント生成</a:t>
            </a:r>
          </a:p>
        </p:txBody>
      </p:sp>
      <p:sp>
        <p:nvSpPr>
          <p:cNvPr id="8" name="Rounded Rectangle 7"/>
          <p:cNvSpPr/>
          <p:nvPr/>
        </p:nvSpPr>
        <p:spPr>
          <a:xfrm>
            <a:off x="731520" y="219864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267220"/>
            <a:ext cx="4925680" cy="274320"/>
          </a:xfrm>
          <a:prstGeom prst="rect">
            <a:avLst/>
          </a:prstGeom>
          <a:noFill/>
        </p:spPr>
        <p:txBody>
          <a:bodyPr wrap="square">
            <a:spAutoFit/>
          </a:bodyPr>
          <a:lstStyle/>
          <a:p>
            <a:pPr algn="l"/>
            <a:r>
              <a:rPr sz="1500" b="1">
                <a:solidFill>
                  <a:srgbClr val="FAF9F5"/>
                </a:solidFill>
                <a:latin typeface="Hiragino Sans"/>
              </a:rPr>
              <a:t>ブラウザ操作が必要</a:t>
            </a:r>
          </a:p>
        </p:txBody>
      </p:sp>
      <p:sp>
        <p:nvSpPr>
          <p:cNvPr id="10" name="TextBox 9"/>
          <p:cNvSpPr txBox="1"/>
          <p:nvPr/>
        </p:nvSpPr>
        <p:spPr>
          <a:xfrm>
            <a:off x="868680" y="2498640"/>
            <a:ext cx="4925680" cy="274320"/>
          </a:xfrm>
          <a:prstGeom prst="rect">
            <a:avLst/>
          </a:prstGeom>
          <a:noFill/>
        </p:spPr>
        <p:txBody>
          <a:bodyPr wrap="square">
            <a:spAutoFit/>
          </a:bodyPr>
          <a:lstStyle/>
          <a:p>
            <a:pPr algn="l"/>
            <a:r>
              <a:rPr sz="1200" b="0">
                <a:solidFill>
                  <a:srgbClr val="B0AEA5"/>
                </a:solidFill>
                <a:latin typeface="Hiragino Sans"/>
              </a:rPr>
              <a:t>Chrome DevTools MCP</a:t>
            </a:r>
          </a:p>
        </p:txBody>
      </p:sp>
      <p:sp>
        <p:nvSpPr>
          <p:cNvPr id="11" name="Rounded Rectangle 10"/>
          <p:cNvSpPr/>
          <p:nvPr/>
        </p:nvSpPr>
        <p:spPr>
          <a:xfrm>
            <a:off x="731520" y="274728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15860"/>
            <a:ext cx="4925680" cy="274320"/>
          </a:xfrm>
          <a:prstGeom prst="rect">
            <a:avLst/>
          </a:prstGeom>
          <a:noFill/>
        </p:spPr>
        <p:txBody>
          <a:bodyPr wrap="square">
            <a:spAutoFit/>
          </a:bodyPr>
          <a:lstStyle/>
          <a:p>
            <a:pPr algn="l"/>
            <a:r>
              <a:rPr sz="1500" b="1">
                <a:solidFill>
                  <a:srgbClr val="FAF9F5"/>
                </a:solidFill>
                <a:latin typeface="Hiragino Sans"/>
              </a:rPr>
              <a:t>外部サービスとの深い統合</a:t>
            </a:r>
          </a:p>
        </p:txBody>
      </p:sp>
      <p:sp>
        <p:nvSpPr>
          <p:cNvPr id="13" name="TextBox 12"/>
          <p:cNvSpPr txBox="1"/>
          <p:nvPr/>
        </p:nvSpPr>
        <p:spPr>
          <a:xfrm>
            <a:off x="868680" y="3047280"/>
            <a:ext cx="4925680" cy="274320"/>
          </a:xfrm>
          <a:prstGeom prst="rect">
            <a:avLst/>
          </a:prstGeom>
          <a:noFill/>
        </p:spPr>
        <p:txBody>
          <a:bodyPr wrap="square">
            <a:spAutoFit/>
          </a:bodyPr>
          <a:lstStyle/>
          <a:p>
            <a:pPr algn="l"/>
            <a:r>
              <a:rPr sz="1200" b="0">
                <a:solidFill>
                  <a:srgbClr val="B0AEA5"/>
                </a:solidFill>
                <a:latin typeface="Hiragino Sans"/>
              </a:rPr>
              <a:t>Slack、Jira、Notionなど</a:t>
            </a:r>
          </a:p>
        </p:txBody>
      </p:sp>
      <p:sp>
        <p:nvSpPr>
          <p:cNvPr id="14" name="TextBox 13"/>
          <p:cNvSpPr txBox="1"/>
          <p:nvPr/>
        </p:nvSpPr>
        <p:spPr>
          <a:xfrm>
            <a:off x="6160000" y="1200000"/>
            <a:ext cx="5200000" cy="365760"/>
          </a:xfrm>
          <a:prstGeom prst="rect">
            <a:avLst/>
          </a:prstGeom>
          <a:noFill/>
        </p:spPr>
        <p:txBody>
          <a:bodyPr wrap="square">
            <a:spAutoFit/>
          </a:bodyPr>
          <a:lstStyle/>
          <a:p>
            <a:pPr algn="l"/>
            <a:r>
              <a:rPr sz="1800" b="1">
                <a:solidFill>
                  <a:srgbClr val="E07070"/>
                </a:solidFill>
                <a:latin typeface="Hiragino Sans"/>
              </a:rPr>
              <a:t>使わないほうがよい場面</a:t>
            </a:r>
          </a:p>
        </p:txBody>
      </p:sp>
      <p:sp>
        <p:nvSpPr>
          <p:cNvPr id="15" name="Rounded Rectangle 14"/>
          <p:cNvSpPr/>
          <p:nvPr/>
        </p:nvSpPr>
        <p:spPr>
          <a:xfrm>
            <a:off x="6160000" y="165000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7160" y="1718580"/>
            <a:ext cx="4925680" cy="274320"/>
          </a:xfrm>
          <a:prstGeom prst="rect">
            <a:avLst/>
          </a:prstGeom>
          <a:noFill/>
        </p:spPr>
        <p:txBody>
          <a:bodyPr wrap="square">
            <a:spAutoFit/>
          </a:bodyPr>
          <a:lstStyle/>
          <a:p>
            <a:pPr algn="l"/>
            <a:r>
              <a:rPr sz="1500" b="1">
                <a:solidFill>
                  <a:srgbClr val="FAF9F5"/>
                </a:solidFill>
                <a:latin typeface="Hiragino Sans"/>
              </a:rPr>
              <a:t>CLIで十分な場合</a:t>
            </a:r>
          </a:p>
        </p:txBody>
      </p:sp>
      <p:sp>
        <p:nvSpPr>
          <p:cNvPr id="17" name="TextBox 16"/>
          <p:cNvSpPr txBox="1"/>
          <p:nvPr/>
        </p:nvSpPr>
        <p:spPr>
          <a:xfrm>
            <a:off x="6297160" y="1950000"/>
            <a:ext cx="4925680" cy="274320"/>
          </a:xfrm>
          <a:prstGeom prst="rect">
            <a:avLst/>
          </a:prstGeom>
          <a:noFill/>
        </p:spPr>
        <p:txBody>
          <a:bodyPr wrap="square">
            <a:spAutoFit/>
          </a:bodyPr>
          <a:lstStyle/>
          <a:p>
            <a:pPr algn="l"/>
            <a:r>
              <a:rPr sz="1200" b="0">
                <a:solidFill>
                  <a:srgbClr val="B0AEA5"/>
                </a:solidFill>
                <a:latin typeface="Hiragino Sans"/>
              </a:rPr>
              <a:t>gh、aws、kubectl、psqlなど</a:t>
            </a:r>
          </a:p>
        </p:txBody>
      </p:sp>
      <p:sp>
        <p:nvSpPr>
          <p:cNvPr id="18" name="Rounded Rectangle 17"/>
          <p:cNvSpPr/>
          <p:nvPr/>
        </p:nvSpPr>
        <p:spPr>
          <a:xfrm>
            <a:off x="6160000" y="219864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7160" y="2267220"/>
            <a:ext cx="4925680" cy="274320"/>
          </a:xfrm>
          <a:prstGeom prst="rect">
            <a:avLst/>
          </a:prstGeom>
          <a:noFill/>
        </p:spPr>
        <p:txBody>
          <a:bodyPr wrap="square">
            <a:spAutoFit/>
          </a:bodyPr>
          <a:lstStyle/>
          <a:p>
            <a:pPr algn="l"/>
            <a:r>
              <a:rPr sz="1500" b="1">
                <a:solidFill>
                  <a:srgbClr val="FAF9F5"/>
                </a:solidFill>
                <a:latin typeface="Hiragino Sans"/>
              </a:rPr>
              <a:t>コンテキスト圧迫が懸念</a:t>
            </a:r>
          </a:p>
        </p:txBody>
      </p:sp>
      <p:sp>
        <p:nvSpPr>
          <p:cNvPr id="20" name="TextBox 19"/>
          <p:cNvSpPr txBox="1"/>
          <p:nvPr/>
        </p:nvSpPr>
        <p:spPr>
          <a:xfrm>
            <a:off x="6297160" y="2498640"/>
            <a:ext cx="4925680" cy="274320"/>
          </a:xfrm>
          <a:prstGeom prst="rect">
            <a:avLst/>
          </a:prstGeom>
          <a:noFill/>
        </p:spPr>
        <p:txBody>
          <a:bodyPr wrap="square">
            <a:spAutoFit/>
          </a:bodyPr>
          <a:lstStyle/>
          <a:p>
            <a:pPr algn="l"/>
            <a:r>
              <a:rPr sz="1200" b="0">
                <a:solidFill>
                  <a:srgbClr val="B0AEA5"/>
                </a:solidFill>
                <a:latin typeface="Hiragino Sans"/>
              </a:rPr>
              <a:t>大量データの取得は要注意</a:t>
            </a:r>
          </a:p>
        </p:txBody>
      </p:sp>
      <p:sp>
        <p:nvSpPr>
          <p:cNvPr id="21" name="Rounded Rectangle 20"/>
          <p:cNvSpPr/>
          <p:nvPr/>
        </p:nvSpPr>
        <p:spPr>
          <a:xfrm>
            <a:off x="6160000" y="2747280"/>
            <a:ext cx="520000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97160" y="2815860"/>
            <a:ext cx="4925680" cy="274320"/>
          </a:xfrm>
          <a:prstGeom prst="rect">
            <a:avLst/>
          </a:prstGeom>
          <a:noFill/>
        </p:spPr>
        <p:txBody>
          <a:bodyPr wrap="square">
            <a:spAutoFit/>
          </a:bodyPr>
          <a:lstStyle/>
          <a:p>
            <a:pPr algn="l"/>
            <a:r>
              <a:rPr sz="1500" b="1">
                <a:solidFill>
                  <a:srgbClr val="FAF9F5"/>
                </a:solidFill>
                <a:latin typeface="Hiragino Sans"/>
              </a:rPr>
              <a:t>権限管理が複雑になるとき</a:t>
            </a:r>
          </a:p>
        </p:txBody>
      </p:sp>
      <p:sp>
        <p:nvSpPr>
          <p:cNvPr id="23" name="TextBox 22"/>
          <p:cNvSpPr txBox="1"/>
          <p:nvPr/>
        </p:nvSpPr>
        <p:spPr>
          <a:xfrm>
            <a:off x="6297160" y="3047280"/>
            <a:ext cx="4925680" cy="274320"/>
          </a:xfrm>
          <a:prstGeom prst="rect">
            <a:avLst/>
          </a:prstGeom>
          <a:noFill/>
        </p:spPr>
        <p:txBody>
          <a:bodyPr wrap="square">
            <a:spAutoFit/>
          </a:bodyPr>
          <a:lstStyle/>
          <a:p>
            <a:pPr algn="l"/>
            <a:r>
              <a:rPr sz="1200" b="0">
                <a:solidFill>
                  <a:srgbClr val="B0AEA5"/>
                </a:solidFill>
                <a:latin typeface="Hiragino Sans"/>
              </a:rPr>
              <a:t>過剰な権限はセキュリティリスク</a:t>
            </a:r>
          </a:p>
        </p:txBody>
      </p:sp>
      <p:sp>
        <p:nvSpPr>
          <p:cNvPr id="24" name="Rectangle 23"/>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gh（GitHub CLI）は、GitHub MCPサーバーよりも多くのケースで適している</a:t>
            </a:r>
          </a:p>
        </p:txBody>
      </p:sp>
      <p:sp>
        <p:nvSpPr>
          <p:cNvPr id="27" name="TextBox 2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MCP</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MCPの設定方法</a:t>
            </a:r>
          </a:p>
        </p:txBody>
      </p:sp>
      <p:sp>
        <p:nvSpPr>
          <p:cNvPr id="4" name="TextBox 3"/>
          <p:cNvSpPr txBox="1"/>
          <p:nvPr/>
        </p:nvSpPr>
        <p:spPr>
          <a:xfrm>
            <a:off x="731520" y="1200000"/>
            <a:ext cx="5000000" cy="365760"/>
          </a:xfrm>
          <a:prstGeom prst="rect">
            <a:avLst/>
          </a:prstGeom>
          <a:noFill/>
        </p:spPr>
        <p:txBody>
          <a:bodyPr wrap="square">
            <a:spAutoFit/>
          </a:bodyPr>
          <a:lstStyle/>
          <a:p>
            <a:pPr algn="l"/>
            <a:r>
              <a:rPr sz="1800" b="1">
                <a:solidFill>
                  <a:srgbClr val="D97757"/>
                </a:solidFill>
                <a:latin typeface="Hiragino Sans"/>
              </a:rPr>
              <a:t>プロジェクトレベル（チーム共有）</a:t>
            </a:r>
          </a:p>
        </p:txBody>
      </p:sp>
      <p:sp>
        <p:nvSpPr>
          <p:cNvPr id="5" name="Rounded Rectangle 4"/>
          <p:cNvSpPr/>
          <p:nvPr/>
        </p:nvSpPr>
        <p:spPr>
          <a:xfrm>
            <a:off x="731520" y="1650000"/>
            <a:ext cx="5486400" cy="1600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41440"/>
            <a:ext cx="5212080" cy="1417120"/>
          </a:xfrm>
          <a:prstGeom prst="rect">
            <a:avLst/>
          </a:prstGeom>
          <a:noFill/>
        </p:spPr>
        <p:txBody>
          <a:bodyPr wrap="square">
            <a:spAutoFit/>
          </a:bodyPr>
          <a:lstStyle/>
          <a:p>
            <a:pPr algn="l"/>
            <a:r>
              <a:rPr sz="1200" b="0">
                <a:solidFill>
                  <a:srgbClr val="E0DED8"/>
                </a:solidFill>
                <a:latin typeface="SF Mono"/>
              </a:rPr>
              <a:t>// .mcp.json（リポジトリルートに配置）</a:t>
            </a:r>
          </a:p>
          <a:p>
            <a:pPr algn="l"/>
            <a:r>
              <a:rPr sz="1200" b="0">
                <a:solidFill>
                  <a:srgbClr val="E0DED8"/>
                </a:solidFill>
                <a:latin typeface="SF Mono"/>
              </a:rPr>
              <a:t>{</a:t>
            </a:r>
          </a:p>
          <a:p>
            <a:pPr algn="l"/>
            <a:r>
              <a:rPr sz="1200" b="0">
                <a:solidFill>
                  <a:srgbClr val="E0DED8"/>
                </a:solidFill>
                <a:latin typeface="SF Mono"/>
              </a:rPr>
              <a:t>  "mcpServers": {</a:t>
            </a:r>
          </a:p>
          <a:p>
            <a:pPr algn="l"/>
            <a:r>
              <a:rPr sz="1200" b="0">
                <a:solidFill>
                  <a:srgbClr val="E0DED8"/>
                </a:solidFill>
                <a:latin typeface="SF Mono"/>
              </a:rPr>
              <a:t>    "context7": {</a:t>
            </a:r>
          </a:p>
          <a:p>
            <a:pPr algn="l"/>
            <a:r>
              <a:rPr sz="1200" b="0">
                <a:solidFill>
                  <a:srgbClr val="E0DED8"/>
                </a:solidFill>
                <a:latin typeface="SF Mono"/>
              </a:rPr>
              <a:t>      "command": "npx",</a:t>
            </a:r>
          </a:p>
          <a:p>
            <a:pPr algn="l"/>
            <a:r>
              <a:rPr sz="1200" b="0">
                <a:solidFill>
                  <a:srgbClr val="E0DED8"/>
                </a:solidFill>
                <a:latin typeface="SF Mono"/>
              </a:rPr>
              <a:t>      "args": [</a:t>
            </a:r>
          </a:p>
          <a:p>
            <a:pPr algn="l"/>
            <a:r>
              <a:rPr sz="1200" b="0">
                <a:solidFill>
                  <a:srgbClr val="E0DED8"/>
                </a:solidFill>
                <a:latin typeface="SF Mono"/>
              </a:rPr>
              <a:t>        "-y",</a:t>
            </a:r>
          </a:p>
          <a:p>
            <a:pPr algn="l"/>
            <a:r>
              <a:rPr sz="1200" b="0">
                <a:solidFill>
                  <a:srgbClr val="E0DED8"/>
                </a:solidFill>
                <a:latin typeface="SF Mono"/>
              </a:rPr>
              <a:t>        "@anthropic/mcp-server-context7"</a:t>
            </a:r>
          </a:p>
          <a:p>
            <a:pPr algn="l"/>
            <a:r>
              <a:rPr sz="1200" b="0">
                <a:solidFill>
                  <a:srgbClr val="E0DED8"/>
                </a:solidFill>
                <a:latin typeface="SF Mono"/>
              </a:rPr>
              <a:t>      ]</a:t>
            </a:r>
          </a:p>
          <a:p>
            <a:pPr algn="l"/>
            <a:r>
              <a:rPr sz="1200" b="0">
                <a:solidFill>
                  <a:srgbClr val="E0DED8"/>
                </a:solidFill>
                <a:latin typeface="SF Mono"/>
              </a:rPr>
              <a:t>    }</a:t>
            </a:r>
          </a:p>
          <a:p>
            <a:pPr algn="l"/>
            <a:r>
              <a:rPr sz="1200" b="0">
                <a:solidFill>
                  <a:srgbClr val="E0DED8"/>
                </a:solidFill>
                <a:latin typeface="SF Mono"/>
              </a:rPr>
              <a:t>  }</a:t>
            </a:r>
          </a:p>
          <a:p>
            <a:pPr algn="l"/>
            <a:r>
              <a:rPr sz="1200" b="0">
                <a:solidFill>
                  <a:srgbClr val="E0DED8"/>
                </a:solidFill>
                <a:latin typeface="SF Mono"/>
              </a:rPr>
              <a:t>}</a:t>
            </a:r>
          </a:p>
        </p:txBody>
      </p:sp>
      <p:sp>
        <p:nvSpPr>
          <p:cNvPr id="7" name="TextBox 6"/>
          <p:cNvSpPr txBox="1"/>
          <p:nvPr/>
        </p:nvSpPr>
        <p:spPr>
          <a:xfrm>
            <a:off x="731520" y="3350000"/>
            <a:ext cx="5486400" cy="274320"/>
          </a:xfrm>
          <a:prstGeom prst="rect">
            <a:avLst/>
          </a:prstGeom>
          <a:noFill/>
        </p:spPr>
        <p:txBody>
          <a:bodyPr wrap="square">
            <a:spAutoFit/>
          </a:bodyPr>
          <a:lstStyle/>
          <a:p>
            <a:pPr algn="l"/>
            <a:r>
              <a:rPr sz="1400" b="1">
                <a:solidFill>
                  <a:srgbClr val="D97757"/>
                </a:solidFill>
                <a:latin typeface="Hiragino Sans"/>
              </a:rPr>
              <a:t>→ コミットすれば、チーム全員がMCPサーバーを利用可能</a:t>
            </a:r>
          </a:p>
        </p:txBody>
      </p:sp>
      <p:sp>
        <p:nvSpPr>
          <p:cNvPr id="8" name="TextBox 7"/>
          <p:cNvSpPr txBox="1"/>
          <p:nvPr/>
        </p:nvSpPr>
        <p:spPr>
          <a:xfrm>
            <a:off x="6500000" y="1200000"/>
            <a:ext cx="5000000" cy="365760"/>
          </a:xfrm>
          <a:prstGeom prst="rect">
            <a:avLst/>
          </a:prstGeom>
          <a:noFill/>
        </p:spPr>
        <p:txBody>
          <a:bodyPr wrap="square">
            <a:spAutoFit/>
          </a:bodyPr>
          <a:lstStyle/>
          <a:p>
            <a:pPr algn="l"/>
            <a:r>
              <a:rPr sz="1800" b="1">
                <a:solidFill>
                  <a:srgbClr val="6A9BCC"/>
                </a:solidFill>
                <a:latin typeface="Hiragino Sans"/>
              </a:rPr>
              <a:t>ユーザーレベル（個人設定）</a:t>
            </a:r>
          </a:p>
        </p:txBody>
      </p:sp>
      <p:sp>
        <p:nvSpPr>
          <p:cNvPr id="9" name="TextBox 8"/>
          <p:cNvSpPr txBox="1"/>
          <p:nvPr/>
        </p:nvSpPr>
        <p:spPr>
          <a:xfrm>
            <a:off x="6500000" y="1650000"/>
            <a:ext cx="5000000" cy="548640"/>
          </a:xfrm>
          <a:prstGeom prst="rect">
            <a:avLst/>
          </a:prstGeom>
          <a:noFill/>
        </p:spPr>
        <p:txBody>
          <a:bodyPr wrap="square">
            <a:spAutoFit/>
          </a:bodyPr>
          <a:lstStyle/>
          <a:p>
            <a:pPr algn="l"/>
            <a:r>
              <a:rPr sz="1600" b="0">
                <a:solidFill>
                  <a:srgbClr val="E0DED8"/>
                </a:solidFill>
                <a:latin typeface="Hiragino Sans"/>
              </a:rPr>
              <a:t>~/.claude/settings.json に設定すると</a:t>
            </a:r>
          </a:p>
          <a:p>
            <a:pPr algn="l"/>
            <a:r>
              <a:rPr sz="1600" b="0">
                <a:solidFill>
                  <a:srgbClr val="E0DED8"/>
                </a:solidFill>
                <a:latin typeface="Hiragino Sans"/>
              </a:rPr>
              <a:t>全プロジェクトで使える</a:t>
            </a:r>
          </a:p>
        </p:txBody>
      </p:sp>
      <p:cxnSp>
        <p:nvCxnSpPr>
          <p:cNvPr id="10" name="Connector 9"/>
          <p:cNvCxnSpPr/>
          <p:nvPr/>
        </p:nvCxnSpPr>
        <p:spPr>
          <a:xfrm>
            <a:off x="731520" y="38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3950000"/>
            <a:ext cx="5000000" cy="365760"/>
          </a:xfrm>
          <a:prstGeom prst="rect">
            <a:avLst/>
          </a:prstGeom>
          <a:noFill/>
        </p:spPr>
        <p:txBody>
          <a:bodyPr wrap="square">
            <a:spAutoFit/>
          </a:bodyPr>
          <a:lstStyle/>
          <a:p>
            <a:pPr algn="l"/>
            <a:r>
              <a:rPr sz="1800" b="1">
                <a:solidFill>
                  <a:srgbClr val="FAF9F5"/>
                </a:solidFill>
                <a:latin typeface="Hiragino Sans"/>
              </a:rPr>
              <a:t>設定の使い分け</a:t>
            </a:r>
          </a:p>
        </p:txBody>
      </p:sp>
      <p:sp>
        <p:nvSpPr>
          <p:cNvPr id="12" name="Rectangle 11"/>
          <p:cNvSpPr/>
          <p:nvPr/>
        </p:nvSpPr>
        <p:spPr>
          <a:xfrm>
            <a:off x="731520" y="4400000"/>
            <a:ext cx="36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468580"/>
            <a:ext cx="3417120" cy="274320"/>
          </a:xfrm>
          <a:prstGeom prst="rect">
            <a:avLst/>
          </a:prstGeom>
          <a:noFill/>
        </p:spPr>
        <p:txBody>
          <a:bodyPr wrap="square">
            <a:spAutoFit/>
          </a:bodyPr>
          <a:lstStyle/>
          <a:p>
            <a:pPr algn="l"/>
            <a:r>
              <a:rPr sz="1400" b="1">
                <a:solidFill>
                  <a:srgbClr val="D97757"/>
                </a:solidFill>
                <a:latin typeface="Hiragino Sans"/>
              </a:rPr>
              <a:t>場所</a:t>
            </a:r>
          </a:p>
        </p:txBody>
      </p:sp>
      <p:sp>
        <p:nvSpPr>
          <p:cNvPr id="14" name="Rectangle 13"/>
          <p:cNvSpPr/>
          <p:nvPr/>
        </p:nvSpPr>
        <p:spPr>
          <a:xfrm>
            <a:off x="4331520" y="4400000"/>
            <a:ext cx="28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2960" y="4468580"/>
            <a:ext cx="2617120" cy="274320"/>
          </a:xfrm>
          <a:prstGeom prst="rect">
            <a:avLst/>
          </a:prstGeom>
          <a:noFill/>
        </p:spPr>
        <p:txBody>
          <a:bodyPr wrap="square">
            <a:spAutoFit/>
          </a:bodyPr>
          <a:lstStyle/>
          <a:p>
            <a:pPr algn="l"/>
            <a:r>
              <a:rPr sz="1400" b="1">
                <a:solidFill>
                  <a:srgbClr val="D97757"/>
                </a:solidFill>
                <a:latin typeface="Hiragino Sans"/>
              </a:rPr>
              <a:t>共有範囲</a:t>
            </a:r>
          </a:p>
        </p:txBody>
      </p:sp>
      <p:sp>
        <p:nvSpPr>
          <p:cNvPr id="16" name="Rectangle 15"/>
          <p:cNvSpPr/>
          <p:nvPr/>
        </p:nvSpPr>
        <p:spPr>
          <a:xfrm>
            <a:off x="7131520" y="4400000"/>
            <a:ext cx="432896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2960" y="4468580"/>
            <a:ext cx="4146080" cy="274320"/>
          </a:xfrm>
          <a:prstGeom prst="rect">
            <a:avLst/>
          </a:prstGeom>
          <a:noFill/>
        </p:spPr>
        <p:txBody>
          <a:bodyPr wrap="square">
            <a:spAutoFit/>
          </a:bodyPr>
          <a:lstStyle/>
          <a:p>
            <a:pPr algn="l"/>
            <a:r>
              <a:rPr sz="1400" b="1">
                <a:solidFill>
                  <a:srgbClr val="D97757"/>
                </a:solidFill>
                <a:latin typeface="Hiragino Sans"/>
              </a:rPr>
              <a:t>用途</a:t>
            </a:r>
          </a:p>
        </p:txBody>
      </p:sp>
      <p:sp>
        <p:nvSpPr>
          <p:cNvPr id="18" name="Rectangle 17"/>
          <p:cNvSpPr/>
          <p:nvPr/>
        </p:nvSpPr>
        <p:spPr>
          <a:xfrm>
            <a:off x="731520" y="4765760"/>
            <a:ext cx="3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34340"/>
            <a:ext cx="3417120" cy="274320"/>
          </a:xfrm>
          <a:prstGeom prst="rect">
            <a:avLst/>
          </a:prstGeom>
          <a:noFill/>
        </p:spPr>
        <p:txBody>
          <a:bodyPr wrap="square">
            <a:spAutoFit/>
          </a:bodyPr>
          <a:lstStyle/>
          <a:p>
            <a:pPr algn="l"/>
            <a:r>
              <a:rPr sz="1400" b="0">
                <a:solidFill>
                  <a:srgbClr val="FAF9F5"/>
                </a:solidFill>
                <a:latin typeface="SF Mono"/>
              </a:rPr>
              <a:t>.mcp.json</a:t>
            </a:r>
          </a:p>
        </p:txBody>
      </p:sp>
      <p:sp>
        <p:nvSpPr>
          <p:cNvPr id="20" name="Rectangle 19"/>
          <p:cNvSpPr/>
          <p:nvPr/>
        </p:nvSpPr>
        <p:spPr>
          <a:xfrm>
            <a:off x="4331520" y="4765760"/>
            <a:ext cx="28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2960" y="4834340"/>
            <a:ext cx="2617120" cy="274320"/>
          </a:xfrm>
          <a:prstGeom prst="rect">
            <a:avLst/>
          </a:prstGeom>
          <a:noFill/>
        </p:spPr>
        <p:txBody>
          <a:bodyPr wrap="square">
            <a:spAutoFit/>
          </a:bodyPr>
          <a:lstStyle/>
          <a:p>
            <a:pPr algn="l"/>
            <a:r>
              <a:rPr sz="1400" b="0">
                <a:solidFill>
                  <a:srgbClr val="E0DED8"/>
                </a:solidFill>
                <a:latin typeface="Hiragino Sans"/>
              </a:rPr>
              <a:t>チーム全体</a:t>
            </a:r>
          </a:p>
        </p:txBody>
      </p:sp>
      <p:sp>
        <p:nvSpPr>
          <p:cNvPr id="22" name="Rectangle 21"/>
          <p:cNvSpPr/>
          <p:nvPr/>
        </p:nvSpPr>
        <p:spPr>
          <a:xfrm>
            <a:off x="7131520" y="4765760"/>
            <a:ext cx="43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960" y="4834340"/>
            <a:ext cx="4146080" cy="274320"/>
          </a:xfrm>
          <a:prstGeom prst="rect">
            <a:avLst/>
          </a:prstGeom>
          <a:noFill/>
        </p:spPr>
        <p:txBody>
          <a:bodyPr wrap="square">
            <a:spAutoFit/>
          </a:bodyPr>
          <a:lstStyle/>
          <a:p>
            <a:pPr algn="l"/>
            <a:r>
              <a:rPr sz="1400" b="0">
                <a:solidFill>
                  <a:srgbClr val="E0DED8"/>
                </a:solidFill>
                <a:latin typeface="Hiragino Sans"/>
              </a:rPr>
              <a:t>プロジェクト固有のMCP</a:t>
            </a:r>
          </a:p>
        </p:txBody>
      </p:sp>
      <p:sp>
        <p:nvSpPr>
          <p:cNvPr id="24" name="Rectangle 23"/>
          <p:cNvSpPr/>
          <p:nvPr/>
        </p:nvSpPr>
        <p:spPr>
          <a:xfrm>
            <a:off x="731520" y="5135760"/>
            <a:ext cx="36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204340"/>
            <a:ext cx="3417120" cy="274320"/>
          </a:xfrm>
          <a:prstGeom prst="rect">
            <a:avLst/>
          </a:prstGeom>
          <a:noFill/>
        </p:spPr>
        <p:txBody>
          <a:bodyPr wrap="square">
            <a:spAutoFit/>
          </a:bodyPr>
          <a:lstStyle/>
          <a:p>
            <a:pPr algn="l"/>
            <a:r>
              <a:rPr sz="1400" b="0">
                <a:solidFill>
                  <a:srgbClr val="FAF9F5"/>
                </a:solidFill>
                <a:latin typeface="SF Mono"/>
              </a:rPr>
              <a:t>~/.claude/settings.json</a:t>
            </a:r>
          </a:p>
        </p:txBody>
      </p:sp>
      <p:sp>
        <p:nvSpPr>
          <p:cNvPr id="26" name="Rectangle 25"/>
          <p:cNvSpPr/>
          <p:nvPr/>
        </p:nvSpPr>
        <p:spPr>
          <a:xfrm>
            <a:off x="4331520" y="5135760"/>
            <a:ext cx="28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2960" y="5204340"/>
            <a:ext cx="2617120" cy="274320"/>
          </a:xfrm>
          <a:prstGeom prst="rect">
            <a:avLst/>
          </a:prstGeom>
          <a:noFill/>
        </p:spPr>
        <p:txBody>
          <a:bodyPr wrap="square">
            <a:spAutoFit/>
          </a:bodyPr>
          <a:lstStyle/>
          <a:p>
            <a:pPr algn="l"/>
            <a:r>
              <a:rPr sz="1400" b="0">
                <a:solidFill>
                  <a:srgbClr val="E0DED8"/>
                </a:solidFill>
                <a:latin typeface="Hiragino Sans"/>
              </a:rPr>
              <a:t>自分だけ</a:t>
            </a:r>
          </a:p>
        </p:txBody>
      </p:sp>
      <p:sp>
        <p:nvSpPr>
          <p:cNvPr id="28" name="Rectangle 27"/>
          <p:cNvSpPr/>
          <p:nvPr/>
        </p:nvSpPr>
        <p:spPr>
          <a:xfrm>
            <a:off x="7131520" y="5135760"/>
            <a:ext cx="43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22960" y="5204340"/>
            <a:ext cx="4146080" cy="274320"/>
          </a:xfrm>
          <a:prstGeom prst="rect">
            <a:avLst/>
          </a:prstGeom>
          <a:noFill/>
        </p:spPr>
        <p:txBody>
          <a:bodyPr wrap="square">
            <a:spAutoFit/>
          </a:bodyPr>
          <a:lstStyle/>
          <a:p>
            <a:pPr algn="l"/>
            <a:r>
              <a:rPr sz="1400" b="0">
                <a:solidFill>
                  <a:srgbClr val="E0DED8"/>
                </a:solidFill>
                <a:latin typeface="Hiragino Sans"/>
              </a:rPr>
              <a:t>個人利用のMCP</a:t>
            </a:r>
          </a:p>
        </p:txBody>
      </p:sp>
      <p:sp>
        <p:nvSpPr>
          <p:cNvPr id="30" name="TextBox 29"/>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MCP</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MCP導入の判断基準</a:t>
            </a:r>
          </a:p>
        </p:txBody>
      </p:sp>
      <p:sp>
        <p:nvSpPr>
          <p:cNvPr id="4" name="TextBox 3"/>
          <p:cNvSpPr txBox="1"/>
          <p:nvPr/>
        </p:nvSpPr>
        <p:spPr>
          <a:xfrm>
            <a:off x="731520" y="1200000"/>
            <a:ext cx="5000000" cy="365760"/>
          </a:xfrm>
          <a:prstGeom prst="rect">
            <a:avLst/>
          </a:prstGeom>
          <a:noFill/>
        </p:spPr>
        <p:txBody>
          <a:bodyPr wrap="square">
            <a:spAutoFit/>
          </a:bodyPr>
          <a:lstStyle/>
          <a:p>
            <a:pPr algn="l"/>
            <a:r>
              <a:rPr sz="1800" b="1">
                <a:solidFill>
                  <a:srgbClr val="B0AEA5"/>
                </a:solidFill>
                <a:latin typeface="Hiragino Sans"/>
              </a:rPr>
              <a:t>判断フロー</a:t>
            </a:r>
          </a:p>
        </p:txBody>
      </p:sp>
      <p:sp>
        <p:nvSpPr>
          <p:cNvPr id="5" name="Rectangle 4"/>
          <p:cNvSpPr/>
          <p:nvPr/>
        </p:nvSpPr>
        <p:spPr>
          <a:xfrm>
            <a:off x="731520" y="1650000"/>
            <a:ext cx="500000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41440"/>
            <a:ext cx="4725680" cy="274320"/>
          </a:xfrm>
          <a:prstGeom prst="rect">
            <a:avLst/>
          </a:prstGeom>
          <a:noFill/>
        </p:spPr>
        <p:txBody>
          <a:bodyPr wrap="square">
            <a:spAutoFit/>
          </a:bodyPr>
          <a:lstStyle/>
          <a:p>
            <a:pPr algn="l"/>
            <a:r>
              <a:rPr sz="1500" b="1">
                <a:solidFill>
                  <a:srgbClr val="D97757"/>
                </a:solidFill>
                <a:latin typeface="Hiragino Sans"/>
              </a:rPr>
              <a:t>状況</a:t>
            </a:r>
          </a:p>
        </p:txBody>
      </p:sp>
      <p:sp>
        <p:nvSpPr>
          <p:cNvPr id="7" name="Rectangle 6"/>
          <p:cNvSpPr/>
          <p:nvPr/>
        </p:nvSpPr>
        <p:spPr>
          <a:xfrm>
            <a:off x="5731520" y="1650000"/>
            <a:ext cx="5728960" cy="40000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68680" y="1741440"/>
            <a:ext cx="5454640" cy="274320"/>
          </a:xfrm>
          <a:prstGeom prst="rect">
            <a:avLst/>
          </a:prstGeom>
          <a:noFill/>
        </p:spPr>
        <p:txBody>
          <a:bodyPr wrap="square">
            <a:spAutoFit/>
          </a:bodyPr>
          <a:lstStyle/>
          <a:p>
            <a:pPr algn="l"/>
            <a:r>
              <a:rPr sz="1500" b="1">
                <a:solidFill>
                  <a:srgbClr val="D97757"/>
                </a:solidFill>
                <a:latin typeface="Hiragino Sans"/>
              </a:rPr>
              <a:t>推奨</a:t>
            </a:r>
          </a:p>
        </p:txBody>
      </p:sp>
      <p:sp>
        <p:nvSpPr>
          <p:cNvPr id="9" name="Rectangle 8"/>
          <p:cNvSpPr/>
          <p:nvPr/>
        </p:nvSpPr>
        <p:spPr>
          <a:xfrm>
            <a:off x="731520" y="2050000"/>
            <a:ext cx="50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18580"/>
            <a:ext cx="4725680" cy="274320"/>
          </a:xfrm>
          <a:prstGeom prst="rect">
            <a:avLst/>
          </a:prstGeom>
          <a:noFill/>
        </p:spPr>
        <p:txBody>
          <a:bodyPr wrap="square">
            <a:spAutoFit/>
          </a:bodyPr>
          <a:lstStyle/>
          <a:p>
            <a:pPr algn="l"/>
            <a:r>
              <a:rPr sz="1400" b="0">
                <a:solidFill>
                  <a:srgbClr val="FAF9F5"/>
                </a:solidFill>
                <a:latin typeface="Hiragino Sans"/>
              </a:rPr>
              <a:t>CLIで十分</a:t>
            </a:r>
          </a:p>
        </p:txBody>
      </p:sp>
      <p:sp>
        <p:nvSpPr>
          <p:cNvPr id="11" name="Rectangle 10"/>
          <p:cNvSpPr/>
          <p:nvPr/>
        </p:nvSpPr>
        <p:spPr>
          <a:xfrm>
            <a:off x="5731520" y="2050000"/>
            <a:ext cx="5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68680" y="2118580"/>
            <a:ext cx="5454640" cy="274320"/>
          </a:xfrm>
          <a:prstGeom prst="rect">
            <a:avLst/>
          </a:prstGeom>
          <a:noFill/>
        </p:spPr>
        <p:txBody>
          <a:bodyPr wrap="square">
            <a:spAutoFit/>
          </a:bodyPr>
          <a:lstStyle/>
          <a:p>
            <a:pPr algn="l"/>
            <a:r>
              <a:rPr sz="1400" b="0">
                <a:solidFill>
                  <a:srgbClr val="E0DED8"/>
                </a:solidFill>
                <a:latin typeface="Hiragino Sans"/>
              </a:rPr>
              <a:t>CLI使用（gh、aws、kubectlなど）</a:t>
            </a:r>
          </a:p>
        </p:txBody>
      </p:sp>
      <p:sp>
        <p:nvSpPr>
          <p:cNvPr id="13" name="Rectangle 12"/>
          <p:cNvSpPr/>
          <p:nvPr/>
        </p:nvSpPr>
        <p:spPr>
          <a:xfrm>
            <a:off x="731520" y="2430000"/>
            <a:ext cx="50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98580"/>
            <a:ext cx="4725680" cy="274320"/>
          </a:xfrm>
          <a:prstGeom prst="rect">
            <a:avLst/>
          </a:prstGeom>
          <a:noFill/>
        </p:spPr>
        <p:txBody>
          <a:bodyPr wrap="square">
            <a:spAutoFit/>
          </a:bodyPr>
          <a:lstStyle/>
          <a:p>
            <a:pPr algn="l"/>
            <a:r>
              <a:rPr sz="1400" b="0">
                <a:solidFill>
                  <a:srgbClr val="FAF9F5"/>
                </a:solidFill>
                <a:latin typeface="Hiragino Sans"/>
              </a:rPr>
              <a:t>複雑な操作の連携が必要</a:t>
            </a:r>
          </a:p>
        </p:txBody>
      </p:sp>
      <p:sp>
        <p:nvSpPr>
          <p:cNvPr id="15" name="Rectangle 14"/>
          <p:cNvSpPr/>
          <p:nvPr/>
        </p:nvSpPr>
        <p:spPr>
          <a:xfrm>
            <a:off x="5731520" y="2430000"/>
            <a:ext cx="57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68680" y="2498580"/>
            <a:ext cx="5454640" cy="274320"/>
          </a:xfrm>
          <a:prstGeom prst="rect">
            <a:avLst/>
          </a:prstGeom>
          <a:noFill/>
        </p:spPr>
        <p:txBody>
          <a:bodyPr wrap="square">
            <a:spAutoFit/>
          </a:bodyPr>
          <a:lstStyle/>
          <a:p>
            <a:pPr algn="l"/>
            <a:r>
              <a:rPr sz="1400" b="0">
                <a:solidFill>
                  <a:srgbClr val="E0DED8"/>
                </a:solidFill>
                <a:latin typeface="Hiragino Sans"/>
              </a:rPr>
              <a:t>MCP検討</a:t>
            </a:r>
          </a:p>
        </p:txBody>
      </p:sp>
      <p:sp>
        <p:nvSpPr>
          <p:cNvPr id="17" name="Rectangle 16"/>
          <p:cNvSpPr/>
          <p:nvPr/>
        </p:nvSpPr>
        <p:spPr>
          <a:xfrm>
            <a:off x="731520" y="2810000"/>
            <a:ext cx="50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878580"/>
            <a:ext cx="4725680" cy="274320"/>
          </a:xfrm>
          <a:prstGeom prst="rect">
            <a:avLst/>
          </a:prstGeom>
          <a:noFill/>
        </p:spPr>
        <p:txBody>
          <a:bodyPr wrap="square">
            <a:spAutoFit/>
          </a:bodyPr>
          <a:lstStyle/>
          <a:p>
            <a:pPr algn="l"/>
            <a:r>
              <a:rPr sz="1400" b="0">
                <a:solidFill>
                  <a:srgbClr val="FAF9F5"/>
                </a:solidFill>
                <a:latin typeface="Hiragino Sans"/>
              </a:rPr>
              <a:t>ブラウザ操作が必要</a:t>
            </a:r>
          </a:p>
        </p:txBody>
      </p:sp>
      <p:sp>
        <p:nvSpPr>
          <p:cNvPr id="19" name="Rectangle 18"/>
          <p:cNvSpPr/>
          <p:nvPr/>
        </p:nvSpPr>
        <p:spPr>
          <a:xfrm>
            <a:off x="5731520" y="2810000"/>
            <a:ext cx="5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68680" y="2878580"/>
            <a:ext cx="5454640" cy="274320"/>
          </a:xfrm>
          <a:prstGeom prst="rect">
            <a:avLst/>
          </a:prstGeom>
          <a:noFill/>
        </p:spPr>
        <p:txBody>
          <a:bodyPr wrap="square">
            <a:spAutoFit/>
          </a:bodyPr>
          <a:lstStyle/>
          <a:p>
            <a:pPr algn="l"/>
            <a:r>
              <a:rPr sz="1400" b="0">
                <a:solidFill>
                  <a:srgbClr val="E0DED8"/>
                </a:solidFill>
                <a:latin typeface="Hiragino Sans"/>
              </a:rPr>
              <a:t>MCP使用（Chrome DevTools）</a:t>
            </a:r>
          </a:p>
        </p:txBody>
      </p:sp>
      <p:sp>
        <p:nvSpPr>
          <p:cNvPr id="21" name="Rectangle 20"/>
          <p:cNvSpPr/>
          <p:nvPr/>
        </p:nvSpPr>
        <p:spPr>
          <a:xfrm>
            <a:off x="731520" y="3190000"/>
            <a:ext cx="50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258580"/>
            <a:ext cx="4725680" cy="274320"/>
          </a:xfrm>
          <a:prstGeom prst="rect">
            <a:avLst/>
          </a:prstGeom>
          <a:noFill/>
        </p:spPr>
        <p:txBody>
          <a:bodyPr wrap="square">
            <a:spAutoFit/>
          </a:bodyPr>
          <a:lstStyle/>
          <a:p>
            <a:pPr algn="l"/>
            <a:r>
              <a:rPr sz="1400" b="0">
                <a:solidFill>
                  <a:srgbClr val="FAF9F5"/>
                </a:solidFill>
                <a:latin typeface="Hiragino Sans"/>
              </a:rPr>
              <a:t>大量データの取得</a:t>
            </a:r>
          </a:p>
        </p:txBody>
      </p:sp>
      <p:sp>
        <p:nvSpPr>
          <p:cNvPr id="23" name="Rectangle 22"/>
          <p:cNvSpPr/>
          <p:nvPr/>
        </p:nvSpPr>
        <p:spPr>
          <a:xfrm>
            <a:off x="5731520" y="3190000"/>
            <a:ext cx="572896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68680" y="3258580"/>
            <a:ext cx="5454640" cy="274320"/>
          </a:xfrm>
          <a:prstGeom prst="rect">
            <a:avLst/>
          </a:prstGeom>
          <a:noFill/>
        </p:spPr>
        <p:txBody>
          <a:bodyPr wrap="square">
            <a:spAutoFit/>
          </a:bodyPr>
          <a:lstStyle/>
          <a:p>
            <a:pPr algn="l"/>
            <a:r>
              <a:rPr sz="1400" b="0">
                <a:solidFill>
                  <a:srgbClr val="E0DED8"/>
                </a:solidFill>
                <a:latin typeface="Hiragino Sans"/>
              </a:rPr>
              <a:t>CLIまたはサブエージェントで分離</a:t>
            </a:r>
          </a:p>
        </p:txBody>
      </p:sp>
      <p:sp>
        <p:nvSpPr>
          <p:cNvPr id="25" name="Rectangle 24"/>
          <p:cNvSpPr/>
          <p:nvPr/>
        </p:nvSpPr>
        <p:spPr>
          <a:xfrm>
            <a:off x="731520" y="3570000"/>
            <a:ext cx="50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638580"/>
            <a:ext cx="4725680" cy="274320"/>
          </a:xfrm>
          <a:prstGeom prst="rect">
            <a:avLst/>
          </a:prstGeom>
          <a:noFill/>
        </p:spPr>
        <p:txBody>
          <a:bodyPr wrap="square">
            <a:spAutoFit/>
          </a:bodyPr>
          <a:lstStyle/>
          <a:p>
            <a:pPr algn="l"/>
            <a:r>
              <a:rPr sz="1400" b="0">
                <a:solidFill>
                  <a:srgbClr val="FAF9F5"/>
                </a:solidFill>
                <a:latin typeface="Hiragino Sans"/>
              </a:rPr>
              <a:t>権限管理が複雑</a:t>
            </a:r>
          </a:p>
        </p:txBody>
      </p:sp>
      <p:sp>
        <p:nvSpPr>
          <p:cNvPr id="27" name="Rectangle 26"/>
          <p:cNvSpPr/>
          <p:nvPr/>
        </p:nvSpPr>
        <p:spPr>
          <a:xfrm>
            <a:off x="5731520" y="3570000"/>
            <a:ext cx="572896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68680" y="3638580"/>
            <a:ext cx="5454640" cy="274320"/>
          </a:xfrm>
          <a:prstGeom prst="rect">
            <a:avLst/>
          </a:prstGeom>
          <a:noFill/>
        </p:spPr>
        <p:txBody>
          <a:bodyPr wrap="square">
            <a:spAutoFit/>
          </a:bodyPr>
          <a:lstStyle/>
          <a:p>
            <a:pPr algn="l"/>
            <a:r>
              <a:rPr sz="1400" b="0">
                <a:solidFill>
                  <a:srgbClr val="E0DED8"/>
                </a:solidFill>
                <a:latin typeface="Hiragino Sans"/>
              </a:rPr>
              <a:t>慎重に検討、または使用しない</a:t>
            </a:r>
          </a:p>
        </p:txBody>
      </p:sp>
      <p:cxnSp>
        <p:nvCxnSpPr>
          <p:cNvPr id="29" name="Connector 28"/>
          <p:cNvCxnSpPr/>
          <p:nvPr/>
        </p:nvCxnSpPr>
        <p:spPr>
          <a:xfrm>
            <a:off x="731520" y="38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3950000"/>
            <a:ext cx="5000000" cy="365760"/>
          </a:xfrm>
          <a:prstGeom prst="rect">
            <a:avLst/>
          </a:prstGeom>
          <a:noFill/>
        </p:spPr>
        <p:txBody>
          <a:bodyPr wrap="square">
            <a:spAutoFit/>
          </a:bodyPr>
          <a:lstStyle/>
          <a:p>
            <a:pPr algn="l"/>
            <a:r>
              <a:rPr sz="1800" b="1">
                <a:solidFill>
                  <a:srgbClr val="FAF9F5"/>
                </a:solidFill>
                <a:latin typeface="Hiragino Sans"/>
              </a:rPr>
              <a:t>導入時の3原則</a:t>
            </a:r>
          </a:p>
        </p:txBody>
      </p:sp>
      <p:sp>
        <p:nvSpPr>
          <p:cNvPr id="31" name="Rounded Rectangle 30"/>
          <p:cNvSpPr/>
          <p:nvPr/>
        </p:nvSpPr>
        <p:spPr>
          <a:xfrm>
            <a:off x="731520" y="4400000"/>
            <a:ext cx="3429000" cy="1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44000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8680" y="4550000"/>
            <a:ext cx="365760" cy="3657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1</a:t>
            </a:r>
          </a:p>
        </p:txBody>
      </p:sp>
      <p:sp>
        <p:nvSpPr>
          <p:cNvPr id="34" name="TextBox 33"/>
          <p:cNvSpPr txBox="1"/>
          <p:nvPr/>
        </p:nvSpPr>
        <p:spPr>
          <a:xfrm>
            <a:off x="1325880" y="4550000"/>
            <a:ext cx="2700000" cy="365760"/>
          </a:xfrm>
          <a:prstGeom prst="rect">
            <a:avLst/>
          </a:prstGeom>
          <a:noFill/>
        </p:spPr>
        <p:txBody>
          <a:bodyPr wrap="square">
            <a:spAutoFit/>
          </a:bodyPr>
          <a:lstStyle/>
          <a:p>
            <a:pPr algn="l"/>
            <a:r>
              <a:rPr sz="1600" b="1">
                <a:solidFill>
                  <a:srgbClr val="FAF9F5"/>
                </a:solidFill>
                <a:latin typeface="Hiragino Sans"/>
              </a:rPr>
              <a:t>最小権限</a:t>
            </a:r>
          </a:p>
        </p:txBody>
      </p:sp>
      <p:sp>
        <p:nvSpPr>
          <p:cNvPr id="35" name="TextBox 34"/>
          <p:cNvSpPr txBox="1"/>
          <p:nvPr/>
        </p:nvSpPr>
        <p:spPr>
          <a:xfrm>
            <a:off x="868680" y="5000000"/>
            <a:ext cx="3154680" cy="457200"/>
          </a:xfrm>
          <a:prstGeom prst="rect">
            <a:avLst/>
          </a:prstGeom>
          <a:noFill/>
        </p:spPr>
        <p:txBody>
          <a:bodyPr wrap="square">
            <a:spAutoFit/>
          </a:bodyPr>
          <a:lstStyle/>
          <a:p>
            <a:pPr algn="l"/>
            <a:r>
              <a:rPr sz="1400" b="0">
                <a:solidFill>
                  <a:srgbClr val="E0DED8"/>
                </a:solidFill>
                <a:latin typeface="Hiragino Sans"/>
              </a:rPr>
              <a:t>必要最小限の権限だけを与える</a:t>
            </a:r>
          </a:p>
        </p:txBody>
      </p:sp>
      <p:sp>
        <p:nvSpPr>
          <p:cNvPr id="36" name="Rounded Rectangle 35"/>
          <p:cNvSpPr/>
          <p:nvPr/>
        </p:nvSpPr>
        <p:spPr>
          <a:xfrm>
            <a:off x="4389120" y="4400000"/>
            <a:ext cx="3429000" cy="1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89120" y="44000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526280" y="4550000"/>
            <a:ext cx="365760" cy="36576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2</a:t>
            </a:r>
          </a:p>
        </p:txBody>
      </p:sp>
      <p:sp>
        <p:nvSpPr>
          <p:cNvPr id="39" name="TextBox 38"/>
          <p:cNvSpPr txBox="1"/>
          <p:nvPr/>
        </p:nvSpPr>
        <p:spPr>
          <a:xfrm>
            <a:off x="4983480" y="4550000"/>
            <a:ext cx="2700000" cy="365760"/>
          </a:xfrm>
          <a:prstGeom prst="rect">
            <a:avLst/>
          </a:prstGeom>
          <a:noFill/>
        </p:spPr>
        <p:txBody>
          <a:bodyPr wrap="square">
            <a:spAutoFit/>
          </a:bodyPr>
          <a:lstStyle/>
          <a:p>
            <a:pPr algn="l"/>
            <a:r>
              <a:rPr sz="1600" b="1">
                <a:solidFill>
                  <a:srgbClr val="FAF9F5"/>
                </a:solidFill>
                <a:latin typeface="Hiragino Sans"/>
              </a:rPr>
              <a:t>操作ログ</a:t>
            </a:r>
          </a:p>
        </p:txBody>
      </p:sp>
      <p:sp>
        <p:nvSpPr>
          <p:cNvPr id="40" name="TextBox 39"/>
          <p:cNvSpPr txBox="1"/>
          <p:nvPr/>
        </p:nvSpPr>
        <p:spPr>
          <a:xfrm>
            <a:off x="4526280" y="5000000"/>
            <a:ext cx="3154680" cy="457200"/>
          </a:xfrm>
          <a:prstGeom prst="rect">
            <a:avLst/>
          </a:prstGeom>
          <a:noFill/>
        </p:spPr>
        <p:txBody>
          <a:bodyPr wrap="square">
            <a:spAutoFit/>
          </a:bodyPr>
          <a:lstStyle/>
          <a:p>
            <a:pPr algn="l"/>
            <a:r>
              <a:rPr sz="1400" b="0">
                <a:solidFill>
                  <a:srgbClr val="E0DED8"/>
                </a:solidFill>
                <a:latin typeface="Hiragino Sans"/>
              </a:rPr>
              <a:t>実行内容を確認できるようにしておく</a:t>
            </a:r>
          </a:p>
        </p:txBody>
      </p:sp>
      <p:sp>
        <p:nvSpPr>
          <p:cNvPr id="41" name="Rounded Rectangle 40"/>
          <p:cNvSpPr/>
          <p:nvPr/>
        </p:nvSpPr>
        <p:spPr>
          <a:xfrm>
            <a:off x="8046720" y="4400000"/>
            <a:ext cx="3429000" cy="1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46720" y="44000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183880" y="4550000"/>
            <a:ext cx="365760" cy="365760"/>
          </a:xfrm>
          <a:prstGeom prst="ellipse">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AF9F5"/>
                </a:solidFill>
                <a:latin typeface="Helvetica Neue"/>
              </a:rPr>
              <a:t>3</a:t>
            </a:r>
          </a:p>
        </p:txBody>
      </p:sp>
      <p:sp>
        <p:nvSpPr>
          <p:cNvPr id="44" name="TextBox 43"/>
          <p:cNvSpPr txBox="1"/>
          <p:nvPr/>
        </p:nvSpPr>
        <p:spPr>
          <a:xfrm>
            <a:off x="8641080" y="4550000"/>
            <a:ext cx="2700000" cy="365760"/>
          </a:xfrm>
          <a:prstGeom prst="rect">
            <a:avLst/>
          </a:prstGeom>
          <a:noFill/>
        </p:spPr>
        <p:txBody>
          <a:bodyPr wrap="square">
            <a:spAutoFit/>
          </a:bodyPr>
          <a:lstStyle/>
          <a:p>
            <a:pPr algn="l"/>
            <a:r>
              <a:rPr sz="1600" b="1">
                <a:solidFill>
                  <a:srgbClr val="FAF9F5"/>
                </a:solidFill>
                <a:latin typeface="Hiragino Sans"/>
              </a:rPr>
              <a:t>承認フロー</a:t>
            </a:r>
          </a:p>
        </p:txBody>
      </p:sp>
      <p:sp>
        <p:nvSpPr>
          <p:cNvPr id="45" name="TextBox 44"/>
          <p:cNvSpPr txBox="1"/>
          <p:nvPr/>
        </p:nvSpPr>
        <p:spPr>
          <a:xfrm>
            <a:off x="8183880" y="5000000"/>
            <a:ext cx="3154680" cy="457200"/>
          </a:xfrm>
          <a:prstGeom prst="rect">
            <a:avLst/>
          </a:prstGeom>
          <a:noFill/>
        </p:spPr>
        <p:txBody>
          <a:bodyPr wrap="square">
            <a:spAutoFit/>
          </a:bodyPr>
          <a:lstStyle/>
          <a:p>
            <a:pPr algn="l"/>
            <a:r>
              <a:rPr sz="1400" b="0">
                <a:solidFill>
                  <a:srgbClr val="E0DED8"/>
                </a:solidFill>
                <a:latin typeface="Hiragino Sans"/>
              </a:rPr>
              <a:t>重要な操作は自動実行せず承認を挟む</a:t>
            </a:r>
          </a:p>
        </p:txBody>
      </p:sp>
      <p:sp>
        <p:nvSpPr>
          <p:cNvPr id="46" name="TextBox 45"/>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2</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worktree</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並列で、ブレずに進める</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9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worktree</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Git worktreeとは</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B0AEA5"/>
                </a:solidFill>
                <a:latin typeface="Hiragino Sans"/>
              </a:rPr>
              <a:t>同じリポジトリから複数の作業ディレクトリを作成する機能</a:t>
            </a:r>
          </a:p>
        </p:txBody>
      </p:sp>
      <p:sp>
        <p:nvSpPr>
          <p:cNvPr id="5" name="Rounded Rectangle 4"/>
          <p:cNvSpPr/>
          <p:nvPr/>
        </p:nvSpPr>
        <p:spPr>
          <a:xfrm>
            <a:off x="731520" y="1700000"/>
            <a:ext cx="5200000" cy="1800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91440"/>
            <a:ext cx="4925680" cy="1617120"/>
          </a:xfrm>
          <a:prstGeom prst="rect">
            <a:avLst/>
          </a:prstGeom>
          <a:noFill/>
        </p:spPr>
        <p:txBody>
          <a:bodyPr wrap="square">
            <a:spAutoFit/>
          </a:bodyPr>
          <a:lstStyle/>
          <a:p>
            <a:pPr algn="l"/>
            <a:r>
              <a:rPr sz="1200" b="0">
                <a:solidFill>
                  <a:srgbClr val="E0DED8"/>
                </a:solidFill>
                <a:latin typeface="SF Mono"/>
              </a:rPr>
              <a:t>my-project/（メイン）</a:t>
            </a:r>
          </a:p>
          <a:p>
            <a:pPr algn="l"/>
            <a:r>
              <a:rPr sz="1200" b="0">
                <a:solidFill>
                  <a:srgbClr val="E0DED8"/>
                </a:solidFill>
                <a:latin typeface="SF Mono"/>
              </a:rPr>
              <a:t>├── .git/</a:t>
            </a:r>
          </a:p>
          <a:p>
            <a:pPr algn="l"/>
            <a:r>
              <a:rPr sz="1200" b="0">
                <a:solidFill>
                  <a:srgbClr val="E0DED8"/>
                </a:solidFill>
                <a:latin typeface="SF Mono"/>
              </a:rPr>
              <a:t>└── src/</a:t>
            </a:r>
          </a:p>
          <a:p>
            <a:pPr algn="l"/>
            <a:r>
              <a:rPr sz="1200" b="0">
                <a:solidFill>
                  <a:srgbClr val="E0DED8"/>
                </a:solidFill>
                <a:latin typeface="SF Mono"/>
              </a:rPr>
              <a:t/>
            </a:r>
          </a:p>
          <a:p>
            <a:pPr algn="l"/>
            <a:r>
              <a:rPr sz="1200" b="0">
                <a:solidFill>
                  <a:srgbClr val="E0DED8"/>
                </a:solidFill>
                <a:latin typeface="SF Mono"/>
              </a:rPr>
              <a:t>my-project-feature-a/（worktree A）</a:t>
            </a:r>
          </a:p>
          <a:p>
            <a:pPr algn="l"/>
            <a:r>
              <a:rPr sz="1200" b="0">
                <a:solidFill>
                  <a:srgbClr val="E0DED8"/>
                </a:solidFill>
                <a:latin typeface="SF Mono"/>
              </a:rPr>
              <a:t>└── src/  ← Issue #123 の作業</a:t>
            </a:r>
          </a:p>
          <a:p>
            <a:pPr algn="l"/>
            <a:r>
              <a:rPr sz="1200" b="0">
                <a:solidFill>
                  <a:srgbClr val="E0DED8"/>
                </a:solidFill>
                <a:latin typeface="SF Mono"/>
              </a:rPr>
              <a:t/>
            </a:r>
          </a:p>
          <a:p>
            <a:pPr algn="l"/>
            <a:r>
              <a:rPr sz="1200" b="0">
                <a:solidFill>
                  <a:srgbClr val="E0DED8"/>
                </a:solidFill>
                <a:latin typeface="SF Mono"/>
              </a:rPr>
              <a:t>my-project-bugfix/（worktree B）</a:t>
            </a:r>
          </a:p>
          <a:p>
            <a:pPr algn="l"/>
            <a:r>
              <a:rPr sz="1200" b="0">
                <a:solidFill>
                  <a:srgbClr val="E0DED8"/>
                </a:solidFill>
                <a:latin typeface="SF Mono"/>
              </a:rPr>
              <a:t>└── src/  ← Issue #456 の作業</a:t>
            </a:r>
          </a:p>
        </p:txBody>
      </p:sp>
      <p:sp>
        <p:nvSpPr>
          <p:cNvPr id="7" name="TextBox 6"/>
          <p:cNvSpPr txBox="1"/>
          <p:nvPr/>
        </p:nvSpPr>
        <p:spPr>
          <a:xfrm>
            <a:off x="6200000" y="1700000"/>
            <a:ext cx="5000000" cy="365760"/>
          </a:xfrm>
          <a:prstGeom prst="rect">
            <a:avLst/>
          </a:prstGeom>
          <a:noFill/>
        </p:spPr>
        <p:txBody>
          <a:bodyPr wrap="square">
            <a:spAutoFit/>
          </a:bodyPr>
          <a:lstStyle/>
          <a:p>
            <a:pPr algn="l"/>
            <a:r>
              <a:rPr sz="1800" b="1">
                <a:solidFill>
                  <a:srgbClr val="FAF9F5"/>
                </a:solidFill>
                <a:latin typeface="Hiragino Sans"/>
              </a:rPr>
              <a:t>特徴</a:t>
            </a:r>
          </a:p>
        </p:txBody>
      </p:sp>
      <p:sp>
        <p:nvSpPr>
          <p:cNvPr id="8" name="TextBox 7"/>
          <p:cNvSpPr txBox="1"/>
          <p:nvPr/>
        </p:nvSpPr>
        <p:spPr>
          <a:xfrm>
            <a:off x="6400000" y="2150000"/>
            <a:ext cx="5000000" cy="274320"/>
          </a:xfrm>
          <a:prstGeom prst="rect">
            <a:avLst/>
          </a:prstGeom>
          <a:noFill/>
        </p:spPr>
        <p:txBody>
          <a:bodyPr wrap="square">
            <a:spAutoFit/>
          </a:bodyPr>
          <a:lstStyle/>
          <a:p>
            <a:pPr algn="l"/>
            <a:r>
              <a:rPr sz="1500" b="0">
                <a:solidFill>
                  <a:srgbClr val="E0DED8"/>
                </a:solidFill>
                <a:latin typeface="Hiragino Sans"/>
              </a:rPr>
              <a:t>•  各worktreeは独立したファイル状態を持つ</a:t>
            </a:r>
          </a:p>
        </p:txBody>
      </p:sp>
      <p:sp>
        <p:nvSpPr>
          <p:cNvPr id="9" name="TextBox 8"/>
          <p:cNvSpPr txBox="1"/>
          <p:nvPr/>
        </p:nvSpPr>
        <p:spPr>
          <a:xfrm>
            <a:off x="6400000" y="2515760"/>
            <a:ext cx="5000000" cy="274320"/>
          </a:xfrm>
          <a:prstGeom prst="rect">
            <a:avLst/>
          </a:prstGeom>
          <a:noFill/>
        </p:spPr>
        <p:txBody>
          <a:bodyPr wrap="square">
            <a:spAutoFit/>
          </a:bodyPr>
          <a:lstStyle/>
          <a:p>
            <a:pPr algn="l"/>
            <a:r>
              <a:rPr sz="1500" b="0">
                <a:solidFill>
                  <a:srgbClr val="E0DED8"/>
                </a:solidFill>
                <a:latin typeface="Hiragino Sans"/>
              </a:rPr>
              <a:t>•  同じGit履歴を共有する</a:t>
            </a:r>
          </a:p>
        </p:txBody>
      </p:sp>
      <p:sp>
        <p:nvSpPr>
          <p:cNvPr id="10" name="TextBox 9"/>
          <p:cNvSpPr txBox="1"/>
          <p:nvPr/>
        </p:nvSpPr>
        <p:spPr>
          <a:xfrm>
            <a:off x="6400000" y="2881520"/>
            <a:ext cx="5000000" cy="274320"/>
          </a:xfrm>
          <a:prstGeom prst="rect">
            <a:avLst/>
          </a:prstGeom>
          <a:noFill/>
        </p:spPr>
        <p:txBody>
          <a:bodyPr wrap="square">
            <a:spAutoFit/>
          </a:bodyPr>
          <a:lstStyle/>
          <a:p>
            <a:pPr algn="l"/>
            <a:r>
              <a:rPr sz="1500" b="0">
                <a:solidFill>
                  <a:srgbClr val="E0DED8"/>
                </a:solidFill>
                <a:latin typeface="Hiragino Sans"/>
              </a:rPr>
              <a:t>•  ブランチ切り替え不要（stash も不要）</a:t>
            </a:r>
          </a:p>
        </p:txBody>
      </p:sp>
      <p:cxnSp>
        <p:nvCxnSpPr>
          <p:cNvPr id="11" name="Connector 10"/>
          <p:cNvCxnSpPr/>
          <p:nvPr/>
        </p:nvCxnSpPr>
        <p:spPr>
          <a:xfrm>
            <a:off x="731520" y="38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950000"/>
            <a:ext cx="10000000" cy="365760"/>
          </a:xfrm>
          <a:prstGeom prst="rect">
            <a:avLst/>
          </a:prstGeom>
          <a:noFill/>
        </p:spPr>
        <p:txBody>
          <a:bodyPr wrap="square">
            <a:spAutoFit/>
          </a:bodyPr>
          <a:lstStyle/>
          <a:p>
            <a:pPr algn="l"/>
            <a:r>
              <a:rPr sz="1800" b="1">
                <a:solidFill>
                  <a:srgbClr val="D97757"/>
                </a:solidFill>
                <a:latin typeface="Hiragino Sans"/>
              </a:rPr>
              <a:t>Claude Codeとの相性</a:t>
            </a:r>
          </a:p>
        </p:txBody>
      </p:sp>
      <p:sp>
        <p:nvSpPr>
          <p:cNvPr id="13" name="TextBox 12"/>
          <p:cNvSpPr txBox="1"/>
          <p:nvPr/>
        </p:nvSpPr>
        <p:spPr>
          <a:xfrm>
            <a:off x="914400" y="4400000"/>
            <a:ext cx="10000000" cy="274320"/>
          </a:xfrm>
          <a:prstGeom prst="rect">
            <a:avLst/>
          </a:prstGeom>
          <a:noFill/>
        </p:spPr>
        <p:txBody>
          <a:bodyPr wrap="square">
            <a:spAutoFit/>
          </a:bodyPr>
          <a:lstStyle/>
          <a:p>
            <a:pPr algn="l"/>
            <a:r>
              <a:rPr sz="1500" b="0">
                <a:solidFill>
                  <a:srgbClr val="E0DED8"/>
                </a:solidFill>
                <a:latin typeface="Hiragino Sans"/>
              </a:rPr>
              <a:t>•  各worktreeで独立したClaude Codeセッションを起動できる</a:t>
            </a:r>
          </a:p>
        </p:txBody>
      </p:sp>
      <p:sp>
        <p:nvSpPr>
          <p:cNvPr id="14" name="TextBox 13"/>
          <p:cNvSpPr txBox="1"/>
          <p:nvPr/>
        </p:nvSpPr>
        <p:spPr>
          <a:xfrm>
            <a:off x="914400" y="4765760"/>
            <a:ext cx="10000000" cy="274320"/>
          </a:xfrm>
          <a:prstGeom prst="rect">
            <a:avLst/>
          </a:prstGeom>
          <a:noFill/>
        </p:spPr>
        <p:txBody>
          <a:bodyPr wrap="square">
            <a:spAutoFit/>
          </a:bodyPr>
          <a:lstStyle/>
          <a:p>
            <a:pPr algn="l"/>
            <a:r>
              <a:rPr sz="1500" b="0">
                <a:solidFill>
                  <a:srgbClr val="E0DED8"/>
                </a:solidFill>
                <a:latin typeface="Hiragino Sans"/>
              </a:rPr>
              <a:t>•  あるworktreeでの変更が別のworktreeに影響しない</a:t>
            </a:r>
          </a:p>
        </p:txBody>
      </p:sp>
      <p:sp>
        <p:nvSpPr>
          <p:cNvPr id="15" name="Rectangle 14"/>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各worktreeで独立したClaude Codeセッションを起動し、並列で作業を進める</a:t>
            </a:r>
          </a:p>
        </p:txBody>
      </p:sp>
      <p:sp>
        <p:nvSpPr>
          <p:cNvPr id="18" name="TextBox 17"/>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10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worktree</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worktree + ISSUE.md</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D97757"/>
                </a:solidFill>
                <a:latin typeface="Hiragino Sans"/>
              </a:rPr>
              <a:t>ISSUE.md = worktreeの「地図」</a:t>
            </a:r>
          </a:p>
        </p:txBody>
      </p:sp>
      <p:sp>
        <p:nvSpPr>
          <p:cNvPr id="5" name="Rounded Rectangle 4"/>
          <p:cNvSpPr/>
          <p:nvPr/>
        </p:nvSpPr>
        <p:spPr>
          <a:xfrm>
            <a:off x="731520" y="1650000"/>
            <a:ext cx="5200000" cy="2000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41440"/>
            <a:ext cx="4925680" cy="1817120"/>
          </a:xfrm>
          <a:prstGeom prst="rect">
            <a:avLst/>
          </a:prstGeom>
          <a:noFill/>
        </p:spPr>
        <p:txBody>
          <a:bodyPr wrap="square">
            <a:spAutoFit/>
          </a:bodyPr>
          <a:lstStyle/>
          <a:p>
            <a:pPr algn="l"/>
            <a:r>
              <a:rPr sz="1200" b="0">
                <a:solidFill>
                  <a:srgbClr val="E0DED8"/>
                </a:solidFill>
                <a:latin typeface="SF Mono"/>
              </a:rPr>
              <a:t># Issue #123</a:t>
            </a:r>
          </a:p>
          <a:p>
            <a:pPr algn="l"/>
            <a:r>
              <a:rPr sz="1200" b="0">
                <a:solidFill>
                  <a:srgbClr val="E0DED8"/>
                </a:solidFill>
                <a:latin typeface="SF Mono"/>
              </a:rPr>
              <a:t/>
            </a:r>
          </a:p>
          <a:p>
            <a:pPr algn="l"/>
            <a:r>
              <a:rPr sz="1200" b="0">
                <a:solidFill>
                  <a:srgbClr val="E0DED8"/>
                </a:solidFill>
                <a:latin typeface="SF Mono"/>
              </a:rPr>
              <a:t>## タイトル</a:t>
            </a:r>
          </a:p>
          <a:p>
            <a:pPr algn="l"/>
            <a:r>
              <a:rPr sz="1200" b="0">
                <a:solidFill>
                  <a:srgbClr val="E0DED8"/>
                </a:solidFill>
                <a:latin typeface="SF Mono"/>
              </a:rPr>
              <a:t>APIのタイムアウトエラーを修正</a:t>
            </a:r>
          </a:p>
          <a:p>
            <a:pPr algn="l"/>
            <a:r>
              <a:rPr sz="1200" b="0">
                <a:solidFill>
                  <a:srgbClr val="E0DED8"/>
                </a:solidFill>
                <a:latin typeface="SF Mono"/>
              </a:rPr>
              <a:t/>
            </a:r>
          </a:p>
          <a:p>
            <a:pPr algn="l"/>
            <a:r>
              <a:rPr sz="1200" b="0">
                <a:solidFill>
                  <a:srgbClr val="E0DED8"/>
                </a:solidFill>
                <a:latin typeface="SF Mono"/>
              </a:rPr>
              <a:t>## 本文</a:t>
            </a:r>
          </a:p>
          <a:p>
            <a:pPr algn="l"/>
            <a:r>
              <a:rPr sz="1200" b="0">
                <a:solidFill>
                  <a:srgbClr val="E0DED8"/>
                </a:solidFill>
                <a:latin typeface="SF Mono"/>
              </a:rPr>
              <a:t>直近のデプロイ以降、一部のAPIで</a:t>
            </a:r>
          </a:p>
          <a:p>
            <a:pPr algn="l"/>
            <a:r>
              <a:rPr sz="1200" b="0">
                <a:solidFill>
                  <a:srgbClr val="E0DED8"/>
                </a:solidFill>
                <a:latin typeface="SF Mono"/>
              </a:rPr>
              <a:t>タイムアウトが発生している。</a:t>
            </a:r>
          </a:p>
          <a:p>
            <a:pPr algn="l"/>
            <a:r>
              <a:rPr sz="1200" b="0">
                <a:solidFill>
                  <a:srgbClr val="E0DED8"/>
                </a:solidFill>
                <a:latin typeface="SF Mono"/>
              </a:rPr>
              <a:t>接続先の設定変更が原因の可能性。</a:t>
            </a:r>
          </a:p>
          <a:p>
            <a:pPr algn="l"/>
            <a:r>
              <a:rPr sz="1200" b="0">
                <a:solidFill>
                  <a:srgbClr val="E0DED8"/>
                </a:solidFill>
                <a:latin typeface="SF Mono"/>
              </a:rPr>
              <a:t/>
            </a:r>
          </a:p>
          <a:p>
            <a:pPr algn="l"/>
            <a:r>
              <a:rPr sz="1200" b="0">
                <a:solidFill>
                  <a:srgbClr val="E0DED8"/>
                </a:solidFill>
                <a:latin typeface="SF Mono"/>
              </a:rPr>
              <a:t>## Comments</a:t>
            </a:r>
          </a:p>
          <a:p>
            <a:pPr algn="l"/>
            <a:r>
              <a:rPr sz="1200" b="0">
                <a:solidFill>
                  <a:srgbClr val="E0DED8"/>
                </a:solidFill>
                <a:latin typeface="SF Mono"/>
              </a:rPr>
              <a:t>...（ghコマンドで取得）</a:t>
            </a:r>
          </a:p>
        </p:txBody>
      </p:sp>
      <p:sp>
        <p:nvSpPr>
          <p:cNvPr id="7" name="TextBox 6"/>
          <p:cNvSpPr txBox="1"/>
          <p:nvPr/>
        </p:nvSpPr>
        <p:spPr>
          <a:xfrm>
            <a:off x="6200000" y="1200000"/>
            <a:ext cx="5000000" cy="365760"/>
          </a:xfrm>
          <a:prstGeom prst="rect">
            <a:avLst/>
          </a:prstGeom>
          <a:noFill/>
        </p:spPr>
        <p:txBody>
          <a:bodyPr wrap="square">
            <a:spAutoFit/>
          </a:bodyPr>
          <a:lstStyle/>
          <a:p>
            <a:pPr algn="l"/>
            <a:r>
              <a:rPr sz="1800" b="1">
                <a:solidFill>
                  <a:srgbClr val="FAF9F5"/>
                </a:solidFill>
                <a:latin typeface="Hiragino Sans"/>
              </a:rPr>
              <a:t>なぜ有効か</a:t>
            </a:r>
          </a:p>
        </p:txBody>
      </p:sp>
      <p:sp>
        <p:nvSpPr>
          <p:cNvPr id="8" name="Rounded Rectangle 7"/>
          <p:cNvSpPr/>
          <p:nvPr/>
        </p:nvSpPr>
        <p:spPr>
          <a:xfrm>
            <a:off x="6200000" y="1650000"/>
            <a:ext cx="526096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00000" y="1650000"/>
            <a:ext cx="54864" cy="5000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000" y="1695720"/>
            <a:ext cx="2000000" cy="274320"/>
          </a:xfrm>
          <a:prstGeom prst="rect">
            <a:avLst/>
          </a:prstGeom>
          <a:noFill/>
        </p:spPr>
        <p:txBody>
          <a:bodyPr wrap="square">
            <a:spAutoFit/>
          </a:bodyPr>
          <a:lstStyle/>
          <a:p>
            <a:pPr algn="l"/>
            <a:r>
              <a:rPr sz="1400" b="1">
                <a:solidFill>
                  <a:srgbClr val="D97757"/>
                </a:solidFill>
                <a:latin typeface="Hiragino Sans"/>
              </a:rPr>
              <a:t>方向性が明確</a:t>
            </a:r>
          </a:p>
        </p:txBody>
      </p:sp>
      <p:sp>
        <p:nvSpPr>
          <p:cNvPr id="11" name="TextBox 10"/>
          <p:cNvSpPr txBox="1"/>
          <p:nvPr/>
        </p:nvSpPr>
        <p:spPr>
          <a:xfrm>
            <a:off x="8200000" y="1695720"/>
            <a:ext cx="3000000" cy="457200"/>
          </a:xfrm>
          <a:prstGeom prst="rect">
            <a:avLst/>
          </a:prstGeom>
          <a:noFill/>
        </p:spPr>
        <p:txBody>
          <a:bodyPr wrap="square">
            <a:spAutoFit/>
          </a:bodyPr>
          <a:lstStyle/>
          <a:p>
            <a:pPr algn="l"/>
            <a:r>
              <a:rPr sz="1200" b="0">
                <a:solidFill>
                  <a:srgbClr val="E0DED8"/>
                </a:solidFill>
                <a:latin typeface="Hiragino Sans"/>
              </a:rPr>
              <a:t>「何をすべきか」がISSUE.mdに</a:t>
            </a:r>
          </a:p>
          <a:p>
            <a:pPr algn="l"/>
            <a:r>
              <a:rPr sz="1200" b="0">
                <a:solidFill>
                  <a:srgbClr val="E0DED8"/>
                </a:solidFill>
                <a:latin typeface="Hiragino Sans"/>
              </a:rPr>
              <a:t>書いてある</a:t>
            </a:r>
          </a:p>
        </p:txBody>
      </p:sp>
      <p:sp>
        <p:nvSpPr>
          <p:cNvPr id="12" name="Rounded Rectangle 11"/>
          <p:cNvSpPr/>
          <p:nvPr/>
        </p:nvSpPr>
        <p:spPr>
          <a:xfrm>
            <a:off x="6200000" y="2198640"/>
            <a:ext cx="526096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00000" y="2198640"/>
            <a:ext cx="54864" cy="500000"/>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000" y="2244360"/>
            <a:ext cx="2000000" cy="274320"/>
          </a:xfrm>
          <a:prstGeom prst="rect">
            <a:avLst/>
          </a:prstGeom>
          <a:noFill/>
        </p:spPr>
        <p:txBody>
          <a:bodyPr wrap="square">
            <a:spAutoFit/>
          </a:bodyPr>
          <a:lstStyle/>
          <a:p>
            <a:pPr algn="l"/>
            <a:r>
              <a:rPr sz="1400" b="1">
                <a:solidFill>
                  <a:srgbClr val="6A9BCC"/>
                </a:solidFill>
                <a:latin typeface="Hiragino Sans"/>
              </a:rPr>
              <a:t>自動化しやすい</a:t>
            </a:r>
          </a:p>
        </p:txBody>
      </p:sp>
      <p:sp>
        <p:nvSpPr>
          <p:cNvPr id="15" name="TextBox 14"/>
          <p:cNvSpPr txBox="1"/>
          <p:nvPr/>
        </p:nvSpPr>
        <p:spPr>
          <a:xfrm>
            <a:off x="8200000" y="2244360"/>
            <a:ext cx="3000000" cy="457200"/>
          </a:xfrm>
          <a:prstGeom prst="rect">
            <a:avLst/>
          </a:prstGeom>
          <a:noFill/>
        </p:spPr>
        <p:txBody>
          <a:bodyPr wrap="square">
            <a:spAutoFit/>
          </a:bodyPr>
          <a:lstStyle/>
          <a:p>
            <a:pPr algn="l"/>
            <a:r>
              <a:rPr sz="1200" b="0">
                <a:solidFill>
                  <a:srgbClr val="E0DED8"/>
                </a:solidFill>
                <a:latin typeface="Hiragino Sans"/>
              </a:rPr>
              <a:t>worktree作成 + ISSUE.md生成を</a:t>
            </a:r>
          </a:p>
          <a:p>
            <a:pPr algn="l"/>
            <a:r>
              <a:rPr sz="1200" b="0">
                <a:solidFill>
                  <a:srgbClr val="E0DED8"/>
                </a:solidFill>
                <a:latin typeface="Hiragino Sans"/>
              </a:rPr>
              <a:t>スクリプト化</a:t>
            </a:r>
          </a:p>
        </p:txBody>
      </p:sp>
      <p:sp>
        <p:nvSpPr>
          <p:cNvPr id="16" name="Rounded Rectangle 15"/>
          <p:cNvSpPr/>
          <p:nvPr/>
        </p:nvSpPr>
        <p:spPr>
          <a:xfrm>
            <a:off x="6200000" y="2747280"/>
            <a:ext cx="526096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0000" y="2747280"/>
            <a:ext cx="54864" cy="500000"/>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000" y="2793000"/>
            <a:ext cx="2000000" cy="274320"/>
          </a:xfrm>
          <a:prstGeom prst="rect">
            <a:avLst/>
          </a:prstGeom>
          <a:noFill/>
        </p:spPr>
        <p:txBody>
          <a:bodyPr wrap="square">
            <a:spAutoFit/>
          </a:bodyPr>
          <a:lstStyle/>
          <a:p>
            <a:pPr algn="l"/>
            <a:r>
              <a:rPr sz="1400" b="1">
                <a:solidFill>
                  <a:srgbClr val="7BC9A0"/>
                </a:solidFill>
                <a:latin typeface="Hiragino Sans"/>
              </a:rPr>
              <a:t>干渉がない</a:t>
            </a:r>
          </a:p>
        </p:txBody>
      </p:sp>
      <p:sp>
        <p:nvSpPr>
          <p:cNvPr id="19" name="TextBox 18"/>
          <p:cNvSpPr txBox="1"/>
          <p:nvPr/>
        </p:nvSpPr>
        <p:spPr>
          <a:xfrm>
            <a:off x="8200000" y="2793000"/>
            <a:ext cx="3000000" cy="457200"/>
          </a:xfrm>
          <a:prstGeom prst="rect">
            <a:avLst/>
          </a:prstGeom>
          <a:noFill/>
        </p:spPr>
        <p:txBody>
          <a:bodyPr wrap="square">
            <a:spAutoFit/>
          </a:bodyPr>
          <a:lstStyle/>
          <a:p>
            <a:pPr algn="l"/>
            <a:r>
              <a:rPr sz="1200" b="0">
                <a:solidFill>
                  <a:srgbClr val="E0DED8"/>
                </a:solidFill>
                <a:latin typeface="Hiragino Sans"/>
              </a:rPr>
              <a:t>各worktreeは独立したファイル状態</a:t>
            </a:r>
          </a:p>
        </p:txBody>
      </p:sp>
      <p:sp>
        <p:nvSpPr>
          <p:cNvPr id="20" name="Rounded Rectangle 19"/>
          <p:cNvSpPr/>
          <p:nvPr/>
        </p:nvSpPr>
        <p:spPr>
          <a:xfrm>
            <a:off x="6200000" y="3295920"/>
            <a:ext cx="5260960" cy="5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0000" y="3295920"/>
            <a:ext cx="54864" cy="500000"/>
          </a:xfrm>
          <a:prstGeom prst="rect">
            <a:avLst/>
          </a:prstGeom>
          <a:solidFill>
            <a:srgbClr val="CCA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000" y="3341640"/>
            <a:ext cx="2000000" cy="274320"/>
          </a:xfrm>
          <a:prstGeom prst="rect">
            <a:avLst/>
          </a:prstGeom>
          <a:noFill/>
        </p:spPr>
        <p:txBody>
          <a:bodyPr wrap="square">
            <a:spAutoFit/>
          </a:bodyPr>
          <a:lstStyle/>
          <a:p>
            <a:pPr algn="l"/>
            <a:r>
              <a:rPr sz="1400" b="1">
                <a:solidFill>
                  <a:srgbClr val="CCAA55"/>
                </a:solidFill>
                <a:latin typeface="Hiragino Sans"/>
              </a:rPr>
              <a:t>すぐ始められる</a:t>
            </a:r>
          </a:p>
        </p:txBody>
      </p:sp>
      <p:sp>
        <p:nvSpPr>
          <p:cNvPr id="23" name="TextBox 22"/>
          <p:cNvSpPr txBox="1"/>
          <p:nvPr/>
        </p:nvSpPr>
        <p:spPr>
          <a:xfrm>
            <a:off x="8200000" y="3341640"/>
            <a:ext cx="3000000" cy="457200"/>
          </a:xfrm>
          <a:prstGeom prst="rect">
            <a:avLst/>
          </a:prstGeom>
          <a:noFill/>
        </p:spPr>
        <p:txBody>
          <a:bodyPr wrap="square">
            <a:spAutoFit/>
          </a:bodyPr>
          <a:lstStyle/>
          <a:p>
            <a:pPr algn="l"/>
            <a:r>
              <a:rPr sz="1200" b="0">
                <a:solidFill>
                  <a:srgbClr val="E0DED8"/>
                </a:solidFill>
                <a:latin typeface="Hiragino Sans"/>
              </a:rPr>
              <a:t>「ISSUE.mdを読んで計画を立てて」</a:t>
            </a:r>
          </a:p>
          <a:p>
            <a:pPr algn="l"/>
            <a:r>
              <a:rPr sz="1200" b="0">
                <a:solidFill>
                  <a:srgbClr val="E0DED8"/>
                </a:solidFill>
                <a:latin typeface="Hiragino Sans"/>
              </a:rPr>
              <a:t>の一言で開始</a:t>
            </a:r>
          </a:p>
        </p:txBody>
      </p:sp>
      <p:sp>
        <p:nvSpPr>
          <p:cNvPr id="24" name="Rectangle 23"/>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「ISSUE.mdを読んで計画を立てて」の一言で作業を開始</a:t>
            </a:r>
          </a:p>
        </p:txBody>
      </p:sp>
      <p:sp>
        <p:nvSpPr>
          <p:cNvPr id="27" name="TextBox 2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11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2 — worktree</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実践ワークフロー</a:t>
            </a:r>
          </a:p>
        </p:txBody>
      </p:sp>
      <p:sp>
        <p:nvSpPr>
          <p:cNvPr id="4" name="TextBox 3"/>
          <p:cNvSpPr txBox="1"/>
          <p:nvPr/>
        </p:nvSpPr>
        <p:spPr>
          <a:xfrm>
            <a:off x="731520" y="1100000"/>
            <a:ext cx="5000000" cy="365760"/>
          </a:xfrm>
          <a:prstGeom prst="rect">
            <a:avLst/>
          </a:prstGeom>
          <a:noFill/>
        </p:spPr>
        <p:txBody>
          <a:bodyPr wrap="square">
            <a:spAutoFit/>
          </a:bodyPr>
          <a:lstStyle/>
          <a:p>
            <a:pPr algn="l"/>
            <a:r>
              <a:rPr sz="1600" b="1">
                <a:solidFill>
                  <a:srgbClr val="D97757"/>
                </a:solidFill>
                <a:latin typeface="Hiragino Sans"/>
              </a:rPr>
              <a:t>セットアップスクリプト</a:t>
            </a:r>
          </a:p>
        </p:txBody>
      </p:sp>
      <p:sp>
        <p:nvSpPr>
          <p:cNvPr id="5" name="Rounded Rectangle 4"/>
          <p:cNvSpPr/>
          <p:nvPr/>
        </p:nvSpPr>
        <p:spPr>
          <a:xfrm>
            <a:off x="731520" y="1500000"/>
            <a:ext cx="5486400" cy="28000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91440"/>
            <a:ext cx="5212080" cy="2617120"/>
          </a:xfrm>
          <a:prstGeom prst="rect">
            <a:avLst/>
          </a:prstGeom>
          <a:noFill/>
        </p:spPr>
        <p:txBody>
          <a:bodyPr wrap="square">
            <a:spAutoFit/>
          </a:bodyPr>
          <a:lstStyle/>
          <a:p>
            <a:pPr algn="l"/>
            <a:r>
              <a:rPr sz="1200" b="0">
                <a:solidFill>
                  <a:srgbClr val="E0DED8"/>
                </a:solidFill>
                <a:latin typeface="SF Mono"/>
              </a:rPr>
              <a:t>#!/bin/bash</a:t>
            </a:r>
          </a:p>
          <a:p>
            <a:pPr algn="l"/>
            <a:r>
              <a:rPr sz="1200" b="0">
                <a:solidFill>
                  <a:srgbClr val="E0DED8"/>
                </a:solidFill>
                <a:latin typeface="SF Mono"/>
              </a:rPr>
              <a:t># start-issue.sh</a:t>
            </a:r>
          </a:p>
          <a:p>
            <a:pPr algn="l"/>
            <a:r>
              <a:rPr sz="1200" b="0">
                <a:solidFill>
                  <a:srgbClr val="E0DED8"/>
                </a:solidFill>
                <a:latin typeface="SF Mono"/>
              </a:rPr>
              <a:t>ISSUE_NUMBER=$1</a:t>
            </a:r>
          </a:p>
          <a:p>
            <a:pPr algn="l"/>
            <a:r>
              <a:rPr sz="1200" b="0">
                <a:solidFill>
                  <a:srgbClr val="E0DED8"/>
                </a:solidFill>
                <a:latin typeface="SF Mono"/>
              </a:rPr>
              <a:t>WORKTREE_DIR="../issue-${ISSUE_NUMBER}"</a:t>
            </a:r>
          </a:p>
          <a:p>
            <a:pPr algn="l"/>
            <a:r>
              <a:rPr sz="1200" b="0">
                <a:solidFill>
                  <a:srgbClr val="E0DED8"/>
                </a:solidFill>
                <a:latin typeface="SF Mono"/>
              </a:rPr>
              <a:t/>
            </a:r>
          </a:p>
          <a:p>
            <a:pPr algn="l"/>
            <a:r>
              <a:rPr sz="1200" b="0">
                <a:solidFill>
                  <a:srgbClr val="E0DED8"/>
                </a:solidFill>
                <a:latin typeface="SF Mono"/>
              </a:rPr>
              <a:t># worktree作成</a:t>
            </a:r>
          </a:p>
          <a:p>
            <a:pPr algn="l"/>
            <a:r>
              <a:rPr sz="1200" b="0">
                <a:solidFill>
                  <a:srgbClr val="E0DED8"/>
                </a:solidFill>
                <a:latin typeface="SF Mono"/>
              </a:rPr>
              <a:t>git worktree add "$WORKTREE_DIR" \</a:t>
            </a:r>
          </a:p>
          <a:p>
            <a:pPr algn="l"/>
            <a:r>
              <a:rPr sz="1200" b="0">
                <a:solidFill>
                  <a:srgbClr val="E0DED8"/>
                </a:solidFill>
                <a:latin typeface="SF Mono"/>
              </a:rPr>
              <a:t>  -b "issue-${ISSUE_NUMBER}"</a:t>
            </a:r>
          </a:p>
          <a:p>
            <a:pPr algn="l"/>
            <a:r>
              <a:rPr sz="1200" b="0">
                <a:solidFill>
                  <a:srgbClr val="E0DED8"/>
                </a:solidFill>
                <a:latin typeface="SF Mono"/>
              </a:rPr>
              <a:t/>
            </a:r>
          </a:p>
          <a:p>
            <a:pPr algn="l"/>
            <a:r>
              <a:rPr sz="1200" b="0">
                <a:solidFill>
                  <a:srgbClr val="E0DED8"/>
                </a:solidFill>
                <a:latin typeface="SF Mono"/>
              </a:rPr>
              <a:t># ISSUE.md生成</a:t>
            </a:r>
          </a:p>
          <a:p>
            <a:pPr algn="l"/>
            <a:r>
              <a:rPr sz="1200" b="0">
                <a:solidFill>
                  <a:srgbClr val="E0DED8"/>
                </a:solidFill>
                <a:latin typeface="SF Mono"/>
              </a:rPr>
              <a:t>cd "$WORKTREE_DIR"</a:t>
            </a:r>
          </a:p>
          <a:p>
            <a:pPr algn="l"/>
            <a:r>
              <a:rPr sz="1200" b="0">
                <a:solidFill>
                  <a:srgbClr val="E0DED8"/>
                </a:solidFill>
                <a:latin typeface="SF Mono"/>
              </a:rPr>
              <a:t>{</a:t>
            </a:r>
          </a:p>
          <a:p>
            <a:pPr algn="l"/>
            <a:r>
              <a:rPr sz="1200" b="0">
                <a:solidFill>
                  <a:srgbClr val="E0DED8"/>
                </a:solidFill>
                <a:latin typeface="SF Mono"/>
              </a:rPr>
              <a:t>  echo "# Issue #${ISSUE_NUMBER}"</a:t>
            </a:r>
          </a:p>
          <a:p>
            <a:pPr algn="l"/>
            <a:r>
              <a:rPr sz="1200" b="0">
                <a:solidFill>
                  <a:srgbClr val="E0DED8"/>
                </a:solidFill>
                <a:latin typeface="SF Mono"/>
              </a:rPr>
              <a:t>  gh issue view "$ISSUE_NUMBER"</a:t>
            </a:r>
          </a:p>
          <a:p>
            <a:pPr algn="l"/>
            <a:r>
              <a:rPr sz="1200" b="0">
                <a:solidFill>
                  <a:srgbClr val="E0DED8"/>
                </a:solidFill>
                <a:latin typeface="SF Mono"/>
              </a:rPr>
              <a:t>  echo "## Comments"</a:t>
            </a:r>
          </a:p>
          <a:p>
            <a:pPr algn="l"/>
            <a:r>
              <a:rPr sz="1200" b="0">
                <a:solidFill>
                  <a:srgbClr val="E0DED8"/>
                </a:solidFill>
                <a:latin typeface="SF Mono"/>
              </a:rPr>
              <a:t>  gh issue view "$ISSUE_NUMBER" --comments</a:t>
            </a:r>
          </a:p>
          <a:p>
            <a:pPr algn="l"/>
            <a:r>
              <a:rPr sz="1200" b="0">
                <a:solidFill>
                  <a:srgbClr val="E0DED8"/>
                </a:solidFill>
                <a:latin typeface="SF Mono"/>
              </a:rPr>
              <a:t>} &gt; ISSUE.md</a:t>
            </a:r>
          </a:p>
        </p:txBody>
      </p:sp>
      <p:sp>
        <p:nvSpPr>
          <p:cNvPr id="7" name="TextBox 6"/>
          <p:cNvSpPr txBox="1"/>
          <p:nvPr/>
        </p:nvSpPr>
        <p:spPr>
          <a:xfrm>
            <a:off x="731520" y="4400000"/>
            <a:ext cx="5486400" cy="365760"/>
          </a:xfrm>
          <a:prstGeom prst="rect">
            <a:avLst/>
          </a:prstGeom>
          <a:noFill/>
        </p:spPr>
        <p:txBody>
          <a:bodyPr wrap="square">
            <a:spAutoFit/>
          </a:bodyPr>
          <a:lstStyle/>
          <a:p>
            <a:pPr algn="l"/>
            <a:r>
              <a:rPr sz="1400" b="0">
                <a:solidFill>
                  <a:srgbClr val="D97757"/>
                </a:solidFill>
                <a:latin typeface="SF Mono"/>
              </a:rPr>
              <a:t>使い方: ./start-issue.sh 123</a:t>
            </a:r>
          </a:p>
        </p:txBody>
      </p:sp>
      <p:sp>
        <p:nvSpPr>
          <p:cNvPr id="8" name="TextBox 7"/>
          <p:cNvSpPr txBox="1"/>
          <p:nvPr/>
        </p:nvSpPr>
        <p:spPr>
          <a:xfrm>
            <a:off x="6500000" y="1100000"/>
            <a:ext cx="5000000" cy="365760"/>
          </a:xfrm>
          <a:prstGeom prst="rect">
            <a:avLst/>
          </a:prstGeom>
          <a:noFill/>
        </p:spPr>
        <p:txBody>
          <a:bodyPr wrap="square">
            <a:spAutoFit/>
          </a:bodyPr>
          <a:lstStyle/>
          <a:p>
            <a:pPr algn="l"/>
            <a:r>
              <a:rPr sz="1600" b="1">
                <a:solidFill>
                  <a:srgbClr val="FAF9F5"/>
                </a:solidFill>
                <a:latin typeface="Hiragino Sans"/>
              </a:rPr>
              <a:t>ワークフロー</a:t>
            </a:r>
          </a:p>
        </p:txBody>
      </p:sp>
      <p:sp>
        <p:nvSpPr>
          <p:cNvPr id="9" name="Oval 8"/>
          <p:cNvSpPr/>
          <p:nvPr/>
        </p:nvSpPr>
        <p:spPr>
          <a:xfrm>
            <a:off x="6500000" y="15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1</a:t>
            </a:r>
          </a:p>
        </p:txBody>
      </p:sp>
      <p:sp>
        <p:nvSpPr>
          <p:cNvPr id="10" name="TextBox 9"/>
          <p:cNvSpPr txBox="1"/>
          <p:nvPr/>
        </p:nvSpPr>
        <p:spPr>
          <a:xfrm>
            <a:off x="6900000" y="1522860"/>
            <a:ext cx="4500000" cy="320000"/>
          </a:xfrm>
          <a:prstGeom prst="rect">
            <a:avLst/>
          </a:prstGeom>
          <a:noFill/>
        </p:spPr>
        <p:txBody>
          <a:bodyPr wrap="square">
            <a:spAutoFit/>
          </a:bodyPr>
          <a:lstStyle/>
          <a:p>
            <a:pPr algn="l"/>
            <a:r>
              <a:rPr sz="1300" b="0">
                <a:solidFill>
                  <a:srgbClr val="E0DED8"/>
                </a:solidFill>
                <a:latin typeface="Hiragino Sans"/>
              </a:rPr>
              <a:t>Issue選択</a:t>
            </a:r>
          </a:p>
        </p:txBody>
      </p:sp>
      <p:sp>
        <p:nvSpPr>
          <p:cNvPr id="11" name="Oval 10"/>
          <p:cNvSpPr/>
          <p:nvPr/>
        </p:nvSpPr>
        <p:spPr>
          <a:xfrm>
            <a:off x="6500000" y="1900000"/>
            <a:ext cx="320000" cy="3200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2</a:t>
            </a:r>
          </a:p>
        </p:txBody>
      </p:sp>
      <p:sp>
        <p:nvSpPr>
          <p:cNvPr id="12" name="TextBox 11"/>
          <p:cNvSpPr txBox="1"/>
          <p:nvPr/>
        </p:nvSpPr>
        <p:spPr>
          <a:xfrm>
            <a:off x="6900000" y="1922860"/>
            <a:ext cx="4500000" cy="320000"/>
          </a:xfrm>
          <a:prstGeom prst="rect">
            <a:avLst/>
          </a:prstGeom>
          <a:noFill/>
        </p:spPr>
        <p:txBody>
          <a:bodyPr wrap="square">
            <a:spAutoFit/>
          </a:bodyPr>
          <a:lstStyle/>
          <a:p>
            <a:pPr algn="l"/>
            <a:r>
              <a:rPr sz="1300" b="0">
                <a:solidFill>
                  <a:srgbClr val="E0DED8"/>
                </a:solidFill>
                <a:latin typeface="Hiragino Sans"/>
              </a:rPr>
              <a:t>スクリプトで</a:t>
            </a:r>
          </a:p>
          <a:p>
            <a:pPr algn="l"/>
            <a:r>
              <a:rPr sz="1300" b="0">
                <a:solidFill>
                  <a:srgbClr val="E0DED8"/>
                </a:solidFill>
                <a:latin typeface="Hiragino Sans"/>
              </a:rPr>
              <a:t>worktree + ISSUE.md作成</a:t>
            </a:r>
          </a:p>
        </p:txBody>
      </p:sp>
      <p:sp>
        <p:nvSpPr>
          <p:cNvPr id="13" name="Oval 12"/>
          <p:cNvSpPr/>
          <p:nvPr/>
        </p:nvSpPr>
        <p:spPr>
          <a:xfrm>
            <a:off x="6500000" y="23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3</a:t>
            </a:r>
          </a:p>
        </p:txBody>
      </p:sp>
      <p:sp>
        <p:nvSpPr>
          <p:cNvPr id="14" name="TextBox 13"/>
          <p:cNvSpPr txBox="1"/>
          <p:nvPr/>
        </p:nvSpPr>
        <p:spPr>
          <a:xfrm>
            <a:off x="6900000" y="2322860"/>
            <a:ext cx="4500000" cy="320000"/>
          </a:xfrm>
          <a:prstGeom prst="rect">
            <a:avLst/>
          </a:prstGeom>
          <a:noFill/>
        </p:spPr>
        <p:txBody>
          <a:bodyPr wrap="square">
            <a:spAutoFit/>
          </a:bodyPr>
          <a:lstStyle/>
          <a:p>
            <a:pPr algn="l"/>
            <a:r>
              <a:rPr sz="1300" b="0">
                <a:solidFill>
                  <a:srgbClr val="E0DED8"/>
                </a:solidFill>
                <a:latin typeface="Hiragino Sans"/>
              </a:rPr>
              <a:t>Claude Code起動</a:t>
            </a:r>
          </a:p>
        </p:txBody>
      </p:sp>
      <p:sp>
        <p:nvSpPr>
          <p:cNvPr id="15" name="Oval 14"/>
          <p:cNvSpPr/>
          <p:nvPr/>
        </p:nvSpPr>
        <p:spPr>
          <a:xfrm>
            <a:off x="6500000" y="2700000"/>
            <a:ext cx="320000" cy="3200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4</a:t>
            </a:r>
          </a:p>
        </p:txBody>
      </p:sp>
      <p:sp>
        <p:nvSpPr>
          <p:cNvPr id="16" name="TextBox 15"/>
          <p:cNvSpPr txBox="1"/>
          <p:nvPr/>
        </p:nvSpPr>
        <p:spPr>
          <a:xfrm>
            <a:off x="6900000" y="2722860"/>
            <a:ext cx="4500000" cy="320000"/>
          </a:xfrm>
          <a:prstGeom prst="rect">
            <a:avLst/>
          </a:prstGeom>
          <a:noFill/>
        </p:spPr>
        <p:txBody>
          <a:bodyPr wrap="square">
            <a:spAutoFit/>
          </a:bodyPr>
          <a:lstStyle/>
          <a:p>
            <a:pPr algn="l"/>
            <a:r>
              <a:rPr sz="1300" b="0">
                <a:solidFill>
                  <a:srgbClr val="E0DED8"/>
                </a:solidFill>
                <a:latin typeface="Hiragino Sans"/>
              </a:rPr>
              <a:t>「ISSUE.mdを読んで</a:t>
            </a:r>
          </a:p>
          <a:p>
            <a:pPr algn="l"/>
            <a:r>
              <a:rPr sz="1300" b="0">
                <a:solidFill>
                  <a:srgbClr val="E0DED8"/>
                </a:solidFill>
                <a:latin typeface="Hiragino Sans"/>
              </a:rPr>
              <a:t>計画を立てて」</a:t>
            </a:r>
          </a:p>
        </p:txBody>
      </p:sp>
      <p:sp>
        <p:nvSpPr>
          <p:cNvPr id="17" name="Oval 16"/>
          <p:cNvSpPr/>
          <p:nvPr/>
        </p:nvSpPr>
        <p:spPr>
          <a:xfrm>
            <a:off x="6500000" y="31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5</a:t>
            </a:r>
          </a:p>
        </p:txBody>
      </p:sp>
      <p:sp>
        <p:nvSpPr>
          <p:cNvPr id="18" name="TextBox 17"/>
          <p:cNvSpPr txBox="1"/>
          <p:nvPr/>
        </p:nvSpPr>
        <p:spPr>
          <a:xfrm>
            <a:off x="6900000" y="3122860"/>
            <a:ext cx="4500000" cy="320000"/>
          </a:xfrm>
          <a:prstGeom prst="rect">
            <a:avLst/>
          </a:prstGeom>
          <a:noFill/>
        </p:spPr>
        <p:txBody>
          <a:bodyPr wrap="square">
            <a:spAutoFit/>
          </a:bodyPr>
          <a:lstStyle/>
          <a:p>
            <a:pPr algn="l"/>
            <a:r>
              <a:rPr sz="1300" b="0">
                <a:solidFill>
                  <a:srgbClr val="E0DED8"/>
                </a:solidFill>
                <a:latin typeface="Hiragino Sans"/>
              </a:rPr>
              <a:t>計画レビュー</a:t>
            </a:r>
          </a:p>
        </p:txBody>
      </p:sp>
      <p:sp>
        <p:nvSpPr>
          <p:cNvPr id="19" name="Oval 18"/>
          <p:cNvSpPr/>
          <p:nvPr/>
        </p:nvSpPr>
        <p:spPr>
          <a:xfrm>
            <a:off x="6500000" y="35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6</a:t>
            </a:r>
          </a:p>
        </p:txBody>
      </p:sp>
      <p:sp>
        <p:nvSpPr>
          <p:cNvPr id="20" name="TextBox 19"/>
          <p:cNvSpPr txBox="1"/>
          <p:nvPr/>
        </p:nvSpPr>
        <p:spPr>
          <a:xfrm>
            <a:off x="6900000" y="3522860"/>
            <a:ext cx="4500000" cy="320000"/>
          </a:xfrm>
          <a:prstGeom prst="rect">
            <a:avLst/>
          </a:prstGeom>
          <a:noFill/>
        </p:spPr>
        <p:txBody>
          <a:bodyPr wrap="square">
            <a:spAutoFit/>
          </a:bodyPr>
          <a:lstStyle/>
          <a:p>
            <a:pPr algn="l"/>
            <a:r>
              <a:rPr sz="1300" b="0">
                <a:solidFill>
                  <a:srgbClr val="E0DED8"/>
                </a:solidFill>
                <a:latin typeface="Hiragino Sans"/>
              </a:rPr>
              <a:t>実装</a:t>
            </a:r>
          </a:p>
        </p:txBody>
      </p:sp>
      <p:sp>
        <p:nvSpPr>
          <p:cNvPr id="21" name="Oval 20"/>
          <p:cNvSpPr/>
          <p:nvPr/>
        </p:nvSpPr>
        <p:spPr>
          <a:xfrm>
            <a:off x="6500000" y="39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7</a:t>
            </a:r>
          </a:p>
        </p:txBody>
      </p:sp>
      <p:sp>
        <p:nvSpPr>
          <p:cNvPr id="22" name="TextBox 21"/>
          <p:cNvSpPr txBox="1"/>
          <p:nvPr/>
        </p:nvSpPr>
        <p:spPr>
          <a:xfrm>
            <a:off x="6900000" y="3922860"/>
            <a:ext cx="4500000" cy="320000"/>
          </a:xfrm>
          <a:prstGeom prst="rect">
            <a:avLst/>
          </a:prstGeom>
          <a:noFill/>
        </p:spPr>
        <p:txBody>
          <a:bodyPr wrap="square">
            <a:spAutoFit/>
          </a:bodyPr>
          <a:lstStyle/>
          <a:p>
            <a:pPr algn="l"/>
            <a:r>
              <a:rPr sz="1300" b="0">
                <a:solidFill>
                  <a:srgbClr val="E0DED8"/>
                </a:solidFill>
                <a:latin typeface="Hiragino Sans"/>
              </a:rPr>
              <a:t>PR作成</a:t>
            </a:r>
          </a:p>
        </p:txBody>
      </p:sp>
      <p:sp>
        <p:nvSpPr>
          <p:cNvPr id="23" name="Oval 22"/>
          <p:cNvSpPr/>
          <p:nvPr/>
        </p:nvSpPr>
        <p:spPr>
          <a:xfrm>
            <a:off x="6500000" y="4300000"/>
            <a:ext cx="320000" cy="320000"/>
          </a:xfrm>
          <a:prstGeom prst="ellipse">
            <a:avLst/>
          </a:prstGeom>
          <a:solidFill>
            <a:srgbClr val="B0AE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AF9F5"/>
                </a:solidFill>
                <a:latin typeface="Helvetica Neue"/>
              </a:rPr>
              <a:t>8</a:t>
            </a:r>
          </a:p>
        </p:txBody>
      </p:sp>
      <p:sp>
        <p:nvSpPr>
          <p:cNvPr id="24" name="TextBox 23"/>
          <p:cNvSpPr txBox="1"/>
          <p:nvPr/>
        </p:nvSpPr>
        <p:spPr>
          <a:xfrm>
            <a:off x="6900000" y="4322860"/>
            <a:ext cx="4500000" cy="320000"/>
          </a:xfrm>
          <a:prstGeom prst="rect">
            <a:avLst/>
          </a:prstGeom>
          <a:noFill/>
        </p:spPr>
        <p:txBody>
          <a:bodyPr wrap="square">
            <a:spAutoFit/>
          </a:bodyPr>
          <a:lstStyle/>
          <a:p>
            <a:pPr algn="l"/>
            <a:r>
              <a:rPr sz="1300" b="0">
                <a:solidFill>
                  <a:srgbClr val="E0DED8"/>
                </a:solidFill>
                <a:latin typeface="Hiragino Sans"/>
              </a:rPr>
              <a:t>worktree削除</a:t>
            </a:r>
          </a:p>
        </p:txBody>
      </p:sp>
      <p:sp>
        <p:nvSpPr>
          <p:cNvPr id="25" name="TextBox 24"/>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12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0" y="2200000"/>
            <a:ext cx="12192000" cy="762000"/>
          </a:xfrm>
          <a:prstGeom prst="rect">
            <a:avLst/>
          </a:prstGeom>
          <a:noFill/>
        </p:spPr>
        <p:txBody>
          <a:bodyPr wrap="square">
            <a:spAutoFit/>
          </a:bodyPr>
          <a:lstStyle/>
          <a:p>
            <a:pPr algn="ctr"/>
            <a:r>
              <a:rPr sz="6000" b="1">
                <a:solidFill>
                  <a:srgbClr val="D97757"/>
                </a:solidFill>
                <a:latin typeface="Helvetica Neue"/>
              </a:rPr>
              <a:t>DEMO</a:t>
            </a:r>
          </a:p>
        </p:txBody>
      </p:sp>
      <p:sp>
        <p:nvSpPr>
          <p:cNvPr id="3" name="TextBox 2"/>
          <p:cNvSpPr txBox="1"/>
          <p:nvPr/>
        </p:nvSpPr>
        <p:spPr>
          <a:xfrm>
            <a:off x="0" y="3200000"/>
            <a:ext cx="12192000" cy="457200"/>
          </a:xfrm>
          <a:prstGeom prst="rect">
            <a:avLst/>
          </a:prstGeom>
          <a:noFill/>
        </p:spPr>
        <p:txBody>
          <a:bodyPr wrap="square">
            <a:spAutoFit/>
          </a:bodyPr>
          <a:lstStyle/>
          <a:p>
            <a:pPr algn="ctr"/>
            <a:r>
              <a:rPr sz="2000" b="0">
                <a:solidFill>
                  <a:srgbClr val="B0AEA5"/>
                </a:solidFill>
                <a:latin typeface="Hiragino Sans"/>
              </a:rPr>
              <a:t>worktree + ISSUE.md</a:t>
            </a:r>
          </a:p>
        </p:txBody>
      </p:sp>
      <p:sp>
        <p:nvSpPr>
          <p:cNvPr id="4" name="TextBox 3"/>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13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1F1D"/>
        </a:solidFill>
        <a:effectLst/>
      </p:bgPr>
    </p:bg>
    <p:spTree>
      <p:nvGrpSpPr>
        <p:cNvPr id="1" name=""/>
        <p:cNvGrpSpPr/>
        <p:nvPr/>
      </p:nvGrpSpPr>
      <p:grpSpPr/>
      <p:cxnSp>
        <p:nvCxnSpPr>
          <p:cNvPr id="2" name="Connector 1"/>
          <p:cNvCxnSpPr/>
          <p:nvPr/>
        </p:nvCxnSpPr>
        <p:spPr>
          <a:xfrm>
            <a:off x="73152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31680" y="3429000"/>
            <a:ext cx="182880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0" y="2000000"/>
            <a:ext cx="12192000" cy="457200"/>
          </a:xfrm>
          <a:prstGeom prst="rect">
            <a:avLst/>
          </a:prstGeom>
          <a:noFill/>
        </p:spPr>
        <p:txBody>
          <a:bodyPr wrap="square">
            <a:spAutoFit/>
          </a:bodyPr>
          <a:lstStyle/>
          <a:p>
            <a:pPr algn="ctr"/>
            <a:r>
              <a:rPr sz="1800" b="1">
                <a:solidFill>
                  <a:srgbClr val="D97757"/>
                </a:solidFill>
                <a:latin typeface="Helvetica Neue"/>
              </a:rPr>
              <a:t>PART 3</a:t>
            </a:r>
          </a:p>
        </p:txBody>
      </p:sp>
      <p:sp>
        <p:nvSpPr>
          <p:cNvPr id="5" name="TextBox 4"/>
          <p:cNvSpPr txBox="1"/>
          <p:nvPr/>
        </p:nvSpPr>
        <p:spPr>
          <a:xfrm>
            <a:off x="0" y="2600000"/>
            <a:ext cx="12192000" cy="762000"/>
          </a:xfrm>
          <a:prstGeom prst="rect">
            <a:avLst/>
          </a:prstGeom>
          <a:noFill/>
        </p:spPr>
        <p:txBody>
          <a:bodyPr wrap="square">
            <a:spAutoFit/>
          </a:bodyPr>
          <a:lstStyle/>
          <a:p>
            <a:pPr algn="ctr"/>
            <a:r>
              <a:rPr sz="4000" b="1">
                <a:solidFill>
                  <a:srgbClr val="FAF9F5"/>
                </a:solidFill>
                <a:latin typeface="Hiragino Sans"/>
              </a:rPr>
              <a:t>サブエージェント</a:t>
            </a:r>
          </a:p>
        </p:txBody>
      </p:sp>
      <p:sp>
        <p:nvSpPr>
          <p:cNvPr id="6" name="TextBox 5"/>
          <p:cNvSpPr txBox="1"/>
          <p:nvPr/>
        </p:nvSpPr>
        <p:spPr>
          <a:xfrm>
            <a:off x="0" y="3500000"/>
            <a:ext cx="12192000" cy="457200"/>
          </a:xfrm>
          <a:prstGeom prst="rect">
            <a:avLst/>
          </a:prstGeom>
          <a:noFill/>
        </p:spPr>
        <p:txBody>
          <a:bodyPr wrap="square">
            <a:spAutoFit/>
          </a:bodyPr>
          <a:lstStyle/>
          <a:p>
            <a:pPr algn="ctr"/>
            <a:r>
              <a:rPr sz="2400" b="0">
                <a:solidFill>
                  <a:srgbClr val="C5C3BB"/>
                </a:solidFill>
                <a:latin typeface="Hiragino Sans"/>
              </a:rPr>
              <a:t>分業で、コンテキストを守る</a:t>
            </a:r>
          </a:p>
        </p:txBody>
      </p:sp>
      <p:sp>
        <p:nvSpPr>
          <p:cNvPr id="7" name="TextBox 6"/>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14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サブエージェント</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サブエージェントとは</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D97757"/>
                </a:solidFill>
                <a:latin typeface="Hiragino Sans"/>
              </a:rPr>
              <a:t>独立したコンテキストで動く専門エージェント</a:t>
            </a:r>
          </a:p>
        </p:txBody>
      </p:sp>
      <p:sp>
        <p:nvSpPr>
          <p:cNvPr id="5" name="Rounded Rectangle 4"/>
          <p:cNvSpPr/>
          <p:nvPr/>
        </p:nvSpPr>
        <p:spPr>
          <a:xfrm>
            <a:off x="731520" y="1800000"/>
            <a:ext cx="4400000" cy="457200"/>
          </a:xfrm>
          <a:prstGeom prst="roundRect">
            <a:avLst>
              <a:gd name="adj" fmla="val 4000"/>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1520" y="1891440"/>
            <a:ext cx="4200000" cy="274320"/>
          </a:xfrm>
          <a:prstGeom prst="rect">
            <a:avLst/>
          </a:prstGeom>
          <a:noFill/>
        </p:spPr>
        <p:txBody>
          <a:bodyPr wrap="square">
            <a:spAutoFit/>
          </a:bodyPr>
          <a:lstStyle/>
          <a:p>
            <a:pPr algn="ctr"/>
            <a:r>
              <a:rPr sz="1600" b="1">
                <a:solidFill>
                  <a:srgbClr val="FAF9F5"/>
                </a:solidFill>
                <a:latin typeface="Hiragino Sans"/>
              </a:rPr>
              <a:t>メインエージェント</a:t>
            </a:r>
          </a:p>
        </p:txBody>
      </p:sp>
      <p:sp>
        <p:nvSpPr>
          <p:cNvPr id="7" name="TextBox 6"/>
          <p:cNvSpPr txBox="1"/>
          <p:nvPr/>
        </p:nvSpPr>
        <p:spPr>
          <a:xfrm>
            <a:off x="2500000" y="2257200"/>
            <a:ext cx="800000" cy="365760"/>
          </a:xfrm>
          <a:prstGeom prst="rect">
            <a:avLst/>
          </a:prstGeom>
          <a:noFill/>
        </p:spPr>
        <p:txBody>
          <a:bodyPr wrap="square">
            <a:spAutoFit/>
          </a:bodyPr>
          <a:lstStyle/>
          <a:p>
            <a:pPr algn="ctr"/>
            <a:r>
              <a:rPr sz="1200" b="0">
                <a:solidFill>
                  <a:srgbClr val="D97757"/>
                </a:solidFill>
                <a:latin typeface="Hiragino Sans"/>
              </a:rPr>
              <a:t>指示 ▼</a:t>
            </a:r>
          </a:p>
        </p:txBody>
      </p:sp>
      <p:sp>
        <p:nvSpPr>
          <p:cNvPr id="8" name="Rounded Rectangle 7"/>
          <p:cNvSpPr/>
          <p:nvPr/>
        </p:nvSpPr>
        <p:spPr>
          <a:xfrm>
            <a:off x="731520" y="2714400"/>
            <a:ext cx="4400000" cy="8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714400"/>
            <a:ext cx="54864" cy="800000"/>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82980"/>
            <a:ext cx="4000000" cy="274320"/>
          </a:xfrm>
          <a:prstGeom prst="rect">
            <a:avLst/>
          </a:prstGeom>
          <a:noFill/>
        </p:spPr>
        <p:txBody>
          <a:bodyPr wrap="square">
            <a:spAutoFit/>
          </a:bodyPr>
          <a:lstStyle/>
          <a:p>
            <a:pPr algn="l"/>
            <a:r>
              <a:rPr sz="1500" b="1">
                <a:solidFill>
                  <a:srgbClr val="6A9BCC"/>
                </a:solidFill>
                <a:latin typeface="Hiragino Sans"/>
              </a:rPr>
              <a:t>サブエージェント（独立コンテキスト）</a:t>
            </a:r>
          </a:p>
        </p:txBody>
      </p:sp>
      <p:sp>
        <p:nvSpPr>
          <p:cNvPr id="11" name="TextBox 10"/>
          <p:cNvSpPr txBox="1"/>
          <p:nvPr/>
        </p:nvSpPr>
        <p:spPr>
          <a:xfrm>
            <a:off x="914400" y="3080160"/>
            <a:ext cx="4000000" cy="365760"/>
          </a:xfrm>
          <a:prstGeom prst="rect">
            <a:avLst/>
          </a:prstGeom>
          <a:noFill/>
        </p:spPr>
        <p:txBody>
          <a:bodyPr wrap="square">
            <a:spAutoFit/>
          </a:bodyPr>
          <a:lstStyle/>
          <a:p>
            <a:pPr algn="l"/>
            <a:r>
              <a:rPr sz="1400" b="0">
                <a:solidFill>
                  <a:srgbClr val="E0DED8"/>
                </a:solidFill>
                <a:latin typeface="Hiragino Sans"/>
              </a:rPr>
              <a:t>数十ファイルを検索・分析...</a:t>
            </a:r>
          </a:p>
        </p:txBody>
      </p:sp>
      <p:sp>
        <p:nvSpPr>
          <p:cNvPr id="12" name="TextBox 11"/>
          <p:cNvSpPr txBox="1"/>
          <p:nvPr/>
        </p:nvSpPr>
        <p:spPr>
          <a:xfrm>
            <a:off x="2500000" y="3514400"/>
            <a:ext cx="800000" cy="365760"/>
          </a:xfrm>
          <a:prstGeom prst="rect">
            <a:avLst/>
          </a:prstGeom>
          <a:noFill/>
        </p:spPr>
        <p:txBody>
          <a:bodyPr wrap="square">
            <a:spAutoFit/>
          </a:bodyPr>
          <a:lstStyle/>
          <a:p>
            <a:pPr algn="ctr"/>
            <a:r>
              <a:rPr sz="1200" b="0">
                <a:solidFill>
                  <a:srgbClr val="7BC9A0"/>
                </a:solidFill>
                <a:latin typeface="Hiragino Sans"/>
              </a:rPr>
              <a:t>▲ 要約だけ返る</a:t>
            </a:r>
          </a:p>
        </p:txBody>
      </p:sp>
      <p:sp>
        <p:nvSpPr>
          <p:cNvPr id="13" name="Rounded Rectangle 12"/>
          <p:cNvSpPr/>
          <p:nvPr/>
        </p:nvSpPr>
        <p:spPr>
          <a:xfrm>
            <a:off x="731520" y="3994400"/>
            <a:ext cx="4400000" cy="457200"/>
          </a:xfrm>
          <a:prstGeom prst="roundRect">
            <a:avLst>
              <a:gd name="adj" fmla="val 4000"/>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520" y="4085840"/>
            <a:ext cx="4200000" cy="274320"/>
          </a:xfrm>
          <a:prstGeom prst="rect">
            <a:avLst/>
          </a:prstGeom>
          <a:noFill/>
        </p:spPr>
        <p:txBody>
          <a:bodyPr wrap="square">
            <a:spAutoFit/>
          </a:bodyPr>
          <a:lstStyle/>
          <a:p>
            <a:pPr algn="ctr"/>
            <a:r>
              <a:rPr sz="1500" b="1">
                <a:solidFill>
                  <a:srgbClr val="7BC9A0"/>
                </a:solidFill>
                <a:latin typeface="Hiragino Sans"/>
              </a:rPr>
              <a:t>メインのコンテキストを圧迫しない</a:t>
            </a:r>
          </a:p>
        </p:txBody>
      </p:sp>
      <p:sp>
        <p:nvSpPr>
          <p:cNvPr id="15" name="TextBox 14"/>
          <p:cNvSpPr txBox="1"/>
          <p:nvPr/>
        </p:nvSpPr>
        <p:spPr>
          <a:xfrm>
            <a:off x="5600000" y="1800000"/>
            <a:ext cx="6000000" cy="365760"/>
          </a:xfrm>
          <a:prstGeom prst="rect">
            <a:avLst/>
          </a:prstGeom>
          <a:noFill/>
        </p:spPr>
        <p:txBody>
          <a:bodyPr wrap="square">
            <a:spAutoFit/>
          </a:bodyPr>
          <a:lstStyle/>
          <a:p>
            <a:pPr algn="l"/>
            <a:r>
              <a:rPr sz="2000" b="1">
                <a:solidFill>
                  <a:srgbClr val="FAF9F5"/>
                </a:solidFill>
                <a:latin typeface="Hiragino Sans"/>
              </a:rPr>
              <a:t>本質: コンテキストの分離</a:t>
            </a:r>
          </a:p>
        </p:txBody>
      </p:sp>
      <p:sp>
        <p:nvSpPr>
          <p:cNvPr id="16" name="Rounded Rectangle 15"/>
          <p:cNvSpPr/>
          <p:nvPr/>
        </p:nvSpPr>
        <p:spPr>
          <a:xfrm>
            <a:off x="5600000" y="2300000"/>
            <a:ext cx="5860960" cy="54864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0000" y="2368580"/>
            <a:ext cx="5460960" cy="457200"/>
          </a:xfrm>
          <a:prstGeom prst="rect">
            <a:avLst/>
          </a:prstGeom>
          <a:noFill/>
        </p:spPr>
        <p:txBody>
          <a:bodyPr wrap="square">
            <a:spAutoFit/>
          </a:bodyPr>
          <a:lstStyle/>
          <a:p>
            <a:pPr algn="l"/>
            <a:r>
              <a:rPr sz="1400" b="0">
                <a:solidFill>
                  <a:srgbClr val="E0DED8"/>
                </a:solidFill>
                <a:latin typeface="Hiragino Sans"/>
              </a:rPr>
              <a:t>サブエージェントに委譲したタスクは</a:t>
            </a:r>
          </a:p>
          <a:p>
            <a:pPr algn="l"/>
            <a:r>
              <a:rPr sz="1400" b="0">
                <a:solidFill>
                  <a:srgbClr val="E0DED8"/>
                </a:solidFill>
                <a:latin typeface="Hiragino Sans"/>
              </a:rPr>
              <a:t>独立して処理される</a:t>
            </a:r>
          </a:p>
        </p:txBody>
      </p:sp>
      <p:sp>
        <p:nvSpPr>
          <p:cNvPr id="18" name="Rounded Rectangle 17"/>
          <p:cNvSpPr/>
          <p:nvPr/>
        </p:nvSpPr>
        <p:spPr>
          <a:xfrm>
            <a:off x="5600000" y="2940000"/>
            <a:ext cx="5860960" cy="54864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0000" y="3008580"/>
            <a:ext cx="5460960" cy="457200"/>
          </a:xfrm>
          <a:prstGeom prst="rect">
            <a:avLst/>
          </a:prstGeom>
          <a:noFill/>
        </p:spPr>
        <p:txBody>
          <a:bodyPr wrap="square">
            <a:spAutoFit/>
          </a:bodyPr>
          <a:lstStyle/>
          <a:p>
            <a:pPr algn="l"/>
            <a:r>
              <a:rPr sz="1400" b="0">
                <a:solidFill>
                  <a:srgbClr val="E0DED8"/>
                </a:solidFill>
                <a:latin typeface="Hiragino Sans"/>
              </a:rPr>
              <a:t>作業結果の要約だけが</a:t>
            </a:r>
          </a:p>
          <a:p>
            <a:pPr algn="l"/>
            <a:r>
              <a:rPr sz="1400" b="0">
                <a:solidFill>
                  <a:srgbClr val="E0DED8"/>
                </a:solidFill>
                <a:latin typeface="Hiragino Sans"/>
              </a:rPr>
              <a:t>メイン会話に返される</a:t>
            </a:r>
          </a:p>
        </p:txBody>
      </p:sp>
      <p:sp>
        <p:nvSpPr>
          <p:cNvPr id="20" name="Rounded Rectangle 19"/>
          <p:cNvSpPr/>
          <p:nvPr/>
        </p:nvSpPr>
        <p:spPr>
          <a:xfrm>
            <a:off x="5600000" y="3580000"/>
            <a:ext cx="5860960" cy="54864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0000" y="3648580"/>
            <a:ext cx="5460960" cy="457200"/>
          </a:xfrm>
          <a:prstGeom prst="rect">
            <a:avLst/>
          </a:prstGeom>
          <a:noFill/>
        </p:spPr>
        <p:txBody>
          <a:bodyPr wrap="square">
            <a:spAutoFit/>
          </a:bodyPr>
          <a:lstStyle/>
          <a:p>
            <a:pPr algn="l"/>
            <a:r>
              <a:rPr sz="1400" b="0">
                <a:solidFill>
                  <a:srgbClr val="E0DED8"/>
                </a:solidFill>
                <a:latin typeface="Hiragino Sans"/>
              </a:rPr>
              <a:t>メイン会話のコンテキストを消費しない</a:t>
            </a:r>
          </a:p>
        </p:txBody>
      </p:sp>
      <p:sp>
        <p:nvSpPr>
          <p:cNvPr id="22" name="Rectangle 21"/>
          <p:cNvSpPr/>
          <p:nvPr/>
        </p:nvSpPr>
        <p:spPr>
          <a:xfrm>
            <a:off x="731520" y="6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6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291440"/>
            <a:ext cx="10400000" cy="365760"/>
          </a:xfrm>
          <a:prstGeom prst="rect">
            <a:avLst/>
          </a:prstGeom>
          <a:noFill/>
        </p:spPr>
        <p:txBody>
          <a:bodyPr wrap="square">
            <a:spAutoFit/>
          </a:bodyPr>
          <a:lstStyle/>
          <a:p>
            <a:pPr algn="l"/>
            <a:r>
              <a:rPr sz="1400" b="1">
                <a:solidFill>
                  <a:srgbClr val="D97757"/>
                </a:solidFill>
                <a:latin typeface="Hiragino Sans"/>
              </a:rPr>
              <a:t>→ 大量のファイル検索や広範な調査をしてもメインの作業に影響しない</a:t>
            </a:r>
          </a:p>
        </p:txBody>
      </p:sp>
      <p:sp>
        <p:nvSpPr>
          <p:cNvPr id="25" name="TextBox 24"/>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15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サブエージェント</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組み込みサブエージェント</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800" b="1">
                <a:solidFill>
                  <a:srgbClr val="B0AEA5"/>
                </a:solidFill>
                <a:latin typeface="Hiragino Sans"/>
              </a:rPr>
              <a:t>3つの組み込みサブエージェント</a:t>
            </a:r>
          </a:p>
        </p:txBody>
      </p:sp>
      <p:sp>
        <p:nvSpPr>
          <p:cNvPr id="5" name="Rounded Rectangle 4"/>
          <p:cNvSpPr/>
          <p:nvPr/>
        </p:nvSpPr>
        <p:spPr>
          <a:xfrm>
            <a:off x="731520" y="17000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7000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82880"/>
            <a:ext cx="3063240" cy="457200"/>
          </a:xfrm>
          <a:prstGeom prst="rect">
            <a:avLst/>
          </a:prstGeom>
          <a:noFill/>
        </p:spPr>
        <p:txBody>
          <a:bodyPr wrap="square">
            <a:spAutoFit/>
          </a:bodyPr>
          <a:lstStyle/>
          <a:p>
            <a:pPr algn="l"/>
            <a:r>
              <a:rPr sz="2200" b="1">
                <a:solidFill>
                  <a:srgbClr val="D97757"/>
                </a:solidFill>
                <a:latin typeface="Helvetica Neue"/>
              </a:rPr>
              <a:t>Explore</a:t>
            </a:r>
          </a:p>
        </p:txBody>
      </p:sp>
      <p:sp>
        <p:nvSpPr>
          <p:cNvPr id="8" name="TextBox 7"/>
          <p:cNvSpPr txBox="1"/>
          <p:nvPr/>
        </p:nvSpPr>
        <p:spPr>
          <a:xfrm>
            <a:off x="914400" y="2400000"/>
            <a:ext cx="3063240" cy="274320"/>
          </a:xfrm>
          <a:prstGeom prst="rect">
            <a:avLst/>
          </a:prstGeom>
          <a:noFill/>
        </p:spPr>
        <p:txBody>
          <a:bodyPr wrap="square">
            <a:spAutoFit/>
          </a:bodyPr>
          <a:lstStyle/>
          <a:p>
            <a:pPr algn="l"/>
            <a:r>
              <a:rPr sz="1300" b="0">
                <a:solidFill>
                  <a:srgbClr val="B0AEA5"/>
                </a:solidFill>
                <a:latin typeface="Hiragino Sans"/>
              </a:rPr>
              <a:t>モデル: Haiku（高速）</a:t>
            </a:r>
          </a:p>
        </p:txBody>
      </p:sp>
      <p:sp>
        <p:nvSpPr>
          <p:cNvPr id="9" name="TextBox 8"/>
          <p:cNvSpPr txBox="1"/>
          <p:nvPr/>
        </p:nvSpPr>
        <p:spPr>
          <a:xfrm>
            <a:off x="914400" y="2680000"/>
            <a:ext cx="3063240" cy="274320"/>
          </a:xfrm>
          <a:prstGeom prst="rect">
            <a:avLst/>
          </a:prstGeom>
          <a:noFill/>
        </p:spPr>
        <p:txBody>
          <a:bodyPr wrap="square">
            <a:spAutoFit/>
          </a:bodyPr>
          <a:lstStyle/>
          <a:p>
            <a:pPr algn="l"/>
            <a:r>
              <a:rPr sz="1300" b="0">
                <a:solidFill>
                  <a:srgbClr val="B0AEA5"/>
                </a:solidFill>
                <a:latin typeface="Hiragino Sans"/>
              </a:rPr>
              <a:t>モード: 読み取り専用</a:t>
            </a:r>
          </a:p>
        </p:txBody>
      </p:sp>
      <p:cxnSp>
        <p:nvCxnSpPr>
          <p:cNvPr id="10" name="Connector 9"/>
          <p:cNvCxnSpPr/>
          <p:nvPr/>
        </p:nvCxnSpPr>
        <p:spPr>
          <a:xfrm>
            <a:off x="914400" y="3050000"/>
            <a:ext cx="306324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3200000"/>
            <a:ext cx="3063240" cy="1500000"/>
          </a:xfrm>
          <a:prstGeom prst="rect">
            <a:avLst/>
          </a:prstGeom>
          <a:noFill/>
        </p:spPr>
        <p:txBody>
          <a:bodyPr wrap="square">
            <a:spAutoFit/>
          </a:bodyPr>
          <a:lstStyle/>
          <a:p>
            <a:pPr algn="l">
              <a:spcAft>
                <a:spcPts val="400"/>
              </a:spcAft>
            </a:pPr>
            <a:r>
              <a:rPr sz="1400" b="0">
                <a:solidFill>
                  <a:srgbClr val="E0DED8"/>
                </a:solidFill>
                <a:latin typeface="Hiragino Sans"/>
              </a:rPr>
              <a:t>コードベースの検索・分析に特化。</a:t>
            </a:r>
          </a:p>
          <a:p>
            <a:pPr algn="l">
              <a:spcAft>
                <a:spcPts val="400"/>
              </a:spcAft>
            </a:pPr>
            <a:r>
              <a:rPr sz="1400" b="0">
                <a:solidFill>
                  <a:srgbClr val="E0DED8"/>
                </a:solidFill>
                <a:latin typeface="Hiragino Sans"/>
              </a:rPr>
              <a:t>高速・軽量で、ファイルの</a:t>
            </a:r>
          </a:p>
          <a:p>
            <a:pPr algn="l">
              <a:spcAft>
                <a:spcPts val="400"/>
              </a:spcAft>
            </a:pPr>
            <a:r>
              <a:rPr sz="1400" b="0">
                <a:solidFill>
                  <a:srgbClr val="E0DED8"/>
                </a:solidFill>
                <a:latin typeface="Hiragino Sans"/>
              </a:rPr>
              <a:t>読み取りと検索のみ。</a:t>
            </a:r>
          </a:p>
        </p:txBody>
      </p:sp>
      <p:sp>
        <p:nvSpPr>
          <p:cNvPr id="12" name="Rounded Rectangle 11"/>
          <p:cNvSpPr/>
          <p:nvPr/>
        </p:nvSpPr>
        <p:spPr>
          <a:xfrm>
            <a:off x="4389120" y="17000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7000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882880"/>
            <a:ext cx="3063240" cy="457200"/>
          </a:xfrm>
          <a:prstGeom prst="rect">
            <a:avLst/>
          </a:prstGeom>
          <a:noFill/>
        </p:spPr>
        <p:txBody>
          <a:bodyPr wrap="square">
            <a:spAutoFit/>
          </a:bodyPr>
          <a:lstStyle/>
          <a:p>
            <a:pPr algn="l"/>
            <a:r>
              <a:rPr sz="2200" b="1">
                <a:solidFill>
                  <a:srgbClr val="6A9BCC"/>
                </a:solidFill>
                <a:latin typeface="Helvetica Neue"/>
              </a:rPr>
              <a:t>Plan</a:t>
            </a:r>
          </a:p>
        </p:txBody>
      </p:sp>
      <p:sp>
        <p:nvSpPr>
          <p:cNvPr id="15" name="TextBox 14"/>
          <p:cNvSpPr txBox="1"/>
          <p:nvPr/>
        </p:nvSpPr>
        <p:spPr>
          <a:xfrm>
            <a:off x="4572000" y="2400000"/>
            <a:ext cx="3063240" cy="274320"/>
          </a:xfrm>
          <a:prstGeom prst="rect">
            <a:avLst/>
          </a:prstGeom>
          <a:noFill/>
        </p:spPr>
        <p:txBody>
          <a:bodyPr wrap="square">
            <a:spAutoFit/>
          </a:bodyPr>
          <a:lstStyle/>
          <a:p>
            <a:pPr algn="l"/>
            <a:r>
              <a:rPr sz="1300" b="0">
                <a:solidFill>
                  <a:srgbClr val="B0AEA5"/>
                </a:solidFill>
                <a:latin typeface="Hiragino Sans"/>
              </a:rPr>
              <a:t>モデル: —</a:t>
            </a:r>
          </a:p>
        </p:txBody>
      </p:sp>
      <p:sp>
        <p:nvSpPr>
          <p:cNvPr id="16" name="TextBox 15"/>
          <p:cNvSpPr txBox="1"/>
          <p:nvPr/>
        </p:nvSpPr>
        <p:spPr>
          <a:xfrm>
            <a:off x="4572000" y="2680000"/>
            <a:ext cx="3063240" cy="274320"/>
          </a:xfrm>
          <a:prstGeom prst="rect">
            <a:avLst/>
          </a:prstGeom>
          <a:noFill/>
        </p:spPr>
        <p:txBody>
          <a:bodyPr wrap="square">
            <a:spAutoFit/>
          </a:bodyPr>
          <a:lstStyle/>
          <a:p>
            <a:pPr algn="l"/>
            <a:r>
              <a:rPr sz="1300" b="0">
                <a:solidFill>
                  <a:srgbClr val="B0AEA5"/>
                </a:solidFill>
                <a:latin typeface="Hiragino Sans"/>
              </a:rPr>
              <a:t>モード: 読み取り専用</a:t>
            </a:r>
          </a:p>
        </p:txBody>
      </p:sp>
      <p:cxnSp>
        <p:nvCxnSpPr>
          <p:cNvPr id="17" name="Connector 16"/>
          <p:cNvCxnSpPr/>
          <p:nvPr/>
        </p:nvCxnSpPr>
        <p:spPr>
          <a:xfrm>
            <a:off x="4572000" y="3050000"/>
            <a:ext cx="306324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0" y="3200000"/>
            <a:ext cx="3063240" cy="1500000"/>
          </a:xfrm>
          <a:prstGeom prst="rect">
            <a:avLst/>
          </a:prstGeom>
          <a:noFill/>
        </p:spPr>
        <p:txBody>
          <a:bodyPr wrap="square">
            <a:spAutoFit/>
          </a:bodyPr>
          <a:lstStyle/>
          <a:p>
            <a:pPr algn="l">
              <a:spcAft>
                <a:spcPts val="400"/>
              </a:spcAft>
            </a:pPr>
            <a:r>
              <a:rPr sz="1400" b="0">
                <a:solidFill>
                  <a:srgbClr val="E0DED8"/>
                </a:solidFill>
                <a:latin typeface="Hiragino Sans"/>
              </a:rPr>
              <a:t>Planモード中の調査に使われる。</a:t>
            </a:r>
          </a:p>
          <a:p>
            <a:pPr algn="l">
              <a:spcAft>
                <a:spcPts val="400"/>
              </a:spcAft>
            </a:pPr>
            <a:r>
              <a:rPr sz="1400" b="0">
                <a:solidFill>
                  <a:srgbClr val="E0DED8"/>
                </a:solidFill>
                <a:latin typeface="Hiragino Sans"/>
              </a:rPr>
              <a:t>第1回で紹介したPlanモードの</a:t>
            </a:r>
          </a:p>
          <a:p>
            <a:pPr algn="l">
              <a:spcAft>
                <a:spcPts val="400"/>
              </a:spcAft>
            </a:pPr>
            <a:r>
              <a:rPr sz="1400" b="0">
                <a:solidFill>
                  <a:srgbClr val="E0DED8"/>
                </a:solidFill>
                <a:latin typeface="Hiragino Sans"/>
              </a:rPr>
              <a:t>裏で動いている。</a:t>
            </a:r>
          </a:p>
        </p:txBody>
      </p:sp>
      <p:sp>
        <p:nvSpPr>
          <p:cNvPr id="19" name="Rounded Rectangle 18"/>
          <p:cNvSpPr/>
          <p:nvPr/>
        </p:nvSpPr>
        <p:spPr>
          <a:xfrm>
            <a:off x="8046720" y="17000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7000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882880"/>
            <a:ext cx="3063240" cy="457200"/>
          </a:xfrm>
          <a:prstGeom prst="rect">
            <a:avLst/>
          </a:prstGeom>
          <a:noFill/>
        </p:spPr>
        <p:txBody>
          <a:bodyPr wrap="square">
            <a:spAutoFit/>
          </a:bodyPr>
          <a:lstStyle/>
          <a:p>
            <a:pPr algn="l"/>
            <a:r>
              <a:rPr sz="2200" b="1">
                <a:solidFill>
                  <a:srgbClr val="7BC9A0"/>
                </a:solidFill>
                <a:latin typeface="Helvetica Neue"/>
              </a:rPr>
              <a:t>general-purpose</a:t>
            </a:r>
          </a:p>
        </p:txBody>
      </p:sp>
      <p:sp>
        <p:nvSpPr>
          <p:cNvPr id="22" name="TextBox 21"/>
          <p:cNvSpPr txBox="1"/>
          <p:nvPr/>
        </p:nvSpPr>
        <p:spPr>
          <a:xfrm>
            <a:off x="8229600" y="2400000"/>
            <a:ext cx="3063240" cy="274320"/>
          </a:xfrm>
          <a:prstGeom prst="rect">
            <a:avLst/>
          </a:prstGeom>
          <a:noFill/>
        </p:spPr>
        <p:txBody>
          <a:bodyPr wrap="square">
            <a:spAutoFit/>
          </a:bodyPr>
          <a:lstStyle/>
          <a:p>
            <a:pPr algn="l"/>
            <a:r>
              <a:rPr sz="1300" b="0">
                <a:solidFill>
                  <a:srgbClr val="B0AEA5"/>
                </a:solidFill>
                <a:latin typeface="Hiragino Sans"/>
              </a:rPr>
              <a:t>モデル: Sonnet</a:t>
            </a:r>
          </a:p>
        </p:txBody>
      </p:sp>
      <p:sp>
        <p:nvSpPr>
          <p:cNvPr id="23" name="TextBox 22"/>
          <p:cNvSpPr txBox="1"/>
          <p:nvPr/>
        </p:nvSpPr>
        <p:spPr>
          <a:xfrm>
            <a:off x="8229600" y="2680000"/>
            <a:ext cx="3063240" cy="274320"/>
          </a:xfrm>
          <a:prstGeom prst="rect">
            <a:avLst/>
          </a:prstGeom>
          <a:noFill/>
        </p:spPr>
        <p:txBody>
          <a:bodyPr wrap="square">
            <a:spAutoFit/>
          </a:bodyPr>
          <a:lstStyle/>
          <a:p>
            <a:pPr algn="l"/>
            <a:r>
              <a:rPr sz="1300" b="0">
                <a:solidFill>
                  <a:srgbClr val="B0AEA5"/>
                </a:solidFill>
                <a:latin typeface="Hiragino Sans"/>
              </a:rPr>
              <a:t>モード: 全ツール利用可</a:t>
            </a:r>
          </a:p>
        </p:txBody>
      </p:sp>
      <p:cxnSp>
        <p:nvCxnSpPr>
          <p:cNvPr id="24" name="Connector 23"/>
          <p:cNvCxnSpPr/>
          <p:nvPr/>
        </p:nvCxnSpPr>
        <p:spPr>
          <a:xfrm>
            <a:off x="8229600" y="3050000"/>
            <a:ext cx="306324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229600" y="3200000"/>
            <a:ext cx="3063240" cy="1500000"/>
          </a:xfrm>
          <a:prstGeom prst="rect">
            <a:avLst/>
          </a:prstGeom>
          <a:noFill/>
        </p:spPr>
        <p:txBody>
          <a:bodyPr wrap="square">
            <a:spAutoFit/>
          </a:bodyPr>
          <a:lstStyle/>
          <a:p>
            <a:pPr algn="l">
              <a:spcAft>
                <a:spcPts val="400"/>
              </a:spcAft>
            </a:pPr>
            <a:r>
              <a:rPr sz="1400" b="0">
                <a:solidFill>
                  <a:srgbClr val="E0DED8"/>
                </a:solidFill>
                <a:latin typeface="Hiragino Sans"/>
              </a:rPr>
              <a:t>複雑なマルチステップタスク向け。</a:t>
            </a:r>
          </a:p>
          <a:p>
            <a:pPr algn="l">
              <a:spcAft>
                <a:spcPts val="400"/>
              </a:spcAft>
            </a:pPr>
            <a:r>
              <a:rPr sz="1400" b="0">
                <a:solidFill>
                  <a:srgbClr val="E0DED8"/>
                </a:solidFill>
                <a:latin typeface="Hiragino Sans"/>
              </a:rPr>
              <a:t>ファイルの読み書き、</a:t>
            </a:r>
          </a:p>
          <a:p>
            <a:pPr algn="l">
              <a:spcAft>
                <a:spcPts val="400"/>
              </a:spcAft>
            </a:pPr>
            <a:r>
              <a:rPr sz="1400" b="0">
                <a:solidFill>
                  <a:srgbClr val="E0DED8"/>
                </a:solidFill>
                <a:latin typeface="Hiragino Sans"/>
              </a:rPr>
              <a:t>コマンド実行が可能。</a:t>
            </a:r>
          </a:p>
        </p:txBody>
      </p:sp>
      <p:sp>
        <p:nvSpPr>
          <p:cNvPr id="26" name="Rectangle 25"/>
          <p:cNvSpPr/>
          <p:nvPr/>
        </p:nvSpPr>
        <p:spPr>
          <a:xfrm>
            <a:off x="731520" y="52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52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291440"/>
            <a:ext cx="10400000" cy="365760"/>
          </a:xfrm>
          <a:prstGeom prst="rect">
            <a:avLst/>
          </a:prstGeom>
          <a:noFill/>
        </p:spPr>
        <p:txBody>
          <a:bodyPr wrap="square">
            <a:spAutoFit/>
          </a:bodyPr>
          <a:lstStyle/>
          <a:p>
            <a:pPr algn="l"/>
            <a:r>
              <a:rPr sz="1400" b="1">
                <a:solidFill>
                  <a:srgbClr val="D97757"/>
                </a:solidFill>
                <a:latin typeface="Hiragino Sans"/>
              </a:rPr>
              <a:t>→ Claudeが状況に応じて自動的に使い分ける</a:t>
            </a:r>
          </a:p>
        </p:txBody>
      </p:sp>
      <p:sp>
        <p:nvSpPr>
          <p:cNvPr id="29" name="TextBox 28"/>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16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サブエージェント</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カスタムサブエージェントの作り方</a:t>
            </a:r>
          </a:p>
        </p:txBody>
      </p:sp>
      <p:sp>
        <p:nvSpPr>
          <p:cNvPr id="4" name="TextBox 3"/>
          <p:cNvSpPr txBox="1"/>
          <p:nvPr/>
        </p:nvSpPr>
        <p:spPr>
          <a:xfrm>
            <a:off x="731520" y="1100000"/>
            <a:ext cx="5000000" cy="365760"/>
          </a:xfrm>
          <a:prstGeom prst="rect">
            <a:avLst/>
          </a:prstGeom>
          <a:noFill/>
        </p:spPr>
        <p:txBody>
          <a:bodyPr wrap="square">
            <a:spAutoFit/>
          </a:bodyPr>
          <a:lstStyle/>
          <a:p>
            <a:pPr algn="l"/>
            <a:r>
              <a:rPr sz="1600" b="1">
                <a:solidFill>
                  <a:srgbClr val="D97757"/>
                </a:solidFill>
                <a:latin typeface="Hiragino Sans"/>
              </a:rPr>
              <a:t>.claude/agents/ にMarkdownファイルを配置</a:t>
            </a:r>
          </a:p>
        </p:txBody>
      </p:sp>
      <p:sp>
        <p:nvSpPr>
          <p:cNvPr id="5" name="Rounded Rectangle 4"/>
          <p:cNvSpPr/>
          <p:nvPr/>
        </p:nvSpPr>
        <p:spPr>
          <a:xfrm>
            <a:off x="731520" y="1500000"/>
            <a:ext cx="3800000" cy="64008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91440"/>
            <a:ext cx="3525680" cy="457200"/>
          </a:xfrm>
          <a:prstGeom prst="rect">
            <a:avLst/>
          </a:prstGeom>
          <a:noFill/>
        </p:spPr>
        <p:txBody>
          <a:bodyPr wrap="square">
            <a:spAutoFit/>
          </a:bodyPr>
          <a:lstStyle/>
          <a:p>
            <a:pPr algn="l"/>
            <a:r>
              <a:rPr sz="1200" b="0">
                <a:solidFill>
                  <a:srgbClr val="E0DED8"/>
                </a:solidFill>
                <a:latin typeface="SF Mono"/>
              </a:rPr>
              <a:t>.claude/agents/</a:t>
            </a:r>
          </a:p>
          <a:p>
            <a:pPr algn="l"/>
            <a:r>
              <a:rPr sz="1200" b="0">
                <a:solidFill>
                  <a:srgbClr val="E0DED8"/>
                </a:solidFill>
                <a:latin typeface="SF Mono"/>
              </a:rPr>
              <a:t>├── code-reviewer.md</a:t>
            </a:r>
          </a:p>
          <a:p>
            <a:pPr algn="l"/>
            <a:r>
              <a:rPr sz="1200" b="0">
                <a:solidFill>
                  <a:srgbClr val="E0DED8"/>
                </a:solidFill>
                <a:latin typeface="SF Mono"/>
              </a:rPr>
              <a:t>├── debugger.md</a:t>
            </a:r>
          </a:p>
          <a:p>
            <a:pPr algn="l"/>
            <a:r>
              <a:rPr sz="1200" b="0">
                <a:solidFill>
                  <a:srgbClr val="E0DED8"/>
                </a:solidFill>
                <a:latin typeface="SF Mono"/>
              </a:rPr>
              <a:t>└── test-runner.md</a:t>
            </a:r>
          </a:p>
        </p:txBody>
      </p:sp>
      <p:sp>
        <p:nvSpPr>
          <p:cNvPr id="7" name="TextBox 6"/>
          <p:cNvSpPr txBox="1"/>
          <p:nvPr/>
        </p:nvSpPr>
        <p:spPr>
          <a:xfrm>
            <a:off x="731520" y="2300000"/>
            <a:ext cx="5000000" cy="365760"/>
          </a:xfrm>
          <a:prstGeom prst="rect">
            <a:avLst/>
          </a:prstGeom>
          <a:noFill/>
        </p:spPr>
        <p:txBody>
          <a:bodyPr wrap="square">
            <a:spAutoFit/>
          </a:bodyPr>
          <a:lstStyle/>
          <a:p>
            <a:pPr algn="l"/>
            <a:r>
              <a:rPr sz="1600" b="1">
                <a:solidFill>
                  <a:srgbClr val="FAF9F5"/>
                </a:solidFill>
                <a:latin typeface="Hiragino Sans"/>
              </a:rPr>
              <a:t>設定ファイルの構造</a:t>
            </a:r>
          </a:p>
        </p:txBody>
      </p:sp>
      <p:sp>
        <p:nvSpPr>
          <p:cNvPr id="8" name="Rounded Rectangle 7"/>
          <p:cNvSpPr/>
          <p:nvPr/>
        </p:nvSpPr>
        <p:spPr>
          <a:xfrm>
            <a:off x="731520" y="2700000"/>
            <a:ext cx="5486400" cy="2743200"/>
          </a:xfrm>
          <a:prstGeom prst="roundRect">
            <a:avLst>
              <a:gd name="adj" fmla="val 4000"/>
            </a:avLst>
          </a:prstGeom>
          <a:solidFill>
            <a:srgbClr val="1B19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791440"/>
            <a:ext cx="5212080" cy="2560320"/>
          </a:xfrm>
          <a:prstGeom prst="rect">
            <a:avLst/>
          </a:prstGeom>
          <a:noFill/>
        </p:spPr>
        <p:txBody>
          <a:bodyPr wrap="square">
            <a:spAutoFit/>
          </a:bodyPr>
          <a:lstStyle/>
          <a:p>
            <a:pPr algn="l"/>
            <a:r>
              <a:rPr sz="1200" b="0">
                <a:solidFill>
                  <a:srgbClr val="E0DED8"/>
                </a:solidFill>
                <a:latin typeface="SF Mono"/>
              </a:rPr>
              <a:t>---</a:t>
            </a:r>
          </a:p>
          <a:p>
            <a:pPr algn="l"/>
            <a:r>
              <a:rPr sz="1200" b="0">
                <a:solidFill>
                  <a:srgbClr val="E0DED8"/>
                </a:solidFill>
                <a:latin typeface="SF Mono"/>
              </a:rPr>
              <a:t>name: code-reviewer</a:t>
            </a:r>
          </a:p>
          <a:p>
            <a:pPr algn="l"/>
            <a:r>
              <a:rPr sz="1200" b="0">
                <a:solidFill>
                  <a:srgbClr val="E0DED8"/>
                </a:solidFill>
                <a:latin typeface="SF Mono"/>
              </a:rPr>
              <a:t>description: コードレビューの専門家。</a:t>
            </a:r>
          </a:p>
          <a:p>
            <a:pPr algn="l"/>
            <a:r>
              <a:rPr sz="1200" b="0">
                <a:solidFill>
                  <a:srgbClr val="E0DED8"/>
                </a:solidFill>
                <a:latin typeface="SF Mono"/>
              </a:rPr>
              <a:t>             コード変更後に積極的にレビュー。</a:t>
            </a:r>
          </a:p>
          <a:p>
            <a:pPr algn="l"/>
            <a:r>
              <a:rPr sz="1200" b="0">
                <a:solidFill>
                  <a:srgbClr val="E0DED8"/>
                </a:solidFill>
                <a:latin typeface="SF Mono"/>
              </a:rPr>
              <a:t>tools: Read, Grep, Glob, Bash</a:t>
            </a:r>
          </a:p>
          <a:p>
            <a:pPr algn="l"/>
            <a:r>
              <a:rPr sz="1200" b="0">
                <a:solidFill>
                  <a:srgbClr val="E0DED8"/>
                </a:solidFill>
                <a:latin typeface="SF Mono"/>
              </a:rPr>
              <a:t>model: sonnet</a:t>
            </a:r>
          </a:p>
          <a:p>
            <a:pPr algn="l"/>
            <a:r>
              <a:rPr sz="1200" b="0">
                <a:solidFill>
                  <a:srgbClr val="E0DED8"/>
                </a:solidFill>
                <a:latin typeface="SF Mono"/>
              </a:rPr>
              <a:t>---</a:t>
            </a:r>
          </a:p>
          <a:p>
            <a:pPr algn="l"/>
            <a:r>
              <a:rPr sz="1200" b="0">
                <a:solidFill>
                  <a:srgbClr val="E0DED8"/>
                </a:solidFill>
                <a:latin typeface="SF Mono"/>
              </a:rPr>
              <a:t/>
            </a:r>
          </a:p>
          <a:p>
            <a:pPr algn="l"/>
            <a:r>
              <a:rPr sz="1200" b="0">
                <a:solidFill>
                  <a:srgbClr val="E0DED8"/>
                </a:solidFill>
                <a:latin typeface="SF Mono"/>
              </a:rPr>
              <a:t>あなたはシニアコードレビューアーです。</a:t>
            </a:r>
          </a:p>
          <a:p>
            <a:pPr algn="l"/>
            <a:r>
              <a:rPr sz="1200" b="0">
                <a:solidFill>
                  <a:srgbClr val="E0DED8"/>
                </a:solidFill>
                <a:latin typeface="SF Mono"/>
              </a:rPr>
              <a:t/>
            </a:r>
          </a:p>
          <a:p>
            <a:pPr algn="l"/>
            <a:r>
              <a:rPr sz="1200" b="0">
                <a:solidFill>
                  <a:srgbClr val="E0DED8"/>
                </a:solidFill>
                <a:latin typeface="SF Mono"/>
              </a:rPr>
              <a:t>呼び出されたときは以下を実行する。</a:t>
            </a:r>
          </a:p>
          <a:p>
            <a:pPr algn="l"/>
            <a:r>
              <a:rPr sz="1200" b="0">
                <a:solidFill>
                  <a:srgbClr val="E0DED8"/>
                </a:solidFill>
                <a:latin typeface="SF Mono"/>
              </a:rPr>
              <a:t>1. git diffで最近の変更を確認</a:t>
            </a:r>
          </a:p>
          <a:p>
            <a:pPr algn="l"/>
            <a:r>
              <a:rPr sz="1200" b="0">
                <a:solidFill>
                  <a:srgbClr val="E0DED8"/>
                </a:solidFill>
                <a:latin typeface="SF Mono"/>
              </a:rPr>
              <a:t>2. 変更されたファイルに焦点を当てる</a:t>
            </a:r>
          </a:p>
          <a:p>
            <a:pPr algn="l"/>
            <a:r>
              <a:rPr sz="1200" b="0">
                <a:solidFill>
                  <a:srgbClr val="E0DED8"/>
                </a:solidFill>
                <a:latin typeface="SF Mono"/>
              </a:rPr>
              <a:t>3. 即座にレビューを開始</a:t>
            </a:r>
          </a:p>
        </p:txBody>
      </p:sp>
      <p:sp>
        <p:nvSpPr>
          <p:cNvPr id="10" name="TextBox 9"/>
          <p:cNvSpPr txBox="1"/>
          <p:nvPr/>
        </p:nvSpPr>
        <p:spPr>
          <a:xfrm>
            <a:off x="6500000" y="1100000"/>
            <a:ext cx="5000000" cy="365760"/>
          </a:xfrm>
          <a:prstGeom prst="rect">
            <a:avLst/>
          </a:prstGeom>
          <a:noFill/>
        </p:spPr>
        <p:txBody>
          <a:bodyPr wrap="square">
            <a:spAutoFit/>
          </a:bodyPr>
          <a:lstStyle/>
          <a:p>
            <a:pPr algn="l"/>
            <a:r>
              <a:rPr sz="1600" b="1">
                <a:solidFill>
                  <a:srgbClr val="FAF9F5"/>
                </a:solidFill>
                <a:latin typeface="Hiragino Sans"/>
              </a:rPr>
              <a:t>主なフィールド</a:t>
            </a:r>
          </a:p>
        </p:txBody>
      </p:sp>
      <p:sp>
        <p:nvSpPr>
          <p:cNvPr id="11" name="Rectangle 10"/>
          <p:cNvSpPr/>
          <p:nvPr/>
        </p:nvSpPr>
        <p:spPr>
          <a:xfrm>
            <a:off x="6500000" y="1500000"/>
            <a:ext cx="16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91440" y="1568580"/>
            <a:ext cx="1417120" cy="274320"/>
          </a:xfrm>
          <a:prstGeom prst="rect">
            <a:avLst/>
          </a:prstGeom>
          <a:noFill/>
        </p:spPr>
        <p:txBody>
          <a:bodyPr wrap="square">
            <a:spAutoFit/>
          </a:bodyPr>
          <a:lstStyle/>
          <a:p>
            <a:pPr algn="l"/>
            <a:r>
              <a:rPr sz="1300" b="1">
                <a:solidFill>
                  <a:srgbClr val="D97757"/>
                </a:solidFill>
                <a:latin typeface="Hiragino Sans"/>
              </a:rPr>
              <a:t>フィールド</a:t>
            </a:r>
          </a:p>
        </p:txBody>
      </p:sp>
      <p:sp>
        <p:nvSpPr>
          <p:cNvPr id="13" name="Rectangle 12"/>
          <p:cNvSpPr/>
          <p:nvPr/>
        </p:nvSpPr>
        <p:spPr>
          <a:xfrm>
            <a:off x="8100000" y="1500000"/>
            <a:ext cx="8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91440" y="1568580"/>
            <a:ext cx="617120" cy="274320"/>
          </a:xfrm>
          <a:prstGeom prst="rect">
            <a:avLst/>
          </a:prstGeom>
          <a:noFill/>
        </p:spPr>
        <p:txBody>
          <a:bodyPr wrap="square">
            <a:spAutoFit/>
          </a:bodyPr>
          <a:lstStyle/>
          <a:p>
            <a:pPr algn="l"/>
            <a:r>
              <a:rPr sz="1300" b="1">
                <a:solidFill>
                  <a:srgbClr val="D97757"/>
                </a:solidFill>
                <a:latin typeface="Hiragino Sans"/>
              </a:rPr>
              <a:t>必須</a:t>
            </a:r>
          </a:p>
        </p:txBody>
      </p:sp>
      <p:sp>
        <p:nvSpPr>
          <p:cNvPr id="15" name="Rectangle 14"/>
          <p:cNvSpPr/>
          <p:nvPr/>
        </p:nvSpPr>
        <p:spPr>
          <a:xfrm>
            <a:off x="8900000" y="1500000"/>
            <a:ext cx="306096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91440" y="1568580"/>
            <a:ext cx="2878080" cy="274320"/>
          </a:xfrm>
          <a:prstGeom prst="rect">
            <a:avLst/>
          </a:prstGeom>
          <a:noFill/>
        </p:spPr>
        <p:txBody>
          <a:bodyPr wrap="square">
            <a:spAutoFit/>
          </a:bodyPr>
          <a:lstStyle/>
          <a:p>
            <a:pPr algn="l"/>
            <a:r>
              <a:rPr sz="1300" b="1">
                <a:solidFill>
                  <a:srgbClr val="D97757"/>
                </a:solidFill>
                <a:latin typeface="Hiragino Sans"/>
              </a:rPr>
              <a:t>説明</a:t>
            </a:r>
          </a:p>
        </p:txBody>
      </p:sp>
      <p:sp>
        <p:nvSpPr>
          <p:cNvPr id="17" name="Rectangle 16"/>
          <p:cNvSpPr/>
          <p:nvPr/>
        </p:nvSpPr>
        <p:spPr>
          <a:xfrm>
            <a:off x="6500000" y="1865760"/>
            <a:ext cx="16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91440" y="1911480"/>
            <a:ext cx="1417120" cy="274320"/>
          </a:xfrm>
          <a:prstGeom prst="rect">
            <a:avLst/>
          </a:prstGeom>
          <a:noFill/>
        </p:spPr>
        <p:txBody>
          <a:bodyPr wrap="square">
            <a:spAutoFit/>
          </a:bodyPr>
          <a:lstStyle/>
          <a:p>
            <a:pPr algn="l"/>
            <a:r>
              <a:rPr sz="1300" b="0">
                <a:solidFill>
                  <a:srgbClr val="D97757"/>
                </a:solidFill>
                <a:latin typeface="SF Mono"/>
              </a:rPr>
              <a:t>name</a:t>
            </a:r>
          </a:p>
        </p:txBody>
      </p:sp>
      <p:sp>
        <p:nvSpPr>
          <p:cNvPr id="19" name="Rectangle 18"/>
          <p:cNvSpPr/>
          <p:nvPr/>
        </p:nvSpPr>
        <p:spPr>
          <a:xfrm>
            <a:off x="8100000" y="1865760"/>
            <a:ext cx="8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1440" y="1911480"/>
            <a:ext cx="617120" cy="274320"/>
          </a:xfrm>
          <a:prstGeom prst="rect">
            <a:avLst/>
          </a:prstGeom>
          <a:noFill/>
        </p:spPr>
        <p:txBody>
          <a:bodyPr wrap="square">
            <a:spAutoFit/>
          </a:bodyPr>
          <a:lstStyle/>
          <a:p>
            <a:pPr algn="l"/>
            <a:r>
              <a:rPr sz="1300" b="0">
                <a:solidFill>
                  <a:srgbClr val="E0DED8"/>
                </a:solidFill>
                <a:latin typeface="Hiragino Sans"/>
              </a:rPr>
              <a:t>Yes</a:t>
            </a:r>
          </a:p>
        </p:txBody>
      </p:sp>
      <p:sp>
        <p:nvSpPr>
          <p:cNvPr id="21" name="Rectangle 20"/>
          <p:cNvSpPr/>
          <p:nvPr/>
        </p:nvSpPr>
        <p:spPr>
          <a:xfrm>
            <a:off x="8900000" y="1865760"/>
            <a:ext cx="306096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91440" y="1911480"/>
            <a:ext cx="2878080" cy="274320"/>
          </a:xfrm>
          <a:prstGeom prst="rect">
            <a:avLst/>
          </a:prstGeom>
          <a:noFill/>
        </p:spPr>
        <p:txBody>
          <a:bodyPr wrap="square">
            <a:spAutoFit/>
          </a:bodyPr>
          <a:lstStyle/>
          <a:p>
            <a:pPr algn="l"/>
            <a:r>
              <a:rPr sz="1300" b="0">
                <a:solidFill>
                  <a:srgbClr val="E0DED8"/>
                </a:solidFill>
                <a:latin typeface="Hiragino Sans"/>
              </a:rPr>
              <a:t>一意の識別子</a:t>
            </a:r>
          </a:p>
        </p:txBody>
      </p:sp>
      <p:sp>
        <p:nvSpPr>
          <p:cNvPr id="23" name="Rectangle 22"/>
          <p:cNvSpPr/>
          <p:nvPr/>
        </p:nvSpPr>
        <p:spPr>
          <a:xfrm>
            <a:off x="6500000" y="2205760"/>
            <a:ext cx="16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1440" y="2251480"/>
            <a:ext cx="1417120" cy="274320"/>
          </a:xfrm>
          <a:prstGeom prst="rect">
            <a:avLst/>
          </a:prstGeom>
          <a:noFill/>
        </p:spPr>
        <p:txBody>
          <a:bodyPr wrap="square">
            <a:spAutoFit/>
          </a:bodyPr>
          <a:lstStyle/>
          <a:p>
            <a:pPr algn="l"/>
            <a:r>
              <a:rPr sz="1300" b="0">
                <a:solidFill>
                  <a:srgbClr val="D97757"/>
                </a:solidFill>
                <a:latin typeface="SF Mono"/>
              </a:rPr>
              <a:t>description</a:t>
            </a:r>
          </a:p>
        </p:txBody>
      </p:sp>
      <p:sp>
        <p:nvSpPr>
          <p:cNvPr id="25" name="Rectangle 24"/>
          <p:cNvSpPr/>
          <p:nvPr/>
        </p:nvSpPr>
        <p:spPr>
          <a:xfrm>
            <a:off x="8100000" y="2205760"/>
            <a:ext cx="8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91440" y="2251480"/>
            <a:ext cx="617120" cy="274320"/>
          </a:xfrm>
          <a:prstGeom prst="rect">
            <a:avLst/>
          </a:prstGeom>
          <a:noFill/>
        </p:spPr>
        <p:txBody>
          <a:bodyPr wrap="square">
            <a:spAutoFit/>
          </a:bodyPr>
          <a:lstStyle/>
          <a:p>
            <a:pPr algn="l"/>
            <a:r>
              <a:rPr sz="1300" b="0">
                <a:solidFill>
                  <a:srgbClr val="E0DED8"/>
                </a:solidFill>
                <a:latin typeface="Hiragino Sans"/>
              </a:rPr>
              <a:t>Yes</a:t>
            </a:r>
          </a:p>
        </p:txBody>
      </p:sp>
      <p:sp>
        <p:nvSpPr>
          <p:cNvPr id="27" name="Rectangle 26"/>
          <p:cNvSpPr/>
          <p:nvPr/>
        </p:nvSpPr>
        <p:spPr>
          <a:xfrm>
            <a:off x="8900000" y="2205760"/>
            <a:ext cx="306096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91440" y="2251480"/>
            <a:ext cx="2878080" cy="274320"/>
          </a:xfrm>
          <a:prstGeom prst="rect">
            <a:avLst/>
          </a:prstGeom>
          <a:noFill/>
        </p:spPr>
        <p:txBody>
          <a:bodyPr wrap="square">
            <a:spAutoFit/>
          </a:bodyPr>
          <a:lstStyle/>
          <a:p>
            <a:pPr algn="l"/>
            <a:r>
              <a:rPr sz="1300" b="0">
                <a:solidFill>
                  <a:srgbClr val="E0DED8"/>
                </a:solidFill>
                <a:latin typeface="Hiragino Sans"/>
              </a:rPr>
              <a:t>Claudeが委譲判断に使う</a:t>
            </a:r>
          </a:p>
        </p:txBody>
      </p:sp>
      <p:sp>
        <p:nvSpPr>
          <p:cNvPr id="29" name="Rectangle 28"/>
          <p:cNvSpPr/>
          <p:nvPr/>
        </p:nvSpPr>
        <p:spPr>
          <a:xfrm>
            <a:off x="6500000" y="2545760"/>
            <a:ext cx="16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1440" y="2591480"/>
            <a:ext cx="1417120" cy="274320"/>
          </a:xfrm>
          <a:prstGeom prst="rect">
            <a:avLst/>
          </a:prstGeom>
          <a:noFill/>
        </p:spPr>
        <p:txBody>
          <a:bodyPr wrap="square">
            <a:spAutoFit/>
          </a:bodyPr>
          <a:lstStyle/>
          <a:p>
            <a:pPr algn="l"/>
            <a:r>
              <a:rPr sz="1300" b="0">
                <a:solidFill>
                  <a:srgbClr val="D97757"/>
                </a:solidFill>
                <a:latin typeface="SF Mono"/>
              </a:rPr>
              <a:t>tools</a:t>
            </a:r>
          </a:p>
        </p:txBody>
      </p:sp>
      <p:sp>
        <p:nvSpPr>
          <p:cNvPr id="31" name="Rectangle 30"/>
          <p:cNvSpPr/>
          <p:nvPr/>
        </p:nvSpPr>
        <p:spPr>
          <a:xfrm>
            <a:off x="8100000" y="2545760"/>
            <a:ext cx="80000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91440" y="2591480"/>
            <a:ext cx="617120" cy="274320"/>
          </a:xfrm>
          <a:prstGeom prst="rect">
            <a:avLst/>
          </a:prstGeom>
          <a:noFill/>
        </p:spPr>
        <p:txBody>
          <a:bodyPr wrap="square">
            <a:spAutoFit/>
          </a:bodyPr>
          <a:lstStyle/>
          <a:p>
            <a:pPr algn="l"/>
            <a:r>
              <a:rPr sz="1300" b="0">
                <a:solidFill>
                  <a:srgbClr val="E0DED8"/>
                </a:solidFill>
                <a:latin typeface="Hiragino Sans"/>
              </a:rPr>
              <a:t>No</a:t>
            </a:r>
          </a:p>
        </p:txBody>
      </p:sp>
      <p:sp>
        <p:nvSpPr>
          <p:cNvPr id="33" name="Rectangle 32"/>
          <p:cNvSpPr/>
          <p:nvPr/>
        </p:nvSpPr>
        <p:spPr>
          <a:xfrm>
            <a:off x="8900000" y="2545760"/>
            <a:ext cx="3060960" cy="32000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91440" y="2591480"/>
            <a:ext cx="2878080" cy="274320"/>
          </a:xfrm>
          <a:prstGeom prst="rect">
            <a:avLst/>
          </a:prstGeom>
          <a:noFill/>
        </p:spPr>
        <p:txBody>
          <a:bodyPr wrap="square">
            <a:spAutoFit/>
          </a:bodyPr>
          <a:lstStyle/>
          <a:p>
            <a:pPr algn="l"/>
            <a:r>
              <a:rPr sz="1300" b="0">
                <a:solidFill>
                  <a:srgbClr val="E0DED8"/>
                </a:solidFill>
                <a:latin typeface="Hiragino Sans"/>
              </a:rPr>
              <a:t>利用可能なツール</a:t>
            </a:r>
          </a:p>
        </p:txBody>
      </p:sp>
      <p:sp>
        <p:nvSpPr>
          <p:cNvPr id="35" name="Rectangle 34"/>
          <p:cNvSpPr/>
          <p:nvPr/>
        </p:nvSpPr>
        <p:spPr>
          <a:xfrm>
            <a:off x="6500000" y="2885760"/>
            <a:ext cx="16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1440" y="2931480"/>
            <a:ext cx="1417120" cy="274320"/>
          </a:xfrm>
          <a:prstGeom prst="rect">
            <a:avLst/>
          </a:prstGeom>
          <a:noFill/>
        </p:spPr>
        <p:txBody>
          <a:bodyPr wrap="square">
            <a:spAutoFit/>
          </a:bodyPr>
          <a:lstStyle/>
          <a:p>
            <a:pPr algn="l"/>
            <a:r>
              <a:rPr sz="1300" b="0">
                <a:solidFill>
                  <a:srgbClr val="D97757"/>
                </a:solidFill>
                <a:latin typeface="SF Mono"/>
              </a:rPr>
              <a:t>model</a:t>
            </a:r>
          </a:p>
        </p:txBody>
      </p:sp>
      <p:sp>
        <p:nvSpPr>
          <p:cNvPr id="37" name="Rectangle 36"/>
          <p:cNvSpPr/>
          <p:nvPr/>
        </p:nvSpPr>
        <p:spPr>
          <a:xfrm>
            <a:off x="8100000" y="2885760"/>
            <a:ext cx="80000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1440" y="2931480"/>
            <a:ext cx="617120" cy="274320"/>
          </a:xfrm>
          <a:prstGeom prst="rect">
            <a:avLst/>
          </a:prstGeom>
          <a:noFill/>
        </p:spPr>
        <p:txBody>
          <a:bodyPr wrap="square">
            <a:spAutoFit/>
          </a:bodyPr>
          <a:lstStyle/>
          <a:p>
            <a:pPr algn="l"/>
            <a:r>
              <a:rPr sz="1300" b="0">
                <a:solidFill>
                  <a:srgbClr val="E0DED8"/>
                </a:solidFill>
                <a:latin typeface="Hiragino Sans"/>
              </a:rPr>
              <a:t>No</a:t>
            </a:r>
          </a:p>
        </p:txBody>
      </p:sp>
      <p:sp>
        <p:nvSpPr>
          <p:cNvPr id="39" name="Rectangle 38"/>
          <p:cNvSpPr/>
          <p:nvPr/>
        </p:nvSpPr>
        <p:spPr>
          <a:xfrm>
            <a:off x="8900000" y="2885760"/>
            <a:ext cx="3060960" cy="32000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91440" y="2931480"/>
            <a:ext cx="2878080" cy="274320"/>
          </a:xfrm>
          <a:prstGeom prst="rect">
            <a:avLst/>
          </a:prstGeom>
          <a:noFill/>
        </p:spPr>
        <p:txBody>
          <a:bodyPr wrap="square">
            <a:spAutoFit/>
          </a:bodyPr>
          <a:lstStyle/>
          <a:p>
            <a:pPr algn="l"/>
            <a:r>
              <a:rPr sz="1300" b="0">
                <a:solidFill>
                  <a:srgbClr val="E0DED8"/>
                </a:solidFill>
                <a:latin typeface="Hiragino Sans"/>
              </a:rPr>
              <a:t>sonnet / opus / haiku</a:t>
            </a:r>
          </a:p>
        </p:txBody>
      </p:sp>
      <p:sp>
        <p:nvSpPr>
          <p:cNvPr id="41" name="Rectangle 40"/>
          <p:cNvSpPr/>
          <p:nvPr/>
        </p:nvSpPr>
        <p:spPr>
          <a:xfrm>
            <a:off x="731520" y="57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1520" y="57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5791440"/>
            <a:ext cx="10400000" cy="365760"/>
          </a:xfrm>
          <a:prstGeom prst="rect">
            <a:avLst/>
          </a:prstGeom>
          <a:noFill/>
        </p:spPr>
        <p:txBody>
          <a:bodyPr wrap="square">
            <a:spAutoFit/>
          </a:bodyPr>
          <a:lstStyle/>
          <a:p>
            <a:pPr algn="l"/>
            <a:r>
              <a:rPr sz="1400" b="1">
                <a:solidFill>
                  <a:srgbClr val="D97757"/>
                </a:solidFill>
                <a:latin typeface="Hiragino Sans"/>
              </a:rPr>
              <a:t>→ descriptionが重要。Claudeはこの説明を見て委譲先を判断する</a:t>
            </a:r>
          </a:p>
        </p:txBody>
      </p:sp>
      <p:sp>
        <p:nvSpPr>
          <p:cNvPr id="44" name="TextBox 43"/>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17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3 — サブエージェント</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スキル vs サブエージェント</a:t>
            </a:r>
          </a:p>
        </p:txBody>
      </p:sp>
      <p:sp>
        <p:nvSpPr>
          <p:cNvPr id="4" name="TextBox 3"/>
          <p:cNvSpPr txBox="1"/>
          <p:nvPr/>
        </p:nvSpPr>
        <p:spPr>
          <a:xfrm>
            <a:off x="731520" y="1200000"/>
            <a:ext cx="10000000" cy="365760"/>
          </a:xfrm>
          <a:prstGeom prst="rect">
            <a:avLst/>
          </a:prstGeom>
          <a:noFill/>
        </p:spPr>
        <p:txBody>
          <a:bodyPr wrap="square">
            <a:spAutoFit/>
          </a:bodyPr>
          <a:lstStyle/>
          <a:p>
            <a:pPr algn="l"/>
            <a:r>
              <a:rPr sz="1600" b="0">
                <a:solidFill>
                  <a:srgbClr val="B0AEA5"/>
                </a:solidFill>
                <a:latin typeface="Hiragino Sans"/>
              </a:rPr>
              <a:t>どちらもClaudeの能力を拡張するが、動作が異なる</a:t>
            </a:r>
          </a:p>
        </p:txBody>
      </p:sp>
      <p:sp>
        <p:nvSpPr>
          <p:cNvPr id="5" name="Rectangle 4"/>
          <p:cNvSpPr/>
          <p:nvPr/>
        </p:nvSpPr>
        <p:spPr>
          <a:xfrm>
            <a:off x="731520" y="1700000"/>
            <a:ext cx="260000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68580"/>
            <a:ext cx="2417120" cy="274320"/>
          </a:xfrm>
          <a:prstGeom prst="rect">
            <a:avLst/>
          </a:prstGeom>
          <a:noFill/>
        </p:spPr>
        <p:txBody>
          <a:bodyPr wrap="square">
            <a:spAutoFit/>
          </a:bodyPr>
          <a:lstStyle/>
          <a:p>
            <a:pPr algn="l"/>
            <a:r>
              <a:rPr sz="1500" b="1">
                <a:solidFill>
                  <a:srgbClr val="D97757"/>
                </a:solidFill>
                <a:latin typeface="Hiragino Sans"/>
              </a:rPr>
              <a:t/>
            </a:r>
          </a:p>
        </p:txBody>
      </p:sp>
      <p:sp>
        <p:nvSpPr>
          <p:cNvPr id="7" name="Rectangle 6"/>
          <p:cNvSpPr/>
          <p:nvPr/>
        </p:nvSpPr>
        <p:spPr>
          <a:xfrm>
            <a:off x="3331520" y="1700000"/>
            <a:ext cx="406448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2960" y="1768580"/>
            <a:ext cx="3881600" cy="274320"/>
          </a:xfrm>
          <a:prstGeom prst="rect">
            <a:avLst/>
          </a:prstGeom>
          <a:noFill/>
        </p:spPr>
        <p:txBody>
          <a:bodyPr wrap="square">
            <a:spAutoFit/>
          </a:bodyPr>
          <a:lstStyle/>
          <a:p>
            <a:pPr algn="l"/>
            <a:r>
              <a:rPr sz="1500" b="1">
                <a:solidFill>
                  <a:srgbClr val="D97757"/>
                </a:solidFill>
                <a:latin typeface="Hiragino Sans"/>
              </a:rPr>
              <a:t>スキル</a:t>
            </a:r>
          </a:p>
        </p:txBody>
      </p:sp>
      <p:sp>
        <p:nvSpPr>
          <p:cNvPr id="9" name="Rectangle 8"/>
          <p:cNvSpPr/>
          <p:nvPr/>
        </p:nvSpPr>
        <p:spPr>
          <a:xfrm>
            <a:off x="7396000" y="1700000"/>
            <a:ext cx="4064480" cy="365760"/>
          </a:xfrm>
          <a:prstGeom prst="rect">
            <a:avLst/>
          </a:prstGeom>
          <a:solidFill>
            <a:srgbClr val="3A36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7440" y="1768580"/>
            <a:ext cx="3881600" cy="274320"/>
          </a:xfrm>
          <a:prstGeom prst="rect">
            <a:avLst/>
          </a:prstGeom>
          <a:noFill/>
        </p:spPr>
        <p:txBody>
          <a:bodyPr wrap="square">
            <a:spAutoFit/>
          </a:bodyPr>
          <a:lstStyle/>
          <a:p>
            <a:pPr algn="l"/>
            <a:r>
              <a:rPr sz="1500" b="1">
                <a:solidFill>
                  <a:srgbClr val="D97757"/>
                </a:solidFill>
                <a:latin typeface="Hiragino Sans"/>
              </a:rPr>
              <a:t>サブエージェント</a:t>
            </a:r>
          </a:p>
        </p:txBody>
      </p:sp>
      <p:sp>
        <p:nvSpPr>
          <p:cNvPr id="11" name="Rectangle 10"/>
          <p:cNvSpPr/>
          <p:nvPr/>
        </p:nvSpPr>
        <p:spPr>
          <a:xfrm>
            <a:off x="731520" y="2065760"/>
            <a:ext cx="2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134340"/>
            <a:ext cx="2417120" cy="274320"/>
          </a:xfrm>
          <a:prstGeom prst="rect">
            <a:avLst/>
          </a:prstGeom>
          <a:noFill/>
        </p:spPr>
        <p:txBody>
          <a:bodyPr wrap="square">
            <a:spAutoFit/>
          </a:bodyPr>
          <a:lstStyle/>
          <a:p>
            <a:pPr algn="l"/>
            <a:r>
              <a:rPr sz="1400" b="1">
                <a:solidFill>
                  <a:srgbClr val="FAF9F5"/>
                </a:solidFill>
                <a:latin typeface="Hiragino Sans"/>
              </a:rPr>
              <a:t>コンテキスト</a:t>
            </a:r>
          </a:p>
        </p:txBody>
      </p:sp>
      <p:sp>
        <p:nvSpPr>
          <p:cNvPr id="13" name="Rectangle 12"/>
          <p:cNvSpPr/>
          <p:nvPr/>
        </p:nvSpPr>
        <p:spPr>
          <a:xfrm>
            <a:off x="3331520" y="2065760"/>
            <a:ext cx="406448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2960" y="2134340"/>
            <a:ext cx="3881600" cy="274320"/>
          </a:xfrm>
          <a:prstGeom prst="rect">
            <a:avLst/>
          </a:prstGeom>
          <a:noFill/>
        </p:spPr>
        <p:txBody>
          <a:bodyPr wrap="square">
            <a:spAutoFit/>
          </a:bodyPr>
          <a:lstStyle/>
          <a:p>
            <a:pPr algn="l"/>
            <a:r>
              <a:rPr sz="1400" b="0">
                <a:solidFill>
                  <a:srgbClr val="E0DED8"/>
                </a:solidFill>
                <a:latin typeface="Hiragino Sans"/>
              </a:rPr>
              <a:t>メイン会話内</a:t>
            </a:r>
          </a:p>
        </p:txBody>
      </p:sp>
      <p:sp>
        <p:nvSpPr>
          <p:cNvPr id="15" name="Rectangle 14"/>
          <p:cNvSpPr/>
          <p:nvPr/>
        </p:nvSpPr>
        <p:spPr>
          <a:xfrm>
            <a:off x="7396000" y="2065760"/>
            <a:ext cx="406448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7440" y="2134340"/>
            <a:ext cx="3881600" cy="274320"/>
          </a:xfrm>
          <a:prstGeom prst="rect">
            <a:avLst/>
          </a:prstGeom>
          <a:noFill/>
        </p:spPr>
        <p:txBody>
          <a:bodyPr wrap="square">
            <a:spAutoFit/>
          </a:bodyPr>
          <a:lstStyle/>
          <a:p>
            <a:pPr algn="l"/>
            <a:r>
              <a:rPr sz="1400" b="0">
                <a:solidFill>
                  <a:srgbClr val="E0DED8"/>
                </a:solidFill>
                <a:latin typeface="Hiragino Sans"/>
              </a:rPr>
              <a:t>独立したコンテキスト</a:t>
            </a:r>
          </a:p>
        </p:txBody>
      </p:sp>
      <p:sp>
        <p:nvSpPr>
          <p:cNvPr id="17" name="Rectangle 16"/>
          <p:cNvSpPr/>
          <p:nvPr/>
        </p:nvSpPr>
        <p:spPr>
          <a:xfrm>
            <a:off x="731520" y="2435760"/>
            <a:ext cx="26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504340"/>
            <a:ext cx="2417120" cy="274320"/>
          </a:xfrm>
          <a:prstGeom prst="rect">
            <a:avLst/>
          </a:prstGeom>
          <a:noFill/>
        </p:spPr>
        <p:txBody>
          <a:bodyPr wrap="square">
            <a:spAutoFit/>
          </a:bodyPr>
          <a:lstStyle/>
          <a:p>
            <a:pPr algn="l"/>
            <a:r>
              <a:rPr sz="1400" b="1">
                <a:solidFill>
                  <a:srgbClr val="FAF9F5"/>
                </a:solidFill>
                <a:latin typeface="Hiragino Sans"/>
              </a:rPr>
              <a:t>結果の扱い</a:t>
            </a:r>
          </a:p>
        </p:txBody>
      </p:sp>
      <p:sp>
        <p:nvSpPr>
          <p:cNvPr id="19" name="Rectangle 18"/>
          <p:cNvSpPr/>
          <p:nvPr/>
        </p:nvSpPr>
        <p:spPr>
          <a:xfrm>
            <a:off x="3331520" y="2435760"/>
            <a:ext cx="406448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2960" y="2504340"/>
            <a:ext cx="3881600" cy="274320"/>
          </a:xfrm>
          <a:prstGeom prst="rect">
            <a:avLst/>
          </a:prstGeom>
          <a:noFill/>
        </p:spPr>
        <p:txBody>
          <a:bodyPr wrap="square">
            <a:spAutoFit/>
          </a:bodyPr>
          <a:lstStyle/>
          <a:p>
            <a:pPr algn="l"/>
            <a:r>
              <a:rPr sz="1400" b="0">
                <a:solidFill>
                  <a:srgbClr val="E0DED8"/>
                </a:solidFill>
                <a:latin typeface="Hiragino Sans"/>
              </a:rPr>
              <a:t>そのまま会話に残る</a:t>
            </a:r>
          </a:p>
        </p:txBody>
      </p:sp>
      <p:sp>
        <p:nvSpPr>
          <p:cNvPr id="21" name="Rectangle 20"/>
          <p:cNvSpPr/>
          <p:nvPr/>
        </p:nvSpPr>
        <p:spPr>
          <a:xfrm>
            <a:off x="7396000" y="2435760"/>
            <a:ext cx="406448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87440" y="2504340"/>
            <a:ext cx="3881600" cy="274320"/>
          </a:xfrm>
          <a:prstGeom prst="rect">
            <a:avLst/>
          </a:prstGeom>
          <a:noFill/>
        </p:spPr>
        <p:txBody>
          <a:bodyPr wrap="square">
            <a:spAutoFit/>
          </a:bodyPr>
          <a:lstStyle/>
          <a:p>
            <a:pPr algn="l"/>
            <a:r>
              <a:rPr sz="1400" b="0">
                <a:solidFill>
                  <a:srgbClr val="E0DED8"/>
                </a:solidFill>
                <a:latin typeface="Hiragino Sans"/>
              </a:rPr>
              <a:t>要約だけが返る</a:t>
            </a:r>
          </a:p>
        </p:txBody>
      </p:sp>
      <p:sp>
        <p:nvSpPr>
          <p:cNvPr id="23" name="Rectangle 22"/>
          <p:cNvSpPr/>
          <p:nvPr/>
        </p:nvSpPr>
        <p:spPr>
          <a:xfrm>
            <a:off x="731520" y="2805760"/>
            <a:ext cx="260000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2874340"/>
            <a:ext cx="2417120" cy="274320"/>
          </a:xfrm>
          <a:prstGeom prst="rect">
            <a:avLst/>
          </a:prstGeom>
          <a:noFill/>
        </p:spPr>
        <p:txBody>
          <a:bodyPr wrap="square">
            <a:spAutoFit/>
          </a:bodyPr>
          <a:lstStyle/>
          <a:p>
            <a:pPr algn="l"/>
            <a:r>
              <a:rPr sz="1400" b="1">
                <a:solidFill>
                  <a:srgbClr val="FAF9F5"/>
                </a:solidFill>
                <a:latin typeface="Hiragino Sans"/>
              </a:rPr>
              <a:t>向いている作業</a:t>
            </a:r>
          </a:p>
        </p:txBody>
      </p:sp>
      <p:sp>
        <p:nvSpPr>
          <p:cNvPr id="25" name="Rectangle 24"/>
          <p:cNvSpPr/>
          <p:nvPr/>
        </p:nvSpPr>
        <p:spPr>
          <a:xfrm>
            <a:off x="3331520" y="2805760"/>
            <a:ext cx="406448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22960" y="2874340"/>
            <a:ext cx="3881600" cy="274320"/>
          </a:xfrm>
          <a:prstGeom prst="rect">
            <a:avLst/>
          </a:prstGeom>
          <a:noFill/>
        </p:spPr>
        <p:txBody>
          <a:bodyPr wrap="square">
            <a:spAutoFit/>
          </a:bodyPr>
          <a:lstStyle/>
          <a:p>
            <a:pPr algn="l"/>
            <a:r>
              <a:rPr sz="1400" b="0">
                <a:solidFill>
                  <a:srgbClr val="E0DED8"/>
                </a:solidFill>
                <a:latin typeface="Hiragino Sans"/>
              </a:rPr>
              <a:t>知識参照、軽量なワークフロー</a:t>
            </a:r>
          </a:p>
        </p:txBody>
      </p:sp>
      <p:sp>
        <p:nvSpPr>
          <p:cNvPr id="27" name="Rectangle 26"/>
          <p:cNvSpPr/>
          <p:nvPr/>
        </p:nvSpPr>
        <p:spPr>
          <a:xfrm>
            <a:off x="7396000" y="2805760"/>
            <a:ext cx="4064480" cy="365760"/>
          </a:xfrm>
          <a:prstGeom prst="rect">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7440" y="2874340"/>
            <a:ext cx="3881600" cy="274320"/>
          </a:xfrm>
          <a:prstGeom prst="rect">
            <a:avLst/>
          </a:prstGeom>
          <a:noFill/>
        </p:spPr>
        <p:txBody>
          <a:bodyPr wrap="square">
            <a:spAutoFit/>
          </a:bodyPr>
          <a:lstStyle/>
          <a:p>
            <a:pPr algn="l"/>
            <a:r>
              <a:rPr sz="1400" b="0">
                <a:solidFill>
                  <a:srgbClr val="E0DED8"/>
                </a:solidFill>
                <a:latin typeface="Hiragino Sans"/>
              </a:rPr>
              <a:t>大量の探索、並列実行</a:t>
            </a:r>
          </a:p>
        </p:txBody>
      </p:sp>
      <p:sp>
        <p:nvSpPr>
          <p:cNvPr id="29" name="Rectangle 28"/>
          <p:cNvSpPr/>
          <p:nvPr/>
        </p:nvSpPr>
        <p:spPr>
          <a:xfrm>
            <a:off x="731520" y="3175760"/>
            <a:ext cx="260000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244340"/>
            <a:ext cx="2417120" cy="274320"/>
          </a:xfrm>
          <a:prstGeom prst="rect">
            <a:avLst/>
          </a:prstGeom>
          <a:noFill/>
        </p:spPr>
        <p:txBody>
          <a:bodyPr wrap="square">
            <a:spAutoFit/>
          </a:bodyPr>
          <a:lstStyle/>
          <a:p>
            <a:pPr algn="l"/>
            <a:r>
              <a:rPr sz="1400" b="1">
                <a:solidFill>
                  <a:srgbClr val="FAF9F5"/>
                </a:solidFill>
                <a:latin typeface="Hiragino Sans"/>
              </a:rPr>
              <a:t>配置場所</a:t>
            </a:r>
          </a:p>
        </p:txBody>
      </p:sp>
      <p:sp>
        <p:nvSpPr>
          <p:cNvPr id="31" name="Rectangle 30"/>
          <p:cNvSpPr/>
          <p:nvPr/>
        </p:nvSpPr>
        <p:spPr>
          <a:xfrm>
            <a:off x="3331520" y="3175760"/>
            <a:ext cx="406448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2960" y="3244340"/>
            <a:ext cx="3881600" cy="274320"/>
          </a:xfrm>
          <a:prstGeom prst="rect">
            <a:avLst/>
          </a:prstGeom>
          <a:noFill/>
        </p:spPr>
        <p:txBody>
          <a:bodyPr wrap="square">
            <a:spAutoFit/>
          </a:bodyPr>
          <a:lstStyle/>
          <a:p>
            <a:pPr algn="l"/>
            <a:r>
              <a:rPr sz="1400" b="0">
                <a:solidFill>
                  <a:srgbClr val="E0DED8"/>
                </a:solidFill>
                <a:latin typeface="SF Mono"/>
              </a:rPr>
              <a:t>.claude/skills/</a:t>
            </a:r>
          </a:p>
        </p:txBody>
      </p:sp>
      <p:sp>
        <p:nvSpPr>
          <p:cNvPr id="33" name="Rectangle 32"/>
          <p:cNvSpPr/>
          <p:nvPr/>
        </p:nvSpPr>
        <p:spPr>
          <a:xfrm>
            <a:off x="7396000" y="3175760"/>
            <a:ext cx="4064480" cy="365760"/>
          </a:xfrm>
          <a:prstGeom prst="rect">
            <a:avLst/>
          </a:prstGeom>
          <a:solidFill>
            <a:srgbClr val="302D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87440" y="3244340"/>
            <a:ext cx="3881600" cy="274320"/>
          </a:xfrm>
          <a:prstGeom prst="rect">
            <a:avLst/>
          </a:prstGeom>
          <a:noFill/>
        </p:spPr>
        <p:txBody>
          <a:bodyPr wrap="square">
            <a:spAutoFit/>
          </a:bodyPr>
          <a:lstStyle/>
          <a:p>
            <a:pPr algn="l"/>
            <a:r>
              <a:rPr sz="1400" b="0">
                <a:solidFill>
                  <a:srgbClr val="E0DED8"/>
                </a:solidFill>
                <a:latin typeface="SF Mono"/>
              </a:rPr>
              <a:t>.claude/agents/</a:t>
            </a:r>
          </a:p>
        </p:txBody>
      </p:sp>
      <p:cxnSp>
        <p:nvCxnSpPr>
          <p:cNvPr id="35" name="Connector 34"/>
          <p:cNvCxnSpPr/>
          <p:nvPr/>
        </p:nvCxnSpPr>
        <p:spPr>
          <a:xfrm>
            <a:off x="731520" y="36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31520" y="3750000"/>
            <a:ext cx="5000000" cy="365760"/>
          </a:xfrm>
          <a:prstGeom prst="rect">
            <a:avLst/>
          </a:prstGeom>
          <a:noFill/>
        </p:spPr>
        <p:txBody>
          <a:bodyPr wrap="square">
            <a:spAutoFit/>
          </a:bodyPr>
          <a:lstStyle/>
          <a:p>
            <a:pPr algn="l"/>
            <a:r>
              <a:rPr sz="1800" b="1">
                <a:solidFill>
                  <a:srgbClr val="FAF9F5"/>
                </a:solidFill>
                <a:latin typeface="Hiragino Sans"/>
              </a:rPr>
              <a:t>使い分けの基準</a:t>
            </a:r>
          </a:p>
        </p:txBody>
      </p:sp>
      <p:sp>
        <p:nvSpPr>
          <p:cNvPr id="37" name="TextBox 36"/>
          <p:cNvSpPr txBox="1"/>
          <p:nvPr/>
        </p:nvSpPr>
        <p:spPr>
          <a:xfrm>
            <a:off x="914400" y="4200000"/>
            <a:ext cx="5000000" cy="274320"/>
          </a:xfrm>
          <a:prstGeom prst="rect">
            <a:avLst/>
          </a:prstGeom>
          <a:noFill/>
        </p:spPr>
        <p:txBody>
          <a:bodyPr wrap="square">
            <a:spAutoFit/>
          </a:bodyPr>
          <a:lstStyle/>
          <a:p>
            <a:pPr algn="l"/>
            <a:r>
              <a:rPr sz="1400" b="0">
                <a:solidFill>
                  <a:srgbClr val="E0DED8"/>
                </a:solidFill>
                <a:latin typeface="Hiragino Sans"/>
              </a:rPr>
              <a:t>•  1〜3ファイルの作業</a:t>
            </a:r>
          </a:p>
        </p:txBody>
      </p:sp>
      <p:sp>
        <p:nvSpPr>
          <p:cNvPr id="38" name="TextBox 37"/>
          <p:cNvSpPr txBox="1"/>
          <p:nvPr/>
        </p:nvSpPr>
        <p:spPr>
          <a:xfrm>
            <a:off x="5800000" y="4200000"/>
            <a:ext cx="5000000" cy="274320"/>
          </a:xfrm>
          <a:prstGeom prst="rect">
            <a:avLst/>
          </a:prstGeom>
          <a:noFill/>
        </p:spPr>
        <p:txBody>
          <a:bodyPr wrap="square">
            <a:spAutoFit/>
          </a:bodyPr>
          <a:lstStyle/>
          <a:p>
            <a:pPr algn="l"/>
            <a:r>
              <a:rPr sz="1400" b="1">
                <a:solidFill>
                  <a:srgbClr val="D97757"/>
                </a:solidFill>
                <a:latin typeface="Hiragino Sans"/>
              </a:rPr>
              <a:t>→ スキル</a:t>
            </a:r>
          </a:p>
        </p:txBody>
      </p:sp>
      <p:sp>
        <p:nvSpPr>
          <p:cNvPr id="39" name="TextBox 38"/>
          <p:cNvSpPr txBox="1"/>
          <p:nvPr/>
        </p:nvSpPr>
        <p:spPr>
          <a:xfrm>
            <a:off x="914400" y="4540000"/>
            <a:ext cx="5000000" cy="274320"/>
          </a:xfrm>
          <a:prstGeom prst="rect">
            <a:avLst/>
          </a:prstGeom>
          <a:noFill/>
        </p:spPr>
        <p:txBody>
          <a:bodyPr wrap="square">
            <a:spAutoFit/>
          </a:bodyPr>
          <a:lstStyle/>
          <a:p>
            <a:pPr algn="l"/>
            <a:r>
              <a:rPr sz="1400" b="0">
                <a:solidFill>
                  <a:srgbClr val="E0DED8"/>
                </a:solidFill>
                <a:latin typeface="Hiragino Sans"/>
              </a:rPr>
              <a:t>•  数十ファイルの探索</a:t>
            </a:r>
          </a:p>
        </p:txBody>
      </p:sp>
      <p:sp>
        <p:nvSpPr>
          <p:cNvPr id="40" name="TextBox 39"/>
          <p:cNvSpPr txBox="1"/>
          <p:nvPr/>
        </p:nvSpPr>
        <p:spPr>
          <a:xfrm>
            <a:off x="5800000" y="4540000"/>
            <a:ext cx="5000000" cy="274320"/>
          </a:xfrm>
          <a:prstGeom prst="rect">
            <a:avLst/>
          </a:prstGeom>
          <a:noFill/>
        </p:spPr>
        <p:txBody>
          <a:bodyPr wrap="square">
            <a:spAutoFit/>
          </a:bodyPr>
          <a:lstStyle/>
          <a:p>
            <a:pPr algn="l"/>
            <a:r>
              <a:rPr sz="1400" b="1">
                <a:solidFill>
                  <a:srgbClr val="6A9BCC"/>
                </a:solidFill>
                <a:latin typeface="Hiragino Sans"/>
              </a:rPr>
              <a:t>→ サブエージェント</a:t>
            </a:r>
          </a:p>
        </p:txBody>
      </p:sp>
      <p:sp>
        <p:nvSpPr>
          <p:cNvPr id="41" name="TextBox 40"/>
          <p:cNvSpPr txBox="1"/>
          <p:nvPr/>
        </p:nvSpPr>
        <p:spPr>
          <a:xfrm>
            <a:off x="914400" y="4880000"/>
            <a:ext cx="5000000" cy="274320"/>
          </a:xfrm>
          <a:prstGeom prst="rect">
            <a:avLst/>
          </a:prstGeom>
          <a:noFill/>
        </p:spPr>
        <p:txBody>
          <a:bodyPr wrap="square">
            <a:spAutoFit/>
          </a:bodyPr>
          <a:lstStyle/>
          <a:p>
            <a:pPr algn="l"/>
            <a:r>
              <a:rPr sz="1400" b="0">
                <a:solidFill>
                  <a:srgbClr val="E0DED8"/>
                </a:solidFill>
                <a:latin typeface="Hiragino Sans"/>
              </a:rPr>
              <a:t>•  結果を会話で直接使いたい</a:t>
            </a:r>
          </a:p>
        </p:txBody>
      </p:sp>
      <p:sp>
        <p:nvSpPr>
          <p:cNvPr id="42" name="TextBox 41"/>
          <p:cNvSpPr txBox="1"/>
          <p:nvPr/>
        </p:nvSpPr>
        <p:spPr>
          <a:xfrm>
            <a:off x="5800000" y="4880000"/>
            <a:ext cx="5000000" cy="274320"/>
          </a:xfrm>
          <a:prstGeom prst="rect">
            <a:avLst/>
          </a:prstGeom>
          <a:noFill/>
        </p:spPr>
        <p:txBody>
          <a:bodyPr wrap="square">
            <a:spAutoFit/>
          </a:bodyPr>
          <a:lstStyle/>
          <a:p>
            <a:pPr algn="l"/>
            <a:r>
              <a:rPr sz="1400" b="1">
                <a:solidFill>
                  <a:srgbClr val="D97757"/>
                </a:solidFill>
                <a:latin typeface="Hiragino Sans"/>
              </a:rPr>
              <a:t>→ スキル</a:t>
            </a:r>
          </a:p>
        </p:txBody>
      </p:sp>
      <p:sp>
        <p:nvSpPr>
          <p:cNvPr id="43" name="TextBox 42"/>
          <p:cNvSpPr txBox="1"/>
          <p:nvPr/>
        </p:nvSpPr>
        <p:spPr>
          <a:xfrm>
            <a:off x="914400" y="5220000"/>
            <a:ext cx="5000000" cy="274320"/>
          </a:xfrm>
          <a:prstGeom prst="rect">
            <a:avLst/>
          </a:prstGeom>
          <a:noFill/>
        </p:spPr>
        <p:txBody>
          <a:bodyPr wrap="square">
            <a:spAutoFit/>
          </a:bodyPr>
          <a:lstStyle/>
          <a:p>
            <a:pPr algn="l"/>
            <a:r>
              <a:rPr sz="1400" b="0">
                <a:solidFill>
                  <a:srgbClr val="E0DED8"/>
                </a:solidFill>
                <a:latin typeface="Hiragino Sans"/>
              </a:rPr>
              <a:t>•  メインのコンテキストを守りたい</a:t>
            </a:r>
          </a:p>
        </p:txBody>
      </p:sp>
      <p:sp>
        <p:nvSpPr>
          <p:cNvPr id="44" name="TextBox 43"/>
          <p:cNvSpPr txBox="1"/>
          <p:nvPr/>
        </p:nvSpPr>
        <p:spPr>
          <a:xfrm>
            <a:off x="5800000" y="5220000"/>
            <a:ext cx="5000000" cy="274320"/>
          </a:xfrm>
          <a:prstGeom prst="rect">
            <a:avLst/>
          </a:prstGeom>
          <a:noFill/>
        </p:spPr>
        <p:txBody>
          <a:bodyPr wrap="square">
            <a:spAutoFit/>
          </a:bodyPr>
          <a:lstStyle/>
          <a:p>
            <a:pPr algn="l"/>
            <a:r>
              <a:rPr sz="1400" b="1">
                <a:solidFill>
                  <a:srgbClr val="6A9BCC"/>
                </a:solidFill>
                <a:latin typeface="Hiragino Sans"/>
              </a:rPr>
              <a:t>→ サブエージェント</a:t>
            </a:r>
          </a:p>
        </p:txBody>
      </p:sp>
      <p:sp>
        <p:nvSpPr>
          <p:cNvPr id="45" name="Rectangle 44"/>
          <p:cNvSpPr/>
          <p:nvPr/>
        </p:nvSpPr>
        <p:spPr>
          <a:xfrm>
            <a:off x="731520" y="58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1520" y="58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5891440"/>
            <a:ext cx="10400000" cy="365760"/>
          </a:xfrm>
          <a:prstGeom prst="rect">
            <a:avLst/>
          </a:prstGeom>
          <a:noFill/>
        </p:spPr>
        <p:txBody>
          <a:bodyPr wrap="square">
            <a:spAutoFit/>
          </a:bodyPr>
          <a:lstStyle/>
          <a:p>
            <a:pPr algn="l"/>
            <a:r>
              <a:rPr sz="1400" b="1">
                <a:solidFill>
                  <a:srgbClr val="D97757"/>
                </a:solidFill>
                <a:latin typeface="Hiragino Sans"/>
              </a:rPr>
              <a:t>→ スキル = 手順書、サブエージェント = 専門チームメンバー</a:t>
            </a:r>
          </a:p>
        </p:txBody>
      </p:sp>
      <p:sp>
        <p:nvSpPr>
          <p:cNvPr id="48" name="TextBox 47"/>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18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10000000" cy="548640"/>
          </a:xfrm>
          <a:prstGeom prst="rect">
            <a:avLst/>
          </a:prstGeom>
          <a:noFill/>
        </p:spPr>
        <p:txBody>
          <a:bodyPr wrap="square">
            <a:spAutoFit/>
          </a:bodyPr>
          <a:lstStyle/>
          <a:p>
            <a:pPr algn="l"/>
            <a:r>
              <a:rPr sz="2800" b="1">
                <a:solidFill>
                  <a:srgbClr val="FAF9F5"/>
                </a:solidFill>
                <a:latin typeface="Hiragino Sans"/>
              </a:rPr>
              <a:t>全3回の振り返り</a:t>
            </a:r>
          </a:p>
        </p:txBody>
      </p:sp>
      <p:sp>
        <p:nvSpPr>
          <p:cNvPr id="3" name="TextBox 2"/>
          <p:cNvSpPr txBox="1"/>
          <p:nvPr/>
        </p:nvSpPr>
        <p:spPr>
          <a:xfrm>
            <a:off x="731520" y="914400"/>
            <a:ext cx="10000000" cy="365760"/>
          </a:xfrm>
          <a:prstGeom prst="rect">
            <a:avLst/>
          </a:prstGeom>
          <a:noFill/>
        </p:spPr>
        <p:txBody>
          <a:bodyPr wrap="square">
            <a:spAutoFit/>
          </a:bodyPr>
          <a:lstStyle/>
          <a:p>
            <a:pPr algn="l"/>
            <a:r>
              <a:rPr sz="1800" b="1">
                <a:solidFill>
                  <a:srgbClr val="B0AEA5"/>
                </a:solidFill>
                <a:latin typeface="Hiragino Sans"/>
              </a:rPr>
              <a:t>3回で学んだClaude Codeの全体像</a:t>
            </a:r>
          </a:p>
        </p:txBody>
      </p:sp>
      <p:sp>
        <p:nvSpPr>
          <p:cNvPr id="4" name="Rounded Rectangle 3"/>
          <p:cNvSpPr/>
          <p:nvPr/>
        </p:nvSpPr>
        <p:spPr>
          <a:xfrm>
            <a:off x="731520" y="13716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55448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1</a:t>
            </a:r>
          </a:p>
        </p:txBody>
      </p:sp>
      <p:sp>
        <p:nvSpPr>
          <p:cNvPr id="7" name="TextBox 6"/>
          <p:cNvSpPr txBox="1"/>
          <p:nvPr/>
        </p:nvSpPr>
        <p:spPr>
          <a:xfrm>
            <a:off x="914400" y="2194560"/>
            <a:ext cx="3063240" cy="457200"/>
          </a:xfrm>
          <a:prstGeom prst="rect">
            <a:avLst/>
          </a:prstGeom>
          <a:noFill/>
        </p:spPr>
        <p:txBody>
          <a:bodyPr wrap="square">
            <a:spAutoFit/>
          </a:bodyPr>
          <a:lstStyle/>
          <a:p>
            <a:pPr algn="l"/>
            <a:r>
              <a:rPr sz="1800" b="1">
                <a:solidFill>
                  <a:srgbClr val="FAF9F5"/>
                </a:solidFill>
                <a:latin typeface="Hiragino Sans"/>
              </a:rPr>
              <a:t>理解する</a:t>
            </a:r>
          </a:p>
        </p:txBody>
      </p:sp>
      <p:sp>
        <p:nvSpPr>
          <p:cNvPr id="8" name="TextBox 7"/>
          <p:cNvSpPr txBox="1"/>
          <p:nvPr/>
        </p:nvSpPr>
        <p:spPr>
          <a:xfrm>
            <a:off x="914400" y="2743200"/>
            <a:ext cx="3063240" cy="1600000"/>
          </a:xfrm>
          <a:prstGeom prst="rect">
            <a:avLst/>
          </a:prstGeom>
          <a:noFill/>
        </p:spPr>
        <p:txBody>
          <a:bodyPr wrap="square">
            <a:spAutoFit/>
          </a:bodyPr>
          <a:lstStyle/>
          <a:p>
            <a:pPr algn="l">
              <a:spcAft>
                <a:spcPts val="400"/>
              </a:spcAft>
            </a:pPr>
            <a:r>
              <a:rPr sz="1400" b="0">
                <a:solidFill>
                  <a:srgbClr val="E0DED8"/>
                </a:solidFill>
                <a:latin typeface="Hiragino Sans"/>
              </a:rPr>
              <a:t>基本操作とコミュニケーション</a:t>
            </a:r>
          </a:p>
          <a:p>
            <a:pPr algn="l">
              <a:spcAft>
                <a:spcPts val="400"/>
              </a:spcAft>
            </a:pPr>
            <a:r>
              <a:rPr sz="1400" b="0">
                <a:solidFill>
                  <a:srgbClr val="E0DED8"/>
                </a:solidFill>
                <a:latin typeface="Hiragino Sans"/>
              </a:rPr>
              <a:t>Plan Modeで計画から始める</a:t>
            </a:r>
          </a:p>
          <a:p>
            <a:pPr algn="l">
              <a:spcAft>
                <a:spcPts val="400"/>
              </a:spcAft>
            </a:pPr>
            <a:r>
              <a:rPr sz="1400" b="0">
                <a:solidFill>
                  <a:srgbClr val="E0DED8"/>
                </a:solidFill>
                <a:latin typeface="Hiragino Sans"/>
              </a:rPr>
              <a:t>「指示」「判断」「確認」が</a:t>
            </a:r>
          </a:p>
          <a:p>
            <a:pPr algn="l">
              <a:spcAft>
                <a:spcPts val="400"/>
              </a:spcAft>
            </a:pPr>
            <a:r>
              <a:rPr sz="1400" b="0">
                <a:solidFill>
                  <a:srgbClr val="E0DED8"/>
                </a:solidFill>
                <a:latin typeface="Hiragino Sans"/>
              </a:rPr>
              <a:t>人間の出番</a:t>
            </a:r>
          </a:p>
        </p:txBody>
      </p:sp>
      <p:sp>
        <p:nvSpPr>
          <p:cNvPr id="9" name="Rounded Rectangle 8"/>
          <p:cNvSpPr/>
          <p:nvPr/>
        </p:nvSpPr>
        <p:spPr>
          <a:xfrm>
            <a:off x="4389120" y="13716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55448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2</a:t>
            </a:r>
          </a:p>
        </p:txBody>
      </p:sp>
      <p:sp>
        <p:nvSpPr>
          <p:cNvPr id="12" name="TextBox 11"/>
          <p:cNvSpPr txBox="1"/>
          <p:nvPr/>
        </p:nvSpPr>
        <p:spPr>
          <a:xfrm>
            <a:off x="4572000" y="2194560"/>
            <a:ext cx="3063240" cy="457200"/>
          </a:xfrm>
          <a:prstGeom prst="rect">
            <a:avLst/>
          </a:prstGeom>
          <a:noFill/>
        </p:spPr>
        <p:txBody>
          <a:bodyPr wrap="square">
            <a:spAutoFit/>
          </a:bodyPr>
          <a:lstStyle/>
          <a:p>
            <a:pPr algn="l"/>
            <a:r>
              <a:rPr sz="1800" b="1">
                <a:solidFill>
                  <a:srgbClr val="FAF9F5"/>
                </a:solidFill>
                <a:latin typeface="Hiragino Sans"/>
              </a:rPr>
              <a:t>定着させる</a:t>
            </a:r>
          </a:p>
        </p:txBody>
      </p:sp>
      <p:sp>
        <p:nvSpPr>
          <p:cNvPr id="13" name="TextBox 12"/>
          <p:cNvSpPr txBox="1"/>
          <p:nvPr/>
        </p:nvSpPr>
        <p:spPr>
          <a:xfrm>
            <a:off x="4572000" y="2743200"/>
            <a:ext cx="3063240" cy="1600000"/>
          </a:xfrm>
          <a:prstGeom prst="rect">
            <a:avLst/>
          </a:prstGeom>
          <a:noFill/>
        </p:spPr>
        <p:txBody>
          <a:bodyPr wrap="square">
            <a:spAutoFit/>
          </a:bodyPr>
          <a:lstStyle/>
          <a:p>
            <a:pPr algn="l">
              <a:spcAft>
                <a:spcPts val="400"/>
              </a:spcAft>
            </a:pPr>
            <a:r>
              <a:rPr sz="1400" b="0">
                <a:solidFill>
                  <a:srgbClr val="E0DED8"/>
                </a:solidFill>
                <a:latin typeface="Hiragino Sans"/>
              </a:rPr>
              <a:t>CLAUDE.mdで「常識」を教える</a:t>
            </a:r>
          </a:p>
          <a:p>
            <a:pPr algn="l">
              <a:spcAft>
                <a:spcPts val="400"/>
              </a:spcAft>
            </a:pPr>
            <a:r>
              <a:rPr sz="1400" b="0">
                <a:solidFill>
                  <a:srgbClr val="E0DED8"/>
                </a:solidFill>
                <a:latin typeface="Hiragino Sans"/>
              </a:rPr>
              <a:t>Skillsで繰り返しの指示を</a:t>
            </a:r>
          </a:p>
          <a:p>
            <a:pPr algn="l">
              <a:spcAft>
                <a:spcPts val="400"/>
              </a:spcAft>
            </a:pPr>
            <a:r>
              <a:rPr sz="1400" b="0">
                <a:solidFill>
                  <a:srgbClr val="E0DED8"/>
                </a:solidFill>
                <a:latin typeface="Hiragino Sans"/>
              </a:rPr>
              <a:t>テンプレート化</a:t>
            </a:r>
          </a:p>
          <a:p>
            <a:pPr algn="l">
              <a:spcAft>
                <a:spcPts val="400"/>
              </a:spcAft>
            </a:pPr>
            <a:r>
              <a:rPr sz="1400" b="0">
                <a:solidFill>
                  <a:srgbClr val="E0DED8"/>
                </a:solidFill>
                <a:latin typeface="Hiragino Sans"/>
              </a:rPr>
              <a:t>Hooksで品質チェックを自動化</a:t>
            </a:r>
          </a:p>
        </p:txBody>
      </p:sp>
      <p:sp>
        <p:nvSpPr>
          <p:cNvPr id="14" name="Rounded Rectangle 13"/>
          <p:cNvSpPr/>
          <p:nvPr/>
        </p:nvSpPr>
        <p:spPr>
          <a:xfrm>
            <a:off x="8046720" y="1371600"/>
            <a:ext cx="3429000" cy="32000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0" y="1554480"/>
            <a:ext cx="548640" cy="548640"/>
          </a:xfrm>
          <a:prstGeom prst="ellipse">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3</a:t>
            </a:r>
          </a:p>
        </p:txBody>
      </p:sp>
      <p:sp>
        <p:nvSpPr>
          <p:cNvPr id="17" name="TextBox 16"/>
          <p:cNvSpPr txBox="1"/>
          <p:nvPr/>
        </p:nvSpPr>
        <p:spPr>
          <a:xfrm>
            <a:off x="8229600" y="2194560"/>
            <a:ext cx="3063240" cy="457200"/>
          </a:xfrm>
          <a:prstGeom prst="rect">
            <a:avLst/>
          </a:prstGeom>
          <a:noFill/>
        </p:spPr>
        <p:txBody>
          <a:bodyPr wrap="square">
            <a:spAutoFit/>
          </a:bodyPr>
          <a:lstStyle/>
          <a:p>
            <a:pPr algn="l"/>
            <a:r>
              <a:rPr sz="1800" b="1">
                <a:solidFill>
                  <a:srgbClr val="FAF9F5"/>
                </a:solidFill>
                <a:latin typeface="Hiragino Sans"/>
              </a:rPr>
              <a:t>大規模開発に挑む</a:t>
            </a:r>
          </a:p>
        </p:txBody>
      </p:sp>
      <p:sp>
        <p:nvSpPr>
          <p:cNvPr id="18" name="TextBox 17"/>
          <p:cNvSpPr txBox="1"/>
          <p:nvPr/>
        </p:nvSpPr>
        <p:spPr>
          <a:xfrm>
            <a:off x="8229600" y="2743200"/>
            <a:ext cx="3063240" cy="1600000"/>
          </a:xfrm>
          <a:prstGeom prst="rect">
            <a:avLst/>
          </a:prstGeom>
          <a:noFill/>
        </p:spPr>
        <p:txBody>
          <a:bodyPr wrap="square">
            <a:spAutoFit/>
          </a:bodyPr>
          <a:lstStyle/>
          <a:p>
            <a:pPr algn="l">
              <a:spcAft>
                <a:spcPts val="400"/>
              </a:spcAft>
            </a:pPr>
            <a:r>
              <a:rPr sz="1400" b="0">
                <a:solidFill>
                  <a:srgbClr val="E0DED8"/>
                </a:solidFill>
                <a:latin typeface="Hiragino Sans"/>
              </a:rPr>
              <a:t>MCPで外部サービスとつなぐ</a:t>
            </a:r>
          </a:p>
          <a:p>
            <a:pPr algn="l">
              <a:spcAft>
                <a:spcPts val="400"/>
              </a:spcAft>
            </a:pPr>
            <a:r>
              <a:rPr sz="1400" b="0">
                <a:solidFill>
                  <a:srgbClr val="E0DED8"/>
                </a:solidFill>
                <a:latin typeface="Hiragino Sans"/>
              </a:rPr>
              <a:t>worktreeで並列作業を実現</a:t>
            </a:r>
          </a:p>
          <a:p>
            <a:pPr algn="l">
              <a:spcAft>
                <a:spcPts val="400"/>
              </a:spcAft>
            </a:pPr>
            <a:r>
              <a:rPr sz="1400" b="0">
                <a:solidFill>
                  <a:srgbClr val="E0DED8"/>
                </a:solidFill>
                <a:latin typeface="Hiragino Sans"/>
              </a:rPr>
              <a:t>サブエージェントで</a:t>
            </a:r>
          </a:p>
          <a:p>
            <a:pPr algn="l">
              <a:spcAft>
                <a:spcPts val="400"/>
              </a:spcAft>
            </a:pPr>
            <a:r>
              <a:rPr sz="1400" b="0">
                <a:solidFill>
                  <a:srgbClr val="E0DED8"/>
                </a:solidFill>
                <a:latin typeface="Hiragino Sans"/>
              </a:rPr>
              <a:t>コンテキストを守る</a:t>
            </a:r>
          </a:p>
        </p:txBody>
      </p:sp>
      <p:sp>
        <p:nvSpPr>
          <p:cNvPr id="19" name="TextBox 18"/>
          <p:cNvSpPr txBox="1"/>
          <p:nvPr/>
        </p:nvSpPr>
        <p:spPr>
          <a:xfrm>
            <a:off x="731520" y="4800000"/>
            <a:ext cx="10728960" cy="457200"/>
          </a:xfrm>
          <a:prstGeom prst="rect">
            <a:avLst/>
          </a:prstGeom>
          <a:noFill/>
        </p:spPr>
        <p:txBody>
          <a:bodyPr wrap="square">
            <a:spAutoFit/>
          </a:bodyPr>
          <a:lstStyle/>
          <a:p>
            <a:pPr algn="ctr"/>
            <a:r>
              <a:rPr sz="2200" b="1">
                <a:solidFill>
                  <a:srgbClr val="D97757"/>
                </a:solidFill>
                <a:latin typeface="Hiragino Sans"/>
              </a:rPr>
              <a:t>理解する → 定着させる → スケールさせる</a:t>
            </a:r>
          </a:p>
        </p:txBody>
      </p:sp>
      <p:sp>
        <p:nvSpPr>
          <p:cNvPr id="20" name="TextBox 19"/>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19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10000000" cy="548640"/>
          </a:xfrm>
          <a:prstGeom prst="rect">
            <a:avLst/>
          </a:prstGeom>
          <a:noFill/>
        </p:spPr>
        <p:txBody>
          <a:bodyPr wrap="square">
            <a:spAutoFit/>
          </a:bodyPr>
          <a:lstStyle/>
          <a:p>
            <a:pPr algn="l"/>
            <a:r>
              <a:rPr sz="2800" b="1">
                <a:solidFill>
                  <a:srgbClr val="FAF9F5"/>
                </a:solidFill>
                <a:latin typeface="Hiragino Sans"/>
              </a:rPr>
              <a:t>まとめ / シリーズ総括</a:t>
            </a:r>
          </a:p>
        </p:txBody>
      </p:sp>
      <p:sp>
        <p:nvSpPr>
          <p:cNvPr id="3" name="TextBox 2"/>
          <p:cNvSpPr txBox="1"/>
          <p:nvPr/>
        </p:nvSpPr>
        <p:spPr>
          <a:xfrm>
            <a:off x="731520" y="914400"/>
            <a:ext cx="10000000" cy="365760"/>
          </a:xfrm>
          <a:prstGeom prst="rect">
            <a:avLst/>
          </a:prstGeom>
          <a:noFill/>
        </p:spPr>
        <p:txBody>
          <a:bodyPr wrap="square">
            <a:spAutoFit/>
          </a:bodyPr>
          <a:lstStyle/>
          <a:p>
            <a:pPr algn="l"/>
            <a:r>
              <a:rPr sz="2000" b="1">
                <a:solidFill>
                  <a:srgbClr val="B0AEA5"/>
                </a:solidFill>
                <a:latin typeface="Hiragino Sans"/>
              </a:rPr>
              <a:t>3つの持ち帰り</a:t>
            </a:r>
          </a:p>
        </p:txBody>
      </p:sp>
      <p:sp>
        <p:nvSpPr>
          <p:cNvPr id="4" name="Rounded Rectangle 3"/>
          <p:cNvSpPr/>
          <p:nvPr/>
        </p:nvSpPr>
        <p:spPr>
          <a:xfrm>
            <a:off x="7315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34290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55448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1</a:t>
            </a:r>
          </a:p>
        </p:txBody>
      </p:sp>
      <p:sp>
        <p:nvSpPr>
          <p:cNvPr id="7" name="TextBox 6"/>
          <p:cNvSpPr txBox="1"/>
          <p:nvPr/>
        </p:nvSpPr>
        <p:spPr>
          <a:xfrm>
            <a:off x="914400" y="2194560"/>
            <a:ext cx="3063240" cy="640080"/>
          </a:xfrm>
          <a:prstGeom prst="rect">
            <a:avLst/>
          </a:prstGeom>
          <a:noFill/>
        </p:spPr>
        <p:txBody>
          <a:bodyPr wrap="square">
            <a:spAutoFit/>
          </a:bodyPr>
          <a:lstStyle/>
          <a:p>
            <a:pPr algn="l"/>
            <a:r>
              <a:rPr sz="1500" b="1">
                <a:solidFill>
                  <a:srgbClr val="FAF9F5"/>
                </a:solidFill>
                <a:latin typeface="Hiragino Sans"/>
              </a:rPr>
              <a:t>MCPは「CLIで足りないとき」の選択肢</a:t>
            </a:r>
          </a:p>
        </p:txBody>
      </p:sp>
      <p:sp>
        <p:nvSpPr>
          <p:cNvPr id="8" name="TextBox 7"/>
          <p:cNvSpPr txBox="1"/>
          <p:nvPr/>
        </p:nvSpPr>
        <p:spPr>
          <a:xfrm>
            <a:off x="914400" y="2926080"/>
            <a:ext cx="3063240" cy="1097280"/>
          </a:xfrm>
          <a:prstGeom prst="rect">
            <a:avLst/>
          </a:prstGeom>
          <a:noFill/>
        </p:spPr>
        <p:txBody>
          <a:bodyPr wrap="square">
            <a:spAutoFit/>
          </a:bodyPr>
          <a:lstStyle/>
          <a:p>
            <a:pPr algn="l"/>
            <a:r>
              <a:rPr sz="1400" b="0">
                <a:solidFill>
                  <a:srgbClr val="E0DED8"/>
                </a:solidFill>
                <a:latin typeface="Hiragino Sans"/>
              </a:rPr>
              <a:t>CLIで十分ならCLI。</a:t>
            </a:r>
          </a:p>
          <a:p>
            <a:pPr algn="l"/>
            <a:r>
              <a:rPr sz="1400" b="0">
                <a:solidFill>
                  <a:srgbClr val="E0DED8"/>
                </a:solidFill>
                <a:latin typeface="Hiragino Sans"/>
              </a:rPr>
              <a:t>複雑な連携やブラウザ操作が</a:t>
            </a:r>
          </a:p>
          <a:p>
            <a:pPr algn="l"/>
            <a:r>
              <a:rPr sz="1400" b="0">
                <a:solidFill>
                  <a:srgbClr val="E0DED8"/>
                </a:solidFill>
                <a:latin typeface="Hiragino Sans"/>
              </a:rPr>
              <a:t>必要なときにMCPを検討</a:t>
            </a:r>
          </a:p>
        </p:txBody>
      </p:sp>
      <p:sp>
        <p:nvSpPr>
          <p:cNvPr id="9" name="Rounded Rectangle 8"/>
          <p:cNvSpPr/>
          <p:nvPr/>
        </p:nvSpPr>
        <p:spPr>
          <a:xfrm>
            <a:off x="43891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371600"/>
            <a:ext cx="3429000" cy="54864"/>
          </a:xfrm>
          <a:prstGeom prst="rect">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72000" y="1554480"/>
            <a:ext cx="548640" cy="548640"/>
          </a:xfrm>
          <a:prstGeom prst="ellipse">
            <a:avLst/>
          </a:prstGeom>
          <a:solidFill>
            <a:srgbClr val="6A9B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2</a:t>
            </a:r>
          </a:p>
        </p:txBody>
      </p:sp>
      <p:sp>
        <p:nvSpPr>
          <p:cNvPr id="12" name="TextBox 11"/>
          <p:cNvSpPr txBox="1"/>
          <p:nvPr/>
        </p:nvSpPr>
        <p:spPr>
          <a:xfrm>
            <a:off x="4572000" y="2194560"/>
            <a:ext cx="3063240" cy="640080"/>
          </a:xfrm>
          <a:prstGeom prst="rect">
            <a:avLst/>
          </a:prstGeom>
          <a:noFill/>
        </p:spPr>
        <p:txBody>
          <a:bodyPr wrap="square">
            <a:spAutoFit/>
          </a:bodyPr>
          <a:lstStyle/>
          <a:p>
            <a:pPr algn="l"/>
            <a:r>
              <a:rPr sz="1500" b="1">
                <a:solidFill>
                  <a:srgbClr val="FAF9F5"/>
                </a:solidFill>
                <a:latin typeface="Hiragino Sans"/>
              </a:rPr>
              <a:t>worktree + ISSUE.mdで</a:t>
            </a:r>
          </a:p>
          <a:p>
            <a:pPr algn="l"/>
            <a:r>
              <a:rPr sz="1500" b="1">
                <a:solidFill>
                  <a:srgbClr val="FAF9F5"/>
                </a:solidFill>
                <a:latin typeface="Hiragino Sans"/>
              </a:rPr>
              <a:t>並列作業を仕組み化する</a:t>
            </a:r>
          </a:p>
        </p:txBody>
      </p:sp>
      <p:sp>
        <p:nvSpPr>
          <p:cNvPr id="13" name="TextBox 12"/>
          <p:cNvSpPr txBox="1"/>
          <p:nvPr/>
        </p:nvSpPr>
        <p:spPr>
          <a:xfrm>
            <a:off x="4572000" y="2926080"/>
            <a:ext cx="3063240" cy="1097280"/>
          </a:xfrm>
          <a:prstGeom prst="rect">
            <a:avLst/>
          </a:prstGeom>
          <a:noFill/>
        </p:spPr>
        <p:txBody>
          <a:bodyPr wrap="square">
            <a:spAutoFit/>
          </a:bodyPr>
          <a:lstStyle/>
          <a:p>
            <a:pPr algn="l"/>
            <a:r>
              <a:rPr sz="1400" b="0">
                <a:solidFill>
                  <a:srgbClr val="E0DED8"/>
                </a:solidFill>
                <a:latin typeface="Hiragino Sans"/>
              </a:rPr>
              <a:t>Issue番号を渡すだけで</a:t>
            </a:r>
          </a:p>
          <a:p>
            <a:pPr algn="l"/>
            <a:r>
              <a:rPr sz="1400" b="0">
                <a:solidFill>
                  <a:srgbClr val="E0DED8"/>
                </a:solidFill>
                <a:latin typeface="Hiragino Sans"/>
              </a:rPr>
              <a:t>作業環境が整う。</a:t>
            </a:r>
          </a:p>
          <a:p>
            <a:pPr algn="l"/>
            <a:r>
              <a:rPr sz="1400" b="0">
                <a:solidFill>
                  <a:srgbClr val="E0DED8"/>
                </a:solidFill>
                <a:latin typeface="Hiragino Sans"/>
              </a:rPr>
              <a:t>Claude Codeとの相性が非常にいい</a:t>
            </a:r>
          </a:p>
        </p:txBody>
      </p:sp>
      <p:sp>
        <p:nvSpPr>
          <p:cNvPr id="14" name="Rounded Rectangle 13"/>
          <p:cNvSpPr/>
          <p:nvPr/>
        </p:nvSpPr>
        <p:spPr>
          <a:xfrm>
            <a:off x="8046720" y="1371600"/>
            <a:ext cx="3429000" cy="2743200"/>
          </a:xfrm>
          <a:prstGeom prst="roundRect">
            <a:avLst>
              <a:gd name="adj" fmla="val 4000"/>
            </a:avLst>
          </a:prstGeom>
          <a:solidFill>
            <a:srgbClr val="2D2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371600"/>
            <a:ext cx="3429000" cy="54864"/>
          </a:xfrm>
          <a:prstGeom prst="rect">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0" y="1554480"/>
            <a:ext cx="548640" cy="548640"/>
          </a:xfrm>
          <a:prstGeom prst="ellipse">
            <a:avLst/>
          </a:prstGeom>
          <a:solidFill>
            <a:srgbClr val="7BC9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AF9F5"/>
                </a:solidFill>
                <a:latin typeface="Helvetica Neue"/>
              </a:rPr>
              <a:t>3</a:t>
            </a:r>
          </a:p>
        </p:txBody>
      </p:sp>
      <p:sp>
        <p:nvSpPr>
          <p:cNvPr id="17" name="TextBox 16"/>
          <p:cNvSpPr txBox="1"/>
          <p:nvPr/>
        </p:nvSpPr>
        <p:spPr>
          <a:xfrm>
            <a:off x="8229600" y="2194560"/>
            <a:ext cx="3063240" cy="640080"/>
          </a:xfrm>
          <a:prstGeom prst="rect">
            <a:avLst/>
          </a:prstGeom>
          <a:noFill/>
        </p:spPr>
        <p:txBody>
          <a:bodyPr wrap="square">
            <a:spAutoFit/>
          </a:bodyPr>
          <a:lstStyle/>
          <a:p>
            <a:pPr algn="l"/>
            <a:r>
              <a:rPr sz="1500" b="1">
                <a:solidFill>
                  <a:srgbClr val="FAF9F5"/>
                </a:solidFill>
                <a:latin typeface="Hiragino Sans"/>
              </a:rPr>
              <a:t>サブエージェントで</a:t>
            </a:r>
          </a:p>
          <a:p>
            <a:pPr algn="l"/>
            <a:r>
              <a:rPr sz="1500" b="1">
                <a:solidFill>
                  <a:srgbClr val="FAF9F5"/>
                </a:solidFill>
                <a:latin typeface="Hiragino Sans"/>
              </a:rPr>
              <a:t>コンテキストを守る</a:t>
            </a:r>
          </a:p>
        </p:txBody>
      </p:sp>
      <p:sp>
        <p:nvSpPr>
          <p:cNvPr id="18" name="TextBox 17"/>
          <p:cNvSpPr txBox="1"/>
          <p:nvPr/>
        </p:nvSpPr>
        <p:spPr>
          <a:xfrm>
            <a:off x="8229600" y="2926080"/>
            <a:ext cx="3063240" cy="1097280"/>
          </a:xfrm>
          <a:prstGeom prst="rect">
            <a:avLst/>
          </a:prstGeom>
          <a:noFill/>
        </p:spPr>
        <p:txBody>
          <a:bodyPr wrap="square">
            <a:spAutoFit/>
          </a:bodyPr>
          <a:lstStyle/>
          <a:p>
            <a:pPr algn="l"/>
            <a:r>
              <a:rPr sz="1400" b="0">
                <a:solidFill>
                  <a:srgbClr val="E0DED8"/>
                </a:solidFill>
                <a:latin typeface="Hiragino Sans"/>
              </a:rPr>
              <a:t>大量の探索はサブエージェントに</a:t>
            </a:r>
          </a:p>
          <a:p>
            <a:pPr algn="l"/>
            <a:r>
              <a:rPr sz="1400" b="0">
                <a:solidFill>
                  <a:srgbClr val="E0DED8"/>
                </a:solidFill>
                <a:latin typeface="Hiragino Sans"/>
              </a:rPr>
              <a:t>委譲し、メインのコンテキストを</a:t>
            </a:r>
          </a:p>
          <a:p>
            <a:pPr algn="l"/>
            <a:r>
              <a:rPr sz="1400" b="0">
                <a:solidFill>
                  <a:srgbClr val="E0DED8"/>
                </a:solidFill>
                <a:latin typeface="Hiragino Sans"/>
              </a:rPr>
              <a:t>保全する</a:t>
            </a:r>
          </a:p>
        </p:txBody>
      </p:sp>
      <p:sp>
        <p:nvSpPr>
          <p:cNvPr id="19" name="TextBox 18"/>
          <p:cNvSpPr txBox="1"/>
          <p:nvPr/>
        </p:nvSpPr>
        <p:spPr>
          <a:xfrm>
            <a:off x="731520" y="4400000"/>
            <a:ext cx="10728960" cy="457200"/>
          </a:xfrm>
          <a:prstGeom prst="rect">
            <a:avLst/>
          </a:prstGeom>
          <a:noFill/>
        </p:spPr>
        <p:txBody>
          <a:bodyPr wrap="square">
            <a:spAutoFit/>
          </a:bodyPr>
          <a:lstStyle/>
          <a:p>
            <a:pPr algn="l"/>
            <a:r>
              <a:rPr sz="1800" b="1">
                <a:solidFill>
                  <a:srgbClr val="D97757"/>
                </a:solidFill>
                <a:latin typeface="Hiragino Sans"/>
              </a:rPr>
              <a:t>シリーズ全体の覚え方:  理解する → 定着させる → スケールさせる</a:t>
            </a:r>
          </a:p>
        </p:txBody>
      </p:sp>
      <p:cxnSp>
        <p:nvCxnSpPr>
          <p:cNvPr id="20" name="Connector 19"/>
          <p:cNvCxnSpPr/>
          <p:nvPr/>
        </p:nvCxnSpPr>
        <p:spPr>
          <a:xfrm>
            <a:off x="731520" y="4900000"/>
            <a:ext cx="10728960" cy="0"/>
          </a:xfrm>
          <a:prstGeom prst="line">
            <a:avLst/>
          </a:prstGeom>
          <a:ln w="9525">
            <a:solidFill>
              <a:srgbClr val="4A474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5050000"/>
            <a:ext cx="10728960" cy="457200"/>
          </a:xfrm>
          <a:prstGeom prst="rect">
            <a:avLst/>
          </a:prstGeom>
          <a:noFill/>
        </p:spPr>
        <p:txBody>
          <a:bodyPr wrap="square">
            <a:spAutoFit/>
          </a:bodyPr>
          <a:lstStyle/>
          <a:p>
            <a:pPr algn="l"/>
            <a:r>
              <a:rPr sz="1600" b="0">
                <a:solidFill>
                  <a:srgbClr val="B0AEA5"/>
                </a:solidFill>
                <a:latin typeface="Hiragino Sans"/>
              </a:rPr>
              <a:t>まず使ってみて、プロジェクトに合わせて育てていってください</a:t>
            </a:r>
          </a:p>
        </p:txBody>
      </p:sp>
      <p:sp>
        <p:nvSpPr>
          <p:cNvPr id="22" name="TextBox 21"/>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20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918"/>
        </a:solidFill>
        <a:effectLst/>
      </p:bgPr>
    </p:bg>
    <p:spTree>
      <p:nvGrpSpPr>
        <p:cNvPr id="1" name=""/>
        <p:cNvGrpSpPr/>
        <p:nvPr/>
      </p:nvGrpSpPr>
      <p:grpSpPr/>
      <p:sp>
        <p:nvSpPr>
          <p:cNvPr id="2" name="TextBox 1"/>
          <p:cNvSpPr txBox="1"/>
          <p:nvPr/>
        </p:nvSpPr>
        <p:spPr>
          <a:xfrm>
            <a:off x="731520" y="365760"/>
            <a:ext cx="8000000" cy="274320"/>
          </a:xfrm>
          <a:prstGeom prst="rect">
            <a:avLst/>
          </a:prstGeom>
          <a:noFill/>
        </p:spPr>
        <p:txBody>
          <a:bodyPr wrap="square">
            <a:spAutoFit/>
          </a:bodyPr>
          <a:lstStyle/>
          <a:p>
            <a:pPr algn="l"/>
            <a:r>
              <a:rPr sz="1200" b="1">
                <a:solidFill>
                  <a:srgbClr val="D97757"/>
                </a:solidFill>
                <a:latin typeface="Helvetica Neue"/>
              </a:rPr>
              <a:t>PART 1 — Skills &amp; サブエージェント</a:t>
            </a:r>
          </a:p>
        </p:txBody>
      </p:sp>
      <p:sp>
        <p:nvSpPr>
          <p:cNvPr id="3" name="TextBox 2"/>
          <p:cNvSpPr txBox="1"/>
          <p:nvPr/>
        </p:nvSpPr>
        <p:spPr>
          <a:xfrm>
            <a:off x="731520" y="548640"/>
            <a:ext cx="10000000" cy="548640"/>
          </a:xfrm>
          <a:prstGeom prst="rect">
            <a:avLst/>
          </a:prstGeom>
          <a:noFill/>
        </p:spPr>
        <p:txBody>
          <a:bodyPr wrap="square">
            <a:spAutoFit/>
          </a:bodyPr>
          <a:lstStyle/>
          <a:p>
            <a:pPr algn="l"/>
            <a:r>
              <a:rPr sz="2800" b="1">
                <a:solidFill>
                  <a:srgbClr val="FAF9F5"/>
                </a:solidFill>
                <a:latin typeface="Hiragino Sans"/>
              </a:rPr>
              <a:t>最初から使えるコマンド &amp; スキル</a:t>
            </a:r>
          </a:p>
        </p:txBody>
      </p:sp>
      <p:sp>
        <p:nvSpPr>
          <p:cNvPr id="4" name="TextBox 3"/>
          <p:cNvSpPr txBox="1"/>
          <p:nvPr/>
        </p:nvSpPr>
        <p:spPr>
          <a:xfrm>
            <a:off x="731520" y="1050000"/>
            <a:ext cx="5120640" cy="320000"/>
          </a:xfrm>
          <a:prstGeom prst="rect">
            <a:avLst/>
          </a:prstGeom>
          <a:noFill/>
        </p:spPr>
        <p:txBody>
          <a:bodyPr wrap="square">
            <a:spAutoFit/>
          </a:bodyPr>
          <a:lstStyle/>
          <a:p>
            <a:pPr algn="l"/>
            <a:r>
              <a:rPr sz="1300" b="1">
                <a:solidFill>
                  <a:srgbClr val="6A9BCC"/>
                </a:solidFill>
                <a:latin typeface="Hiragino Sans"/>
              </a:rPr>
              <a:t>ビルトインコマンド（固定ロジック）</a:t>
            </a:r>
          </a:p>
        </p:txBody>
      </p:sp>
      <p:sp>
        <p:nvSpPr>
          <p:cNvPr id="5" name="TextBox 4"/>
          <p:cNvSpPr txBox="1"/>
          <p:nvPr/>
        </p:nvSpPr>
        <p:spPr>
          <a:xfrm>
            <a:off x="731520" y="1320000"/>
            <a:ext cx="5120640" cy="250000"/>
          </a:xfrm>
          <a:prstGeom prst="rect">
            <a:avLst/>
          </a:prstGeom>
          <a:noFill/>
        </p:spPr>
        <p:txBody>
          <a:bodyPr wrap="square">
            <a:spAutoFit/>
          </a:bodyPr>
          <a:lstStyle/>
          <a:p>
            <a:pPr algn="l"/>
            <a:r>
              <a:rPr sz="1000" b="0">
                <a:solidFill>
                  <a:srgbClr val="B0AEA5"/>
                </a:solidFill>
                <a:latin typeface="Hiragino Sans"/>
              </a:rPr>
              <a:t>即座に結果を返す</a:t>
            </a:r>
          </a:p>
        </p:txBody>
      </p:sp>
      <p:graphicFrame>
        <p:nvGraphicFramePr>
          <p:cNvPr id="6" name="Table 5"/>
          <p:cNvGraphicFramePr>
            <a:graphicFrameLocks noGrp="1"/>
          </p:cNvGraphicFramePr>
          <p:nvPr/>
        </p:nvGraphicFramePr>
        <p:xfrm>
          <a:off x="731520" y="1580000"/>
          <a:ext cx="5120640" cy="1820000"/>
        </p:xfrm>
        <a:graphic>
          <a:graphicData uri="http://schemas.openxmlformats.org/drawingml/2006/table">
            <a:tbl>
              <a:tblPr firstRow="1" bandRow="1">
                <a:tableStyleId>{5C22544A-7EE6-4342-B048-85BDC9FD1C3A}</a:tableStyleId>
              </a:tblPr>
              <a:tblGrid>
                <a:gridCol w="1828800"/>
                <a:gridCol w="3291840"/>
              </a:tblGrid>
              <a:tr h="260000">
                <a:tc>
                  <a:txBody>
                    <a:bodyPr/>
                    <a:lstStyle/>
                    <a:p>
                      <a:pPr algn="l"/>
                      <a:r>
                        <a:rPr sz="1000" b="1">
                          <a:solidFill>
                            <a:srgbClr val="FAF9F5"/>
                          </a:solidFill>
                          <a:latin typeface="Hiragino Sans"/>
                        </a:rPr>
                        <a:t>コマンド</a:t>
                      </a:r>
                    </a:p>
                  </a:txBody>
                  <a:tcPr anchor="ctr" marL="91440" marR="91440" marT="45720" marB="45720">
                    <a:solidFill>
                      <a:srgbClr val="3A3632"/>
                    </a:solidFill>
                  </a:tcPr>
                </a:tc>
                <a:tc>
                  <a:txBody>
                    <a:bodyPr/>
                    <a:lstStyle/>
                    <a:p>
                      <a:pPr algn="l"/>
                      <a:r>
                        <a:rPr sz="1000" b="1">
                          <a:solidFill>
                            <a:srgbClr val="FAF9F5"/>
                          </a:solidFill>
                          <a:latin typeface="Hiragino Sans"/>
                        </a:rPr>
                        <a:t>用途</a:t>
                      </a:r>
                    </a:p>
                  </a:txBody>
                  <a:tcPr anchor="ctr" marL="91440" marR="91440" marT="45720" marB="45720">
                    <a:solidFill>
                      <a:srgbClr val="3A3632"/>
                    </a:solidFill>
                  </a:tcPr>
                </a:tc>
              </a:tr>
              <a:tr h="260000">
                <a:tc>
                  <a:txBody>
                    <a:bodyPr/>
                    <a:lstStyle/>
                    <a:p>
                      <a:pPr algn="l"/>
                      <a:r>
                        <a:rPr sz="1000" b="0">
                          <a:solidFill>
                            <a:srgbClr val="D97757"/>
                          </a:solidFill>
                          <a:latin typeface="SF Mono"/>
                        </a:rPr>
                        <a:t>/security-review</a:t>
                      </a:r>
                    </a:p>
                  </a:txBody>
                  <a:tcPr anchor="ctr" marL="91440" marR="91440" marT="45720" marB="45720">
                    <a:solidFill>
                      <a:srgbClr val="2D2926"/>
                    </a:solidFill>
                  </a:tcPr>
                </a:tc>
                <a:tc>
                  <a:txBody>
                    <a:bodyPr/>
                    <a:lstStyle/>
                    <a:p>
                      <a:pPr algn="l"/>
                      <a:r>
                        <a:rPr sz="1000" b="0">
                          <a:solidFill>
                            <a:srgbClr val="E0DED8"/>
                          </a:solidFill>
                          <a:latin typeface="Hiragino Sans"/>
                        </a:rPr>
                        <a:t>セキュリティ脆弱性分析</a:t>
                      </a:r>
                    </a:p>
                  </a:txBody>
                  <a:tcPr anchor="ctr" marL="91440" marR="91440" marT="45720" marB="45720">
                    <a:solidFill>
                      <a:srgbClr val="2D2926"/>
                    </a:solidFill>
                  </a:tcPr>
                </a:tc>
              </a:tr>
              <a:tr h="260000">
                <a:tc>
                  <a:txBody>
                    <a:bodyPr/>
                    <a:lstStyle/>
                    <a:p>
                      <a:pPr algn="l"/>
                      <a:r>
                        <a:rPr sz="1000" b="0">
                          <a:solidFill>
                            <a:srgbClr val="D97757"/>
                          </a:solidFill>
                          <a:latin typeface="SF Mono"/>
                        </a:rPr>
                        <a:t>/pr-comments</a:t>
                      </a:r>
                    </a:p>
                  </a:txBody>
                  <a:tcPr anchor="ctr" marL="91440" marR="91440" marT="45720" marB="45720">
                    <a:solidFill>
                      <a:srgbClr val="2D2926"/>
                    </a:solidFill>
                  </a:tcPr>
                </a:tc>
                <a:tc>
                  <a:txBody>
                    <a:bodyPr/>
                    <a:lstStyle/>
                    <a:p>
                      <a:pPr algn="l"/>
                      <a:r>
                        <a:rPr sz="1000" b="0">
                          <a:solidFill>
                            <a:srgbClr val="E0DED8"/>
                          </a:solidFill>
                          <a:latin typeface="Hiragino Sans"/>
                        </a:rPr>
                        <a:t>PRコメントを取得・表示</a:t>
                      </a:r>
                    </a:p>
                  </a:txBody>
                  <a:tcPr anchor="ctr" marL="91440" marR="91440" marT="45720" marB="45720">
                    <a:solidFill>
                      <a:srgbClr val="2D2926"/>
                    </a:solidFill>
                  </a:tcPr>
                </a:tc>
              </a:tr>
              <a:tr h="260000">
                <a:tc>
                  <a:txBody>
                    <a:bodyPr/>
                    <a:lstStyle/>
                    <a:p>
                      <a:pPr algn="l"/>
                      <a:r>
                        <a:rPr sz="1000" b="0">
                          <a:solidFill>
                            <a:srgbClr val="D97757"/>
                          </a:solidFill>
                          <a:latin typeface="SF Mono"/>
                        </a:rPr>
                        <a:t>/diff</a:t>
                      </a:r>
                    </a:p>
                  </a:txBody>
                  <a:tcPr anchor="ctr" marL="91440" marR="91440" marT="45720" marB="45720">
                    <a:solidFill>
                      <a:srgbClr val="2D2926"/>
                    </a:solidFill>
                  </a:tcPr>
                </a:tc>
                <a:tc>
                  <a:txBody>
                    <a:bodyPr/>
                    <a:lstStyle/>
                    <a:p>
                      <a:pPr algn="l"/>
                      <a:r>
                        <a:rPr sz="1000" b="0">
                          <a:solidFill>
                            <a:srgbClr val="E0DED8"/>
                          </a:solidFill>
                          <a:latin typeface="Hiragino Sans"/>
                        </a:rPr>
                        <a:t>差分のインタラクティブビューア</a:t>
                      </a:r>
                    </a:p>
                  </a:txBody>
                  <a:tcPr anchor="ctr" marL="91440" marR="91440" marT="45720" marB="45720">
                    <a:solidFill>
                      <a:srgbClr val="2D2926"/>
                    </a:solidFill>
                  </a:tcPr>
                </a:tc>
              </a:tr>
              <a:tr h="260000">
                <a:tc>
                  <a:txBody>
                    <a:bodyPr/>
                    <a:lstStyle/>
                    <a:p>
                      <a:pPr algn="l"/>
                      <a:r>
                        <a:rPr sz="1000" b="0">
                          <a:solidFill>
                            <a:srgbClr val="D97757"/>
                          </a:solidFill>
                          <a:latin typeface="SF Mono"/>
                        </a:rPr>
                        <a:t>/compact</a:t>
                      </a:r>
                    </a:p>
                  </a:txBody>
                  <a:tcPr anchor="ctr" marL="91440" marR="91440" marT="45720" marB="45720">
                    <a:solidFill>
                      <a:srgbClr val="2D2926"/>
                    </a:solidFill>
                  </a:tcPr>
                </a:tc>
                <a:tc>
                  <a:txBody>
                    <a:bodyPr/>
                    <a:lstStyle/>
                    <a:p>
                      <a:pPr algn="l"/>
                      <a:r>
                        <a:rPr sz="1000" b="0">
                          <a:solidFill>
                            <a:srgbClr val="E0DED8"/>
                          </a:solidFill>
                          <a:latin typeface="Hiragino Sans"/>
                        </a:rPr>
                        <a:t>コンテキストを圧縮</a:t>
                      </a:r>
                    </a:p>
                  </a:txBody>
                  <a:tcPr anchor="ctr" marL="91440" marR="91440" marT="45720" marB="45720">
                    <a:solidFill>
                      <a:srgbClr val="2D2926"/>
                    </a:solidFill>
                  </a:tcPr>
                </a:tc>
              </a:tr>
              <a:tr h="260000">
                <a:tc>
                  <a:txBody>
                    <a:bodyPr/>
                    <a:lstStyle/>
                    <a:p>
                      <a:pPr algn="l"/>
                      <a:r>
                        <a:rPr sz="1000" b="0">
                          <a:solidFill>
                            <a:srgbClr val="D97757"/>
                          </a:solidFill>
                          <a:latin typeface="SF Mono"/>
                        </a:rPr>
                        <a:t>/init</a:t>
                      </a:r>
                    </a:p>
                  </a:txBody>
                  <a:tcPr anchor="ctr" marL="91440" marR="91440" marT="45720" marB="45720">
                    <a:solidFill>
                      <a:srgbClr val="2D2926"/>
                    </a:solidFill>
                  </a:tcPr>
                </a:tc>
                <a:tc>
                  <a:txBody>
                    <a:bodyPr/>
                    <a:lstStyle/>
                    <a:p>
                      <a:pPr algn="l"/>
                      <a:r>
                        <a:rPr sz="1000" b="0">
                          <a:solidFill>
                            <a:srgbClr val="E0DED8"/>
                          </a:solidFill>
                          <a:latin typeface="Hiragino Sans"/>
                        </a:rPr>
                        <a:t>CLAUDE.md を対話的に初期化</a:t>
                      </a:r>
                    </a:p>
                  </a:txBody>
                  <a:tcPr anchor="ctr" marL="91440" marR="91440" marT="45720" marB="45720">
                    <a:solidFill>
                      <a:srgbClr val="2D2926"/>
                    </a:solidFill>
                  </a:tcPr>
                </a:tc>
              </a:tr>
              <a:tr h="260000">
                <a:tc>
                  <a:txBody>
                    <a:bodyPr/>
                    <a:lstStyle/>
                    <a:p>
                      <a:pPr algn="l"/>
                      <a:r>
                        <a:rPr sz="1000" b="0">
                          <a:solidFill>
                            <a:srgbClr val="D97757"/>
                          </a:solidFill>
                          <a:latin typeface="SF Mono"/>
                        </a:rPr>
                        <a:t>他50以上</a:t>
                      </a:r>
                    </a:p>
                  </a:txBody>
                  <a:tcPr anchor="ctr" marL="91440" marR="91440" marT="45720" marB="45720">
                    <a:solidFill>
                      <a:srgbClr val="2D2926"/>
                    </a:solidFill>
                  </a:tcPr>
                </a:tc>
                <a:tc>
                  <a:txBody>
                    <a:bodyPr/>
                    <a:lstStyle/>
                    <a:p>
                      <a:pPr algn="l"/>
                      <a:r>
                        <a:rPr sz="1000" b="0">
                          <a:solidFill>
                            <a:srgbClr val="E0DED8"/>
                          </a:solidFill>
                          <a:latin typeface="Hiragino Sans"/>
                        </a:rPr>
                        <a:t>/help で一覧表示</a:t>
                      </a:r>
                    </a:p>
                  </a:txBody>
                  <a:tcPr anchor="ctr" marL="91440" marR="91440" marT="45720" marB="45720">
                    <a:solidFill>
                      <a:srgbClr val="2D2926"/>
                    </a:solidFill>
                  </a:tcPr>
                </a:tc>
              </a:tr>
            </a:tbl>
          </a:graphicData>
        </a:graphic>
      </p:graphicFrame>
      <p:sp>
        <p:nvSpPr>
          <p:cNvPr id="7" name="TextBox 6"/>
          <p:cNvSpPr txBox="1"/>
          <p:nvPr/>
        </p:nvSpPr>
        <p:spPr>
          <a:xfrm>
            <a:off x="6035040" y="1050000"/>
            <a:ext cx="5120640" cy="320000"/>
          </a:xfrm>
          <a:prstGeom prst="rect">
            <a:avLst/>
          </a:prstGeom>
          <a:noFill/>
        </p:spPr>
        <p:txBody>
          <a:bodyPr wrap="square">
            <a:spAutoFit/>
          </a:bodyPr>
          <a:lstStyle/>
          <a:p>
            <a:pPr algn="l"/>
            <a:r>
              <a:rPr sz="1300" b="1">
                <a:solidFill>
                  <a:srgbClr val="7BC9A0"/>
                </a:solidFill>
                <a:latin typeface="Hiragino Sans"/>
              </a:rPr>
              <a:t>バンドルスキル（プロンプトベース）</a:t>
            </a:r>
          </a:p>
        </p:txBody>
      </p:sp>
      <p:sp>
        <p:nvSpPr>
          <p:cNvPr id="8" name="TextBox 7"/>
          <p:cNvSpPr txBox="1"/>
          <p:nvPr/>
        </p:nvSpPr>
        <p:spPr>
          <a:xfrm>
            <a:off x="6035040" y="1320000"/>
            <a:ext cx="5120640" cy="250000"/>
          </a:xfrm>
          <a:prstGeom prst="rect">
            <a:avLst/>
          </a:prstGeom>
          <a:noFill/>
        </p:spPr>
        <p:txBody>
          <a:bodyPr wrap="square">
            <a:spAutoFit/>
          </a:bodyPr>
          <a:lstStyle/>
          <a:p>
            <a:pPr algn="l"/>
            <a:r>
              <a:rPr sz="1000" b="0">
                <a:solidFill>
                  <a:srgbClr val="B0AEA5"/>
                </a:solidFill>
                <a:latin typeface="Hiragino Sans"/>
              </a:rPr>
              <a:t>エージェントを起動し複雑なタスクを遂行</a:t>
            </a:r>
          </a:p>
        </p:txBody>
      </p:sp>
      <p:graphicFrame>
        <p:nvGraphicFramePr>
          <p:cNvPr id="9" name="Table 8"/>
          <p:cNvGraphicFramePr>
            <a:graphicFrameLocks noGrp="1"/>
          </p:cNvGraphicFramePr>
          <p:nvPr/>
        </p:nvGraphicFramePr>
        <p:xfrm>
          <a:off x="6035040" y="1580000"/>
          <a:ext cx="5120640" cy="1560000"/>
        </p:xfrm>
        <a:graphic>
          <a:graphicData uri="http://schemas.openxmlformats.org/drawingml/2006/table">
            <a:tbl>
              <a:tblPr firstRow="1" bandRow="1">
                <a:tableStyleId>{5C22544A-7EE6-4342-B048-85BDC9FD1C3A}</a:tableStyleId>
              </a:tblPr>
              <a:tblGrid>
                <a:gridCol w="1600200"/>
                <a:gridCol w="3520440"/>
              </a:tblGrid>
              <a:tr h="260000">
                <a:tc>
                  <a:txBody>
                    <a:bodyPr/>
                    <a:lstStyle/>
                    <a:p>
                      <a:pPr algn="l"/>
                      <a:r>
                        <a:rPr sz="1000" b="1">
                          <a:solidFill>
                            <a:srgbClr val="FAF9F5"/>
                          </a:solidFill>
                          <a:latin typeface="Hiragino Sans"/>
                        </a:rPr>
                        <a:t>スキル</a:t>
                      </a:r>
                    </a:p>
                  </a:txBody>
                  <a:tcPr anchor="ctr" marL="91440" marR="91440" marT="45720" marB="45720">
                    <a:solidFill>
                      <a:srgbClr val="3A3632"/>
                    </a:solidFill>
                  </a:tcPr>
                </a:tc>
                <a:tc>
                  <a:txBody>
                    <a:bodyPr/>
                    <a:lstStyle/>
                    <a:p>
                      <a:pPr algn="l"/>
                      <a:r>
                        <a:rPr sz="1000" b="1">
                          <a:solidFill>
                            <a:srgbClr val="FAF9F5"/>
                          </a:solidFill>
                          <a:latin typeface="Hiragino Sans"/>
                        </a:rPr>
                        <a:t>用途</a:t>
                      </a:r>
                    </a:p>
                  </a:txBody>
                  <a:tcPr anchor="ctr" marL="91440" marR="91440" marT="45720" marB="45720">
                    <a:solidFill>
                      <a:srgbClr val="3A3632"/>
                    </a:solidFill>
                  </a:tcPr>
                </a:tc>
              </a:tr>
              <a:tr h="260000">
                <a:tc>
                  <a:txBody>
                    <a:bodyPr/>
                    <a:lstStyle/>
                    <a:p>
                      <a:pPr algn="l"/>
                      <a:r>
                        <a:rPr sz="1000" b="0">
                          <a:solidFill>
                            <a:srgbClr val="7BC9A0"/>
                          </a:solidFill>
                          <a:latin typeface="SF Mono"/>
                        </a:rPr>
                        <a:t>/batch</a:t>
                      </a:r>
                    </a:p>
                  </a:txBody>
                  <a:tcPr anchor="ctr" marL="91440" marR="91440" marT="45720" marB="45720">
                    <a:solidFill>
                      <a:srgbClr val="2D2926"/>
                    </a:solidFill>
                  </a:tcPr>
                </a:tc>
                <a:tc>
                  <a:txBody>
                    <a:bodyPr/>
                    <a:lstStyle/>
                    <a:p>
                      <a:pPr algn="l"/>
                      <a:r>
                        <a:rPr sz="1000" b="0">
                          <a:solidFill>
                            <a:srgbClr val="E0DED8"/>
                          </a:solidFill>
                          <a:latin typeface="Hiragino Sans"/>
                        </a:rPr>
                        <a:t>大規模変更をworktreeで並列実行→PR作成</a:t>
                      </a:r>
                    </a:p>
                  </a:txBody>
                  <a:tcPr anchor="ctr" marL="91440" marR="91440" marT="45720" marB="45720">
                    <a:solidFill>
                      <a:srgbClr val="2D2926"/>
                    </a:solidFill>
                  </a:tcPr>
                </a:tc>
              </a:tr>
              <a:tr h="260000">
                <a:tc>
                  <a:txBody>
                    <a:bodyPr/>
                    <a:lstStyle/>
                    <a:p>
                      <a:pPr algn="l"/>
                      <a:r>
                        <a:rPr sz="1000" b="0">
                          <a:solidFill>
                            <a:srgbClr val="7BC9A0"/>
                          </a:solidFill>
                          <a:latin typeface="SF Mono"/>
                        </a:rPr>
                        <a:t>/simplify</a:t>
                      </a:r>
                    </a:p>
                  </a:txBody>
                  <a:tcPr anchor="ctr" marL="91440" marR="91440" marT="45720" marB="45720">
                    <a:solidFill>
                      <a:srgbClr val="2D2926"/>
                    </a:solidFill>
                  </a:tcPr>
                </a:tc>
                <a:tc>
                  <a:txBody>
                    <a:bodyPr/>
                    <a:lstStyle/>
                    <a:p>
                      <a:pPr algn="l"/>
                      <a:r>
                        <a:rPr sz="1000" b="0">
                          <a:solidFill>
                            <a:srgbClr val="E0DED8"/>
                          </a:solidFill>
                          <a:latin typeface="Hiragino Sans"/>
                        </a:rPr>
                        <a:t>3エージェントが品質・効率・再利用性を検証</a:t>
                      </a:r>
                    </a:p>
                  </a:txBody>
                  <a:tcPr anchor="ctr" marL="91440" marR="91440" marT="45720" marB="45720">
                    <a:solidFill>
                      <a:srgbClr val="2D2926"/>
                    </a:solidFill>
                  </a:tcPr>
                </a:tc>
              </a:tr>
              <a:tr h="260000">
                <a:tc>
                  <a:txBody>
                    <a:bodyPr/>
                    <a:lstStyle/>
                    <a:p>
                      <a:pPr algn="l"/>
                      <a:r>
                        <a:rPr sz="1000" b="0">
                          <a:solidFill>
                            <a:srgbClr val="7BC9A0"/>
                          </a:solidFill>
                          <a:latin typeface="SF Mono"/>
                        </a:rPr>
                        <a:t>/loop</a:t>
                      </a:r>
                    </a:p>
                  </a:txBody>
                  <a:tcPr anchor="ctr" marL="91440" marR="91440" marT="45720" marB="45720">
                    <a:solidFill>
                      <a:srgbClr val="2D2926"/>
                    </a:solidFill>
                  </a:tcPr>
                </a:tc>
                <a:tc>
                  <a:txBody>
                    <a:bodyPr/>
                    <a:lstStyle/>
                    <a:p>
                      <a:pPr algn="l"/>
                      <a:r>
                        <a:rPr sz="1000" b="0">
                          <a:solidFill>
                            <a:srgbClr val="E0DED8"/>
                          </a:solidFill>
                          <a:latin typeface="Hiragino Sans"/>
                        </a:rPr>
                        <a:t>定期的にプロンプト実行（cron対応）</a:t>
                      </a:r>
                    </a:p>
                  </a:txBody>
                  <a:tcPr anchor="ctr" marL="91440" marR="91440" marT="45720" marB="45720">
                    <a:solidFill>
                      <a:srgbClr val="2D2926"/>
                    </a:solidFill>
                  </a:tcPr>
                </a:tc>
              </a:tr>
              <a:tr h="260000">
                <a:tc>
                  <a:txBody>
                    <a:bodyPr/>
                    <a:lstStyle/>
                    <a:p>
                      <a:pPr algn="l"/>
                      <a:r>
                        <a:rPr sz="1000" b="0">
                          <a:solidFill>
                            <a:srgbClr val="7BC9A0"/>
                          </a:solidFill>
                          <a:latin typeface="SF Mono"/>
                        </a:rPr>
                        <a:t>/debug</a:t>
                      </a:r>
                    </a:p>
                  </a:txBody>
                  <a:tcPr anchor="ctr" marL="91440" marR="91440" marT="45720" marB="45720">
                    <a:solidFill>
                      <a:srgbClr val="2D2926"/>
                    </a:solidFill>
                  </a:tcPr>
                </a:tc>
                <a:tc>
                  <a:txBody>
                    <a:bodyPr/>
                    <a:lstStyle/>
                    <a:p>
                      <a:pPr algn="l"/>
                      <a:r>
                        <a:rPr sz="1000" b="0">
                          <a:solidFill>
                            <a:srgbClr val="E0DED8"/>
                          </a:solidFill>
                          <a:latin typeface="Hiragino Sans"/>
                        </a:rPr>
                        <a:t>デバッグログを分析</a:t>
                      </a:r>
                    </a:p>
                  </a:txBody>
                  <a:tcPr anchor="ctr" marL="91440" marR="91440" marT="45720" marB="45720">
                    <a:solidFill>
                      <a:srgbClr val="2D2926"/>
                    </a:solidFill>
                  </a:tcPr>
                </a:tc>
              </a:tr>
              <a:tr h="260000">
                <a:tc>
                  <a:txBody>
                    <a:bodyPr/>
                    <a:lstStyle/>
                    <a:p>
                      <a:pPr algn="l"/>
                      <a:r>
                        <a:rPr sz="1000" b="0">
                          <a:solidFill>
                            <a:srgbClr val="7BC9A0"/>
                          </a:solidFill>
                          <a:latin typeface="SF Mono"/>
                        </a:rPr>
                        <a:t>/claude-api</a:t>
                      </a:r>
                    </a:p>
                  </a:txBody>
                  <a:tcPr anchor="ctr" marL="91440" marR="91440" marT="45720" marB="45720">
                    <a:solidFill>
                      <a:srgbClr val="2D2926"/>
                    </a:solidFill>
                  </a:tcPr>
                </a:tc>
                <a:tc>
                  <a:txBody>
                    <a:bodyPr/>
                    <a:lstStyle/>
                    <a:p>
                      <a:pPr algn="l"/>
                      <a:r>
                        <a:rPr sz="1000" b="0">
                          <a:solidFill>
                            <a:srgbClr val="E0DED8"/>
                          </a:solidFill>
                          <a:latin typeface="Hiragino Sans"/>
                        </a:rPr>
                        <a:t>API / SDKリファレンスを自動読み込み</a:t>
                      </a:r>
                    </a:p>
                  </a:txBody>
                  <a:tcPr anchor="ctr" marL="91440" marR="91440" marT="45720" marB="45720">
                    <a:solidFill>
                      <a:srgbClr val="2D2926"/>
                    </a:solidFill>
                  </a:tcPr>
                </a:tc>
              </a:tr>
            </a:tbl>
          </a:graphicData>
        </a:graphic>
      </p:graphicFrame>
      <p:sp>
        <p:nvSpPr>
          <p:cNvPr id="10" name="Rectangle 9"/>
          <p:cNvSpPr/>
          <p:nvPr/>
        </p:nvSpPr>
        <p:spPr>
          <a:xfrm>
            <a:off x="731520" y="5800000"/>
            <a:ext cx="10728960" cy="457200"/>
          </a:xfrm>
          <a:prstGeom prst="rect">
            <a:avLst/>
          </a:prstGeom>
          <a:solidFill>
            <a:srgbClr val="2C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800000"/>
            <a:ext cx="54864" cy="457200"/>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891440"/>
            <a:ext cx="10400000" cy="365760"/>
          </a:xfrm>
          <a:prstGeom prst="rect">
            <a:avLst/>
          </a:prstGeom>
          <a:noFill/>
        </p:spPr>
        <p:txBody>
          <a:bodyPr wrap="square">
            <a:spAutoFit/>
          </a:bodyPr>
          <a:lstStyle/>
          <a:p>
            <a:pPr algn="l"/>
            <a:r>
              <a:rPr sz="1400" b="1">
                <a:solidFill>
                  <a:srgbClr val="D97757"/>
                </a:solidFill>
                <a:latin typeface="Hiragino Sans"/>
              </a:rPr>
              <a:t>特に /batch と /simplify が強力 → PART 3 のworktreeで再登場</a:t>
            </a:r>
          </a:p>
        </p:txBody>
      </p:sp>
      <p:sp>
        <p:nvSpPr>
          <p:cNvPr id="13" name="TextBox 12"/>
          <p:cNvSpPr txBox="1"/>
          <p:nvPr/>
        </p:nvSpPr>
        <p:spPr>
          <a:xfrm>
            <a:off x="731520" y="6350000"/>
            <a:ext cx="10728960" cy="274320"/>
          </a:xfrm>
          <a:prstGeom prst="rect">
            <a:avLst/>
          </a:prstGeom>
          <a:noFill/>
        </p:spPr>
        <p:txBody>
          <a:bodyPr wrap="square">
            <a:spAutoFit/>
          </a:bodyPr>
          <a:lstStyle/>
          <a:p>
            <a:pPr algn="l"/>
            <a:r>
              <a:rPr sz="1200" b="0">
                <a:solidFill>
                  <a:srgbClr val="B0AEA5"/>
                </a:solidFill>
                <a:latin typeface="Hiragino Sans"/>
              </a:rPr>
              <a:t>→ コマンドは固定ロジック、スキルはプロンプトベースでエージェント起動可能</a:t>
            </a:r>
          </a:p>
        </p:txBody>
      </p:sp>
      <p:sp>
        <p:nvSpPr>
          <p:cNvPr id="14" name="TextBox 13"/>
          <p:cNvSpPr txBox="1"/>
          <p:nvPr/>
        </p:nvSpPr>
        <p:spPr>
          <a:xfrm>
            <a:off x="10992000" y="6458000"/>
            <a:ext cx="900000" cy="274320"/>
          </a:xfrm>
          <a:prstGeom prst="rect">
            <a:avLst/>
          </a:prstGeom>
          <a:noFill/>
        </p:spPr>
        <p:txBody>
          <a:bodyPr wrap="square">
            <a:spAutoFit/>
          </a:bodyPr>
          <a:lstStyle/>
          <a:p>
            <a:pPr algn="r"/>
            <a:r>
              <a:rPr sz="1100" b="0">
                <a:solidFill>
                  <a:srgbClr val="B0AEA5"/>
                </a:solidFill>
                <a:latin typeface="Helvetica Neue"/>
              </a:rPr>
              <a:t>10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