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オープニング。自己紹介は軽く。</a:t>
            </a:r>
          </a:p>
          <a:p>
            <a:r>
              <a:t>Claude Codeの社内勉強会、全3回の第1回。</a:t>
            </a:r>
          </a:p>
          <a:p>
            <a:r>
              <a:t>今日は「理解する」がテーマ。基本と対話の心得を扱う。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3回シリーズの構成を説明。</a:t>
            </a:r>
          </a:p>
          <a:p>
            <a:r>
              <a:t>第1回は「理解する」。Claude Codeとは何か、どう使うかの基本。</a:t>
            </a:r>
          </a:p>
          <a:p>
            <a:r>
              <a:t>第2回は「カスタマイズする」。チームに合わせた設定。</a:t>
            </a:r>
          </a:p>
          <a:p>
            <a:r>
              <a:t>第3回は「スケールさせる」。自動化と並列化。</a:t>
            </a:r>
          </a:p>
          <a:p>
            <a:r>
              <a:t>同じメンバーが3回とも参加する前提。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Claude Codeはターミナルベースのエージェント型開発支援ツール。</a:t>
            </a:r>
          </a:p>
          <a:p>
            <a:r>
              <a:t>GitHub Copilotのような単発のコード補完とは違い、</a:t>
            </a:r>
          </a:p>
          <a:p>
            <a:r>
              <a:t>調査・修正・検証・変更内容の取りまとめを、</a:t>
            </a:r>
          </a:p>
          <a:p>
            <a:r>
              <a:t>ひとつのセッション内で連続して扱える。</a:t>
            </a:r>
          </a:p>
          <a:p>
            <a:r>
              <a:t>デモGIFがあれば見せる。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3つのツールは競合ではなく補完的。</a:t>
            </a:r>
          </a:p>
          <a:p>
            <a:r>
              <a:t>ChatGPTは設計議論や仕様の言語化に強い。</a:t>
            </a:r>
          </a:p>
          <a:p>
            <a:r>
              <a:t>Copilotはコードを書くことに強い。</a:t>
            </a:r>
          </a:p>
          <a:p>
            <a:r>
              <a:t>Claude Codeは作業を進めることに強い。</a:t>
            </a:r>
          </a:p>
          <a:p>
            <a:r>
              <a:t>IDEで記述し、ターミナル側で調査・実行・差分整理を担当する分担が自然。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通常の開発では全工程を自分で回す。</a:t>
            </a:r>
          </a:p>
          <a:p>
            <a:r>
              <a:t>Claude Codeを使うと、開発者の仕事は「何をしたいか伝える」と「要所でレビューする」に変わる。</a:t>
            </a:r>
          </a:p>
          <a:p>
            <a:r>
              <a:t>ターミナルだけの話ではない。設計→実装→検証のワークフロー全体が変わる。</a:t>
            </a:r>
          </a:p>
          <a:p>
            <a:r>
              <a:t>これが「コード補完」と「エージェント」の本質的な違い。</a:t>
            </a:r>
          </a:p>
          <a:p>
            <a:r>
              <a:t>次のスライドで、具体的なタスクを例に、この流れを見てみる。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具体的なタスクで流れを見てみる。</a:t>
            </a:r>
          </a:p>
          <a:p>
            <a:r>
              <a:t>「ログインAPIが遅い」という課題をClaude Codeで進める場合。</a:t>
            </a:r>
          </a:p>
          <a:p>
            <a:r>
              <a:t>開発者がやるのは、目標を伝えること（30秒）と、計画をレビューすること（1分）。</a:t>
            </a:r>
          </a:p>
          <a:p>
            <a:r>
              <a:t>Claudeが調査・計画提案と実装・テストを担当する。</a:t>
            </a:r>
          </a:p>
          <a:p>
            <a:r>
              <a:t>ここで気づいてほしいのは、開発者の介入ポイントが2箇所あること。</a:t>
            </a:r>
          </a:p>
          <a:p>
            <a:r>
              <a:t>「丸投げ」ではなく「要所で判断する」。この感覚が大事。</a:t>
            </a:r>
          </a:p>
          <a:p>
            <a:r>
              <a:t>PART 2で「伝え方」を、PART 3で「計画の立て方」を詳しく見ていく。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先ほどの例で、開発者の発話は2回だけだった。短いが、伝え方で結果は大きく変わる。</a:t>
            </a:r>
          </a:p>
          <a:p>
            <a:r>
              <a:t>ここからPart 2。コミュニケーションの話。</a:t>
            </a:r>
          </a:p>
          <a:p>
            <a:r>
              <a:t>Claude Codeは自然言語で指示を出せるが「何でも伝わる」わけではない。</a:t>
            </a:r>
          </a:p>
          <a:p>
            <a:r>
              <a:t>人間相手と同じで、伝え方によって結果が変わる。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チャットボットとエージェントの根本的な違い。</a:t>
            </a:r>
          </a:p>
          <a:p>
            <a:r>
              <a:t>チャットボット：ユーザーが1ステップずつ指示する。受動的。</a:t>
            </a:r>
          </a:p>
          <a:p>
            <a:r>
              <a:t>エージェント：ゴールを伝えたら、自分で探索・計画・実行する。自律的。</a:t>
            </a:r>
          </a:p>
          <a:p>
            <a:r>
              <a:t>アナロジー：チャットボットは電話サポート、エージェントは仕事を任せた同僚。</a:t>
            </a:r>
          </a:p>
          <a:p>
            <a:r>
              <a:t>同僚に仕事を任せるとき、1行ずつ何をするか指示しない。</a:t>
            </a:r>
          </a:p>
          <a:p>
            <a:r>
              <a:t>ゴールと背景を伝えて、やり方は任せる。</a:t>
            </a:r>
          </a:p>
          <a:p>
            <a:r>
              <a:t>この「委任」の感覚がClaude Codeでは重要。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指示の4要素：目標、背景・制約、現状、期待する出力。</a:t>
            </a:r>
          </a:p>
          <a:p>
            <a:r>
              <a:t>全部揃っている必要はないが、目標は必須。</a:t>
            </a:r>
          </a:p>
          <a:p>
            <a:r>
              <a:t>悪い例：「この機能を改善して」→ 何を改善？どう改善？が不明。</a:t>
            </a:r>
          </a:p>
          <a:p>
            <a:r>
              <a:t>良い例：現状・目標・やることが明確。</a:t>
            </a:r>
          </a:p>
          <a:p>
            <a:r>
              <a:t>ポイント：指示が具体的であるほど、結果も具体的になる。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コンテキストを渡す方法は5つ。</a:t>
            </a:r>
          </a:p>
          <a:p>
            <a:r>
              <a:t>@ファイル名でファイルを直接参照。最もよく使う。</a:t>
            </a:r>
          </a:p>
          <a:p>
            <a:r>
              <a:t>画像もコピー＆ペーストで渡せる。エラー画面やデザインカンプなど。</a:t>
            </a:r>
          </a:p>
          <a:p>
            <a:r>
              <a:t>URLを渡してWebページを読ませることもできる。</a:t>
            </a:r>
          </a:p>
          <a:p>
            <a:r>
              <a:t>パイプでコマンド出力を渡す。ログ分析などに便利。</a:t>
            </a:r>
          </a:p>
          <a:p>
            <a:r>
              <a:t>ディレクトリ指定でClaude自身に探索させることも可能。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最初から完璧を求めず、たたき台→改善のループで進める。</a:t>
            </a:r>
          </a:p>
          <a:p>
            <a:r>
              <a:t>テクニック：</a:t>
            </a:r>
          </a:p>
          <a:p>
            <a:r>
              <a:t>- 「なぜそうしたのか」と聞くと、自分の指示の問題が見えることがある</a:t>
            </a:r>
          </a:p>
          <a:p>
            <a:r>
              <a:t>- 提案形式で伝えると、Claudeが別の選択肢を出してくれる</a:t>
            </a:r>
          </a:p>
          <a:p>
            <a:r>
              <a:t>- 自分で直接コードを編集したら、その旨を伝える。伝えないと古い状態を前提に動く</a:t>
            </a:r>
          </a:p>
          <a:p>
            <a:r>
              <a:t>- 「全然違う」と言うより「この部分は良い、この部分は変えて」と具体的に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3。Plan Modeの話。</a:t>
            </a:r>
          </a:p>
          <a:p>
            <a:r>
              <a:t>「いきなりコードを書かせない」が合言葉。</a:t>
            </a:r>
          </a:p>
          <a:p>
            <a:r>
              <a:t>計画から始めることで手戻りを減らせる。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 Modeは読み取り専用のモード。</a:t>
            </a:r>
          </a:p>
          <a:p>
            <a:r>
              <a:t>Shift+Tabで3つのモードを切り替えられる。</a:t>
            </a:r>
          </a:p>
          <a:p>
            <a:r>
              <a:t>Normal → Auto Accept → Plan の順。</a:t>
            </a:r>
          </a:p>
          <a:p>
            <a:r>
              <a:t>起動時に --permission-mode plan で指定することもできる。</a:t>
            </a:r>
          </a:p>
          <a:p>
            <a:r>
              <a:t>Extended Thinkingとは別の概念。</a:t>
            </a:r>
          </a:p>
          <a:p>
            <a:r>
              <a:t>Extended Thinking = 深く考えさせる（think, think hard）</a:t>
            </a:r>
          </a:p>
          <a:p>
            <a:r>
              <a:t>Plan Mode = 使えるツールを制限する</a:t>
            </a:r>
          </a:p>
          <a:p>
            <a:r>
              <a:t>両者の併用も可能。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計画 → レビュー → 実装 → 確認の4ステップ。</a:t>
            </a:r>
          </a:p>
          <a:p>
            <a:r>
              <a:t>ポイント：</a:t>
            </a:r>
          </a:p>
          <a:p>
            <a:r>
              <a:t>- 「まだコードを書かないで」と明示的に伝える</a:t>
            </a:r>
          </a:p>
          <a:p>
            <a:r>
              <a:t>- 計画段階で疑問点をつぶす。「後方互換性は？」「テストは？」</a:t>
            </a:r>
          </a:p>
          <a:p>
            <a:r>
              <a:t>- 計画に納得したらモード切替で実装を許可</a:t>
            </a:r>
          </a:p>
          <a:p>
            <a:r>
              <a:t>- 小さな修正でもこの流れを習慣にすると手戻りが減る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計画段階で確認すべき5つの項目。</a:t>
            </a:r>
          </a:p>
          <a:p>
            <a:r>
              <a:t>ゴール：何を達成したいか。最も重要。</a:t>
            </a:r>
          </a:p>
          <a:p>
            <a:r>
              <a:t>背景・制約：なぜ必要か。技術的な制約も含む。</a:t>
            </a:r>
          </a:p>
          <a:p>
            <a:r>
              <a:t>受け入れ基準：どうなったら完了か。テストが通る、レビューOKなど。</a:t>
            </a:r>
          </a:p>
          <a:p>
            <a:r>
              <a:t>禁止事項：既存APIの破壊、特定ファイルの変更禁止など。</a:t>
            </a:r>
          </a:p>
          <a:p>
            <a:r>
              <a:t>想定外の扱い：計画外の問題は報告して止まる、自己判断で対処、など。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まとめの3つの要点を読み上げ。</a:t>
            </a:r>
          </a:p>
          <a:p>
            <a:r>
              <a:t>次回までにやってみようの宿題を伝える。</a:t>
            </a:r>
          </a:p>
          <a:p>
            <a:r>
              <a:t>1. インストールしてリポジトリの要約をさせる</a:t>
            </a:r>
          </a:p>
          <a:p>
            <a:r>
              <a:t>2. Plan Modeで小さなタスクを試す</a:t>
            </a:r>
          </a:p>
          <a:p>
            <a:r>
              <a:t>次回は「カスタマイズする」がテーマ。</a:t>
            </a:r>
          </a:p>
          <a:p>
            <a:r>
              <a:t>コンテキスト管理、Skills、サブエージェント、Plan Modeの深掘りを扱う。</a:t>
            </a:r>
          </a:p>
          <a:p>
            <a:r>
              <a:t>質疑応答の時間へ。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719"/>
              </a:lnSpc>
              <a:spcAft>
                <a:spcPts val="0"/>
              </a:spcAft>
              <a:defRPr sz="4800" b="1">
                <a:solidFill>
                  <a:srgbClr val="F5F5F5"/>
                </a:solidFill>
                <a:latin typeface="Hiragino Sans"/>
              </a:defRPr>
            </a:pPr>
            <a:r>
              <a:t>Claude Code ことはじめ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919"/>
              </a:lnSpc>
              <a:spcAft>
                <a:spcPts val="0"/>
              </a:spcAft>
              <a:defRPr sz="2800" b="0">
                <a:solidFill>
                  <a:srgbClr val="D48C2E"/>
                </a:solidFill>
                <a:latin typeface="Hiragino Sans"/>
              </a:defRPr>
            </a:pPr>
            <a:r>
              <a:t>〜基本と対話の心得〜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572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240"/>
              </a:lnSpc>
              <a:spcAft>
                <a:spcPts val="0"/>
              </a:spcAft>
              <a:defRPr sz="1600" b="0">
                <a:solidFill>
                  <a:srgbClr val="999999"/>
                </a:solidFill>
                <a:latin typeface="Helvetica Neue"/>
              </a:defRPr>
            </a:pPr>
            <a:r>
              <a:t>社内勉強会  |  第1回 / 全3回  |  20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480"/>
              </a:lnSpc>
              <a:spcAft>
                <a:spcPts val="0"/>
              </a:spcAft>
              <a:defRPr sz="3200" b="1">
                <a:solidFill>
                  <a:srgbClr val="F5F5F5"/>
                </a:solidFill>
                <a:latin typeface="Hiragino Sans"/>
              </a:defRPr>
            </a:pPr>
            <a:r>
              <a:t>全3回のロードマップ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515600" cy="1371600"/>
          </a:xfrm>
          <a:prstGeom prst="roundRect">
            <a:avLst>
              <a:gd name="adj" fmla="val 2000"/>
            </a:avLst>
          </a:prstGeom>
          <a:solidFill>
            <a:srgbClr val="2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00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20"/>
              </a:lnSpc>
              <a:spcAft>
                <a:spcPts val="0"/>
              </a:spcAft>
              <a:defRPr sz="1800" b="1">
                <a:solidFill>
                  <a:srgbClr val="F0C060"/>
                </a:solidFill>
                <a:latin typeface="Hiragino Sans"/>
              </a:defRPr>
            </a:pPr>
            <a:r>
              <a:t>第1回（今日）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57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59"/>
              </a:lnSpc>
              <a:spcAft>
                <a:spcPts val="0"/>
              </a:spcAft>
              <a:defRPr sz="2400" b="1">
                <a:solidFill>
                  <a:srgbClr val="F5F5F5"/>
                </a:solidFill>
                <a:latin typeface="Hiragino Sans"/>
              </a:defRPr>
            </a:pPr>
            <a:r>
              <a:t>理解する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87452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40"/>
              </a:lnSpc>
              <a:spcAft>
                <a:spcPts val="0"/>
              </a:spcAft>
              <a:defRPr sz="1600" b="0">
                <a:solidFill>
                  <a:srgbClr val="CCCCCC"/>
                </a:solidFill>
                <a:latin typeface="Hiragino Sans"/>
              </a:defRPr>
            </a:pPr>
            <a:r>
              <a:t>基本 / コミュニケーション / Plan Mode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08960"/>
            <a:ext cx="10515600" cy="1371600"/>
          </a:xfrm>
          <a:prstGeom prst="roundRect">
            <a:avLst>
              <a:gd name="adj" fmla="val 2000"/>
            </a:avLst>
          </a:prstGeom>
          <a:solidFill>
            <a:srgbClr val="20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20"/>
              </a:lnSpc>
              <a:spcAft>
                <a:spcPts val="0"/>
              </a:spcAft>
              <a:defRPr sz="1800" b="1">
                <a:solidFill>
                  <a:srgbClr val="999999"/>
                </a:solidFill>
                <a:latin typeface="Hiragino Sans"/>
              </a:defRPr>
            </a:pPr>
            <a:r>
              <a:t>第2回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03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59"/>
              </a:lnSpc>
              <a:spcAft>
                <a:spcPts val="0"/>
              </a:spcAft>
              <a:defRPr sz="2400" b="1">
                <a:solidFill>
                  <a:srgbClr val="F5F5F5"/>
                </a:solidFill>
                <a:latin typeface="Hiragino Sans"/>
              </a:defRPr>
            </a:pPr>
            <a:r>
              <a:t>カスタマイズする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352044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40"/>
              </a:lnSpc>
              <a:spcAft>
                <a:spcPts val="0"/>
              </a:spcAft>
              <a:defRPr sz="1600" b="0">
                <a:solidFill>
                  <a:srgbClr val="CCCCCC"/>
                </a:solidFill>
                <a:latin typeface="Hiragino Sans"/>
              </a:defRPr>
            </a:pPr>
            <a:r>
              <a:t>コンテキスト管理 / Skills / サブエージェント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754880"/>
            <a:ext cx="10515600" cy="1371600"/>
          </a:xfrm>
          <a:prstGeom prst="roundRect">
            <a:avLst>
              <a:gd name="adj" fmla="val 2000"/>
            </a:avLst>
          </a:prstGeom>
          <a:solidFill>
            <a:srgbClr val="20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892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20"/>
              </a:lnSpc>
              <a:spcAft>
                <a:spcPts val="0"/>
              </a:spcAft>
              <a:defRPr sz="1800" b="1">
                <a:solidFill>
                  <a:srgbClr val="999999"/>
                </a:solidFill>
                <a:latin typeface="Hiragino Sans"/>
              </a:defRPr>
            </a:pPr>
            <a:r>
              <a:t>第3回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349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59"/>
              </a:lnSpc>
              <a:spcAft>
                <a:spcPts val="0"/>
              </a:spcAft>
              <a:defRPr sz="2400" b="1">
                <a:solidFill>
                  <a:srgbClr val="F5F5F5"/>
                </a:solidFill>
                <a:latin typeface="Hiragino Sans"/>
              </a:defRPr>
            </a:pPr>
            <a:r>
              <a:t>スケールさせる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516636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40"/>
              </a:lnSpc>
              <a:spcAft>
                <a:spcPts val="0"/>
              </a:spcAft>
              <a:defRPr sz="1600" b="0">
                <a:solidFill>
                  <a:srgbClr val="CCCCCC"/>
                </a:solidFill>
                <a:latin typeface="Hiragino Sans"/>
              </a:defRPr>
            </a:pPr>
            <a:r>
              <a:t>Hooks / MCP / worktree / /insights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Helvetica Neue"/>
              </a:defRPr>
            </a:pPr>
            <a: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1">
                <a:solidFill>
                  <a:srgbClr val="D48C2E"/>
                </a:solidFill>
                <a:latin typeface="Helvetica Neue"/>
              </a:defRPr>
            </a:pPr>
            <a:r>
              <a:t>PART 1 — Claude Code とは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480"/>
              </a:lnSpc>
              <a:spcAft>
                <a:spcPts val="0"/>
              </a:spcAft>
              <a:defRPr sz="3200" b="1">
                <a:solidFill>
                  <a:srgbClr val="F5F5F5"/>
                </a:solidFill>
                <a:latin typeface="Hiragino Sans"/>
              </a:defRPr>
            </a:pPr>
            <a:r>
              <a:t>Claude Code とは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600"/>
              </a:lnSpc>
              <a:spcAft>
                <a:spcPts val="400"/>
              </a:spcAft>
              <a:defRPr sz="2000">
                <a:solidFill>
                  <a:srgbClr val="F5F5F5"/>
                </a:solidFill>
                <a:latin typeface="Hiragino Sans"/>
              </a:defRPr>
            </a:pPr>
            <a:r>
              <a:t>• ターミナル上で動くAIエージェント</a:t>
            </a:r>
          </a:p>
          <a:p>
            <a:pPr>
              <a:lnSpc>
                <a:spcPts val="3600"/>
              </a:lnSpc>
              <a:spcAft>
                <a:spcPts val="400"/>
              </a:spcAft>
              <a:defRPr sz="2000">
                <a:solidFill>
                  <a:srgbClr val="F5F5F5"/>
                </a:solidFill>
                <a:latin typeface="Hiragino Sans"/>
              </a:defRPr>
            </a:pPr>
            <a:r>
              <a:t>• 調査 → 修正 → 検証 → 取りまとめを一連で扱う</a:t>
            </a:r>
          </a:p>
          <a:p>
            <a:pPr>
              <a:lnSpc>
                <a:spcPts val="3600"/>
              </a:lnSpc>
              <a:spcAft>
                <a:spcPts val="400"/>
              </a:spcAft>
              <a:defRPr sz="2000">
                <a:solidFill>
                  <a:srgbClr val="F5F5F5"/>
                </a:solidFill>
                <a:latin typeface="Hiragino Sans"/>
              </a:defRPr>
            </a:pPr>
            <a:r>
              <a:t>• ファイルの読み書き、コマンド実行を自律的に行う</a:t>
            </a:r>
          </a:p>
          <a:p>
            <a:pPr>
              <a:lnSpc>
                <a:spcPts val="3600"/>
              </a:lnSpc>
              <a:spcAft>
                <a:spcPts val="400"/>
              </a:spcAft>
              <a:defRPr sz="2000">
                <a:solidFill>
                  <a:srgbClr val="F5F5F5"/>
                </a:solidFill>
                <a:latin typeface="Hiragino Sans"/>
              </a:defRPr>
            </a:pPr>
            <a:r>
              <a:t>• 「コードを書く」ではなく「作業を進める」ツール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0" y="2011680"/>
            <a:ext cx="2743200" cy="640080"/>
          </a:xfrm>
          <a:prstGeom prst="roundRect">
            <a:avLst>
              <a:gd name="adj" fmla="val 5000"/>
            </a:avLst>
          </a:prstGeom>
          <a:solidFill>
            <a:srgbClr val="2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0" y="21031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800"/>
              </a:lnSpc>
              <a:spcAft>
                <a:spcPts val="0"/>
              </a:spcAft>
              <a:defRPr sz="2000" b="1">
                <a:solidFill>
                  <a:srgbClr val="D48C2E"/>
                </a:solidFill>
                <a:latin typeface="Hiragino Sans"/>
              </a:defRPr>
            </a:pPr>
            <a:r>
              <a:t>調査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2926080"/>
            <a:ext cx="2743200" cy="640080"/>
          </a:xfrm>
          <a:prstGeom prst="roundRect">
            <a:avLst>
              <a:gd name="adj" fmla="val 5000"/>
            </a:avLst>
          </a:prstGeom>
          <a:solidFill>
            <a:srgbClr val="2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30175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800"/>
              </a:lnSpc>
              <a:spcAft>
                <a:spcPts val="0"/>
              </a:spcAft>
              <a:defRPr sz="2000" b="1">
                <a:solidFill>
                  <a:srgbClr val="F5F5F5"/>
                </a:solidFill>
                <a:latin typeface="Hiragino Sans"/>
              </a:defRPr>
            </a:pPr>
            <a:r>
              <a:t>→ 修正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3840480"/>
            <a:ext cx="2743200" cy="640080"/>
          </a:xfrm>
          <a:prstGeom prst="roundRect">
            <a:avLst>
              <a:gd name="adj" fmla="val 5000"/>
            </a:avLst>
          </a:prstGeom>
          <a:solidFill>
            <a:srgbClr val="2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3931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800"/>
              </a:lnSpc>
              <a:spcAft>
                <a:spcPts val="0"/>
              </a:spcAft>
              <a:defRPr sz="2000" b="1">
                <a:solidFill>
                  <a:srgbClr val="F5F5F5"/>
                </a:solidFill>
                <a:latin typeface="Hiragino Sans"/>
              </a:defRPr>
            </a:pPr>
            <a:r>
              <a:t>→ 検証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4754880"/>
            <a:ext cx="2743200" cy="640080"/>
          </a:xfrm>
          <a:prstGeom prst="roundRect">
            <a:avLst>
              <a:gd name="adj" fmla="val 5000"/>
            </a:avLst>
          </a:prstGeom>
          <a:solidFill>
            <a:srgbClr val="25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4846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800"/>
              </a:lnSpc>
              <a:spcAft>
                <a:spcPts val="0"/>
              </a:spcAft>
              <a:defRPr sz="2000" b="1">
                <a:solidFill>
                  <a:srgbClr val="F5F5F5"/>
                </a:solidFill>
                <a:latin typeface="Hiragino Sans"/>
              </a:defRPr>
            </a:pPr>
            <a:r>
              <a:t>→ 要約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Helvetica Neue"/>
              </a:defRPr>
            </a:pPr>
            <a: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480"/>
              </a:lnSpc>
              <a:spcAft>
                <a:spcPts val="0"/>
              </a:spcAft>
              <a:defRPr sz="3200" b="1">
                <a:solidFill>
                  <a:srgbClr val="F5F5F5"/>
                </a:solidFill>
                <a:latin typeface="Hiragino Sans"/>
              </a:defRPr>
            </a:pPr>
            <a:r>
              <a:t>他ツールとの役割分担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515600" cy="1280160"/>
          </a:xfrm>
          <a:prstGeom prst="roundRect">
            <a:avLst>
              <a:gd name="adj" fmla="val 2000"/>
            </a:avLst>
          </a:prstGeom>
          <a:solidFill>
            <a:srgbClr val="20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79"/>
              </a:lnSpc>
              <a:spcAft>
                <a:spcPts val="0"/>
              </a:spcAft>
              <a:defRPr sz="2200" b="1">
                <a:solidFill>
                  <a:srgbClr val="74AA9C"/>
                </a:solidFill>
                <a:latin typeface="Hiragino Sans"/>
              </a:defRPr>
            </a:pPr>
            <a:r>
              <a:t>ChatGPT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286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40"/>
              </a:lnSpc>
              <a:spcAft>
                <a:spcPts val="0"/>
              </a:spcAft>
              <a:defRPr sz="1600" b="0">
                <a:solidFill>
                  <a:srgbClr val="CCCCCC"/>
                </a:solidFill>
                <a:latin typeface="Hiragino Sans"/>
              </a:defRPr>
            </a:pPr>
            <a:r>
              <a:t>設計議論・仕様の言語化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9202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2800"/>
              </a:lnSpc>
              <a:spcAft>
                <a:spcPts val="0"/>
              </a:spcAft>
              <a:defRPr sz="2000" b="1">
                <a:solidFill>
                  <a:srgbClr val="74AA9C"/>
                </a:solidFill>
                <a:latin typeface="Hiragino Sans"/>
              </a:defRPr>
            </a:pPr>
            <a:r>
              <a:t>設計・壁打ち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00400"/>
            <a:ext cx="10515600" cy="1280160"/>
          </a:xfrm>
          <a:prstGeom prst="roundRect">
            <a:avLst>
              <a:gd name="adj" fmla="val 2000"/>
            </a:avLst>
          </a:prstGeom>
          <a:solidFill>
            <a:srgbClr val="20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33375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79"/>
              </a:lnSpc>
              <a:spcAft>
                <a:spcPts val="0"/>
              </a:spcAft>
              <a:defRPr sz="2200" b="1">
                <a:solidFill>
                  <a:srgbClr val="79B8FF"/>
                </a:solidFill>
                <a:latin typeface="Hiragino Sans"/>
              </a:defRPr>
            </a:pPr>
            <a:r>
              <a:t>GitHub Copilot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840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40"/>
              </a:lnSpc>
              <a:spcAft>
                <a:spcPts val="0"/>
              </a:spcAft>
              <a:defRPr sz="1600" b="0">
                <a:solidFill>
                  <a:srgbClr val="CCCCCC"/>
                </a:solidFill>
                <a:latin typeface="Hiragino Sans"/>
              </a:defRPr>
            </a:pPr>
            <a:r>
              <a:t>IDE内のコード補完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34747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2800"/>
              </a:lnSpc>
              <a:spcAft>
                <a:spcPts val="0"/>
              </a:spcAft>
              <a:defRPr sz="2000" b="1">
                <a:solidFill>
                  <a:srgbClr val="79B8FF"/>
                </a:solidFill>
                <a:latin typeface="Hiragino Sans"/>
              </a:defRPr>
            </a:pPr>
            <a:r>
              <a:t>コードを書く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754880"/>
            <a:ext cx="10515600" cy="1280160"/>
          </a:xfrm>
          <a:prstGeom prst="roundRect">
            <a:avLst>
              <a:gd name="adj" fmla="val 2000"/>
            </a:avLst>
          </a:prstGeom>
          <a:solidFill>
            <a:srgbClr val="20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4892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79"/>
              </a:lnSpc>
              <a:spcAft>
                <a:spcPts val="0"/>
              </a:spcAft>
              <a:defRPr sz="2200" b="1">
                <a:solidFill>
                  <a:srgbClr val="D48C2E"/>
                </a:solidFill>
                <a:latin typeface="Hiragino Sans"/>
              </a:defRPr>
            </a:pPr>
            <a:r>
              <a:t>Claude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53949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40"/>
              </a:lnSpc>
              <a:spcAft>
                <a:spcPts val="0"/>
              </a:spcAft>
              <a:defRPr sz="1600" b="0">
                <a:solidFill>
                  <a:srgbClr val="CCCCCC"/>
                </a:solidFill>
                <a:latin typeface="Hiragino Sans"/>
              </a:defRPr>
            </a:pPr>
            <a:r>
              <a:t>リポジトリ全体の作業フロー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50292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2800"/>
              </a:lnSpc>
              <a:spcAft>
                <a:spcPts val="0"/>
              </a:spcAft>
              <a:defRPr sz="2000" b="1">
                <a:solidFill>
                  <a:srgbClr val="D48C2E"/>
                </a:solidFill>
                <a:latin typeface="Hiragino Sans"/>
              </a:defRPr>
            </a:pPr>
            <a:r>
              <a:t>作業を進める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40"/>
              </a:lnSpc>
              <a:spcAft>
                <a:spcPts val="0"/>
              </a:spcAft>
              <a:defRPr sz="1600" b="0">
                <a:solidFill>
                  <a:srgbClr val="999999"/>
                </a:solidFill>
                <a:latin typeface="Hiragino Sans"/>
              </a:defRPr>
            </a:pPr>
            <a:r>
              <a:t>→ 排他的ではなく補完的。併用がおすすめ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Helvetica Neue"/>
              </a:defRPr>
            </a:pPr>
            <a: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480"/>
              </a:lnSpc>
              <a:spcAft>
                <a:spcPts val="0"/>
              </a:spcAft>
              <a:defRPr sz="3200" b="1">
                <a:solidFill>
                  <a:srgbClr val="F5F5F5"/>
                </a:solidFill>
                <a:latin typeface="Hiragino Sans"/>
              </a:defRPr>
            </a:pPr>
            <a:r>
              <a:t>開発フローの変化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800"/>
              </a:lnSpc>
              <a:spcAft>
                <a:spcPts val="0"/>
              </a:spcAft>
              <a:defRPr sz="2000" b="1">
                <a:solidFill>
                  <a:srgbClr val="D48C2E"/>
                </a:solidFill>
                <a:latin typeface="Hiragino Sans"/>
              </a:defRPr>
            </a:pPr>
            <a:r>
              <a:t>通常の開発フロー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800"/>
              </a:lnSpc>
              <a:spcAft>
                <a:spcPts val="0"/>
              </a:spcAft>
              <a:defRPr sz="2000" b="1">
                <a:solidFill>
                  <a:srgbClr val="6CB4EE"/>
                </a:solidFill>
                <a:latin typeface="Hiragino Sans"/>
              </a:defRPr>
            </a:pPr>
            <a:r>
              <a:t>Claude Code を使った開発フロー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373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A2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500" b="1">
                <a:solidFill>
                  <a:srgbClr val="F0C060"/>
                </a:solidFill>
                <a:latin typeface="Hiragino Sans"/>
              </a:defRPr>
            </a:pPr>
            <a:r>
              <a:t>コードを読む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8288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D48C2E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231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A2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500" b="1">
                <a:solidFill>
                  <a:srgbClr val="F0C060"/>
                </a:solidFill>
                <a:latin typeface="Hiragino Sans"/>
              </a:defRPr>
            </a:pPr>
            <a:r>
              <a:t>方針を考える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5146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D48C2E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1089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A2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200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500" b="1">
                <a:solidFill>
                  <a:srgbClr val="F0C060"/>
                </a:solidFill>
                <a:latin typeface="Hiragino Sans"/>
              </a:defRPr>
            </a:pPr>
            <a:r>
              <a:t>コードを書く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2004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D48C2E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7947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A2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886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500" b="1">
                <a:solidFill>
                  <a:srgbClr val="F0C060"/>
                </a:solidFill>
                <a:latin typeface="Hiragino Sans"/>
              </a:defRPr>
            </a:pPr>
            <a:r>
              <a:t>テスト実行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8862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D48C2E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805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A2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5720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500" b="1">
                <a:solidFill>
                  <a:srgbClr val="F0C060"/>
                </a:solidFill>
                <a:latin typeface="Hiragino Sans"/>
              </a:defRPr>
            </a:pPr>
            <a:r>
              <a:t>デバッグ・修正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5720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D48C2E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16636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3A2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257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500" b="1">
                <a:solidFill>
                  <a:srgbClr val="F0C060"/>
                </a:solidFill>
                <a:latin typeface="Hiragino Sans"/>
              </a:defRPr>
            </a:pPr>
            <a:r>
              <a:t>差分整理・PR作成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52578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D48C2E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5486400" cy="548640"/>
          </a:xfrm>
          <a:prstGeom prst="roundRect">
            <a:avLst>
              <a:gd name="adj" fmla="val 4000"/>
            </a:avLst>
          </a:prstGeom>
          <a:solidFill>
            <a:srgbClr val="3A2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1828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500" b="1">
                <a:solidFill>
                  <a:srgbClr val="F0C060"/>
                </a:solidFill>
                <a:latin typeface="Hiragino Sans"/>
              </a:defRPr>
            </a:pPr>
            <a:r>
              <a:t>目標・背景を伝える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0" y="18288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D48C2E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423160"/>
            <a:ext cx="5486400" cy="548640"/>
          </a:xfrm>
          <a:prstGeom prst="roundRect">
            <a:avLst>
              <a:gd name="adj" fmla="val 4000"/>
            </a:avLst>
          </a:prstGeom>
          <a:solidFill>
            <a:srgbClr val="1A2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2514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500" b="1">
                <a:solidFill>
                  <a:srgbClr val="6CB4EE"/>
                </a:solidFill>
                <a:latin typeface="Hiragino Sans"/>
              </a:defRPr>
            </a:pPr>
            <a:r>
              <a:t>コード調査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25146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CB4EE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3108960"/>
            <a:ext cx="3108960" cy="548640"/>
          </a:xfrm>
          <a:prstGeom prst="roundRect">
            <a:avLst>
              <a:gd name="adj" fmla="val 4000"/>
            </a:avLst>
          </a:prstGeom>
          <a:solidFill>
            <a:srgbClr val="1A2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3200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500" b="1">
                <a:solidFill>
                  <a:srgbClr val="6CB4EE"/>
                </a:solidFill>
                <a:latin typeface="Hiragino Sans"/>
              </a:defRPr>
            </a:pPr>
            <a:r>
              <a:t>計画提案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32004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CB4EE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32004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00"/>
              </a:lnSpc>
              <a:spcAft>
                <a:spcPts val="0"/>
              </a:spcAft>
              <a:defRPr sz="1500" b="0">
                <a:solidFill>
                  <a:srgbClr val="999999"/>
                </a:solidFill>
                <a:latin typeface="Helvetica Neue"/>
              </a:defRPr>
            </a:pPr>
            <a: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92640" y="3108960"/>
            <a:ext cx="2011680" cy="548640"/>
          </a:xfrm>
          <a:prstGeom prst="roundRect">
            <a:avLst>
              <a:gd name="adj" fmla="val 4000"/>
            </a:avLst>
          </a:prstGeom>
          <a:solidFill>
            <a:srgbClr val="3A2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0" y="32004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00"/>
              </a:lnSpc>
              <a:spcAft>
                <a:spcPts val="0"/>
              </a:spcAft>
              <a:defRPr sz="1500" b="1">
                <a:solidFill>
                  <a:srgbClr val="F0C060"/>
                </a:solidFill>
                <a:latin typeface="Hiragino Sans"/>
              </a:defRPr>
            </a:pPr>
            <a:r>
              <a:t>レビュー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3794760"/>
            <a:ext cx="5486400" cy="548640"/>
          </a:xfrm>
          <a:prstGeom prst="roundRect">
            <a:avLst>
              <a:gd name="adj" fmla="val 4000"/>
            </a:avLst>
          </a:prstGeom>
          <a:solidFill>
            <a:srgbClr val="1A2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3886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500" b="1">
                <a:solidFill>
                  <a:srgbClr val="6CB4EE"/>
                </a:solidFill>
                <a:latin typeface="Hiragino Sans"/>
              </a:defRPr>
            </a:pPr>
            <a:r>
              <a:t>実装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0" y="38862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CB4EE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4480560"/>
            <a:ext cx="3108960" cy="548640"/>
          </a:xfrm>
          <a:prstGeom prst="roundRect">
            <a:avLst>
              <a:gd name="adj" fmla="val 4000"/>
            </a:avLst>
          </a:prstGeom>
          <a:solidFill>
            <a:srgbClr val="1A2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0" y="4572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500" b="1">
                <a:solidFill>
                  <a:srgbClr val="6CB4EE"/>
                </a:solidFill>
                <a:latin typeface="Hiragino Sans"/>
              </a:defRPr>
            </a:pPr>
            <a:r>
              <a:t>テスト・検証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45720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CB4EE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0" y="45720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00"/>
              </a:lnSpc>
              <a:spcAft>
                <a:spcPts val="0"/>
              </a:spcAft>
              <a:defRPr sz="1500" b="0">
                <a:solidFill>
                  <a:srgbClr val="999999"/>
                </a:solidFill>
                <a:latin typeface="Helvetica Neue"/>
              </a:defRPr>
            </a:pPr>
            <a:r>
              <a:t>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692640" y="4480560"/>
            <a:ext cx="2011680" cy="548640"/>
          </a:xfrm>
          <a:prstGeom prst="roundRect">
            <a:avLst>
              <a:gd name="adj" fmla="val 4000"/>
            </a:avLst>
          </a:prstGeom>
          <a:solidFill>
            <a:srgbClr val="3A2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75520" y="45720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00"/>
              </a:lnSpc>
              <a:spcAft>
                <a:spcPts val="0"/>
              </a:spcAft>
              <a:defRPr sz="1500" b="1">
                <a:solidFill>
                  <a:srgbClr val="F0C060"/>
                </a:solidFill>
                <a:latin typeface="Hiragino Sans"/>
              </a:defRPr>
            </a:pPr>
            <a:r>
              <a:t>確認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5166360"/>
            <a:ext cx="5486400" cy="548640"/>
          </a:xfrm>
          <a:prstGeom prst="roundRect">
            <a:avLst>
              <a:gd name="adj" fmla="val 4000"/>
            </a:avLst>
          </a:prstGeom>
          <a:solidFill>
            <a:srgbClr val="1A2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40" y="5257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500" b="1">
                <a:solidFill>
                  <a:srgbClr val="6CB4EE"/>
                </a:solidFill>
                <a:latin typeface="Hiragino Sans"/>
              </a:defRPr>
            </a:pPr>
            <a:r>
              <a:t>差分整理・PR作成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5520" y="52578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CB4EE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6126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20"/>
              </a:lnSpc>
              <a:spcAft>
                <a:spcPts val="0"/>
              </a:spcAft>
              <a:defRPr sz="1800" b="1">
                <a:solidFill>
                  <a:srgbClr val="D48C2E"/>
                </a:solidFill>
                <a:latin typeface="Hiragino Sans"/>
              </a:defRPr>
            </a:pPr>
            <a:r>
              <a:t>→ 開発者の役割が「実行者」から「方向づけ + レビュー」に変わる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Helvetica Neue"/>
              </a:defRPr>
            </a:pPr>
            <a: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480"/>
              </a:lnSpc>
              <a:spcAft>
                <a:spcPts val="0"/>
              </a:spcAft>
              <a:defRPr sz="3200" b="1">
                <a:solidFill>
                  <a:srgbClr val="F5F5F5"/>
                </a:solidFill>
                <a:latin typeface="Hiragino Sans"/>
              </a:defRPr>
            </a:pPr>
            <a:r>
              <a:t>実際のタスクで見てみよう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20"/>
              </a:lnSpc>
              <a:spcAft>
                <a:spcPts val="0"/>
              </a:spcAft>
              <a:defRPr sz="1800" b="0">
                <a:solidFill>
                  <a:srgbClr val="999999"/>
                </a:solidFill>
                <a:latin typeface="Hiragino Sans"/>
              </a:defRPr>
            </a:pPr>
            <a:r>
              <a:t>例：「ログインAPIの応答が遅い」を改善する場合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788920"/>
            <a:ext cx="10972800" cy="36576"/>
          </a:xfrm>
          <a:prstGeom prst="roundRect">
            <a:avLst>
              <a:gd name="adj" fmla="val 0"/>
            </a:avLst>
          </a:prstGeom>
          <a:solidFill>
            <a:srgbClr val="353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2468880" cy="3200400"/>
          </a:xfrm>
          <a:prstGeom prst="roundRect">
            <a:avLst>
              <a:gd name="adj" fmla="val 3000"/>
            </a:avLst>
          </a:prstGeom>
          <a:solidFill>
            <a:srgbClr val="3A2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745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  <a:defRPr sz="1300" b="1">
                <a:solidFill>
                  <a:srgbClr val="D48C2E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79"/>
              </a:lnSpc>
              <a:spcAft>
                <a:spcPts val="0"/>
              </a:spcAft>
              <a:defRPr sz="1700" b="1">
                <a:solidFill>
                  <a:srgbClr val="F0C060"/>
                </a:solidFill>
                <a:latin typeface="Hiragino Sans"/>
              </a:defRPr>
            </a:pPr>
            <a:r>
              <a:t>方向づけ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SF Mono"/>
              </a:defRPr>
            </a:pPr>
            <a:r>
              <a:t>"ログインAPIの</a:t>
            </a:r>
            <a:br/>
            <a:r>
              <a:t> 応答が遅い。</a:t>
            </a:r>
            <a:br/>
            <a:r>
              <a:t> 調査して</a:t>
            </a:r>
            <a:br/>
            <a:r>
              <a:t> 改善案を出して"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1737360"/>
            <a:ext cx="2468880" cy="3200400"/>
          </a:xfrm>
          <a:prstGeom prst="roundRect">
            <a:avLst>
              <a:gd name="adj" fmla="val 3000"/>
            </a:avLst>
          </a:prstGeom>
          <a:solidFill>
            <a:srgbClr val="1A2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9000" y="18745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  <a:defRPr sz="1300" b="1">
                <a:solidFill>
                  <a:srgbClr val="6CB4EE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22402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79"/>
              </a:lnSpc>
              <a:spcAft>
                <a:spcPts val="0"/>
              </a:spcAft>
              <a:defRPr sz="1700" b="1">
                <a:solidFill>
                  <a:srgbClr val="6CB4EE"/>
                </a:solidFill>
                <a:latin typeface="Hiragino Sans"/>
              </a:defRPr>
            </a:pPr>
            <a:r>
              <a:t>調査 → 計画提案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74320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SF Mono"/>
              </a:defRPr>
            </a:pPr>
            <a:r>
              <a:t>"3箇所のN+1を</a:t>
            </a:r>
            <a:br/>
            <a:r>
              <a:t> 発見。改善案を</a:t>
            </a:r>
            <a:br/>
            <a:r>
              <a:t> 3つ提案します"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1737360"/>
            <a:ext cx="2468880" cy="3200400"/>
          </a:xfrm>
          <a:prstGeom prst="roundRect">
            <a:avLst>
              <a:gd name="adj" fmla="val 3000"/>
            </a:avLst>
          </a:prstGeom>
          <a:solidFill>
            <a:srgbClr val="3A2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8745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  <a:defRPr sz="1300" b="1">
                <a:solidFill>
                  <a:srgbClr val="D48C2E"/>
                </a:solidFill>
                <a:latin typeface="Helvetica Neue"/>
              </a:defRPr>
            </a:pPr>
            <a:r>
              <a:t>Developer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2402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79"/>
              </a:lnSpc>
              <a:spcAft>
                <a:spcPts val="0"/>
              </a:spcAft>
              <a:defRPr sz="1700" b="1">
                <a:solidFill>
                  <a:srgbClr val="F0C060"/>
                </a:solidFill>
                <a:latin typeface="Hiragino Sans"/>
              </a:defRPr>
            </a:pPr>
            <a:r>
              <a:t>判断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74320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SF Mono"/>
              </a:defRPr>
            </a:pPr>
            <a:r>
              <a:t>"案2で進めて。</a:t>
            </a:r>
            <a:br/>
            <a:r>
              <a:t> ただしキャッシュ</a:t>
            </a:r>
            <a:br/>
            <a:r>
              <a:t> TTLは5分で"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737360"/>
            <a:ext cx="2468880" cy="3200400"/>
          </a:xfrm>
          <a:prstGeom prst="roundRect">
            <a:avLst>
              <a:gd name="adj" fmla="val 3000"/>
            </a:avLst>
          </a:prstGeom>
          <a:solidFill>
            <a:srgbClr val="1A2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18745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  <a:defRPr sz="1300" b="1">
                <a:solidFill>
                  <a:srgbClr val="6CB4EE"/>
                </a:solidFill>
                <a:latin typeface="Helvetica Neue"/>
              </a:defRPr>
            </a:pPr>
            <a:r>
              <a:t>Claude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22402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79"/>
              </a:lnSpc>
              <a:spcAft>
                <a:spcPts val="0"/>
              </a:spcAft>
              <a:defRPr sz="1700" b="1">
                <a:solidFill>
                  <a:srgbClr val="6CB4EE"/>
                </a:solidFill>
                <a:latin typeface="Hiragino Sans"/>
              </a:defRPr>
            </a:pPr>
            <a:r>
              <a:t>実装 → テスト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274320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SF Mono"/>
              </a:defRPr>
            </a:pPr>
            <a:r>
              <a:t>"テスト通過。</a:t>
            </a:r>
            <a:br/>
            <a:r>
              <a:t> PR作成完了。"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20"/>
              </a:lnSpc>
              <a:spcAft>
                <a:spcPts val="0"/>
              </a:spcAft>
              <a:defRPr sz="1800" b="1">
                <a:solidFill>
                  <a:srgbClr val="D48C2E"/>
                </a:solidFill>
                <a:latin typeface="Hiragino Sans"/>
              </a:defRPr>
            </a:pPr>
            <a:r>
              <a:t>→ 開発者は「何をしたいか」と「判断」に集中する。このあと、その具体的な方法を見ていく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Helvetica Neue"/>
              </a:defRPr>
            </a:pPr>
            <a: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520"/>
              </a:lnSpc>
              <a:spcAft>
                <a:spcPts val="0"/>
              </a:spcAft>
              <a:defRPr sz="1800" b="1">
                <a:solidFill>
                  <a:srgbClr val="D48C2E"/>
                </a:solidFill>
                <a:latin typeface="Helvetica Neue"/>
              </a:defRPr>
            </a:pPr>
            <a:r>
              <a:t>PART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1031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600"/>
              </a:lnSpc>
              <a:spcAft>
                <a:spcPts val="0"/>
              </a:spcAft>
              <a:defRPr sz="4000" b="1">
                <a:solidFill>
                  <a:srgbClr val="F5F5F5"/>
                </a:solidFill>
                <a:latin typeface="Hiragino Sans"/>
              </a:defRPr>
            </a:pPr>
            <a:r>
              <a:t>コミュニケーションの心得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59"/>
              </a:lnSpc>
              <a:spcAft>
                <a:spcPts val="0"/>
              </a:spcAft>
              <a:defRPr sz="2400" b="0">
                <a:solidFill>
                  <a:srgbClr val="CCCCCC"/>
                </a:solidFill>
                <a:latin typeface="Hiragino Sans"/>
              </a:defRPr>
            </a:pPr>
            <a:r>
              <a:t>伝え方によって結果が変わるのは、</a:t>
            </a:r>
            <a:br/>
            <a:r>
              <a:t>人間相手と同じ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Helvetica Neue"/>
              </a:defRPr>
            </a:pPr>
            <a: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1">
                <a:solidFill>
                  <a:srgbClr val="D48C2E"/>
                </a:solidFill>
                <a:latin typeface="Helvetica Neue"/>
              </a:defRPr>
            </a:pPr>
            <a:r>
              <a:t>PART 2 — コミュニケーション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480"/>
              </a:lnSpc>
              <a:spcAft>
                <a:spcPts val="0"/>
              </a:spcAft>
              <a:defRPr sz="3200" b="1">
                <a:solidFill>
                  <a:srgbClr val="F5F5F5"/>
                </a:solidFill>
                <a:latin typeface="Hiragino Sans"/>
              </a:defRPr>
            </a:pPr>
            <a:r>
              <a:t>チャットボット vs エージェント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4754880" cy="4114800"/>
          </a:xfrm>
          <a:prstGeom prst="roundRect">
            <a:avLst>
              <a:gd name="adj" fmla="val 2000"/>
            </a:avLst>
          </a:prstGeom>
          <a:solidFill>
            <a:srgbClr val="20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79"/>
              </a:lnSpc>
              <a:spcAft>
                <a:spcPts val="0"/>
              </a:spcAft>
              <a:defRPr sz="2200" b="1">
                <a:solidFill>
                  <a:srgbClr val="F47A7A"/>
                </a:solidFill>
                <a:latin typeface="Hiragino Sans"/>
              </a:defRPr>
            </a:pPr>
            <a:r>
              <a:t>チャットボット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720"/>
              </a:lnSpc>
              <a:spcAft>
                <a:spcPts val="400"/>
              </a:spcAft>
              <a:defRPr sz="1600">
                <a:solidFill>
                  <a:srgbClr val="CCCCCC"/>
                </a:solidFill>
                <a:latin typeface="Hiragino Sans"/>
              </a:defRPr>
            </a:pPr>
            <a:r>
              <a:t>• 質問 → 回答 → 質問 → 回答</a:t>
            </a:r>
          </a:p>
          <a:p>
            <a:pPr>
              <a:lnSpc>
                <a:spcPts val="2720"/>
              </a:lnSpc>
              <a:spcAft>
                <a:spcPts val="400"/>
              </a:spcAft>
              <a:defRPr sz="1600">
                <a:solidFill>
                  <a:srgbClr val="CCCCCC"/>
                </a:solidFill>
                <a:latin typeface="Hiragino Sans"/>
              </a:defRPr>
            </a:pPr>
            <a:r>
              <a:t>• ピンポン型のやりとり</a:t>
            </a:r>
          </a:p>
          <a:p>
            <a:pPr>
              <a:lnSpc>
                <a:spcPts val="2720"/>
              </a:lnSpc>
              <a:spcAft>
                <a:spcPts val="400"/>
              </a:spcAft>
              <a:defRPr sz="1600">
                <a:solidFill>
                  <a:srgbClr val="CCCCCC"/>
                </a:solidFill>
                <a:latin typeface="Hiragino Sans"/>
              </a:defRPr>
            </a:pPr>
            <a:r>
              <a:t>• 1回のやりとりが完結</a:t>
            </a:r>
          </a:p>
          <a:p>
            <a:pPr>
              <a:lnSpc>
                <a:spcPts val="2720"/>
              </a:lnSpc>
              <a:spcAft>
                <a:spcPts val="400"/>
              </a:spcAft>
              <a:defRPr sz="1600">
                <a:solidFill>
                  <a:srgbClr val="CCCCCC"/>
                </a:solidFill>
                <a:latin typeface="Hiragino Sans"/>
              </a:defRPr>
            </a:pPr>
            <a:r>
              <a:t>• ユーザーが手順を管理する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828800"/>
            <a:ext cx="4754880" cy="4114800"/>
          </a:xfrm>
          <a:prstGeom prst="roundRect">
            <a:avLst>
              <a:gd name="adj" fmla="val 2000"/>
            </a:avLst>
          </a:prstGeom>
          <a:solidFill>
            <a:srgbClr val="1E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2011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79"/>
              </a:lnSpc>
              <a:spcAft>
                <a:spcPts val="0"/>
              </a:spcAft>
              <a:defRPr sz="2200" b="1">
                <a:solidFill>
                  <a:srgbClr val="4EC9B0"/>
                </a:solidFill>
                <a:latin typeface="Hiragino Sans"/>
              </a:defRPr>
            </a:pPr>
            <a:r>
              <a:t>エージェント（Claude Code）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65176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720"/>
              </a:lnSpc>
              <a:spcAft>
                <a:spcPts val="400"/>
              </a:spcAft>
              <a:defRPr sz="1600">
                <a:solidFill>
                  <a:srgbClr val="CCCCCC"/>
                </a:solidFill>
                <a:latin typeface="Hiragino Sans"/>
              </a:defRPr>
            </a:pPr>
            <a:r>
              <a:t>• 目標を委任 → 自律的に実行</a:t>
            </a:r>
          </a:p>
          <a:p>
            <a:pPr>
              <a:lnSpc>
                <a:spcPts val="2720"/>
              </a:lnSpc>
              <a:spcAft>
                <a:spcPts val="400"/>
              </a:spcAft>
              <a:defRPr sz="1600">
                <a:solidFill>
                  <a:srgbClr val="CCCCCC"/>
                </a:solidFill>
                <a:latin typeface="Hiragino Sans"/>
              </a:defRPr>
            </a:pPr>
            <a:r>
              <a:t>• ファイル読み書き・コマンド実行</a:t>
            </a:r>
          </a:p>
          <a:p>
            <a:pPr>
              <a:lnSpc>
                <a:spcPts val="2720"/>
              </a:lnSpc>
              <a:spcAft>
                <a:spcPts val="400"/>
              </a:spcAft>
              <a:defRPr sz="1600">
                <a:solidFill>
                  <a:srgbClr val="CCCCCC"/>
                </a:solidFill>
                <a:latin typeface="Hiragino Sans"/>
              </a:defRPr>
            </a:pPr>
            <a:r>
              <a:t>• 調査 → 計画 → 実装を一連で行う</a:t>
            </a:r>
          </a:p>
          <a:p>
            <a:pPr>
              <a:lnSpc>
                <a:spcPts val="2720"/>
              </a:lnSpc>
              <a:spcAft>
                <a:spcPts val="400"/>
              </a:spcAft>
              <a:defRPr sz="1600">
                <a:solidFill>
                  <a:srgbClr val="CCCCCC"/>
                </a:solidFill>
                <a:latin typeface="Hiragino Sans"/>
              </a:defRPr>
            </a:pPr>
            <a:r>
              <a:t>• エージェントが手順を判断する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40"/>
              </a:lnSpc>
              <a:spcAft>
                <a:spcPts val="0"/>
              </a:spcAft>
              <a:defRPr sz="1600" b="0">
                <a:solidFill>
                  <a:srgbClr val="D48C2E"/>
                </a:solidFill>
                <a:latin typeface="Hiragino Sans"/>
              </a:defRPr>
            </a:pPr>
            <a:r>
              <a:t>→ コミュニケーションの方法も変わる。「指示」ではなく「委任」の意識が重要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Helvetica Neue"/>
              </a:defRPr>
            </a:pPr>
            <a: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1">
                <a:solidFill>
                  <a:srgbClr val="D48C2E"/>
                </a:solidFill>
                <a:latin typeface="Helvetica Neue"/>
              </a:defRPr>
            </a:pPr>
            <a:r>
              <a:t>PART 2 — コミュニケーション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480"/>
              </a:lnSpc>
              <a:spcAft>
                <a:spcPts val="0"/>
              </a:spcAft>
              <a:defRPr sz="3200" b="1">
                <a:solidFill>
                  <a:srgbClr val="F5F5F5"/>
                </a:solidFill>
                <a:latin typeface="Hiragino Sans"/>
              </a:defRPr>
            </a:pPr>
            <a:r>
              <a:t>効果的な指示の4要素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4572000" cy="822960"/>
          </a:xfrm>
          <a:prstGeom prst="roundRect">
            <a:avLst>
              <a:gd name="adj" fmla="val 3000"/>
            </a:avLst>
          </a:prstGeom>
          <a:solidFill>
            <a:srgbClr val="20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830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spcAft>
                <a:spcPts val="0"/>
              </a:spcAft>
              <a:defRPr sz="2000" b="1">
                <a:solidFill>
                  <a:srgbClr val="D48C2E"/>
                </a:solidFill>
                <a:latin typeface="Hiragino Sans"/>
              </a:defRPr>
            </a:pPr>
            <a:r>
              <a:t>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1488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9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Hiragino Sans"/>
              </a:defRPr>
            </a:pPr>
            <a:r>
              <a:t>何を達成したいか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97480"/>
            <a:ext cx="4572000" cy="822960"/>
          </a:xfrm>
          <a:prstGeom prst="roundRect">
            <a:avLst>
              <a:gd name="adj" fmla="val 3000"/>
            </a:avLst>
          </a:prstGeom>
          <a:solidFill>
            <a:srgbClr val="20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7432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spcAft>
                <a:spcPts val="0"/>
              </a:spcAft>
              <a:defRPr sz="2000" b="1">
                <a:solidFill>
                  <a:srgbClr val="6CB4EE"/>
                </a:solidFill>
                <a:latin typeface="Hiragino Sans"/>
              </a:defRPr>
            </a:pPr>
            <a:r>
              <a:t>背景・制約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9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Hiragino Sans"/>
              </a:defRPr>
            </a:pPr>
            <a:r>
              <a:t>なぜ必要か / やってはいけないこと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57600"/>
            <a:ext cx="4572000" cy="822960"/>
          </a:xfrm>
          <a:prstGeom prst="roundRect">
            <a:avLst>
              <a:gd name="adj" fmla="val 3000"/>
            </a:avLst>
          </a:prstGeom>
          <a:solidFill>
            <a:srgbClr val="20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spcAft>
                <a:spcPts val="0"/>
              </a:spcAft>
              <a:defRPr sz="2000" b="1">
                <a:solidFill>
                  <a:srgbClr val="4EC9B0"/>
                </a:solidFill>
                <a:latin typeface="Hiragino Sans"/>
              </a:defRPr>
            </a:pPr>
            <a:r>
              <a:t>現状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0690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9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Hiragino Sans"/>
              </a:defRPr>
            </a:pPr>
            <a:r>
              <a:t>今どうなっているか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17720"/>
            <a:ext cx="4572000" cy="822960"/>
          </a:xfrm>
          <a:prstGeom prst="roundRect">
            <a:avLst>
              <a:gd name="adj" fmla="val 3000"/>
            </a:avLst>
          </a:prstGeom>
          <a:solidFill>
            <a:srgbClr val="20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6634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spcAft>
                <a:spcPts val="0"/>
              </a:spcAft>
              <a:defRPr sz="2000" b="1">
                <a:solidFill>
                  <a:srgbClr val="C08AE6"/>
                </a:solidFill>
                <a:latin typeface="Hiragino Sans"/>
              </a:defRPr>
            </a:pPr>
            <a:r>
              <a:t>期待する出力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0292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9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Hiragino Sans"/>
              </a:defRPr>
            </a:pPr>
            <a:r>
              <a:t>どういう形式で結果がほしいか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1737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40"/>
              </a:lnSpc>
              <a:spcAft>
                <a:spcPts val="0"/>
              </a:spcAft>
              <a:defRPr sz="1600" b="1">
                <a:solidFill>
                  <a:srgbClr val="F47A7A"/>
                </a:solidFill>
                <a:latin typeface="Hiragino Sans"/>
              </a:defRPr>
            </a:pPr>
            <a:r>
              <a:t>Bad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0" y="2194560"/>
            <a:ext cx="5303520" cy="640080"/>
          </a:xfrm>
          <a:prstGeom prst="roundRect">
            <a:avLst>
              <a:gd name="adj" fmla="val 3000"/>
            </a:avLst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23774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40"/>
              </a:lnSpc>
              <a:spcAft>
                <a:spcPts val="200"/>
              </a:spcAft>
              <a:defRPr sz="1400">
                <a:solidFill>
                  <a:srgbClr val="6CB4EE"/>
                </a:solidFill>
                <a:latin typeface="SF Mono"/>
              </a:defRPr>
            </a:pPr>
            <a:r>
              <a:t>この機能を改善して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3200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40"/>
              </a:lnSpc>
              <a:spcAft>
                <a:spcPts val="0"/>
              </a:spcAft>
              <a:defRPr sz="1600" b="1">
                <a:solidFill>
                  <a:srgbClr val="4EC9B0"/>
                </a:solidFill>
                <a:latin typeface="Hiragino Sans"/>
              </a:defRPr>
            </a:pPr>
            <a:r>
              <a:t>Good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0" y="3657600"/>
            <a:ext cx="5303520" cy="2377440"/>
          </a:xfrm>
          <a:prstGeom prst="roundRect">
            <a:avLst>
              <a:gd name="adj" fmla="val 3000"/>
            </a:avLst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384048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CB4EE"/>
                </a:solidFill>
                <a:latin typeface="SF Mono"/>
              </a:defRPr>
            </a:pPr>
            <a:r>
              <a:t>ログイン機能のレスポンスが遅い。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CB4EE"/>
                </a:solidFill>
                <a:latin typeface="SF Mono"/>
              </a:defRPr>
            </a:pPr>
            <a:r>
              <a:t>現状：ログインAPIの応答が平均3秒。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CB4EE"/>
                </a:solidFill>
                <a:latin typeface="SF Mono"/>
              </a:defRPr>
            </a:pPr>
            <a:r>
              <a:t>目標：1秒以内にしたい。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CB4EE"/>
                </a:solidFill>
                <a:latin typeface="SF Mono"/>
              </a:defRPr>
            </a:pPr>
            <a:r>
              <a:t>調査して、ボトルネックを特定し、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CB4EE"/>
                </a:solidFill>
                <a:latin typeface="SF Mono"/>
              </a:defRPr>
            </a:pPr>
            <a:r>
              <a:t>改善案を3つ提案して。</a:t>
            </a:r>
          </a:p>
          <a:p>
            <a:pPr>
              <a:lnSpc>
                <a:spcPts val="2080"/>
              </a:lnSpc>
              <a:spcAft>
                <a:spcPts val="200"/>
              </a:spcAft>
              <a:defRPr sz="1300">
                <a:solidFill>
                  <a:srgbClr val="6CB4EE"/>
                </a:solidFill>
                <a:latin typeface="SF Mono"/>
              </a:defRPr>
            </a:pPr>
            <a:r>
              <a:t>それぞれのメリット・デメリットも。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Helvetica Neue"/>
              </a:defRPr>
            </a:pPr>
            <a: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1">
                <a:solidFill>
                  <a:srgbClr val="D48C2E"/>
                </a:solidFill>
                <a:latin typeface="Helvetica Neue"/>
              </a:defRPr>
            </a:pPr>
            <a:r>
              <a:t>PART 2 — コミュニケーション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480"/>
              </a:lnSpc>
              <a:spcAft>
                <a:spcPts val="0"/>
              </a:spcAft>
              <a:defRPr sz="3200" b="1">
                <a:solidFill>
                  <a:srgbClr val="F5F5F5"/>
                </a:solidFill>
                <a:latin typeface="Hiragino Sans"/>
              </a:defRPr>
            </a:pPr>
            <a:r>
              <a:t>コンテキストの渡し方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515600" cy="777240"/>
          </a:xfrm>
          <a:prstGeom prst="roundRect">
            <a:avLst>
              <a:gd name="adj" fmla="val 2000"/>
            </a:avLst>
          </a:prstGeom>
          <a:solidFill>
            <a:srgbClr val="20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9659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20"/>
              </a:lnSpc>
              <a:spcAft>
                <a:spcPts val="0"/>
              </a:spcAft>
              <a:defRPr sz="1800" b="1">
                <a:solidFill>
                  <a:srgbClr val="6CB4EE"/>
                </a:solidFill>
                <a:latin typeface="Hiragino Sans"/>
              </a:defRPr>
            </a:pPr>
            <a:r>
              <a:t>@ファイル名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965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500" b="0">
                <a:solidFill>
                  <a:srgbClr val="CCCCCC"/>
                </a:solidFill>
                <a:latin typeface="Hiragino Sans"/>
              </a:defRPr>
            </a:pPr>
            <a:r>
              <a:t>ファイルを直接参照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965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  <a:defRPr sz="1300" b="0">
                <a:solidFill>
                  <a:srgbClr val="999999"/>
                </a:solidFill>
                <a:latin typeface="SF Mono"/>
              </a:defRPr>
            </a:pPr>
            <a:r>
              <a:t>@src/auth.ts を見て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97480"/>
            <a:ext cx="10515600" cy="777240"/>
          </a:xfrm>
          <a:prstGeom prst="roundRect">
            <a:avLst>
              <a:gd name="adj" fmla="val 2000"/>
            </a:avLst>
          </a:prstGeom>
          <a:solidFill>
            <a:srgbClr val="20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20"/>
              </a:lnSpc>
              <a:spcAft>
                <a:spcPts val="0"/>
              </a:spcAft>
              <a:defRPr sz="1800" b="1">
                <a:solidFill>
                  <a:srgbClr val="6CB4EE"/>
                </a:solidFill>
                <a:latin typeface="Hiragino Sans"/>
              </a:defRPr>
            </a:pPr>
            <a:r>
              <a:t>画像ペースト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834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500" b="0">
                <a:solidFill>
                  <a:srgbClr val="CCCCCC"/>
                </a:solidFill>
                <a:latin typeface="Hiragino Sans"/>
              </a:defRPr>
            </a:pPr>
            <a:r>
              <a:t>スクショやデザインを共有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8346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  <a:defRPr sz="1300" b="0">
                <a:solidFill>
                  <a:srgbClr val="999999"/>
                </a:solidFill>
                <a:latin typeface="SF Mono"/>
              </a:defRPr>
            </a:pPr>
            <a:r>
              <a:t>エラー画面のキャプチャを貼る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66160"/>
            <a:ext cx="10515600" cy="777240"/>
          </a:xfrm>
          <a:prstGeom prst="roundRect">
            <a:avLst>
              <a:gd name="adj" fmla="val 2000"/>
            </a:avLst>
          </a:prstGeom>
          <a:solidFill>
            <a:srgbClr val="20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703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20"/>
              </a:lnSpc>
              <a:spcAft>
                <a:spcPts val="0"/>
              </a:spcAft>
              <a:defRPr sz="1800" b="1">
                <a:solidFill>
                  <a:srgbClr val="6CB4EE"/>
                </a:solidFill>
                <a:latin typeface="Hiragino Sans"/>
              </a:defRPr>
            </a:pPr>
            <a:r>
              <a:t>URL指定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703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500" b="0">
                <a:solidFill>
                  <a:srgbClr val="CCCCCC"/>
                </a:solidFill>
                <a:latin typeface="Hiragino Sans"/>
              </a:defRPr>
            </a:pPr>
            <a:r>
              <a:t>Webページを読ませる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7033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  <a:defRPr sz="1300" b="0">
                <a:solidFill>
                  <a:srgbClr val="999999"/>
                </a:solidFill>
                <a:latin typeface="SF Mono"/>
              </a:defRPr>
            </a:pPr>
            <a:r>
              <a:t>このドキュメントを読んで: https://...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434840"/>
            <a:ext cx="10515600" cy="777240"/>
          </a:xfrm>
          <a:prstGeom prst="roundRect">
            <a:avLst>
              <a:gd name="adj" fmla="val 2000"/>
            </a:avLst>
          </a:prstGeom>
          <a:solidFill>
            <a:srgbClr val="20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45720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20"/>
              </a:lnSpc>
              <a:spcAft>
                <a:spcPts val="0"/>
              </a:spcAft>
              <a:defRPr sz="1800" b="1">
                <a:solidFill>
                  <a:srgbClr val="6CB4EE"/>
                </a:solidFill>
                <a:latin typeface="Hiragino Sans"/>
              </a:defRPr>
            </a:pPr>
            <a:r>
              <a:t>パイプ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500" b="0">
                <a:solidFill>
                  <a:srgbClr val="CCCCCC"/>
                </a:solidFill>
                <a:latin typeface="Hiragino Sans"/>
              </a:defRPr>
            </a:pPr>
            <a:r>
              <a:t>コマンド出力を渡す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45720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  <a:defRPr sz="1300" b="0">
                <a:solidFill>
                  <a:srgbClr val="999999"/>
                </a:solidFill>
                <a:latin typeface="SF Mono"/>
              </a:defRPr>
            </a:pPr>
            <a:r>
              <a:t>cat error.log | claude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303520"/>
            <a:ext cx="10515600" cy="777240"/>
          </a:xfrm>
          <a:prstGeom prst="roundRect">
            <a:avLst>
              <a:gd name="adj" fmla="val 2000"/>
            </a:avLst>
          </a:prstGeom>
          <a:solidFill>
            <a:srgbClr val="20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54406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20"/>
              </a:lnSpc>
              <a:spcAft>
                <a:spcPts val="0"/>
              </a:spcAft>
              <a:defRPr sz="1800" b="1">
                <a:solidFill>
                  <a:srgbClr val="6CB4EE"/>
                </a:solidFill>
                <a:latin typeface="Hiragino Sans"/>
              </a:defRPr>
            </a:pPr>
            <a:r>
              <a:t>ディレクトリ指定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5440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500" b="0">
                <a:solidFill>
                  <a:srgbClr val="CCCCCC"/>
                </a:solidFill>
                <a:latin typeface="Hiragino Sans"/>
              </a:defRPr>
            </a:pPr>
            <a:r>
              <a:t>Claudeに探索させる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5440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  <a:defRPr sz="1300" b="0">
                <a:solidFill>
                  <a:srgbClr val="999999"/>
                </a:solidFill>
                <a:latin typeface="SF Mono"/>
              </a:defRPr>
            </a:pPr>
            <a:r>
              <a:t>このディレクトリを調べて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Helvetica Neue"/>
              </a:defRPr>
            </a:pPr>
            <a: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1">
                <a:solidFill>
                  <a:srgbClr val="D48C2E"/>
                </a:solidFill>
                <a:latin typeface="Helvetica Neue"/>
              </a:defRPr>
            </a:pPr>
            <a:r>
              <a:t>PART 2 — コミュニケーション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480"/>
              </a:lnSpc>
              <a:spcAft>
                <a:spcPts val="0"/>
              </a:spcAft>
              <a:defRPr sz="3200" b="1">
                <a:solidFill>
                  <a:srgbClr val="F5F5F5"/>
                </a:solidFill>
                <a:latin typeface="Hiragino Sans"/>
              </a:defRPr>
            </a:pPr>
            <a:r>
              <a:t>たたき台 → 改善ループ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468880" cy="822960"/>
          </a:xfrm>
          <a:prstGeom prst="roundRect">
            <a:avLst>
              <a:gd name="adj" fmla="val 3000"/>
            </a:avLst>
          </a:prstGeom>
          <a:solidFill>
            <a:srgbClr val="20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240"/>
              </a:lnSpc>
              <a:spcAft>
                <a:spcPts val="0"/>
              </a:spcAft>
              <a:defRPr sz="1600" b="1">
                <a:solidFill>
                  <a:srgbClr val="D48C2E"/>
                </a:solidFill>
                <a:latin typeface="Hiragino Sans"/>
              </a:defRPr>
            </a:pPr>
            <a:r>
              <a:t>1. 指示を出す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828800"/>
            <a:ext cx="2468880" cy="822960"/>
          </a:xfrm>
          <a:prstGeom prst="roundRect">
            <a:avLst>
              <a:gd name="adj" fmla="val 3000"/>
            </a:avLst>
          </a:prstGeom>
          <a:solidFill>
            <a:srgbClr val="20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19659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240"/>
              </a:lnSpc>
              <a:spcAft>
                <a:spcPts val="0"/>
              </a:spcAft>
              <a:defRPr sz="1600" b="1">
                <a:solidFill>
                  <a:srgbClr val="F5F5F5"/>
                </a:solidFill>
                <a:latin typeface="Hiragino Sans"/>
              </a:defRPr>
            </a:pPr>
            <a:r>
              <a:t>2. 出力を確認する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2468880" cy="822960"/>
          </a:xfrm>
          <a:prstGeom prst="roundRect">
            <a:avLst>
              <a:gd name="adj" fmla="val 3000"/>
            </a:avLst>
          </a:prstGeom>
          <a:solidFill>
            <a:srgbClr val="20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9659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240"/>
              </a:lnSpc>
              <a:spcAft>
                <a:spcPts val="0"/>
              </a:spcAft>
              <a:defRPr sz="1600" b="1">
                <a:solidFill>
                  <a:srgbClr val="4EC9B0"/>
                </a:solidFill>
                <a:latin typeface="Hiragino Sans"/>
              </a:defRPr>
            </a:pPr>
            <a:r>
              <a:t>3. 具体的にフィードバック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828800"/>
            <a:ext cx="2468880" cy="822960"/>
          </a:xfrm>
          <a:prstGeom prst="roundRect">
            <a:avLst>
              <a:gd name="adj" fmla="val 3000"/>
            </a:avLst>
          </a:prstGeom>
          <a:solidFill>
            <a:srgbClr val="20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0" y="19659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240"/>
              </a:lnSpc>
              <a:spcAft>
                <a:spcPts val="0"/>
              </a:spcAft>
              <a:defRPr sz="1600" b="1">
                <a:solidFill>
                  <a:srgbClr val="F5F5F5"/>
                </a:solidFill>
                <a:latin typeface="Hiragino Sans"/>
              </a:defRPr>
            </a:pPr>
            <a:r>
              <a:t>4. 改善版を受け取る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79"/>
              </a:lnSpc>
              <a:spcAft>
                <a:spcPts val="0"/>
              </a:spcAft>
              <a:defRPr sz="2200" b="1">
                <a:solidFill>
                  <a:srgbClr val="F5F5F5"/>
                </a:solidFill>
                <a:latin typeface="Hiragino Sans"/>
              </a:defRPr>
            </a:pPr>
            <a:r>
              <a:t>実践テクニック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04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79"/>
              </a:lnSpc>
              <a:spcAft>
                <a:spcPts val="0"/>
              </a:spcAft>
              <a:defRPr sz="1700" b="1">
                <a:solidFill>
                  <a:srgbClr val="6CB4EE"/>
                </a:solidFill>
                <a:latin typeface="Hiragino Sans"/>
              </a:defRPr>
            </a:pPr>
            <a:r>
              <a:t>「なぜ」を聞く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8404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500" b="0">
                <a:solidFill>
                  <a:srgbClr val="CCCCCC"/>
                </a:solidFill>
                <a:latin typeface="Hiragino Sans"/>
              </a:defRPr>
            </a:pPr>
            <a:r>
              <a:t>期待と違う動きをしたら、すぐ修正を指示する前に理由を聞く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348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79"/>
              </a:lnSpc>
              <a:spcAft>
                <a:spcPts val="0"/>
              </a:spcAft>
              <a:defRPr sz="1700" b="1">
                <a:solidFill>
                  <a:srgbClr val="6CB4EE"/>
                </a:solidFill>
                <a:latin typeface="Hiragino Sans"/>
              </a:defRPr>
            </a:pPr>
            <a:r>
              <a:t>提案形式で伝える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4348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500" b="0">
                <a:solidFill>
                  <a:srgbClr val="CCCCCC"/>
                </a:solidFill>
                <a:latin typeface="Hiragino Sans"/>
              </a:defRPr>
            </a:pPr>
            <a:r>
              <a:t>「Xをして」より「Xを考えているが、どう思うか」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292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79"/>
              </a:lnSpc>
              <a:spcAft>
                <a:spcPts val="0"/>
              </a:spcAft>
              <a:defRPr sz="1700" b="1">
                <a:solidFill>
                  <a:srgbClr val="6CB4EE"/>
                </a:solidFill>
                <a:latin typeface="Hiragino Sans"/>
              </a:defRPr>
            </a:pPr>
            <a:r>
              <a:t>手直ししたら伝える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0292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500" b="0">
                <a:solidFill>
                  <a:srgbClr val="CCCCCC"/>
                </a:solidFill>
                <a:latin typeface="Hiragino Sans"/>
              </a:defRPr>
            </a:pPr>
            <a:r>
              <a:t>自分で編集した場合はClaudeに共有する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6235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79"/>
              </a:lnSpc>
              <a:spcAft>
                <a:spcPts val="0"/>
              </a:spcAft>
              <a:defRPr sz="1700" b="1">
                <a:solidFill>
                  <a:srgbClr val="6CB4EE"/>
                </a:solidFill>
                <a:latin typeface="Hiragino Sans"/>
              </a:defRPr>
            </a:pPr>
            <a:r>
              <a:t>初回で完璧を求めない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56235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500" b="0">
                <a:solidFill>
                  <a:srgbClr val="CCCCCC"/>
                </a:solidFill>
                <a:latin typeface="Hiragino Sans"/>
              </a:defRPr>
            </a:pPr>
            <a:r>
              <a:t>「全然違う」より「この部分は良い、ここを変えて」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Helvetica Neue"/>
              </a:defRPr>
            </a:pPr>
            <a: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520"/>
              </a:lnSpc>
              <a:spcAft>
                <a:spcPts val="0"/>
              </a:spcAft>
              <a:defRPr sz="1800" b="1">
                <a:solidFill>
                  <a:srgbClr val="D48C2E"/>
                </a:solidFill>
                <a:latin typeface="Helvetica Neue"/>
              </a:defRPr>
            </a:pPr>
            <a:r>
              <a:t>PART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1031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159"/>
              </a:lnSpc>
              <a:spcAft>
                <a:spcPts val="0"/>
              </a:spcAft>
              <a:defRPr sz="4400" b="1">
                <a:solidFill>
                  <a:srgbClr val="F5F5F5"/>
                </a:solidFill>
                <a:latin typeface="Helvetica Neue"/>
              </a:defRPr>
            </a:pPr>
            <a:r>
              <a:t>Plan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59"/>
              </a:lnSpc>
              <a:spcAft>
                <a:spcPts val="0"/>
              </a:spcAft>
              <a:defRPr sz="2400" b="0">
                <a:solidFill>
                  <a:srgbClr val="CCCCCC"/>
                </a:solidFill>
                <a:latin typeface="Hiragino Sans"/>
              </a:defRPr>
            </a:pPr>
            <a:r>
              <a:t>いきなりコードを書かせない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Helvetica Neue"/>
              </a:defRPr>
            </a:pPr>
            <a: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1">
                <a:solidFill>
                  <a:srgbClr val="D48C2E"/>
                </a:solidFill>
                <a:latin typeface="Helvetica Neue"/>
              </a:defRPr>
            </a:pPr>
            <a:r>
              <a:t>PART 3 — Plan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480"/>
              </a:lnSpc>
              <a:spcAft>
                <a:spcPts val="0"/>
              </a:spcAft>
              <a:defRPr sz="3200" b="1">
                <a:solidFill>
                  <a:srgbClr val="F5F5F5"/>
                </a:solidFill>
                <a:latin typeface="Hiragino Sans"/>
              </a:defRPr>
            </a:pPr>
            <a:r>
              <a:t>Plan Mode とは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420"/>
              </a:lnSpc>
              <a:spcAft>
                <a:spcPts val="400"/>
              </a:spcAft>
              <a:defRPr sz="1900">
                <a:solidFill>
                  <a:srgbClr val="F5F5F5"/>
                </a:solidFill>
                <a:latin typeface="Hiragino Sans"/>
              </a:defRPr>
            </a:pPr>
            <a:r>
              <a:t>• 読み取り専用の実行モード</a:t>
            </a:r>
          </a:p>
          <a:p>
            <a:pPr>
              <a:lnSpc>
                <a:spcPts val="3420"/>
              </a:lnSpc>
              <a:spcAft>
                <a:spcPts val="400"/>
              </a:spcAft>
              <a:defRPr sz="1900">
                <a:solidFill>
                  <a:srgbClr val="F5F5F5"/>
                </a:solidFill>
                <a:latin typeface="Hiragino Sans"/>
              </a:defRPr>
            </a:pPr>
            <a:r>
              <a:t>• ファイル閲覧・検索・Web検索は可能</a:t>
            </a:r>
          </a:p>
          <a:p>
            <a:pPr>
              <a:lnSpc>
                <a:spcPts val="3420"/>
              </a:lnSpc>
              <a:spcAft>
                <a:spcPts val="400"/>
              </a:spcAft>
              <a:defRPr sz="1900">
                <a:solidFill>
                  <a:srgbClr val="F5F5F5"/>
                </a:solidFill>
                <a:latin typeface="Hiragino Sans"/>
              </a:defRPr>
            </a:pPr>
            <a:r>
              <a:t>• ファイル編集・コマンド実行は不可</a:t>
            </a:r>
          </a:p>
          <a:p>
            <a:pPr>
              <a:lnSpc>
                <a:spcPts val="3420"/>
              </a:lnSpc>
              <a:spcAft>
                <a:spcPts val="400"/>
              </a:spcAft>
              <a:defRPr sz="1900">
                <a:solidFill>
                  <a:srgbClr val="F5F5F5"/>
                </a:solidFill>
                <a:latin typeface="Hiragino Sans"/>
              </a:defRPr>
            </a:pPr>
            <a:r>
              <a:t>• 調査と計画立案に集中するためのモード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062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spcAft>
                <a:spcPts val="0"/>
              </a:spcAft>
              <a:defRPr sz="2000" b="1">
                <a:solidFill>
                  <a:srgbClr val="D48C2E"/>
                </a:solidFill>
                <a:latin typeface="Hiragino Sans"/>
              </a:defRPr>
            </a:pPr>
            <a:r>
              <a:t>起動方法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754880"/>
            <a:ext cx="5029200" cy="1371600"/>
          </a:xfrm>
          <a:prstGeom prst="roundRect">
            <a:avLst>
              <a:gd name="adj" fmla="val 3000"/>
            </a:avLst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93776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40"/>
              </a:lnSpc>
              <a:spcAft>
                <a:spcPts val="200"/>
              </a:spcAft>
              <a:defRPr sz="1400">
                <a:solidFill>
                  <a:srgbClr val="6CB4EE"/>
                </a:solidFill>
                <a:latin typeface="SF Mono"/>
              </a:defRPr>
            </a:pPr>
            <a:r>
              <a:t># セッション中に切替</a:t>
            </a:r>
          </a:p>
          <a:p>
            <a:pPr>
              <a:lnSpc>
                <a:spcPts val="2240"/>
              </a:lnSpc>
              <a:spcAft>
                <a:spcPts val="200"/>
              </a:spcAft>
              <a:defRPr sz="1400">
                <a:solidFill>
                  <a:srgbClr val="6CB4EE"/>
                </a:solidFill>
                <a:latin typeface="SF Mono"/>
              </a:defRPr>
            </a:pPr>
            <a:r>
              <a:t>Shift+Tab → Shift+Tab</a:t>
            </a:r>
          </a:p>
          <a:p>
            <a:pPr>
              <a:lnSpc>
                <a:spcPts val="2240"/>
              </a:lnSpc>
              <a:spcAft>
                <a:spcPts val="200"/>
              </a:spcAft>
              <a:defRPr sz="1400">
                <a:solidFill>
                  <a:srgbClr val="6CB4EE"/>
                </a:solidFill>
                <a:latin typeface="SF Mono"/>
              </a:defRPr>
            </a:pPr>
          </a:p>
          <a:p>
            <a:pPr>
              <a:lnSpc>
                <a:spcPts val="2240"/>
              </a:lnSpc>
              <a:spcAft>
                <a:spcPts val="200"/>
              </a:spcAft>
              <a:defRPr sz="1400">
                <a:solidFill>
                  <a:srgbClr val="6CB4EE"/>
                </a:solidFill>
                <a:latin typeface="SF Mono"/>
              </a:defRPr>
            </a:pPr>
            <a:r>
              <a:t># 起動時に指定</a:t>
            </a:r>
          </a:p>
          <a:p>
            <a:pPr>
              <a:lnSpc>
                <a:spcPts val="2240"/>
              </a:lnSpc>
              <a:spcAft>
                <a:spcPts val="200"/>
              </a:spcAft>
              <a:defRPr sz="1400">
                <a:solidFill>
                  <a:srgbClr val="6CB4EE"/>
                </a:solidFill>
                <a:latin typeface="SF Mono"/>
              </a:defRPr>
            </a:pPr>
            <a:r>
              <a:t>claude --permission-mode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spcAft>
                <a:spcPts val="0"/>
              </a:spcAft>
              <a:defRPr sz="2000" b="1">
                <a:solidFill>
                  <a:srgbClr val="D48C2E"/>
                </a:solidFill>
                <a:latin typeface="Hiragino Sans"/>
              </a:defRPr>
            </a:pPr>
            <a:r>
              <a:t>3つのモード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468880"/>
            <a:ext cx="4572000" cy="822960"/>
          </a:xfrm>
          <a:prstGeom prst="roundRect">
            <a:avLst>
              <a:gd name="adj" fmla="val 3000"/>
            </a:avLst>
          </a:prstGeom>
          <a:solidFill>
            <a:srgbClr val="20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2560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20"/>
              </a:lnSpc>
              <a:spcAft>
                <a:spcPts val="0"/>
              </a:spcAft>
              <a:defRPr sz="1800" b="1">
                <a:solidFill>
                  <a:srgbClr val="CCCCCC"/>
                </a:solidFill>
                <a:latin typeface="Helvetica Neue"/>
              </a:defRPr>
            </a:pPr>
            <a:r>
              <a:t>Normal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8803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9"/>
              </a:lnSpc>
              <a:spcAft>
                <a:spcPts val="0"/>
              </a:spcAft>
              <a:defRPr sz="1400" b="0">
                <a:solidFill>
                  <a:srgbClr val="999999"/>
                </a:solidFill>
                <a:latin typeface="Hiragino Sans"/>
              </a:defRPr>
            </a:pPr>
            <a:r>
              <a:t>都度確認しながら実行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429000"/>
            <a:ext cx="4572000" cy="822960"/>
          </a:xfrm>
          <a:prstGeom prst="roundRect">
            <a:avLst>
              <a:gd name="adj" fmla="val 3000"/>
            </a:avLst>
          </a:prstGeom>
          <a:solidFill>
            <a:srgbClr val="20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3520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20"/>
              </a:lnSpc>
              <a:spcAft>
                <a:spcPts val="0"/>
              </a:spcAft>
              <a:defRPr sz="1800" b="1">
                <a:solidFill>
                  <a:srgbClr val="FFA500"/>
                </a:solidFill>
                <a:latin typeface="Helvetica Neue"/>
              </a:defRPr>
            </a:pPr>
            <a:r>
              <a:t>Auto Accept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38404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9"/>
              </a:lnSpc>
              <a:spcAft>
                <a:spcPts val="0"/>
              </a:spcAft>
              <a:defRPr sz="1400" b="0">
                <a:solidFill>
                  <a:srgbClr val="999999"/>
                </a:solidFill>
                <a:latin typeface="Hiragino Sans"/>
              </a:defRPr>
            </a:pPr>
            <a:r>
              <a:t>許可なしで自動実行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389120"/>
            <a:ext cx="4572000" cy="822960"/>
          </a:xfrm>
          <a:prstGeom prst="roundRect">
            <a:avLst>
              <a:gd name="adj" fmla="val 3000"/>
            </a:avLst>
          </a:prstGeom>
          <a:solidFill>
            <a:srgbClr val="20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0" y="4480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20"/>
              </a:lnSpc>
              <a:spcAft>
                <a:spcPts val="0"/>
              </a:spcAft>
              <a:defRPr sz="1800" b="1">
                <a:solidFill>
                  <a:srgbClr val="4EC9B0"/>
                </a:solidFill>
                <a:latin typeface="Helvetica Neue"/>
              </a:defRPr>
            </a:pPr>
            <a:r>
              <a:t>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48006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9"/>
              </a:lnSpc>
              <a:spcAft>
                <a:spcPts val="0"/>
              </a:spcAft>
              <a:defRPr sz="1400" b="0">
                <a:solidFill>
                  <a:srgbClr val="999999"/>
                </a:solidFill>
                <a:latin typeface="Hiragino Sans"/>
              </a:defRPr>
            </a:pPr>
            <a:r>
              <a:t>読み取り専用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Helvetica Neue"/>
              </a:defRPr>
            </a:pPr>
            <a: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1">
                <a:solidFill>
                  <a:srgbClr val="D48C2E"/>
                </a:solidFill>
                <a:latin typeface="Helvetica Neue"/>
              </a:defRPr>
            </a:pPr>
            <a:r>
              <a:t>PART 3 — Plan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480"/>
              </a:lnSpc>
              <a:spcAft>
                <a:spcPts val="0"/>
              </a:spcAft>
              <a:defRPr sz="3200" b="1">
                <a:solidFill>
                  <a:srgbClr val="F5F5F5"/>
                </a:solidFill>
                <a:latin typeface="Hiragino Sans"/>
              </a:defRPr>
            </a:pPr>
            <a:r>
              <a:t>実践ワークフロー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515600" cy="1005840"/>
          </a:xfrm>
          <a:prstGeom prst="roundRect">
            <a:avLst>
              <a:gd name="adj" fmla="val 2000"/>
            </a:avLst>
          </a:prstGeom>
          <a:solidFill>
            <a:srgbClr val="20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0195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9"/>
              </a:lnSpc>
              <a:spcAft>
                <a:spcPts val="0"/>
              </a:spcAft>
              <a:defRPr sz="1400" b="1">
                <a:solidFill>
                  <a:srgbClr val="4EC9B0"/>
                </a:solidFill>
                <a:latin typeface="Helvetica Neue"/>
              </a:defRPr>
            </a:pPr>
            <a:r>
              <a:t>Step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9019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79"/>
              </a:lnSpc>
              <a:spcAft>
                <a:spcPts val="0"/>
              </a:spcAft>
              <a:defRPr sz="1700" b="1">
                <a:solidFill>
                  <a:srgbClr val="F5F5F5"/>
                </a:solidFill>
                <a:latin typeface="Hiragino Sans"/>
              </a:defRPr>
            </a:pPr>
            <a:r>
              <a:t>Plan Mode で調査・計画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31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  <a:defRPr sz="1300" b="0">
                <a:solidFill>
                  <a:srgbClr val="6CB4EE"/>
                </a:solidFill>
                <a:latin typeface="SF Mono"/>
              </a:defRPr>
            </a:pPr>
            <a:r>
              <a:t>「計画を立てて。実装はまだしないで。」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9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Hiragino Sans"/>
              </a:defRPr>
            </a:pPr>
            <a:r>
              <a:t>Claudeがコードを読み、方針を提案する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71800"/>
            <a:ext cx="10515600" cy="1005840"/>
          </a:xfrm>
          <a:prstGeom prst="roundRect">
            <a:avLst>
              <a:gd name="adj" fmla="val 2000"/>
            </a:avLst>
          </a:prstGeom>
          <a:solidFill>
            <a:srgbClr val="20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04495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9"/>
              </a:lnSpc>
              <a:spcAft>
                <a:spcPts val="0"/>
              </a:spcAft>
              <a:defRPr sz="1400" b="1">
                <a:solidFill>
                  <a:srgbClr val="6CB4EE"/>
                </a:solidFill>
                <a:latin typeface="Helvetica Neue"/>
              </a:defRPr>
            </a:pPr>
            <a:r>
              <a:t>Step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30449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79"/>
              </a:lnSpc>
              <a:spcAft>
                <a:spcPts val="0"/>
              </a:spcAft>
              <a:defRPr sz="1700" b="1">
                <a:solidFill>
                  <a:srgbClr val="F5F5F5"/>
                </a:solidFill>
                <a:latin typeface="Hiragino Sans"/>
              </a:defRPr>
            </a:pPr>
            <a:r>
              <a:t>計画をレビュー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474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  <a:defRPr sz="1300" b="0">
                <a:solidFill>
                  <a:srgbClr val="6CB4EE"/>
                </a:solidFill>
                <a:latin typeface="SF Mono"/>
              </a:defRPr>
            </a:pPr>
            <a:r>
              <a:t>「後方互換性はどうする？」「テストは？」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246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9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Hiragino Sans"/>
              </a:defRPr>
            </a:pPr>
            <a:r>
              <a:t>不明点をつぶし、計画を確定する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114800"/>
            <a:ext cx="10515600" cy="1005840"/>
          </a:xfrm>
          <a:prstGeom prst="roundRect">
            <a:avLst>
              <a:gd name="adj" fmla="val 2000"/>
            </a:avLst>
          </a:prstGeom>
          <a:solidFill>
            <a:srgbClr val="20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18795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9"/>
              </a:lnSpc>
              <a:spcAft>
                <a:spcPts val="0"/>
              </a:spcAft>
              <a:defRPr sz="1400" b="1">
                <a:solidFill>
                  <a:srgbClr val="D48C2E"/>
                </a:solidFill>
                <a:latin typeface="Helvetica Neue"/>
              </a:defRPr>
            </a:pPr>
            <a:r>
              <a:t>Step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41879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79"/>
              </a:lnSpc>
              <a:spcAft>
                <a:spcPts val="0"/>
              </a:spcAft>
              <a:defRPr sz="1700" b="1">
                <a:solidFill>
                  <a:srgbClr val="F5F5F5"/>
                </a:solidFill>
                <a:latin typeface="Hiragino Sans"/>
              </a:defRPr>
            </a:pPr>
            <a:r>
              <a:t>Normal Mode で実装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617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  <a:defRPr sz="1300" b="0">
                <a:solidFill>
                  <a:srgbClr val="6CB4EE"/>
                </a:solidFill>
                <a:latin typeface="SF Mono"/>
              </a:defRPr>
            </a:pPr>
            <a:r>
              <a:t>Shift+Tab でモード切替 → 実装を許可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389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9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Hiragino Sans"/>
              </a:defRPr>
            </a:pPr>
            <a:r>
              <a:t>計画に沿って実装が進む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57800"/>
            <a:ext cx="10515600" cy="1005840"/>
          </a:xfrm>
          <a:prstGeom prst="roundRect">
            <a:avLst>
              <a:gd name="adj" fmla="val 2000"/>
            </a:avLst>
          </a:prstGeom>
          <a:solidFill>
            <a:srgbClr val="20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533095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9"/>
              </a:lnSpc>
              <a:spcAft>
                <a:spcPts val="0"/>
              </a:spcAft>
              <a:defRPr sz="1400" b="1">
                <a:solidFill>
                  <a:srgbClr val="F5F5F5"/>
                </a:solidFill>
                <a:latin typeface="Helvetica Neue"/>
              </a:defRPr>
            </a:pPr>
            <a:r>
              <a:t>Step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53309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79"/>
              </a:lnSpc>
              <a:spcAft>
                <a:spcPts val="0"/>
              </a:spcAft>
              <a:defRPr sz="1700" b="1">
                <a:solidFill>
                  <a:srgbClr val="F5F5F5"/>
                </a:solidFill>
                <a:latin typeface="Hiragino Sans"/>
              </a:defRPr>
            </a:pPr>
            <a:r>
              <a:t>結果を確認・コミット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760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  <a:defRPr sz="1300" b="0">
                <a:solidFill>
                  <a:srgbClr val="6CB4EE"/>
                </a:solidFill>
                <a:latin typeface="SF Mono"/>
              </a:defRPr>
            </a:pPr>
            <a:r>
              <a:t>テスト実行 → PR作成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532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9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Hiragino Sans"/>
              </a:defRPr>
            </a:pPr>
            <a:r>
              <a:t>変更内容を取りまとめて完了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Helvetica Neue"/>
              </a:defRPr>
            </a:pPr>
            <a: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1">
                <a:solidFill>
                  <a:srgbClr val="D48C2E"/>
                </a:solidFill>
                <a:latin typeface="Helvetica Neue"/>
              </a:defRPr>
            </a:pPr>
            <a:r>
              <a:t>PART 3 — Plan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480"/>
              </a:lnSpc>
              <a:spcAft>
                <a:spcPts val="0"/>
              </a:spcAft>
              <a:defRPr sz="3200" b="1">
                <a:solidFill>
                  <a:srgbClr val="F5F5F5"/>
                </a:solidFill>
                <a:latin typeface="Hiragino Sans"/>
              </a:defRPr>
            </a:pPr>
            <a:r>
              <a:t>計画段階のチェックリスト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515600" cy="777240"/>
          </a:xfrm>
          <a:prstGeom prst="roundRect">
            <a:avLst>
              <a:gd name="adj" fmla="val 2000"/>
            </a:avLst>
          </a:prstGeom>
          <a:solidFill>
            <a:srgbClr val="20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965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spcAft>
                <a:spcPts val="0"/>
              </a:spcAft>
              <a:defRPr sz="2000" b="1">
                <a:solidFill>
                  <a:srgbClr val="4EC9B0"/>
                </a:solidFill>
                <a:latin typeface="Hiragino Sans"/>
              </a:defRPr>
            </a:pPr>
            <a:r>
              <a:t>ゴール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9659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79"/>
              </a:lnSpc>
              <a:spcAft>
                <a:spcPts val="0"/>
              </a:spcAft>
              <a:defRPr sz="1700" b="0">
                <a:solidFill>
                  <a:srgbClr val="CCCCCC"/>
                </a:solidFill>
                <a:latin typeface="Hiragino Sans"/>
              </a:defRPr>
            </a:pPr>
            <a:r>
              <a:t>何を達成したいか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97480"/>
            <a:ext cx="10515600" cy="777240"/>
          </a:xfrm>
          <a:prstGeom prst="roundRect">
            <a:avLst>
              <a:gd name="adj" fmla="val 2000"/>
            </a:avLst>
          </a:prstGeom>
          <a:solidFill>
            <a:srgbClr val="20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834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spcAft>
                <a:spcPts val="0"/>
              </a:spcAft>
              <a:defRPr sz="2000" b="1">
                <a:solidFill>
                  <a:srgbClr val="4EC9B0"/>
                </a:solidFill>
                <a:latin typeface="Hiragino Sans"/>
              </a:defRPr>
            </a:pPr>
            <a:r>
              <a:t>背景・制約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8346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79"/>
              </a:lnSpc>
              <a:spcAft>
                <a:spcPts val="0"/>
              </a:spcAft>
              <a:defRPr sz="1700" b="0">
                <a:solidFill>
                  <a:srgbClr val="CCCCCC"/>
                </a:solidFill>
                <a:latin typeface="Hiragino Sans"/>
              </a:defRPr>
            </a:pPr>
            <a:r>
              <a:t>なぜ必要か / やってはいけないこと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66160"/>
            <a:ext cx="10515600" cy="777240"/>
          </a:xfrm>
          <a:prstGeom prst="roundRect">
            <a:avLst>
              <a:gd name="adj" fmla="val 2000"/>
            </a:avLst>
          </a:prstGeom>
          <a:solidFill>
            <a:srgbClr val="20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703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spcAft>
                <a:spcPts val="0"/>
              </a:spcAft>
              <a:defRPr sz="2000" b="1">
                <a:solidFill>
                  <a:srgbClr val="4EC9B0"/>
                </a:solidFill>
                <a:latin typeface="Hiragino Sans"/>
              </a:defRPr>
            </a:pPr>
            <a:r>
              <a:t>受け入れ基準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703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79"/>
              </a:lnSpc>
              <a:spcAft>
                <a:spcPts val="0"/>
              </a:spcAft>
              <a:defRPr sz="1700" b="0">
                <a:solidFill>
                  <a:srgbClr val="CCCCCC"/>
                </a:solidFill>
                <a:latin typeface="Hiragino Sans"/>
              </a:defRPr>
            </a:pPr>
            <a:r>
              <a:t>どうなったら完了か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34840"/>
            <a:ext cx="10515600" cy="777240"/>
          </a:xfrm>
          <a:prstGeom prst="roundRect">
            <a:avLst>
              <a:gd name="adj" fmla="val 2000"/>
            </a:avLst>
          </a:prstGeom>
          <a:solidFill>
            <a:srgbClr val="20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spcAft>
                <a:spcPts val="0"/>
              </a:spcAft>
              <a:defRPr sz="2000" b="1">
                <a:solidFill>
                  <a:srgbClr val="4EC9B0"/>
                </a:solidFill>
                <a:latin typeface="Hiragino Sans"/>
              </a:defRPr>
            </a:pPr>
            <a:r>
              <a:t>禁止事項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45720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79"/>
              </a:lnSpc>
              <a:spcAft>
                <a:spcPts val="0"/>
              </a:spcAft>
              <a:defRPr sz="1700" b="0">
                <a:solidFill>
                  <a:srgbClr val="CCCCCC"/>
                </a:solidFill>
                <a:latin typeface="Hiragino Sans"/>
              </a:defRPr>
            </a:pPr>
            <a:r>
              <a:t>絶対にやってはいけない変更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303520"/>
            <a:ext cx="10515600" cy="777240"/>
          </a:xfrm>
          <a:prstGeom prst="roundRect">
            <a:avLst>
              <a:gd name="adj" fmla="val 2000"/>
            </a:avLst>
          </a:prstGeom>
          <a:solidFill>
            <a:srgbClr val="20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5440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spcAft>
                <a:spcPts val="0"/>
              </a:spcAft>
              <a:defRPr sz="2000" b="1">
                <a:solidFill>
                  <a:srgbClr val="4EC9B0"/>
                </a:solidFill>
                <a:latin typeface="Hiragino Sans"/>
              </a:defRPr>
            </a:pPr>
            <a:r>
              <a:t>想定外の扱い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4406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79"/>
              </a:lnSpc>
              <a:spcAft>
                <a:spcPts val="0"/>
              </a:spcAft>
              <a:defRPr sz="1700" b="0">
                <a:solidFill>
                  <a:srgbClr val="CCCCCC"/>
                </a:solidFill>
                <a:latin typeface="Hiragino Sans"/>
              </a:defRPr>
            </a:pPr>
            <a:r>
              <a:t>計画外の問題が見つかったらどうするか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217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40"/>
              </a:lnSpc>
              <a:spcAft>
                <a:spcPts val="0"/>
              </a:spcAft>
              <a:defRPr sz="1600" b="0">
                <a:solidFill>
                  <a:srgbClr val="D48C2E"/>
                </a:solidFill>
                <a:latin typeface="Hiragino Sans"/>
              </a:defRPr>
            </a:pPr>
            <a:r>
              <a:t>→ これらが曖昧なまま実装に入ると、後から認識のズレが表面化する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Helvetica Neue"/>
              </a:defRPr>
            </a:pPr>
            <a: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040"/>
              </a:lnSpc>
              <a:spcAft>
                <a:spcPts val="0"/>
              </a:spcAft>
              <a:defRPr sz="3600" b="1">
                <a:solidFill>
                  <a:srgbClr val="F5F5F5"/>
                </a:solidFill>
                <a:latin typeface="Hiragino Sans"/>
              </a:defRPr>
            </a:pPr>
            <a:r>
              <a:t>まとめ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515600" cy="1097280"/>
          </a:xfrm>
          <a:prstGeom prst="roundRect">
            <a:avLst>
              <a:gd name="adj" fmla="val 2000"/>
            </a:avLst>
          </a:prstGeom>
          <a:solidFill>
            <a:srgbClr val="20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919"/>
              </a:lnSpc>
              <a:spcAft>
                <a:spcPts val="0"/>
              </a:spcAft>
              <a:defRPr sz="2800" b="1">
                <a:solidFill>
                  <a:srgbClr val="D48C2E"/>
                </a:solidFill>
                <a:latin typeface="Helvetica Neue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5544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spcAft>
                <a:spcPts val="0"/>
              </a:spcAft>
              <a:defRPr sz="2000" b="1">
                <a:solidFill>
                  <a:srgbClr val="F5F5F5"/>
                </a:solidFill>
                <a:latin typeface="Hiragino Sans"/>
              </a:defRPr>
            </a:pPr>
            <a:r>
              <a:t>Claude Code は「作業を進める」ツール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0116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500" b="0">
                <a:solidFill>
                  <a:srgbClr val="CCCCCC"/>
                </a:solidFill>
                <a:latin typeface="Hiragino Sans"/>
              </a:defRPr>
            </a:pPr>
            <a:r>
              <a:t>コード補完ではなく、調査→修正→検証→取りまとめの一連フロー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43200"/>
            <a:ext cx="10515600" cy="1097280"/>
          </a:xfrm>
          <a:prstGeom prst="roundRect">
            <a:avLst>
              <a:gd name="adj" fmla="val 2000"/>
            </a:avLst>
          </a:prstGeom>
          <a:solidFill>
            <a:srgbClr val="20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919"/>
              </a:lnSpc>
              <a:spcAft>
                <a:spcPts val="0"/>
              </a:spcAft>
              <a:defRPr sz="2800" b="1">
                <a:solidFill>
                  <a:srgbClr val="D48C2E"/>
                </a:solidFill>
                <a:latin typeface="Helvetica Neue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8346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spcAft>
                <a:spcPts val="0"/>
              </a:spcAft>
              <a:defRPr sz="2000" b="1">
                <a:solidFill>
                  <a:srgbClr val="F5F5F5"/>
                </a:solidFill>
                <a:latin typeface="Hiragino Sans"/>
              </a:defRPr>
            </a:pPr>
            <a:r>
              <a:t>伝え方が結果を左右する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2918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500" b="0">
                <a:solidFill>
                  <a:srgbClr val="CCCCCC"/>
                </a:solidFill>
                <a:latin typeface="Hiragino Sans"/>
              </a:defRPr>
            </a:pPr>
            <a:r>
              <a:t>目標・背景・現状・期待出力を明確にし、たたき台→改善ループで進める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10515600" cy="1097280"/>
          </a:xfrm>
          <a:prstGeom prst="roundRect">
            <a:avLst>
              <a:gd name="adj" fmla="val 2000"/>
            </a:avLst>
          </a:prstGeom>
          <a:solidFill>
            <a:srgbClr val="20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114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919"/>
              </a:lnSpc>
              <a:spcAft>
                <a:spcPts val="0"/>
              </a:spcAft>
              <a:defRPr sz="2800" b="1">
                <a:solidFill>
                  <a:srgbClr val="D48C2E"/>
                </a:solidFill>
                <a:latin typeface="Helvetica Neue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1148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spcAft>
                <a:spcPts val="0"/>
              </a:spcAft>
              <a:defRPr sz="2000" b="1">
                <a:solidFill>
                  <a:srgbClr val="F5F5F5"/>
                </a:solidFill>
                <a:latin typeface="Hiragino Sans"/>
              </a:defRPr>
            </a:pPr>
            <a:r>
              <a:t>計画から始める習慣をつける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5720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  <a:defRPr sz="1500" b="0">
                <a:solidFill>
                  <a:srgbClr val="CCCCCC"/>
                </a:solidFill>
                <a:latin typeface="Hiragino Sans"/>
              </a:defRPr>
            </a:pPr>
            <a:r>
              <a:t>Plan Mode で方針を固めてから実装に入ると手戻りが減る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79"/>
              </a:lnSpc>
              <a:spcAft>
                <a:spcPts val="0"/>
              </a:spcAft>
              <a:defRPr sz="2200" b="1">
                <a:solidFill>
                  <a:srgbClr val="D48C2E"/>
                </a:solidFill>
                <a:latin typeface="Hiragino Sans"/>
              </a:defRPr>
            </a:pPr>
            <a:r>
              <a:t>次回までにやってみよう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852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60"/>
              </a:lnSpc>
              <a:spcAft>
                <a:spcPts val="400"/>
              </a:spcAft>
              <a:defRPr sz="1600">
                <a:solidFill>
                  <a:srgbClr val="CCCCCC"/>
                </a:solidFill>
                <a:latin typeface="Hiragino Sans"/>
              </a:defRPr>
            </a:pPr>
            <a:r>
              <a:t>• Claude Code をインストールして、リポジトリの要約をさせてみる</a:t>
            </a:r>
          </a:p>
          <a:p>
            <a:pPr>
              <a:lnSpc>
                <a:spcPts val="2560"/>
              </a:lnSpc>
              <a:spcAft>
                <a:spcPts val="400"/>
              </a:spcAft>
              <a:defRPr sz="1600">
                <a:solidFill>
                  <a:srgbClr val="CCCCCC"/>
                </a:solidFill>
                <a:latin typeface="Hiragino Sans"/>
              </a:defRPr>
            </a:pPr>
            <a:r>
              <a:t>• Plan Mode でテスト修正や小さなリファクタを試す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77295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Helvetica Neue"/>
              </a:defRPr>
            </a:pPr>
            <a: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