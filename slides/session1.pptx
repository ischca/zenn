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では始めます。自己紹介は軽く済ませて。</a:t>
            </a:r>
          </a:p>
          <a:p>
            <a:r>
              <a:t>Claude Codeの社内勉強会、全3回の第1回です。</a:t>
            </a:r>
          </a:p>
          <a:p>
            <a:r>
              <a:t>今日のテーマは「理解する」。基本と対話の心得を扱います。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3回シリーズの全体像です。</a:t>
            </a:r>
          </a:p>
          <a:p>
            <a:r>
              <a:t>第1回、今日は「理解する」。Claude Codeの基本と使い方を押さえます。</a:t>
            </a:r>
          </a:p>
          <a:p>
            <a:r>
              <a:t>第2回は「カスタマイズ」。プロジェクトに合わせた設定の話です。</a:t>
            </a:r>
          </a:p>
          <a:p>
            <a:r>
              <a:t>第3回は「外部連携と並列開発」。MCP、worktree、サブエージェントを扱います。</a:t>
            </a:r>
          </a:p>
          <a:p>
            <a:r>
              <a:t>今日のゴールは、日常業務の一部をClaude Codeに任せられるようになることです。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調査や影響範囲の把握って、時間が溶けやすい作業です。ここが最初の狙いどころになります。</a:t>
            </a:r>
          </a:p>
          <a:p>
            <a:r>
              <a:t>いきなり実装を任せる必要はありません。読み取り専用で始められるのでリスクも低い。</a:t>
            </a:r>
          </a:p>
          <a:p>
            <a:r>
              <a:t>Before/Afterは体感の話なので、人やリポジトリによって差はあります。</a:t>
            </a:r>
          </a:p>
          <a:p>
            <a:r>
              <a:t>ただ「調査の時間が減る」のは、共通して実感しやすいポイントです。</a:t>
            </a:r>
          </a:p>
          <a:p>
            <a:r>
              <a:t>この感覚を持ってもらった上で、もう少し詳しく見ていきます。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Codeは、ターミナルで動くAIエージェントです。</a:t>
            </a:r>
          </a:p>
          <a:p>
            <a:r>
              <a:t>「AIにコードを書かせるツールでしょ？」と思われがちですが、コード生成はできることの一部にすぎません。</a:t>
            </a:r>
          </a:p>
          <a:p>
            <a:r>
              <a:t>調査、計画、実装、検証、取りまとめ。これを一つのセッションで連続的に扱えます。</a:t>
            </a:r>
          </a:p>
          <a:p>
            <a:r>
              <a:t>安全面としては、デフォルトは読み取り専用で、ファイル編集やコマンド実行には都度許可が要ります。勝手に何かを壊す心配はありません。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Codeが使えるツールを見てみます。</a:t>
            </a:r>
          </a:p>
          <a:p>
            <a:r>
              <a:t>基本ツールとして、ファイルの読み書き・検索、Web検索、サブエージェントがあります。これらはClaude Codeの内蔵ツールです。</a:t>
            </a:r>
          </a:p>
          <a:p>
            <a:r>
              <a:t>注目はBash。文字通り「あらゆるコマンド」を実行できます。</a:t>
            </a:r>
          </a:p>
          <a:p>
            <a:r>
              <a:t>テストやビルドはもちろん、marpでスライドを生成する、ffmpegで動画を変換する。こういったことも全部Bashの守備範囲です。</a:t>
            </a:r>
          </a:p>
          <a:p>
            <a:r>
              <a:t>コマンドで実現できることは、原理的にすべてClaude Codeに任せられます。</a:t>
            </a:r>
          </a:p>
          <a:p>
            <a:r>
              <a:t>どのツールを使うかは指定不要で、指示に応じてClaude Codeが自動で組み合わせます。</a:t>
            </a:r>
          </a:p>
          <a:p>
            <a:r>
              <a:t>ちなみにスライドではgitを例に出していますが、Perforceなら p4 changes -m 10 で同じようなことができます。コマンドラインから操作できるツールなら何でも使えます。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この3つのツールは競合ではなく、補完的な関係です。得意領域が違います。</a:t>
            </a:r>
          </a:p>
          <a:p>
            <a:r>
              <a:t>ChatGPTは壁打ちに強い。設計議論、仕様の言語化、アプローチの比較に向いています。</a:t>
            </a:r>
          </a:p>
          <a:p>
            <a:r>
              <a:t>Copilotはコードを書くことに強い。IDEから離れずに入力を補助してくれます。</a:t>
            </a:r>
          </a:p>
          <a:p>
            <a:r>
              <a:t>Claude Codeは一連の作業フローを進めることに強い。調査から実装、差分整理まで通しで扱えます。</a:t>
            </a:r>
          </a:p>
          <a:p>
            <a:r>
              <a:t>大事なのは「どれか1つ」ではなく、使い分けることです。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従来の開発では、全工程を自分で回します。6ステップすべてが自分の作業です。</a:t>
            </a:r>
          </a:p>
          <a:p>
            <a:r>
              <a:t>Claude Codeを使うと、開発者の出番は2箇所に絞られます。最初の方向づけと、途中の判断。</a:t>
            </a:r>
          </a:p>
          <a:p>
            <a:r>
              <a:t>これは「サボる」ではなく「判断に集中する」ということです。</a:t>
            </a:r>
          </a:p>
          <a:p>
            <a:r>
              <a:t>「コード補完」と「エージェント」の本質的な違いはここにあります。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具体的なタスクで流れを見てみます。「CIが落ちた」という日常的なシナリオです。</a:t>
            </a:r>
          </a:p>
          <a:p>
            <a:r>
              <a:t>開発者がやるのは、目標を伝えること（30秒）と、計画をレビューすること（1分）。</a:t>
            </a:r>
          </a:p>
          <a:p>
            <a:r>
              <a:t>Claudeが調査・計画提案と結果の取りまとめを担当します。</a:t>
            </a:r>
          </a:p>
          <a:p>
            <a:r>
              <a:t>開発者の介入は2回。方向づけと判断だけです。</a:t>
            </a:r>
          </a:p>
          <a:p>
            <a:r>
              <a:t>「丸投げ」ではありません。要所で判断を入れるから品質を保てます。</a:t>
            </a:r>
          </a:p>
          <a:p>
            <a:r>
              <a:t>原因調査に30分かかるところが、5分で俯瞰できるイメージです。</a:t>
            </a:r>
          </a:p>
          <a:p>
            <a:r>
              <a:t>ここからPART 2で「伝え方のコツ」を見ていきます。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2、コミュニケーションの話に入ります。</a:t>
            </a:r>
          </a:p>
          <a:p>
            <a:r>
              <a:t>先ほどの例で、開発者の発話は2回だけでした。短いですよね。でも、伝え方で結果は大きく変わります。</a:t>
            </a:r>
          </a:p>
          <a:p>
            <a:r>
              <a:t>公式のベストプラクティスにも「Claude Codeへの伝え方は、結果の質に大きく影響する」と書かれています。</a:t>
            </a:r>
          </a:p>
          <a:p>
            <a:r>
              <a:t>人間相手と同じです。何をしてほしいか明確に伝えないと、期待通りの結果は返ってきません。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チャットボットとエージェントは根本的に違います。</a:t>
            </a:r>
          </a:p>
          <a:p>
            <a:r>
              <a:t>チャットボットは電話サポートに近い。こちらが1ステップずつ指示して、その都度答えが返ってきます。</a:t>
            </a:r>
          </a:p>
          <a:p>
            <a:r>
              <a:t>エージェントは仕事を任せた同僚に近い。ゴールと背景を伝えたら、やり方は本人が判断します。</a:t>
            </a:r>
          </a:p>
          <a:p>
            <a:r>
              <a:t>同僚に仕事を任せるとき、1行ずつ「次はこのファイルを開いて、次はこの関数を見て」とは指示しませんよね。</a:t>
            </a:r>
          </a:p>
          <a:p>
            <a:r>
              <a:t>「CIが落ちてるから原因を調べて」と伝えて、やり方は任せる。</a:t>
            </a:r>
          </a:p>
          <a:p>
            <a:r>
              <a:t>この「委任」の感覚が、Claude Codeではとても大事です。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指示の4要素。目標、背景・制約、現状、期待する出力です。</a:t>
            </a:r>
          </a:p>
          <a:p>
            <a:r>
              <a:t>全部揃っている必要はありません。ただし、目標は必須です。</a:t>
            </a:r>
          </a:p>
          <a:p>
            <a:r>
              <a:t>悪い例を見てください。「この機能を改善して」。何を？どう？がまったくわかりません。</a:t>
            </a:r>
          </a:p>
          <a:p>
            <a:r>
              <a:t>良い例は、さっきと同じCIのシナリオです。現状・目標・制約・出力形式が明確になっています。</a:t>
            </a:r>
          </a:p>
          <a:p>
            <a:r>
              <a:t>「コードの変更はまだしないこと」が地味に大事で、やってほしくないことを書くと暴走を防げます。</a:t>
            </a:r>
          </a:p>
          <a:p>
            <a:r>
              <a:t>指示が具体的であるほど、結果も具体的になります。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最初から完璧を求めない。これが一番大事なマインドセットです。</a:t>
            </a:r>
          </a:p>
          <a:p>
            <a:r>
              <a:t>まず出力を見て、良い点と悪い点を具体的にフィードバックして、改善版を出してもらいます。</a:t>
            </a:r>
          </a:p>
          <a:p>
            <a:r>
              <a:t>テクニックを3つ紹介します。</a:t>
            </a:r>
          </a:p>
          <a:p>
            <a:r>
              <a:t>1つ目：「なぜそうしたのか」と聞く。自分の指示に問題があったケースも多いです。</a:t>
            </a:r>
          </a:p>
          <a:p>
            <a:r>
              <a:t>2つ目：命令ではなく提案で伝える。「Xを考えているけど、どう思う？」と聞くと、自分では気づかなかった選択肢が出てきます。</a:t>
            </a:r>
          </a:p>
          <a:p>
            <a:r>
              <a:t>3つ目：自分でコードを直接編集したら、必ずClaudeに伝えてください。伝えないと古い状態を前提に動いてしまいます。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3、Plan Modeの話に入ります。</a:t>
            </a:r>
          </a:p>
          <a:p>
            <a:r>
              <a:t>「いきなりコードを書かせない」。これが合言葉です。</a:t>
            </a:r>
          </a:p>
          <a:p>
            <a:r>
              <a:t>PART 1-2で「何ができるか」と「どう伝えるか」を見てきました。</a:t>
            </a:r>
          </a:p>
          <a:p>
            <a:r>
              <a:t>PART 3は「どう進めるか」。ワークフローの話です。</a:t>
            </a:r>
          </a:p>
          <a:p>
            <a:r>
              <a:t>計画から始めることで、手戻りを大幅に減らせます。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Modeは読み取り専用のモードです。ファイルを見たり検索はできますが、編集やコマンド実行はできません。</a:t>
            </a:r>
          </a:p>
          <a:p>
            <a:r>
              <a:t>なぜ計画から始めるのか。公式のベストプラクティスにも「計画ステップがないと、Claudeは直接コーディングに飛び込む傾向がある」と書かれています。</a:t>
            </a:r>
          </a:p>
          <a:p>
            <a:r>
              <a:t>計画なしで実装を始めると、前提の認識ズレで根本から作り直しになることがあります。</a:t>
            </a:r>
          </a:p>
          <a:p>
            <a:r>
              <a:t>Plan Modeなら壊すリスクはゼロです。安心して調査・計画できます。</a:t>
            </a:r>
          </a:p>
          <a:p>
            <a:r>
              <a:t>操作はShift+Tabで切替。起動時に --permission-mode plan で指定もできます。</a:t>
            </a:r>
          </a:p>
          <a:p>
            <a:r>
              <a:t>補足ですが、Extended Thinkingとは別の概念です。Extended Thinkingは深く考えさせる機能。Plan Modeはツールの制限。両方を同時に使うこともできます。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4ステップのワークフローです。</a:t>
            </a:r>
          </a:p>
          <a:p>
            <a:r>
              <a:t>Step 1：「計画を立てて。実装はまだしないで。」この一言が鍵です。</a:t>
            </a:r>
          </a:p>
          <a:p>
            <a:r>
              <a:t>このとき、受け入れ基準や禁止事項も伝えておくとブレません。たとえば「既存APIは壊さない」「計画にない問題を見つけたら報告して止まって」など。</a:t>
            </a:r>
          </a:p>
          <a:p>
            <a:r>
              <a:t>Step 2：計画が返ってきたらレビューします。「後方互換性は？」「テストは？」と聞いてみてください。</a:t>
            </a:r>
          </a:p>
          <a:p>
            <a:r>
              <a:t>Step 3：計画に納得したら「OK、実装して」。調査だけが目的ならここで完了です。</a:t>
            </a:r>
          </a:p>
          <a:p>
            <a:r>
              <a:t>Step 4：テストを実行して、結果を確認してコミット。</a:t>
            </a:r>
          </a:p>
          <a:p>
            <a:r>
              <a:t>小さな修正でもこの流れを習慣にすると、手戻りが劇的に減ります。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まとめです。今日の持ち帰りは3つ。</a:t>
            </a:r>
          </a:p>
          <a:p>
            <a:r>
              <a:t>1つ目：Claude Codeはコード補完ではなく「作業を進める」ツール。</a:t>
            </a:r>
          </a:p>
          <a:p>
            <a:r>
              <a:t>2つ目：伝え方で結果が変わる。目標・背景・現状・期待出力を意識してみてください。</a:t>
            </a:r>
          </a:p>
          <a:p>
            <a:r>
              <a:t>3つ目：いきなりコードを書かせない。Plan Modeで方針を固めてから実装に入る。</a:t>
            </a:r>
          </a:p>
          <a:p>
            <a:r>
              <a:t>日常業務の一部を、まず任せてみてください。</a:t>
            </a:r>
          </a:p>
          <a:p>
            <a:r>
              <a:t>次回は「プロジェクトに合わせたカスタマイズ」。CLAUDE.md、Skills、Hooksを扱います。</a:t>
            </a:r>
          </a:p>
          <a:p>
            <a:r>
              <a:t>では、質疑応答に移ります。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200"/>
              </a:lnSpc>
              <a:spcAft>
                <a:spcPts val="0"/>
              </a:spcAft>
              <a:defRPr sz="4800" b="1">
                <a:solidFill>
                  <a:srgbClr val="FAF9F5"/>
                </a:solidFill>
                <a:latin typeface="Hiragino Sans"/>
              </a:defRPr>
            </a:pPr>
            <a:r>
              <a:t>Claude Code ことはじめ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  <a:spcAft>
                <a:spcPts val="0"/>
              </a:spcAft>
              <a:defRPr sz="2800" b="0">
                <a:solidFill>
                  <a:srgbClr val="D97757"/>
                </a:solidFill>
                <a:latin typeface="Hiragino Sans"/>
              </a:defRPr>
            </a:pPr>
            <a:r>
              <a:t>〜基本と対話の心得〜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elvetica Neue"/>
              </a:defRPr>
            </a:pPr>
            <a:r>
              <a:t>社内勉強会  |  第1回 / 全3回  |  20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全3回のロードマップ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E8956F"/>
                </a:solidFill>
                <a:latin typeface="Hiragino Sans"/>
              </a:defRPr>
            </a:pPr>
            <a:r>
              <a:t>第1回（今日）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745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基本 / コミュニケーション / Plan 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B0AEA5"/>
                </a:solidFill>
                <a:latin typeface="Hiragino Sans"/>
              </a:defRPr>
            </a:pPr>
            <a:r>
              <a:t>第2回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プロジェクトに合わせた</a:t>
            </a:r>
            <a:br/>
            <a:r>
              <a:t>カスタマイズ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52044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CLAUDE.md / Skills / Hooks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B0AEA5"/>
                </a:solidFill>
                <a:latin typeface="Hiragino Sans"/>
              </a:defRPr>
            </a:pPr>
            <a:r>
              <a:t>第3回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外部連携と並列開発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16636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MCP / worktree / サブエージェント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D97757"/>
                </a:solidFill>
                <a:latin typeface="Hiragino Sans"/>
              </a:defRPr>
            </a:pPr>
            <a:r>
              <a:t>今日のゴール: 日常業務の一部をClaude Codeに任せられるようになる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まずは調査だけ任せてみる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B0AEA5"/>
                </a:solidFill>
                <a:latin typeface="Hiragino Sans"/>
              </a:defRPr>
            </a:pPr>
            <a:r>
              <a:t>よくある痛み: 調査・影響範囲の把握で時間が溶ける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4846320" cy="1828800"/>
          </a:xfrm>
          <a:prstGeom prst="roundRect">
            <a:avLst>
              <a:gd name="adj" fmla="val 3000"/>
            </a:avLst>
          </a:prstGeom>
          <a:solidFill>
            <a:srgbClr val="2D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974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E07070"/>
                </a:solidFill>
                <a:latin typeface="Helvetica Neue"/>
              </a:defRPr>
            </a:pPr>
            <a: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チケット1件の調査に30分。</a:t>
            </a:r>
            <a:br/>
            <a:r>
              <a:t>ログを追い、参照箇所を探し、</a:t>
            </a:r>
            <a:br/>
            <a:r>
              <a:t>影響範囲を整理する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56032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1E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697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elvetica Neue"/>
              </a:defRPr>
            </a:pPr>
            <a: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1089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Claude Codeに任せると数分で返ってくる。</a:t>
            </a:r>
            <a:br/>
            <a:r>
              <a:t>調査結果・原因候補・影響範囲が</a:t>
            </a:r>
            <a:br/>
            <a:r>
              <a:t>まとまる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C5C3BB"/>
                </a:solidFill>
                <a:latin typeface="Hiragino Sans"/>
              </a:defRPr>
            </a:pPr>
            <a:r>
              <a:t>入口: 最初は実装ではなく「調査・要約・差分整理」だけ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いきなり実装させず、業務の一部から始める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Claude Code でできること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ターミナルで動くAIエージェント</a:t>
            </a:r>
            <a:br/>
            <a:r>
              <a:t>  指示は自然言語でOK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調査 → 計画 → 実装 → 検証 → 取りまとめ</a:t>
            </a:r>
            <a:br/>
            <a:r>
              <a:t>  を一連で扱う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デフォルトは読み取り専用</a:t>
            </a:r>
            <a:br/>
            <a:r>
              <a:t>  ファイル編集やコマンド実行は許可制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コード補完ではなく「作業を進める」ツール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82880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920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調査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65176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2743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計画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47472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実装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2976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4389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512064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要約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Claude Code のツール群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468880" cy="12801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SF Mono"/>
              </a:defRPr>
            </a:pPr>
            <a:r>
              <a:t>Read / Grep / Glob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Hiragino Sans"/>
              </a:defRPr>
            </a:pPr>
            <a:r>
              <a:t>ファイルの閲覧</a:t>
            </a:r>
            <a:br/>
            <a:r>
              <a:t>コード検索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737360"/>
            <a:ext cx="2468880" cy="12801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SF Mono"/>
              </a:defRPr>
            </a:pPr>
            <a:r>
              <a:t>Edit / Write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331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Hiragino Sans"/>
              </a:defRPr>
            </a:pPr>
            <a:r>
              <a:t>ファイルの編集</a:t>
            </a:r>
            <a:br/>
            <a:r>
              <a:t>作成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737360"/>
            <a:ext cx="2468880" cy="12801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SF Mono"/>
              </a:defRPr>
            </a:pPr>
            <a:r>
              <a:t>WebSearch /</a:t>
            </a:r>
            <a:br/>
            <a:r>
              <a:t>WebFetch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331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Hiragino Sans"/>
              </a:defRPr>
            </a:pPr>
            <a:r>
              <a:t>Web検索</a:t>
            </a:r>
            <a:br/>
            <a:r>
              <a:t>ページ取得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1737360"/>
            <a:ext cx="2468880" cy="12801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SF Mono"/>
              </a:defRPr>
            </a:pPr>
            <a:r>
              <a:t>Task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331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Hiragino Sans"/>
              </a:defRPr>
            </a:pPr>
            <a:r>
              <a:t>サブエージェント</a:t>
            </a:r>
            <a:br/>
            <a:r>
              <a:t>による並列探索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91840"/>
            <a:ext cx="10515600" cy="27432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383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D97757"/>
                </a:solidFill>
                <a:latin typeface="Hiragino Sans"/>
              </a:defRPr>
            </a:pPr>
            <a:r>
              <a:t>Bash — あらゆるコマンドを実行できる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3931920"/>
            <a:ext cx="9601200" cy="192024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114800"/>
            <a:ext cx="9052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say "完了しました"           # 音声で通知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marp slides.md --pptx        # スライド生成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ffmpeg -i video.mp4 out.gif  # 動画をGIFに変換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git log --oneline -10        # 直近のコミットを確認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npm test                     # テスト実行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開発作業に限らない。コマンドで実現できることは、何でも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ChatGPT・Copilotとの使い分け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B0AEA5"/>
                </a:solidFill>
                <a:latin typeface="Helvetica Neue"/>
              </a:defRPr>
            </a:pPr>
            <a:r>
              <a:t>得意領域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4AA9C"/>
                </a:solidFill>
                <a:latin typeface="Hiragino Sans"/>
              </a:defRPr>
            </a:pPr>
            <a:r>
              <a:t>ChatGPT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設計議論・仕様の言語化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4AA9C"/>
                </a:solidFill>
                <a:latin typeface="Hiragino Sans"/>
              </a:defRPr>
            </a:pPr>
            <a:r>
              <a:t>壁打ち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337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9B8FF"/>
                </a:solidFill>
                <a:latin typeface="Hiragino Sans"/>
              </a:defRPr>
            </a:pPr>
            <a:r>
              <a:t>GitHub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IDE内のコード補完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474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9B8FF"/>
                </a:solidFill>
                <a:latin typeface="Hiragino Sans"/>
              </a:defRPr>
            </a:pPr>
            <a:r>
              <a:t>書く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92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D97757"/>
                </a:solidFill>
                <a:latin typeface="Hiragino Sans"/>
              </a:defRPr>
            </a:pPr>
            <a:r>
              <a:t>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94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リポジトリ全体の作業フロー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029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進める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iragino Sans"/>
              </a:defRPr>
            </a:pPr>
            <a:r>
              <a:t>→ 排他的ではなく補完的。併用するのがおすすめ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開発フローがどう変わるか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従来の開発フロー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6A9BCC"/>
                </a:solidFill>
                <a:latin typeface="Hiragino Sans"/>
              </a:defRPr>
            </a:pPr>
            <a:r>
              <a:t>Claude Code を使った開発フロー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コードを読む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方針を考える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コードを書く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004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947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テスト実行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デバッグ・修正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572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66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目標・背景を伝える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4231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コード調査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1089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計画提案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2004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200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92640" y="31089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レビュー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7947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実装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805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テスト・検証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572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4572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92640" y="44805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0" y="4572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確認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166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開発者の出番は「方向づけ」と「判断」の2回だけになる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具体例で見てみる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B0AEA5"/>
                </a:solidFill>
                <a:latin typeface="Hiragino Sans"/>
              </a:defRPr>
            </a:pPr>
            <a:r>
              <a:t>例：「CIが落ちた。原因を調査して修正案を出して」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88920"/>
            <a:ext cx="10972800" cy="36576"/>
          </a:xfrm>
          <a:prstGeom prst="roundRect">
            <a:avLst>
              <a:gd name="adj" fmla="val 0"/>
            </a:avLst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E8956F"/>
                </a:solidFill>
                <a:latin typeface="Hiragino Sans"/>
              </a:defRPr>
            </a:pPr>
            <a:r>
              <a:t>方向づけ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"CIが落ちた。</a:t>
            </a:r>
            <a:br/>
            <a:r>
              <a:t> ログを要約して</a:t>
            </a:r>
            <a:br/>
            <a:r>
              <a:t> 原因候補を</a:t>
            </a:r>
            <a:br/>
            <a:r>
              <a:t> 3つ挙げて"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調査 → 計画提案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"失敗箇所はX。</a:t>
            </a:r>
            <a:br/>
            <a:r>
              <a:t> 依存関係の不整合</a:t>
            </a:r>
            <a:br/>
            <a:r>
              <a:t> が濃厚。原因候補</a:t>
            </a:r>
            <a:br/>
            <a:r>
              <a:t> を3つ提示します"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E8956F"/>
                </a:solidFill>
                <a:latin typeface="Hiragino Sans"/>
              </a:defRPr>
            </a:pPr>
            <a:r>
              <a:t>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"候補2を深掘り</a:t>
            </a:r>
            <a:br/>
            <a:r>
              <a:t> して。既存仕様は</a:t>
            </a:r>
            <a:br/>
            <a:r>
              <a:t> 変えないで"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実行 → 取りまとめ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"根拠と修正案を</a:t>
            </a:r>
            <a:br/>
            <a:r>
              <a:t> 整理。テストも</a:t>
            </a:r>
            <a:br/>
            <a:r>
              <a:t> 追加済み。"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「丸投げ」ではなく「要所で判断する」。この感覚が重要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elvetica Neue"/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000"/>
              </a:lnSpc>
              <a:spcAft>
                <a:spcPts val="0"/>
              </a:spcAft>
              <a:defRPr sz="4000" b="1">
                <a:solidFill>
                  <a:srgbClr val="FAF9F5"/>
                </a:solidFill>
                <a:latin typeface="Hiragino Sans"/>
              </a:defRPr>
            </a:pPr>
            <a:r>
              <a:t>コミュニケーションの心得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2400" b="0">
                <a:solidFill>
                  <a:srgbClr val="C5C3BB"/>
                </a:solidFill>
                <a:latin typeface="Hiragino Sans"/>
              </a:defRPr>
            </a:pPr>
            <a:r>
              <a:t>伝え方で結果が変わるのは、</a:t>
            </a:r>
            <a:br/>
            <a:r>
              <a:t>人間相手と同じ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チャットボットとエージェントの違い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E07070"/>
                </a:solidFill>
                <a:latin typeface="Hiragino Sans"/>
              </a:defRPr>
            </a:pPr>
            <a:r>
              <a:t>チャットボット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iragino Sans"/>
              </a:defRPr>
            </a:pPr>
            <a:r>
              <a:t>電話サポートに近い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質問 → 回答 → 質問 → 回答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1回のやりとりが完結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ユーザーが手順を考え、</a:t>
            </a:r>
            <a:br/>
            <a:r>
              <a:t>  1ステップずつ指示する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BC9A0"/>
                </a:solidFill>
                <a:latin typeface="Hiragino Sans"/>
              </a:defRPr>
            </a:pPr>
            <a:r>
              <a:t>エージェント（Claude Code）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468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iragino Sans"/>
              </a:defRPr>
            </a:pPr>
            <a:r>
              <a:t>仕事を任せた同僚に近い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0175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ゴールを伝えたら自律的に実行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ファイル読み書き・コマンド実行・</a:t>
            </a:r>
            <a:br/>
            <a:r>
              <a:t>  Web検索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調査 → 計画 → 実装を</a:t>
            </a:r>
            <a:br/>
            <a:r>
              <a:t>  一連で判断・実行する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「1行ずつ指示する」のではなく「ゴールと背景を伝えて任せる」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指示の出し方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何を達成したいか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6A9BCC"/>
                </a:solidFill>
                <a:latin typeface="Hiragino Sans"/>
              </a:defRPr>
            </a:pPr>
            <a:r>
              <a:t>背景・制約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なぜ必要か / やってはいけないこと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現状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69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今どうなっているか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1772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6634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B88AD0"/>
                </a:solidFill>
                <a:latin typeface="Hiragino Sans"/>
              </a:defRPr>
            </a:pPr>
            <a:r>
              <a:t>期待する出力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どういう形式で結果がほしいか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E07070"/>
                </a:solidFill>
                <a:latin typeface="Hiragino Sans"/>
              </a:defRPr>
            </a:pPr>
            <a:r>
              <a:t>Bad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2194560"/>
            <a:ext cx="5303520" cy="64008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この機能を改善して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iragino Sans"/>
              </a:defRPr>
            </a:pPr>
            <a:r>
              <a:t>Good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57600"/>
            <a:ext cx="5303520" cy="237744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8404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CIが落ちている。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現状：昨日のリファクタ以降失敗するようになった。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目標：ログを要約し、原因候補を3つ挙げて。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調査結果は箇条書きでまとめて。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コードの変更はまだしないこと。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たたき台から始める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D97757"/>
                </a:solidFill>
                <a:latin typeface="Hiragino Sans"/>
              </a:defRPr>
            </a:pPr>
            <a:r>
              <a:t>1. 指示を出す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FAF9F5"/>
                </a:solidFill>
                <a:latin typeface="Hiragino Sans"/>
              </a:defRPr>
            </a:pPr>
            <a:r>
              <a:t>2. 出力を確認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iragino Sans"/>
              </a:defRPr>
            </a:pPr>
            <a:r>
              <a:t>3. フィードバック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FAF9F5"/>
                </a:solidFill>
                <a:latin typeface="Hiragino Sans"/>
              </a:defRPr>
            </a:pPr>
            <a:r>
              <a:t>4. 改善版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FAF9F5"/>
                </a:solidFill>
                <a:latin typeface="Hiragino Sans"/>
              </a:defRPr>
            </a:pPr>
            <a:r>
              <a:t>3つのテクニック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「なぜ」を聞く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93192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期待と違ったら、修正指示の前に理由を聞く。</a:t>
            </a:r>
            <a:br/>
            <a:r>
              <a:t>自分の指示の問題が見えることがある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3776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029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提案形式で伝える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02920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「Xをして」より「Xを考えているが、どう思うか」。</a:t>
            </a:r>
            <a:br/>
            <a:r>
              <a:t>別の選択肢が出てくる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03504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6126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手直ししたら伝える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1264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自分で編集した場合はClaudeに共有する。</a:t>
            </a:r>
            <a:br/>
            <a:r>
              <a:t>伝えないと古い状態で動き続ける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「全然違う」より「この部分は良い、ここを変えて」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elvetica Neue"/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600"/>
              </a:lnSpc>
              <a:spcAft>
                <a:spcPts val="0"/>
              </a:spcAft>
              <a:defRPr sz="4400" b="1">
                <a:solidFill>
                  <a:srgbClr val="FAF9F5"/>
                </a:solidFill>
                <a:latin typeface="Helvetica Neue"/>
              </a:defRPr>
            </a:pPr>
            <a:r>
              <a:t>Plan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2400" b="0">
                <a:solidFill>
                  <a:srgbClr val="C5C3BB"/>
                </a:solidFill>
                <a:latin typeface="Hiragino Sans"/>
              </a:defRPr>
            </a:pPr>
            <a:r>
              <a:t>いきなりコードを書かせない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Plan Mode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読み取り専用のモード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ファイル閲覧・検索・Web検索は可能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ファイル編集・コマンド実行は不可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調査と計画立案に集中するためのモード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なぜ計画から始めるのか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46888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6060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計画段階で認識のズレに気づける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33756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34747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コードを壊すリスクがゼロ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20624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4343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手戻りを最小限にしてから実装に入れる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操作方法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800"/>
              </a:spcAft>
              <a:defRPr sz="1600">
                <a:solidFill>
                  <a:srgbClr val="FAF9F5"/>
                </a:solidFill>
                <a:latin typeface="Hiragino Sans"/>
              </a:defRPr>
            </a:pPr>
            <a:r>
              <a:t>• Shift+Tab で切替（Normal → Auto Accept → Plan）</a:t>
            </a:r>
          </a:p>
          <a:p>
            <a:pPr>
              <a:lnSpc>
                <a:spcPts val="2400"/>
              </a:lnSpc>
              <a:spcAft>
                <a:spcPts val="800"/>
              </a:spcAft>
              <a:defRPr sz="1600">
                <a:solidFill>
                  <a:srgbClr val="FAF9F5"/>
                </a:solidFill>
                <a:latin typeface="Hiragino Sans"/>
              </a:defRPr>
            </a:pPr>
            <a:r>
              <a:t>• claude --permission-mode plan で起動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Plan Mode の実践ワークフロー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7BC9A0"/>
                </a:solidFill>
                <a:latin typeface="Helvetica Neue"/>
              </a:defRPr>
            </a:pPr>
            <a: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Plan Mode で調査・計画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762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「計画を立てて。実装はまだしないで。」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Claudeがコードを読み、方針を提案する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Helvetica Neue"/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計画をレビュー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363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「後方互換性はどうする？」「テストは？」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不明点をつぶし、計画を確定する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576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03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D97757"/>
                </a:solidFill>
                <a:latin typeface="Helvetica Neue"/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703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実装を許可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0965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「OK、実装して」/ 調査だけならここで完了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計画に沿って実装、または調査結果を活用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61772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FAF9F5"/>
                </a:solidFill>
                <a:latin typeface="Helvetica Neue"/>
              </a:defRPr>
            </a:pPr>
            <a: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663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結果を確認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56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テスト実行 → PR作成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846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変更内容を取りまとめて完了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D97757"/>
                </a:solidFill>
                <a:latin typeface="Hiragino Sans"/>
              </a:defRPr>
            </a:pPr>
            <a:r>
              <a:t>Step 1で伝えておくと良いこと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943600"/>
            <a:ext cx="3291840" cy="64008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971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7BC9A0"/>
                </a:solidFill>
                <a:latin typeface="Hiragino Sans"/>
              </a:defRPr>
            </a:pPr>
            <a:r>
              <a:t>受け入れ基準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263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B0AEA5"/>
                </a:solidFill>
                <a:latin typeface="Hiragino Sans"/>
              </a:defRPr>
            </a:pPr>
            <a:r>
              <a:t>どうなったら完了か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5943600"/>
            <a:ext cx="3291840" cy="64008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5971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7BC9A0"/>
                </a:solidFill>
                <a:latin typeface="Hiragino Sans"/>
              </a:defRPr>
            </a:pPr>
            <a:r>
              <a:t>禁止事項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6263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B0AEA5"/>
                </a:solidFill>
                <a:latin typeface="Hiragino Sans"/>
              </a:defRPr>
            </a:pPr>
            <a:r>
              <a:t>絶対にやってはいけない変更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5943600"/>
            <a:ext cx="3291840" cy="64008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5971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7BC9A0"/>
                </a:solidFill>
                <a:latin typeface="Hiragino Sans"/>
              </a:defRPr>
            </a:pPr>
            <a:r>
              <a:t>想定外の扱い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6263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B0AEA5"/>
                </a:solidFill>
                <a:latin typeface="Hiragino Sans"/>
              </a:defRPr>
            </a:pPr>
            <a:r>
              <a:t>計画にない問題を見つけたらどうするか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00"/>
              </a:lnSpc>
              <a:spcAft>
                <a:spcPts val="0"/>
              </a:spcAft>
              <a:defRPr sz="3600" b="1">
                <a:solidFill>
                  <a:srgbClr val="FAF9F5"/>
                </a:solidFill>
                <a:latin typeface="Hiragino Sans"/>
              </a:defRPr>
            </a:pPr>
            <a:r>
              <a:t>まとめ / 次回予告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5544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Claude Code はコード補完ではなく</a:t>
            </a:r>
            <a:br/>
            <a:r>
              <a:t>「作業を進める」ツール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57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調査→計画→実装→検証→取りまとめの一連フロー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34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伝え方で結果が変わる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37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目標・背景・現状・期待出力を伝え、たたき台→改善ループで進める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114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いきなりコードを書かせない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617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Plan Modeで方針を固めてから実装に入る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日常業務の一部を、Claude Codeに任せてみてください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