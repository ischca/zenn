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3" r:id="rId2"/>
    <p:sldId id="294" r:id="rId3"/>
    <p:sldId id="276" r:id="rId4"/>
    <p:sldId id="277" r:id="rId5"/>
    <p:sldId id="278" r:id="rId6"/>
    <p:sldId id="283" r:id="rId7"/>
    <p:sldId id="280" r:id="rId8"/>
    <p:sldId id="281" r:id="rId9"/>
    <p:sldId id="289" r:id="rId10"/>
    <p:sldId id="299" r:id="rId11"/>
    <p:sldId id="300" r:id="rId12"/>
    <p:sldId id="301" r:id="rId13"/>
    <p:sldId id="290" r:id="rId14"/>
    <p:sldId id="295" r:id="rId15"/>
    <p:sldId id="292" r:id="rId16"/>
    <p:sldId id="293"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97"/>
    <p:restoredTop sz="70116"/>
  </p:normalViewPr>
  <p:slideViewPr>
    <p:cSldViewPr snapToGrid="0" snapToObjects="1">
      <p:cViewPr varScale="1">
        <p:scale>
          <a:sx n="79" d="100"/>
          <a:sy n="79" d="100"/>
        </p:scale>
        <p:origin x="1984" y="48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218915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では始めます。自己紹介は軽く済ませて</a:t>
            </a:r>
            <a:r>
              <a:rPr dirty="0"/>
              <a:t>。</a:t>
            </a:r>
          </a:p>
          <a:p>
            <a:r>
              <a:rPr dirty="0"/>
              <a:t>Claude Codeの社内勉強会、全3回の第1回です。</a:t>
            </a:r>
          </a:p>
          <a:p>
            <a:r>
              <a:rPr dirty="0" err="1"/>
              <a:t>今日のテーマは「理解する</a:t>
            </a:r>
            <a:r>
              <a:rPr dirty="0"/>
              <a:t>」。</a:t>
            </a:r>
            <a:r>
              <a:rPr dirty="0" err="1"/>
              <a:t>基本と対話の心得を扱います</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3回シリーズの全体像です。</a:t>
            </a:r>
          </a:p>
          <a:p>
            <a:r>
              <a:rPr dirty="0"/>
              <a:t>第1回、今日は「理解する」。Claude </a:t>
            </a:r>
            <a:r>
              <a:rPr dirty="0" err="1"/>
              <a:t>Codeの基本と使い方を押さえます</a:t>
            </a:r>
            <a:r>
              <a:rPr dirty="0"/>
              <a:t>。</a:t>
            </a:r>
          </a:p>
          <a:p>
            <a:r>
              <a:rPr dirty="0"/>
              <a:t>第2回は「カスタマイズ」。</a:t>
            </a:r>
            <a:r>
              <a:rPr dirty="0" err="1"/>
              <a:t>プロジェクトに合わせた設定の話です</a:t>
            </a:r>
            <a:r>
              <a:rPr dirty="0"/>
              <a:t>。</a:t>
            </a:r>
          </a:p>
          <a:p>
            <a:r>
              <a:rPr dirty="0"/>
              <a:t>第3回は「外部連携と並列開発」。</a:t>
            </a:r>
            <a:r>
              <a:rPr dirty="0" err="1"/>
              <a:t>MCP、worktree、サブエージェントを扱います</a:t>
            </a:r>
            <a:r>
              <a:rPr dirty="0"/>
              <a:t>。</a:t>
            </a:r>
          </a:p>
          <a:p>
            <a:r>
              <a:rPr dirty="0" err="1"/>
              <a:t>今日のゴールは、日常業務の一部をClaude</a:t>
            </a:r>
            <a:r>
              <a:rPr dirty="0"/>
              <a:t> </a:t>
            </a:r>
            <a:r>
              <a:rPr dirty="0" err="1"/>
              <a:t>Codeに任せられるようになることです</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調査や影響範囲の把握って、時間が溶けやすい作業です。ここが最初の狙いどころになります</a:t>
            </a:r>
            <a:r>
              <a:rPr dirty="0"/>
              <a:t>。</a:t>
            </a:r>
          </a:p>
          <a:p>
            <a:r>
              <a:rPr dirty="0" err="1"/>
              <a:t>いきなり実装を任せる必要はありません。読み取り専用で始められるのでリスクも低い</a:t>
            </a:r>
            <a:r>
              <a:rPr dirty="0"/>
              <a:t>。</a:t>
            </a:r>
          </a:p>
          <a:p>
            <a:r>
              <a:rPr dirty="0"/>
              <a:t>Before/</a:t>
            </a:r>
            <a:r>
              <a:rPr dirty="0" err="1"/>
              <a:t>Afterは体感の話なので、人やリポジトリによって差はあります</a:t>
            </a:r>
            <a:r>
              <a:rPr dirty="0"/>
              <a:t>。</a:t>
            </a:r>
          </a:p>
          <a:p>
            <a:r>
              <a:rPr dirty="0" err="1"/>
              <a:t>ただ「調査の時間が減る」のは、共通して実感しやすいポイントです</a:t>
            </a:r>
            <a:r>
              <a:rPr dirty="0"/>
              <a:t>。</a:t>
            </a:r>
          </a:p>
          <a:p>
            <a:r>
              <a:rPr dirty="0" err="1"/>
              <a:t>この感覚を持ってもらった上で、もう少し詳しく見ていきます</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Claude Codeは、ターミナルで動くAIエージェントです。</a:t>
            </a:r>
          </a:p>
          <a:p>
            <a:r>
              <a:t>「AIにコードを書かせるツールでしょ？」と思われがちですが、コード生成はできることの一部にすぎません。</a:t>
            </a:r>
          </a:p>
          <a:p>
            <a:r>
              <a:t>調査、計画、実装、検証、取りまとめ。これを一つのセッションで連続的に扱えます。</a:t>
            </a:r>
          </a:p>
          <a:p>
            <a:r>
              <a:t>安全面としては、デフォルトは読み取り専用で、ファイル編集やコマンド実行には都度許可が要ります。勝手に何かを壊す心配はありません。</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Claude </a:t>
            </a:r>
            <a:r>
              <a:rPr dirty="0" err="1"/>
              <a:t>Codeが使えるツールを見てみます</a:t>
            </a:r>
            <a:r>
              <a:rPr dirty="0"/>
              <a:t>。</a:t>
            </a:r>
          </a:p>
          <a:p>
            <a:r>
              <a:rPr dirty="0" err="1"/>
              <a:t>基本ツールとして、ファイルの読み書き・検索、Web検索、サブエージェントがあります。これらはClaude</a:t>
            </a:r>
            <a:r>
              <a:rPr dirty="0"/>
              <a:t> </a:t>
            </a:r>
            <a:r>
              <a:rPr dirty="0" err="1"/>
              <a:t>Codeの内蔵ツールです</a:t>
            </a:r>
            <a:r>
              <a:rPr dirty="0"/>
              <a:t>。</a:t>
            </a:r>
          </a:p>
          <a:p>
            <a:r>
              <a:rPr dirty="0" err="1"/>
              <a:t>注目はBash。文字通り「あらゆるコマンド」を実行できます</a:t>
            </a:r>
            <a:r>
              <a:rPr dirty="0"/>
              <a:t>。</a:t>
            </a:r>
          </a:p>
          <a:p>
            <a:r>
              <a:rPr dirty="0"/>
              <a:t>テストやビルドはもちろん、marpでスライドを生成する、ffmpegで動画を変換する。こういったことも全部Bashの守備範囲です。</a:t>
            </a:r>
          </a:p>
          <a:p>
            <a:r>
              <a:rPr dirty="0" err="1"/>
              <a:t>コマンドで実現できることは、原理的にすべてClaude</a:t>
            </a:r>
            <a:r>
              <a:rPr dirty="0"/>
              <a:t> </a:t>
            </a:r>
            <a:r>
              <a:rPr dirty="0" err="1"/>
              <a:t>Codeに任せられます</a:t>
            </a:r>
            <a:r>
              <a:rPr dirty="0"/>
              <a:t>。</a:t>
            </a:r>
          </a:p>
          <a:p>
            <a:r>
              <a:rPr dirty="0" err="1"/>
              <a:t>どのツールを使うかは指定不要で、指示に応じてClaude</a:t>
            </a:r>
            <a:r>
              <a:rPr dirty="0"/>
              <a:t> </a:t>
            </a:r>
            <a:r>
              <a:rPr dirty="0" err="1"/>
              <a:t>Codeが自動で組み合わせます</a:t>
            </a:r>
            <a:r>
              <a:rPr dirty="0"/>
              <a:t>。</a:t>
            </a:r>
          </a:p>
          <a:p>
            <a:r>
              <a:rPr dirty="0" err="1"/>
              <a:t>ちなみにスライドではgitを例に出していますが、Perforceなら</a:t>
            </a:r>
            <a:r>
              <a:rPr dirty="0"/>
              <a:t> p4 changes -m 10 </a:t>
            </a:r>
            <a:r>
              <a:rPr dirty="0" err="1"/>
              <a:t>で同じようなことができます。コマンドラインから操作できるツールなら何でも使えます</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この3つのツールは競合ではなく、補完的な関係です。得意領域が違います。</a:t>
            </a:r>
          </a:p>
          <a:p>
            <a:r>
              <a:rPr dirty="0" err="1"/>
              <a:t>ChatGPTは壁打ちに強い。設計議論、仕様の言語化、アプローチの比較に向いています</a:t>
            </a:r>
            <a:r>
              <a:rPr dirty="0"/>
              <a:t>。</a:t>
            </a:r>
          </a:p>
          <a:p>
            <a:r>
              <a:rPr dirty="0" err="1"/>
              <a:t>Copilotはコードを書くことに強い。IDEから離れずに入力を補助してくれます</a:t>
            </a:r>
            <a:r>
              <a:rPr dirty="0"/>
              <a:t>。</a:t>
            </a:r>
          </a:p>
          <a:p>
            <a:r>
              <a:rPr dirty="0"/>
              <a:t>Claude </a:t>
            </a:r>
            <a:r>
              <a:rPr dirty="0" err="1"/>
              <a:t>Codeは一連の作業フローを進めることに強い。調査から実装、差分整理まで通しで扱えます</a:t>
            </a:r>
            <a:r>
              <a:rPr dirty="0"/>
              <a:t>。</a:t>
            </a:r>
          </a:p>
          <a:p>
            <a:r>
              <a:rPr dirty="0"/>
              <a:t>大事なのは「どれか1つ」ではなく、使い分けることです。</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従来の開発では、全工程を自分で回します。6ステップすべてが自分の作業です。</a:t>
            </a:r>
          </a:p>
          <a:p>
            <a:r>
              <a:t>Claude Codeを使うと、開発者の出番は2箇所に絞られます。最初の方向づけと、途中の判断。</a:t>
            </a:r>
          </a:p>
          <a:p>
            <a:r>
              <a:t>これは「サボる」ではなく「判断に集中する」ということです。</a:t>
            </a:r>
          </a:p>
          <a:p>
            <a:r>
              <a:t>「コード補完」と「エージェント」の本質的な違いはここにあります。</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具体的なタスクで流れを見てみます。「CIが落ちた」という日常的なシナリオです。</a:t>
            </a:r>
          </a:p>
          <a:p>
            <a:r>
              <a:t>開発者がやるのは、目標を伝えること（30秒）と、計画をレビューすること（1分）。</a:t>
            </a:r>
          </a:p>
          <a:p>
            <a:r>
              <a:t>Claudeが調査・計画提案と結果の取りまとめを担当します。</a:t>
            </a:r>
          </a:p>
          <a:p>
            <a:r>
              <a:t>開発者の介入は2回。方向づけと判断だけです。</a:t>
            </a:r>
          </a:p>
          <a:p>
            <a:r>
              <a:t>「丸投げ」ではありません。要所で判断を入れるから品質を保てます。</a:t>
            </a:r>
          </a:p>
          <a:p>
            <a:r>
              <a:t>原因調査に30分かかるところが、5分で俯瞰できるイメージです。</a:t>
            </a:r>
          </a:p>
          <a:p>
            <a:r>
              <a:t>ここからPART 2で「伝え方のコツ」を見ていきます。</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2、コミュニケーションの話に入ります。</a:t>
            </a:r>
          </a:p>
          <a:p>
            <a:r>
              <a:t>先ほどの例で、開発者の発話は2回だけでした。短いですよね。でも、伝え方で結果は大きく変わります。</a:t>
            </a:r>
          </a:p>
          <a:p>
            <a:r>
              <a:t>公式のベストプラクティスにも「Claude Codeへの伝え方は、結果の質に大きく影響する」と書かれています。</a:t>
            </a:r>
          </a:p>
          <a:p>
            <a:r>
              <a:t>人間相手と同じです。何をしてほしいか明確に伝えないと、期待通りの結果は返ってきません。</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チャットボットとエージェントは根本的に違います。</a:t>
            </a:r>
          </a:p>
          <a:p>
            <a:r>
              <a:rPr dirty="0"/>
              <a:t>チャットボットは電話サポートに近い。こちらが1ステップずつ指示して、その都度答えが返ってくる。だからプロンプトテンプレートのような「こう聞けばうまくいく」という型が有効です。</a:t>
            </a:r>
          </a:p>
          <a:p>
            <a:endParaRPr lang="en-US" dirty="0"/>
          </a:p>
          <a:p>
            <a:r>
              <a:rPr dirty="0" err="1"/>
              <a:t>一方、エージェントは仕事を任せた同僚に近い。ゴールと背景を伝えたら、やり方は本人が判断します</a:t>
            </a:r>
            <a:r>
              <a:rPr dirty="0"/>
              <a:t>。</a:t>
            </a:r>
          </a:p>
          <a:p>
            <a:r>
              <a:rPr dirty="0"/>
              <a:t>ここで大事なのは、巨大な1プロンプトで全部を完璧に指示しようとしないこと</a:t>
            </a:r>
            <a:r>
              <a:rPr lang="ja-JP" altLang="en-US"/>
              <a:t>です</a:t>
            </a:r>
            <a:r>
              <a:rPr dirty="0"/>
              <a:t>。</a:t>
            </a:r>
            <a:endParaRPr lang="en-US" dirty="0"/>
          </a:p>
          <a:p>
            <a:r>
              <a:rPr lang="en-US" dirty="0" err="1"/>
              <a:t>それをすれば勝手に色々動いてはくれますが、動いているうちにコンテキストが切迫して、最初の指示を徐々に忘れていってしまいます</a:t>
            </a:r>
            <a:r>
              <a:rPr lang="en-US" dirty="0"/>
              <a:t>。</a:t>
            </a:r>
          </a:p>
          <a:p>
            <a:r>
              <a:rPr lang="en-US" dirty="0" err="1"/>
              <a:t>また</a:t>
            </a:r>
            <a:r>
              <a:rPr lang="en-US" dirty="0"/>
              <a:t>、「やっていくうちに諸々別の問題が発覚し、当初の計画通りにいかないことがわかる」ということは、人間ではよくありますがエージェントでも同様です。</a:t>
            </a:r>
          </a:p>
          <a:p>
            <a:endParaRPr lang="en-US" dirty="0"/>
          </a:p>
          <a:p>
            <a:r>
              <a:rPr dirty="0" err="1"/>
              <a:t>エージェントの場合は、まず方向付けをして動いてもらい、出てきたものを見てディスカッションしながら進めるのが正しい使い方です</a:t>
            </a:r>
            <a:r>
              <a:rPr dirty="0"/>
              <a:t>。</a:t>
            </a:r>
          </a:p>
          <a:p>
            <a:r>
              <a:rPr dirty="0" err="1"/>
              <a:t>チャットボットで有効だったプロンプトテンプレート的なアプローチを、そのままエージェントに持ち込むとうまくいきません</a:t>
            </a:r>
            <a:r>
              <a:rPr dirty="0"/>
              <a:t>。</a:t>
            </a:r>
            <a:endParaRPr lang="en-US" dirty="0"/>
          </a:p>
          <a:p>
            <a:r>
              <a:rPr dirty="0" err="1"/>
              <a:t>コミュニケーションの設計自体が</a:t>
            </a:r>
            <a:r>
              <a:rPr lang="ja-JP" altLang="en-US"/>
              <a:t>違うということがわかると、性能を引き出せるようになります</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じゃあ、最初の方向付けでは何を伝えればいいのか。4つの要素があります。ゴール、背景・制約、現状、そしてまず見たいもの。</a:t>
            </a:r>
          </a:p>
          <a:p>
            <a:r>
              <a:rPr dirty="0"/>
              <a:t>全部揃っている必要はありません。ただし、ゴールは必須です。</a:t>
            </a:r>
          </a:p>
          <a:p>
            <a:r>
              <a:rPr dirty="0"/>
              <a:t>ポイントは、これは「完璧なプロンプトを書く」ための要素ではないということ。最初の一歩を踏み出すための方向付けです。</a:t>
            </a:r>
          </a:p>
          <a:p>
            <a:r>
              <a:rPr dirty="0"/>
              <a:t>悪い例を見てください。「この機能を改善して」。これだとチャットボットにもエージェントにも方向が伝わりません。</a:t>
            </a:r>
          </a:p>
          <a:p>
            <a:r>
              <a:rPr dirty="0"/>
              <a:t>良い例はCIのシナリオです。現状・ゴール・制約が明確で、「まず調査だけ」という最初の一歩も示している。</a:t>
            </a:r>
          </a:p>
          <a:p>
            <a:r>
              <a:rPr dirty="0"/>
              <a:t>「コードの変更はまだしないこと」が地味に大事で、やってほしくないことを書くと暴走を防げます。ここから先は、出てきたものを見て対話で進めていきます。</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エージェントとの仕事は、対話で進めるものです。方向付け、たたき台を見る、議論・修正、次の一手。このサイクルを回します。</a:t>
            </a:r>
          </a:p>
          <a:p>
            <a:r>
              <a:rPr dirty="0"/>
              <a:t>最初の指示で完璧を目指す必要はありません。まず動いてもらって、出てきたものを見て一緒に考える。この感覚が大事です。</a:t>
            </a:r>
          </a:p>
          <a:p>
            <a:r>
              <a:rPr dirty="0"/>
              <a:t>対話のコツを3つ紹介します。</a:t>
            </a:r>
          </a:p>
          <a:p>
            <a:r>
              <a:rPr dirty="0"/>
              <a:t>1つ目：「なぜそうしたのか」と聞く。期待と違う出力が出たとき、すぐ修正指示を出すのではなく、まず理由を聞いてみる。自分の方向付けに問題があったケースも多いです。</a:t>
            </a:r>
          </a:p>
          <a:p>
            <a:r>
              <a:rPr dirty="0"/>
              <a:t>2つ目：命令ではなく提案形式で議論する。「Xして」ではなく「Xを考えているけど、どう思う？」と聞くと、自分では気づかなかった選択肢が出てきます。</a:t>
            </a:r>
          </a:p>
          <a:p>
            <a:r>
              <a:rPr dirty="0"/>
              <a:t>3つ目：自分でコードを直接編集したら、必ずClaudeに共有してください。伝えないと古い状態を前提に動いてしまいます。同僚と同じで、情報共有が大事です。</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3、Plan Modeの話に入ります。</a:t>
            </a:r>
          </a:p>
          <a:p>
            <a:r>
              <a:t>「いきなりコードを書かせない」。これが合言葉です。</a:t>
            </a:r>
          </a:p>
          <a:p>
            <a:r>
              <a:t>PART 1-2で「何ができるか」と「どう伝えるか」を見てきました。</a:t>
            </a:r>
          </a:p>
          <a:p>
            <a:r>
              <a:t>PART 3は「どう進めるか」。ワークフローの話です。</a:t>
            </a:r>
          </a:p>
          <a:p>
            <a:r>
              <a:t>計画から始めることで、手戻りを大幅に減らせます。</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Modeは読み取り専用のモードです。ファイルを見たり検索はできますが、編集やコマンド実行はできません。</a:t>
            </a:r>
          </a:p>
          <a:p>
            <a:r>
              <a:t>なぜ計画から始めるのか。公式のベストプラクティスにも「計画ステップがないと、Claudeは直接コーディングに飛び込む傾向がある」と書かれています。</a:t>
            </a:r>
          </a:p>
          <a:p>
            <a:r>
              <a:t>計画なしで実装を始めると、前提の認識ズレで根本から作り直しになることがあります。</a:t>
            </a:r>
          </a:p>
          <a:p>
            <a:r>
              <a:t>Plan Modeなら壊すリスクはゼロです。安心して調査・計画できます。</a:t>
            </a:r>
          </a:p>
          <a:p>
            <a:r>
              <a:t>操作はShift+Tabで切替。起動時に --permission-mode plan で指定もできます。</a:t>
            </a:r>
          </a:p>
          <a:p>
            <a:r>
              <a:t>補足ですが、Extended Thinkingとは別の概念です。Extended Thinkingは深く考えさせる機能。Plan Modeはツールの制限。両方を同時に使うこともできます。</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4ステップのワークフローです。</a:t>
            </a:r>
          </a:p>
          <a:p>
            <a:r>
              <a:t>Step 1：「計画を立てて。実装はまだしないで。」この一言が鍵です。</a:t>
            </a:r>
          </a:p>
          <a:p>
            <a:r>
              <a:t>このとき、受け入れ基準や禁止事項も伝えておくとブレません。たとえば「既存APIは壊さない」「計画にない問題を見つけたら報告して止まって」など。</a:t>
            </a:r>
          </a:p>
          <a:p>
            <a:r>
              <a:t>Step 2：計画が返ってきたらレビューします。「後方互換性は？」「テストは？」と聞いてみてください。</a:t>
            </a:r>
          </a:p>
          <a:p>
            <a:r>
              <a:t>Step 3：計画に納得したら「OK、実装して」。調査だけが目的ならここで完了です。</a:t>
            </a:r>
          </a:p>
          <a:p>
            <a:r>
              <a:t>Step 4：テストを実行して、結果を確認してコミット。</a:t>
            </a:r>
          </a:p>
          <a:p>
            <a:r>
              <a:t>小さな修正でもこの流れを習慣にすると、手戻りが劇的に減ります。</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まとめです。今日の持ち帰りは3つ。</a:t>
            </a:r>
          </a:p>
          <a:p>
            <a:r>
              <a:rPr dirty="0"/>
              <a:t>1つ目：Claude </a:t>
            </a:r>
            <a:r>
              <a:rPr dirty="0" err="1"/>
              <a:t>Codeはコード補完ではなく「作業を進める」ツール</a:t>
            </a:r>
            <a:r>
              <a:rPr dirty="0"/>
              <a:t>。</a:t>
            </a:r>
          </a:p>
          <a:p>
            <a:r>
              <a:rPr dirty="0"/>
              <a:t>2つ目：伝え方で結果が変わる。目標・背景・現状・期待出力を意識してみてください。</a:t>
            </a:r>
          </a:p>
          <a:p>
            <a:r>
              <a:rPr dirty="0"/>
              <a:t>3つ目：いきなりコードを書かせない。Plan </a:t>
            </a:r>
            <a:r>
              <a:rPr dirty="0" err="1"/>
              <a:t>Modeで方針を固めてから実装に入る</a:t>
            </a:r>
            <a:r>
              <a:rPr dirty="0"/>
              <a:t>。</a:t>
            </a:r>
          </a:p>
          <a:p>
            <a:r>
              <a:rPr dirty="0" err="1"/>
              <a:t>日常業務の一部を、まず任せてみてください</a:t>
            </a:r>
            <a:r>
              <a:rPr dirty="0"/>
              <a:t>。</a:t>
            </a:r>
          </a:p>
          <a:p>
            <a:r>
              <a:rPr dirty="0" err="1"/>
              <a:t>次回は「プロジェクトに合わせたカスタマイズ</a:t>
            </a:r>
            <a:r>
              <a:rPr dirty="0"/>
              <a:t>」。</a:t>
            </a:r>
            <a:r>
              <a:rPr dirty="0" err="1"/>
              <a:t>CLAUDE.md、Skills、Hooksを扱います</a:t>
            </a:r>
            <a:r>
              <a:rPr dirty="0"/>
              <a:t>。</a:t>
            </a:r>
          </a:p>
          <a:p>
            <a:r>
              <a:rPr dirty="0" err="1"/>
              <a:t>では、質疑応答に移ります</a:t>
            </a:r>
            <a:r>
              <a:rPr dirty="0"/>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50" name="Deco Ring"/>
          <p:cNvSpPr/>
          <p:nvPr/>
        </p:nvSpPr>
        <p:spPr>
          <a:xfrm>
            <a:off x="8382000" y="-1143000"/>
            <a:ext cx="5486400" cy="5486400"/>
          </a:xfrm>
          <a:prstGeom prst="ellipse">
            <a:avLst/>
          </a:prstGeom>
          <a:noFill/>
          <a:ln w="76200">
            <a:solidFill>
              <a:srgbClr val="D97757">
                <a:alpha val="22000"/>
              </a:srgbClr>
            </a:solidFill>
          </a:ln>
        </p:spPr>
        <p:txBody>
          <a:bodyPr/>
          <a:lstStyle/>
          <a:p>
            <a:endParaRPr/>
          </a:p>
        </p:txBody>
      </p:sp>
      <p:sp>
        <p:nvSpPr>
          <p:cNvPr id="51" name="Deco Circle Fill"/>
          <p:cNvSpPr/>
          <p:nvPr/>
        </p:nvSpPr>
        <p:spPr>
          <a:xfrm>
            <a:off x="9144000" y="2743200"/>
            <a:ext cx="2286000" cy="2286000"/>
          </a:xfrm>
          <a:prstGeom prst="ellipse">
            <a:avLst/>
          </a:prstGeom>
          <a:solidFill>
            <a:srgbClr val="D97757">
              <a:alpha val="12000"/>
            </a:srgbClr>
          </a:solidFill>
          <a:ln>
            <a:noFill/>
          </a:ln>
        </p:spPr>
        <p:txBody>
          <a:bodyPr/>
          <a:lstStyle/>
          <a:p>
            <a:endParaRPr/>
          </a:p>
        </p:txBody>
      </p:sp>
      <p:sp>
        <p:nvSpPr>
          <p:cNvPr id="52" name="Deco Small Circle"/>
          <p:cNvSpPr/>
          <p:nvPr/>
        </p:nvSpPr>
        <p:spPr>
          <a:xfrm>
            <a:off x="457200" y="5486400"/>
            <a:ext cx="914400" cy="914400"/>
          </a:xfrm>
          <a:prstGeom prst="ellipse">
            <a:avLst/>
          </a:prstGeom>
          <a:noFill/>
          <a:ln w="38100">
            <a:solidFill>
              <a:srgbClr val="D97757">
                <a:alpha val="18000"/>
              </a:srgbClr>
            </a:solidFill>
          </a:ln>
        </p:spPr>
        <p:txBody>
          <a:bodyPr/>
          <a:lstStyle/>
          <a:p>
            <a:endParaRPr/>
          </a:p>
        </p:txBody>
      </p:sp>
      <p:sp>
        <p:nvSpPr>
          <p:cNvPr id="53" name="Deco Arc"/>
          <p:cNvSpPr/>
          <p:nvPr/>
        </p:nvSpPr>
        <p:spPr>
          <a:xfrm>
            <a:off x="7620000" y="1600200"/>
            <a:ext cx="3200400" cy="3200400"/>
          </a:xfrm>
          <a:prstGeom prst="blockArc">
            <a:avLst>
              <a:gd name="adj1" fmla="val 10800000"/>
              <a:gd name="adj2" fmla="val 16200000"/>
              <a:gd name="adj3" fmla="val 8000"/>
            </a:avLst>
          </a:prstGeom>
          <a:solidFill>
            <a:srgbClr val="D97757">
              <a:alpha val="35000"/>
            </a:srgbClr>
          </a:solidFill>
          <a:ln>
            <a:noFill/>
          </a:ln>
        </p:spPr>
        <p:txBody>
          <a:bodyPr/>
          <a:lstStyle/>
          <a:p>
            <a:endParaRPr/>
          </a:p>
        </p:txBody>
      </p:sp>
      <p:sp>
        <p:nvSpPr>
          <p:cNvPr id="54" name="Accent Bar"/>
          <p:cNvSpPr/>
          <p:nvPr/>
        </p:nvSpPr>
        <p:spPr>
          <a:xfrm>
            <a:off x="731520" y="1371600"/>
            <a:ext cx="54864" cy="3200400"/>
          </a:xfrm>
          <a:prstGeom prst="roundRect">
            <a:avLst>
              <a:gd name="adj" fmla="val 50000"/>
            </a:avLst>
          </a:prstGeom>
          <a:solidFill>
            <a:srgbClr val="D97757"/>
          </a:solidFill>
          <a:ln>
            <a:noFill/>
          </a:ln>
        </p:spPr>
        <p:txBody>
          <a:bodyPr/>
          <a:lstStyle/>
          <a:p>
            <a:endParaRPr/>
          </a:p>
        </p:txBody>
      </p:sp>
      <p:sp>
        <p:nvSpPr>
          <p:cNvPr id="55" name="Dot 1"/>
          <p:cNvSpPr/>
          <p:nvPr/>
        </p:nvSpPr>
        <p:spPr>
          <a:xfrm>
            <a:off x="1097280" y="1097280"/>
            <a:ext cx="91440" cy="91440"/>
          </a:xfrm>
          <a:prstGeom prst="ellipse">
            <a:avLst/>
          </a:prstGeom>
          <a:solidFill>
            <a:srgbClr val="D97757">
              <a:alpha val="70000"/>
            </a:srgbClr>
          </a:solidFill>
          <a:ln>
            <a:noFill/>
          </a:ln>
        </p:spPr>
        <p:txBody>
          <a:bodyPr/>
          <a:lstStyle/>
          <a:p>
            <a:endParaRPr/>
          </a:p>
        </p:txBody>
      </p:sp>
      <p:sp>
        <p:nvSpPr>
          <p:cNvPr id="56" name="Dot 2"/>
          <p:cNvSpPr/>
          <p:nvPr/>
        </p:nvSpPr>
        <p:spPr>
          <a:xfrm>
            <a:off x="1371600" y="1097280"/>
            <a:ext cx="91440" cy="91440"/>
          </a:xfrm>
          <a:prstGeom prst="ellipse">
            <a:avLst/>
          </a:prstGeom>
          <a:solidFill>
            <a:srgbClr val="D97757">
              <a:alpha val="50000"/>
            </a:srgbClr>
          </a:solidFill>
          <a:ln>
            <a:noFill/>
          </a:ln>
        </p:spPr>
        <p:txBody>
          <a:bodyPr/>
          <a:lstStyle/>
          <a:p>
            <a:endParaRPr/>
          </a:p>
        </p:txBody>
      </p:sp>
      <p:sp>
        <p:nvSpPr>
          <p:cNvPr id="57" name="Dot 3"/>
          <p:cNvSpPr/>
          <p:nvPr/>
        </p:nvSpPr>
        <p:spPr>
          <a:xfrm>
            <a:off x="1645920" y="1097280"/>
            <a:ext cx="91440" cy="91440"/>
          </a:xfrm>
          <a:prstGeom prst="ellipse">
            <a:avLst/>
          </a:prstGeom>
          <a:solidFill>
            <a:srgbClr val="D97757">
              <a:alpha val="30000"/>
            </a:srgbClr>
          </a:solidFill>
          <a:ln>
            <a:noFill/>
          </a:ln>
        </p:spPr>
        <p:txBody>
          <a:bodyPr/>
          <a:lstStyle/>
          <a:p>
            <a:endParaRPr/>
          </a:p>
        </p:txBody>
      </p:sp>
      <p:sp>
        <p:nvSpPr>
          <p:cNvPr id="58" name="Deco Stripe"/>
          <p:cNvSpPr/>
          <p:nvPr/>
        </p:nvSpPr>
        <p:spPr>
          <a:xfrm rot="2700000">
            <a:off x="10058400" y="5486400"/>
            <a:ext cx="1828800" cy="91440"/>
          </a:xfrm>
          <a:prstGeom prst="rect">
            <a:avLst/>
          </a:prstGeom>
          <a:solidFill>
            <a:srgbClr val="2D2926"/>
          </a:solidFill>
          <a:ln>
            <a:noFill/>
          </a:ln>
        </p:spPr>
        <p:txBody>
          <a:bodyPr/>
          <a:lstStyle/>
          <a:p>
            <a:endParaRPr/>
          </a:p>
        </p:txBody>
      </p:sp>
      <p:sp>
        <p:nvSpPr>
          <p:cNvPr id="60" name="Title"/>
          <p:cNvSpPr txBox="1"/>
          <p:nvPr/>
        </p:nvSpPr>
        <p:spPr>
          <a:xfrm>
            <a:off x="1097280" y="1371600"/>
            <a:ext cx="6400800" cy="1554480"/>
          </a:xfrm>
          <a:prstGeom prst="rect">
            <a:avLst/>
          </a:prstGeom>
          <a:noFill/>
        </p:spPr>
        <p:txBody>
          <a:bodyPr wrap="square">
            <a:spAutoFit/>
          </a:bodyPr>
          <a:lstStyle/>
          <a:p>
            <a:pPr algn="l">
              <a:lnSpc>
                <a:spcPts val="5600"/>
              </a:lnSpc>
              <a:spcAft>
                <a:spcPts val="200"/>
              </a:spcAft>
            </a:pPr>
            <a:r>
              <a:rPr lang="en-US" sz="5200" b="1" dirty="0">
                <a:solidFill>
                  <a:srgbClr val="FAF9F5"/>
                </a:solidFill>
                <a:latin typeface="Hiragino Sans"/>
              </a:rPr>
              <a:t>Claude Code</a:t>
            </a:r>
          </a:p>
          <a:p>
            <a:pPr algn="l">
              <a:lnSpc>
                <a:spcPts val="5600"/>
              </a:lnSpc>
              <a:spcAft>
                <a:spcPts val="0"/>
              </a:spcAft>
            </a:pPr>
            <a:r>
              <a:rPr lang="ja-JP" sz="5200" b="1" dirty="0">
                <a:solidFill>
                  <a:srgbClr val="FAF9F5"/>
                </a:solidFill>
                <a:latin typeface="Hiragino Sans"/>
              </a:rPr>
              <a:t>ことはじめ</a:t>
            </a:r>
          </a:p>
        </p:txBody>
      </p:sp>
      <p:sp>
        <p:nvSpPr>
          <p:cNvPr id="61" name="Subtitle"/>
          <p:cNvSpPr txBox="1"/>
          <p:nvPr/>
        </p:nvSpPr>
        <p:spPr>
          <a:xfrm>
            <a:off x="1097280" y="3109920"/>
            <a:ext cx="6400800" cy="548640"/>
          </a:xfrm>
          <a:prstGeom prst="rect">
            <a:avLst/>
          </a:prstGeom>
          <a:noFill/>
        </p:spPr>
        <p:txBody>
          <a:bodyPr wrap="square">
            <a:spAutoFit/>
          </a:bodyPr>
          <a:lstStyle/>
          <a:p>
            <a:pPr algn="l">
              <a:lnSpc>
                <a:spcPts val="4200"/>
              </a:lnSpc>
              <a:spcAft>
                <a:spcPts val="0"/>
              </a:spcAft>
            </a:pPr>
            <a:r>
              <a:rPr lang="ja-JP" sz="2400" b="0" dirty="0">
                <a:solidFill>
                  <a:srgbClr val="D97757"/>
                </a:solidFill>
                <a:latin typeface="Hiragino Sans"/>
              </a:rPr>
              <a:t>〜 基本と対話の心得 〜</a:t>
            </a:r>
          </a:p>
        </p:txBody>
      </p:sp>
      <p:cxnSp>
        <p:nvCxnSpPr>
          <p:cNvPr id="62" name="Divider"/>
          <p:cNvCxnSpPr/>
          <p:nvPr/>
        </p:nvCxnSpPr>
        <p:spPr>
          <a:xfrm>
            <a:off x="1097280" y="3840480"/>
            <a:ext cx="2743200" cy="0"/>
          </a:xfrm>
          <a:prstGeom prst="line">
            <a:avLst/>
          </a:prstGeom>
          <a:ln w="19050">
            <a:solidFill>
              <a:srgbClr val="D97757">
                <a:alpha val="50000"/>
              </a:srgbClr>
            </a:solidFill>
          </a:ln>
        </p:spPr>
      </p:cxnSp>
      <p:sp>
        <p:nvSpPr>
          <p:cNvPr id="63" name="Meta"/>
          <p:cNvSpPr txBox="1"/>
          <p:nvPr/>
        </p:nvSpPr>
        <p:spPr>
          <a:xfrm>
            <a:off x="1097280" y="4023360"/>
            <a:ext cx="6400800" cy="457200"/>
          </a:xfrm>
          <a:prstGeom prst="rect">
            <a:avLst/>
          </a:prstGeom>
          <a:noFill/>
        </p:spPr>
        <p:txBody>
          <a:bodyPr wrap="square">
            <a:spAutoFit/>
          </a:bodyPr>
          <a:lstStyle/>
          <a:p>
            <a:pPr algn="l">
              <a:lnSpc>
                <a:spcPts val="2400"/>
              </a:lnSpc>
              <a:spcAft>
                <a:spcPts val="0"/>
              </a:spcAft>
            </a:pPr>
            <a:r>
              <a:rPr lang="ja-JP" sz="1600" b="0" dirty="0">
                <a:solidFill>
                  <a:srgbClr val="B0AEA5"/>
                </a:solidFill>
                <a:latin typeface="Helvetica Neue"/>
              </a:rPr>
              <a:t>社内勉強会  |  第1回 / 全3回  |  20 min</a:t>
            </a:r>
          </a:p>
        </p:txBody>
      </p:sp>
    </p:spTree>
    <p:extLst>
      <p:ext uri="{BB962C8B-B14F-4D97-AF65-F5344CB8AC3E}">
        <p14:creationId xmlns:p14="http://schemas.microsoft.com/office/powerpoint/2010/main" val="18863648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Title"/>
          <p:cNvSpPr/>
          <p:nvPr/>
        </p:nvSpPr>
        <p:spPr>
          <a:xfrm>
            <a:off x="736600" y="457200"/>
            <a:ext cx="7620000" cy="635000"/>
          </a:xfrm>
          <a:prstGeom prst="rect">
            <a:avLst/>
          </a:prstGeom>
          <a:noFill/>
          <a:ln>
            <a:noFill/>
          </a:ln>
        </p:spPr>
        <p:txBody>
          <a:bodyPr wrap="square" lIns="0" tIns="0" rIns="0" bIns="0" anchor="t"/>
          <a:lstStyle/>
          <a:p>
            <a:pPr algn="l">
              <a:lnSpc>
                <a:spcPts val="4800"/>
              </a:lnSpc>
            </a:pPr>
            <a:r>
              <a:rPr lang="ja-JP" sz="3200" b="1" dirty="0">
                <a:solidFill>
                  <a:srgbClr val="FAF9F5"/>
                </a:solidFill>
                <a:latin typeface="Hiragino Sans"/>
              </a:rPr>
              <a:t>全3回のロードマップ</a:t>
            </a:r>
          </a:p>
        </p:txBody>
      </p:sp>
      <p:sp>
        <p:nvSpPr>
          <p:cNvPr id="10" name="Card0"/>
          <p:cNvSpPr/>
          <p:nvPr/>
        </p:nvSpPr>
        <p:spPr>
          <a:xfrm>
            <a:off x="736600" y="1270000"/>
            <a:ext cx="3429000" cy="3937000"/>
          </a:xfrm>
          <a:prstGeom prst="roundRect">
            <a:avLst>
              <a:gd name="adj" fmla="val 3000"/>
            </a:avLst>
          </a:prstGeom>
          <a:solidFill>
            <a:srgbClr val="3A3632"/>
          </a:solidFill>
          <a:ln w="19050">
            <a:solidFill>
              <a:srgbClr val="3A3632"/>
            </a:solidFill>
          </a:ln>
        </p:spPr>
        <p:txBody>
          <a:bodyPr/>
          <a:lstStyle/>
          <a:p>
            <a:endParaRPr lang="ja-JP" dirty="0"/>
          </a:p>
        </p:txBody>
      </p:sp>
      <p:sp>
        <p:nvSpPr>
          <p:cNvPr id="11" name="Bar0"/>
          <p:cNvSpPr/>
          <p:nvPr/>
        </p:nvSpPr>
        <p:spPr>
          <a:xfrm>
            <a:off x="736600" y="1270000"/>
            <a:ext cx="3429000" cy="63500"/>
          </a:xfrm>
          <a:prstGeom prst="roundRect">
            <a:avLst>
              <a:gd name="adj" fmla="val 50000"/>
            </a:avLst>
          </a:prstGeom>
          <a:solidFill>
            <a:srgbClr val="D97757"/>
          </a:solidFill>
          <a:ln>
            <a:noFill/>
          </a:ln>
        </p:spPr>
        <p:txBody>
          <a:bodyPr/>
          <a:lstStyle/>
          <a:p>
            <a:endParaRPr lang="ja-JP" dirty="0"/>
          </a:p>
        </p:txBody>
      </p:sp>
      <p:sp>
        <p:nvSpPr>
          <p:cNvPr id="12" name="Num0"/>
          <p:cNvSpPr/>
          <p:nvPr/>
        </p:nvSpPr>
        <p:spPr>
          <a:xfrm>
            <a:off x="965200" y="1574800"/>
            <a:ext cx="609600" cy="609600"/>
          </a:xfrm>
          <a:prstGeom prst="ellipse">
            <a:avLst/>
          </a:prstGeom>
          <a:solidFill>
            <a:srgbClr val="D97757"/>
          </a:solidFill>
          <a:ln>
            <a:noFill/>
          </a:ln>
        </p:spPr>
        <p:txBody>
          <a:bodyPr wrap="none" lIns="0" tIns="0" rIns="0" bIns="0" anchor="ctr" anchorCtr="1"/>
          <a:lstStyle/>
          <a:p>
            <a:pPr algn="ctr"/>
            <a:r>
              <a:rPr lang="en-US" sz="2000" b="1" dirty="0">
                <a:solidFill>
                  <a:srgbClr val="FAF9F5"/>
                </a:solidFill>
                <a:latin typeface="Helvetica Neue"/>
              </a:rPr>
              <a:t>1</a:t>
            </a:r>
          </a:p>
        </p:txBody>
      </p:sp>
      <p:sp>
        <p:nvSpPr>
          <p:cNvPr id="13" name="Label0"/>
          <p:cNvSpPr/>
          <p:nvPr/>
        </p:nvSpPr>
        <p:spPr>
          <a:xfrm>
            <a:off x="1701800" y="1625600"/>
            <a:ext cx="2286000" cy="508000"/>
          </a:xfrm>
          <a:prstGeom prst="rect">
            <a:avLst/>
          </a:prstGeom>
          <a:noFill/>
          <a:ln>
            <a:noFill/>
          </a:ln>
        </p:spPr>
        <p:txBody>
          <a:bodyPr wrap="square" lIns="0" tIns="0" rIns="0" bIns="0" anchor="ctr"/>
          <a:lstStyle/>
          <a:p>
            <a:pPr algn="l"/>
            <a:r>
              <a:rPr lang="ja-JP" sz="1600" b="1" dirty="0">
                <a:solidFill>
                  <a:srgbClr val="D97757"/>
                </a:solidFill>
                <a:latin typeface="Hiragino Sans"/>
              </a:rPr>
              <a:t>第1回（今日）</a:t>
            </a:r>
          </a:p>
        </p:txBody>
      </p:sp>
      <p:sp>
        <p:nvSpPr>
          <p:cNvPr id="14" name="Title0"/>
          <p:cNvSpPr/>
          <p:nvPr/>
        </p:nvSpPr>
        <p:spPr>
          <a:xfrm>
            <a:off x="965200" y="2413000"/>
            <a:ext cx="2984500" cy="1143000"/>
          </a:xfrm>
          <a:prstGeom prst="rect">
            <a:avLst/>
          </a:prstGeom>
          <a:noFill/>
          <a:ln>
            <a:noFill/>
          </a:ln>
        </p:spPr>
        <p:txBody>
          <a:bodyPr wrap="square" lIns="0" tIns="0" rIns="0" bIns="0" anchor="t"/>
          <a:lstStyle/>
          <a:p>
            <a:pPr algn="l">
              <a:lnSpc>
                <a:spcPts val="3300"/>
              </a:lnSpc>
            </a:pPr>
            <a:r>
              <a:rPr lang="ja-JP" sz="2200" b="1" dirty="0">
                <a:solidFill>
                  <a:srgbClr val="FAF9F5"/>
                </a:solidFill>
                <a:latin typeface="Hiragino Sans"/>
              </a:rPr>
              <a:t>理解する</a:t>
            </a:r>
          </a:p>
        </p:txBody>
      </p:sp>
      <p:cxnSp>
        <p:nvCxnSpPr>
          <p:cNvPr id="15" name="Sep0"/>
          <p:cNvCxnSpPr/>
          <p:nvPr/>
        </p:nvCxnSpPr>
        <p:spPr>
          <a:xfrm>
            <a:off x="965200" y="3746500"/>
            <a:ext cx="2984500" cy="0"/>
          </a:xfrm>
          <a:prstGeom prst="line">
            <a:avLst/>
          </a:prstGeom>
          <a:ln w="9525">
            <a:solidFill>
              <a:srgbClr val="4A4743"/>
            </a:solidFill>
          </a:ln>
        </p:spPr>
      </p:cxnSp>
      <p:sp>
        <p:nvSpPr>
          <p:cNvPr id="16" name="Desc0"/>
          <p:cNvSpPr/>
          <p:nvPr/>
        </p:nvSpPr>
        <p:spPr>
          <a:xfrm>
            <a:off x="965200" y="3924300"/>
            <a:ext cx="2984500" cy="1016000"/>
          </a:xfrm>
          <a:prstGeom prst="rect">
            <a:avLst/>
          </a:prstGeom>
          <a:noFill/>
          <a:ln>
            <a:noFill/>
          </a:ln>
        </p:spPr>
        <p:txBody>
          <a:bodyPr wrap="square" lIns="0" tIns="0" rIns="0" bIns="0" anchor="t"/>
          <a:lstStyle/>
          <a:p>
            <a:pPr algn="l">
              <a:lnSpc>
                <a:spcPts val="2400"/>
              </a:lnSpc>
            </a:pPr>
            <a:r>
              <a:rPr lang="ja-JP" sz="1500" dirty="0">
                <a:solidFill>
                  <a:srgbClr val="C5C3BB"/>
                </a:solidFill>
                <a:latin typeface="Hiragino Sans"/>
              </a:rPr>
              <a:t>基本 / コミュニケーション / Plan Mode</a:t>
            </a:r>
          </a:p>
        </p:txBody>
      </p:sp>
      <p:sp>
        <p:nvSpPr>
          <p:cNvPr id="20" name="Card1"/>
          <p:cNvSpPr/>
          <p:nvPr/>
        </p:nvSpPr>
        <p:spPr>
          <a:xfrm>
            <a:off x="4394200" y="1270000"/>
            <a:ext cx="3429000" cy="3937000"/>
          </a:xfrm>
          <a:prstGeom prst="roundRect">
            <a:avLst>
              <a:gd name="adj" fmla="val 3000"/>
            </a:avLst>
          </a:prstGeom>
          <a:solidFill>
            <a:srgbClr val="302D29"/>
          </a:solidFill>
          <a:ln w="19050">
            <a:solidFill>
              <a:srgbClr val="3A3632"/>
            </a:solidFill>
          </a:ln>
        </p:spPr>
        <p:txBody>
          <a:bodyPr/>
          <a:lstStyle/>
          <a:p>
            <a:endParaRPr lang="ja-JP" dirty="0"/>
          </a:p>
        </p:txBody>
      </p:sp>
      <p:sp>
        <p:nvSpPr>
          <p:cNvPr id="21" name="Bar1"/>
          <p:cNvSpPr/>
          <p:nvPr/>
        </p:nvSpPr>
        <p:spPr>
          <a:xfrm>
            <a:off x="4394200" y="1270000"/>
            <a:ext cx="3429000" cy="63500"/>
          </a:xfrm>
          <a:prstGeom prst="roundRect">
            <a:avLst>
              <a:gd name="adj" fmla="val 50000"/>
            </a:avLst>
          </a:prstGeom>
          <a:solidFill>
            <a:srgbClr val="6A9BCC"/>
          </a:solidFill>
          <a:ln>
            <a:noFill/>
          </a:ln>
        </p:spPr>
        <p:txBody>
          <a:bodyPr/>
          <a:lstStyle/>
          <a:p>
            <a:endParaRPr lang="ja-JP" dirty="0"/>
          </a:p>
        </p:txBody>
      </p:sp>
      <p:sp>
        <p:nvSpPr>
          <p:cNvPr id="22" name="Num1"/>
          <p:cNvSpPr/>
          <p:nvPr/>
        </p:nvSpPr>
        <p:spPr>
          <a:xfrm>
            <a:off x="4622800" y="1574800"/>
            <a:ext cx="609600" cy="609600"/>
          </a:xfrm>
          <a:prstGeom prst="ellipse">
            <a:avLst/>
          </a:prstGeom>
          <a:solidFill>
            <a:srgbClr val="6A9BCC"/>
          </a:solidFill>
          <a:ln>
            <a:noFill/>
          </a:ln>
        </p:spPr>
        <p:txBody>
          <a:bodyPr wrap="none" lIns="0" tIns="0" rIns="0" bIns="0" anchor="ctr" anchorCtr="1"/>
          <a:lstStyle/>
          <a:p>
            <a:pPr algn="ctr"/>
            <a:r>
              <a:rPr lang="en-US" sz="2000" b="1" dirty="0">
                <a:solidFill>
                  <a:srgbClr val="FAF9F5"/>
                </a:solidFill>
                <a:latin typeface="Helvetica Neue"/>
              </a:rPr>
              <a:t>2</a:t>
            </a:r>
          </a:p>
        </p:txBody>
      </p:sp>
      <p:sp>
        <p:nvSpPr>
          <p:cNvPr id="23" name="Label1"/>
          <p:cNvSpPr/>
          <p:nvPr/>
        </p:nvSpPr>
        <p:spPr>
          <a:xfrm>
            <a:off x="5359400" y="1625600"/>
            <a:ext cx="2286000" cy="508000"/>
          </a:xfrm>
          <a:prstGeom prst="rect">
            <a:avLst/>
          </a:prstGeom>
          <a:noFill/>
          <a:ln>
            <a:noFill/>
          </a:ln>
        </p:spPr>
        <p:txBody>
          <a:bodyPr wrap="square" lIns="0" tIns="0" rIns="0" bIns="0" anchor="ctr"/>
          <a:lstStyle/>
          <a:p>
            <a:pPr algn="l"/>
            <a:r>
              <a:rPr lang="ja-JP" sz="1600" b="1" dirty="0">
                <a:solidFill>
                  <a:srgbClr val="B0AEA5"/>
                </a:solidFill>
                <a:latin typeface="Hiragino Sans"/>
              </a:rPr>
              <a:t>第2回</a:t>
            </a:r>
          </a:p>
        </p:txBody>
      </p:sp>
      <p:sp>
        <p:nvSpPr>
          <p:cNvPr id="24" name="Title1"/>
          <p:cNvSpPr/>
          <p:nvPr/>
        </p:nvSpPr>
        <p:spPr>
          <a:xfrm>
            <a:off x="4622800" y="2413000"/>
            <a:ext cx="2984500" cy="1143000"/>
          </a:xfrm>
          <a:prstGeom prst="rect">
            <a:avLst/>
          </a:prstGeom>
          <a:noFill/>
          <a:ln>
            <a:noFill/>
          </a:ln>
        </p:spPr>
        <p:txBody>
          <a:bodyPr wrap="square" lIns="0" tIns="0" rIns="0" bIns="0" anchor="t"/>
          <a:lstStyle/>
          <a:p>
            <a:pPr algn="l">
              <a:lnSpc>
                <a:spcPts val="3300"/>
              </a:lnSpc>
            </a:pPr>
            <a:r>
              <a:rPr lang="ja-JP" sz="2200" b="1" dirty="0">
                <a:solidFill>
                  <a:srgbClr val="FAF9F5"/>
                </a:solidFill>
                <a:latin typeface="Hiragino Sans"/>
              </a:rPr>
              <a:t>プロジェクトに合わせた</a:t>
            </a:r>
          </a:p>
          <a:p>
            <a:pPr algn="l">
              <a:lnSpc>
                <a:spcPts val="3300"/>
              </a:lnSpc>
            </a:pPr>
            <a:r>
              <a:rPr lang="ja-JP" sz="2200" b="1" dirty="0">
                <a:solidFill>
                  <a:srgbClr val="FAF9F5"/>
                </a:solidFill>
                <a:latin typeface="Hiragino Sans"/>
              </a:rPr>
              <a:t>カスタマイズ</a:t>
            </a:r>
          </a:p>
        </p:txBody>
      </p:sp>
      <p:cxnSp>
        <p:nvCxnSpPr>
          <p:cNvPr id="25" name="Sep1"/>
          <p:cNvCxnSpPr/>
          <p:nvPr/>
        </p:nvCxnSpPr>
        <p:spPr>
          <a:xfrm>
            <a:off x="4622800" y="3746500"/>
            <a:ext cx="2984500" cy="0"/>
          </a:xfrm>
          <a:prstGeom prst="line">
            <a:avLst/>
          </a:prstGeom>
          <a:ln w="9525">
            <a:solidFill>
              <a:srgbClr val="4A4743"/>
            </a:solidFill>
          </a:ln>
        </p:spPr>
      </p:cxnSp>
      <p:sp>
        <p:nvSpPr>
          <p:cNvPr id="26" name="Desc1"/>
          <p:cNvSpPr/>
          <p:nvPr/>
        </p:nvSpPr>
        <p:spPr>
          <a:xfrm>
            <a:off x="4622800" y="3924300"/>
            <a:ext cx="2984500" cy="1016000"/>
          </a:xfrm>
          <a:prstGeom prst="rect">
            <a:avLst/>
          </a:prstGeom>
          <a:noFill/>
          <a:ln>
            <a:noFill/>
          </a:ln>
        </p:spPr>
        <p:txBody>
          <a:bodyPr wrap="square" lIns="0" tIns="0" rIns="0" bIns="0" anchor="t"/>
          <a:lstStyle/>
          <a:p>
            <a:pPr algn="l">
              <a:lnSpc>
                <a:spcPts val="2400"/>
              </a:lnSpc>
            </a:pPr>
            <a:r>
              <a:rPr lang="ja-JP" sz="1500" dirty="0">
                <a:solidFill>
                  <a:srgbClr val="C5C3BB"/>
                </a:solidFill>
                <a:latin typeface="Hiragino Sans"/>
              </a:rPr>
              <a:t>CLAUDE.md / Skills / Hooks</a:t>
            </a:r>
          </a:p>
        </p:txBody>
      </p:sp>
      <p:sp>
        <p:nvSpPr>
          <p:cNvPr id="30" name="Card2"/>
          <p:cNvSpPr/>
          <p:nvPr/>
        </p:nvSpPr>
        <p:spPr>
          <a:xfrm>
            <a:off x="8051800" y="1270000"/>
            <a:ext cx="3429000" cy="3937000"/>
          </a:xfrm>
          <a:prstGeom prst="roundRect">
            <a:avLst>
              <a:gd name="adj" fmla="val 3000"/>
            </a:avLst>
          </a:prstGeom>
          <a:solidFill>
            <a:srgbClr val="302D29"/>
          </a:solidFill>
          <a:ln w="19050">
            <a:solidFill>
              <a:srgbClr val="3A3632"/>
            </a:solidFill>
          </a:ln>
        </p:spPr>
        <p:txBody>
          <a:bodyPr/>
          <a:lstStyle/>
          <a:p>
            <a:endParaRPr lang="ja-JP" dirty="0"/>
          </a:p>
        </p:txBody>
      </p:sp>
      <p:sp>
        <p:nvSpPr>
          <p:cNvPr id="31" name="Bar2"/>
          <p:cNvSpPr/>
          <p:nvPr/>
        </p:nvSpPr>
        <p:spPr>
          <a:xfrm>
            <a:off x="8051800" y="1270000"/>
            <a:ext cx="3429000" cy="63500"/>
          </a:xfrm>
          <a:prstGeom prst="roundRect">
            <a:avLst>
              <a:gd name="adj" fmla="val 50000"/>
            </a:avLst>
          </a:prstGeom>
          <a:solidFill>
            <a:srgbClr val="7BC9A0"/>
          </a:solidFill>
          <a:ln>
            <a:noFill/>
          </a:ln>
        </p:spPr>
        <p:txBody>
          <a:bodyPr/>
          <a:lstStyle/>
          <a:p>
            <a:endParaRPr lang="ja-JP" dirty="0"/>
          </a:p>
        </p:txBody>
      </p:sp>
      <p:sp>
        <p:nvSpPr>
          <p:cNvPr id="32" name="Num2"/>
          <p:cNvSpPr/>
          <p:nvPr/>
        </p:nvSpPr>
        <p:spPr>
          <a:xfrm>
            <a:off x="8280400" y="1574800"/>
            <a:ext cx="609600" cy="609600"/>
          </a:xfrm>
          <a:prstGeom prst="ellipse">
            <a:avLst/>
          </a:prstGeom>
          <a:solidFill>
            <a:srgbClr val="7BC9A0"/>
          </a:solidFill>
          <a:ln>
            <a:noFill/>
          </a:ln>
        </p:spPr>
        <p:txBody>
          <a:bodyPr wrap="none" lIns="0" tIns="0" rIns="0" bIns="0" anchor="ctr" anchorCtr="1"/>
          <a:lstStyle/>
          <a:p>
            <a:pPr algn="ctr"/>
            <a:r>
              <a:rPr lang="en-US" sz="2000" b="1" dirty="0">
                <a:solidFill>
                  <a:srgbClr val="FAF9F5"/>
                </a:solidFill>
                <a:latin typeface="Helvetica Neue"/>
              </a:rPr>
              <a:t>3</a:t>
            </a:r>
          </a:p>
        </p:txBody>
      </p:sp>
      <p:sp>
        <p:nvSpPr>
          <p:cNvPr id="33" name="Label2"/>
          <p:cNvSpPr/>
          <p:nvPr/>
        </p:nvSpPr>
        <p:spPr>
          <a:xfrm>
            <a:off x="9017000" y="1625600"/>
            <a:ext cx="2286000" cy="508000"/>
          </a:xfrm>
          <a:prstGeom prst="rect">
            <a:avLst/>
          </a:prstGeom>
          <a:noFill/>
          <a:ln>
            <a:noFill/>
          </a:ln>
        </p:spPr>
        <p:txBody>
          <a:bodyPr wrap="square" lIns="0" tIns="0" rIns="0" bIns="0" anchor="ctr"/>
          <a:lstStyle/>
          <a:p>
            <a:pPr algn="l"/>
            <a:r>
              <a:rPr lang="ja-JP" sz="1600" b="1" dirty="0">
                <a:solidFill>
                  <a:srgbClr val="B0AEA5"/>
                </a:solidFill>
                <a:latin typeface="Hiragino Sans"/>
              </a:rPr>
              <a:t>第3回</a:t>
            </a:r>
          </a:p>
        </p:txBody>
      </p:sp>
      <p:sp>
        <p:nvSpPr>
          <p:cNvPr id="34" name="Title2"/>
          <p:cNvSpPr/>
          <p:nvPr/>
        </p:nvSpPr>
        <p:spPr>
          <a:xfrm>
            <a:off x="8280400" y="2413000"/>
            <a:ext cx="2984500" cy="1143000"/>
          </a:xfrm>
          <a:prstGeom prst="rect">
            <a:avLst/>
          </a:prstGeom>
          <a:noFill/>
          <a:ln>
            <a:noFill/>
          </a:ln>
        </p:spPr>
        <p:txBody>
          <a:bodyPr wrap="square" lIns="0" tIns="0" rIns="0" bIns="0" anchor="t"/>
          <a:lstStyle/>
          <a:p>
            <a:pPr algn="l">
              <a:lnSpc>
                <a:spcPts val="3300"/>
              </a:lnSpc>
            </a:pPr>
            <a:r>
              <a:rPr lang="ja-JP" sz="2200" b="1" dirty="0">
                <a:solidFill>
                  <a:srgbClr val="FAF9F5"/>
                </a:solidFill>
                <a:latin typeface="Hiragino Sans"/>
              </a:rPr>
              <a:t>外部連携と並列開発</a:t>
            </a:r>
          </a:p>
        </p:txBody>
      </p:sp>
      <p:cxnSp>
        <p:nvCxnSpPr>
          <p:cNvPr id="35" name="Sep2"/>
          <p:cNvCxnSpPr/>
          <p:nvPr/>
        </p:nvCxnSpPr>
        <p:spPr>
          <a:xfrm>
            <a:off x="8280400" y="3746500"/>
            <a:ext cx="2984500" cy="0"/>
          </a:xfrm>
          <a:prstGeom prst="line">
            <a:avLst/>
          </a:prstGeom>
          <a:ln w="9525">
            <a:solidFill>
              <a:srgbClr val="4A4743"/>
            </a:solidFill>
          </a:ln>
        </p:spPr>
      </p:cxnSp>
      <p:sp>
        <p:nvSpPr>
          <p:cNvPr id="36" name="Desc2"/>
          <p:cNvSpPr/>
          <p:nvPr/>
        </p:nvSpPr>
        <p:spPr>
          <a:xfrm>
            <a:off x="8280400" y="3924300"/>
            <a:ext cx="2984500" cy="1016000"/>
          </a:xfrm>
          <a:prstGeom prst="rect">
            <a:avLst/>
          </a:prstGeom>
          <a:noFill/>
          <a:ln>
            <a:noFill/>
          </a:ln>
        </p:spPr>
        <p:txBody>
          <a:bodyPr wrap="square" lIns="0" tIns="0" rIns="0" bIns="0" anchor="t"/>
          <a:lstStyle/>
          <a:p>
            <a:pPr algn="l">
              <a:lnSpc>
                <a:spcPts val="2400"/>
              </a:lnSpc>
            </a:pPr>
            <a:r>
              <a:rPr lang="ja-JP" sz="1500" dirty="0">
                <a:solidFill>
                  <a:srgbClr val="C5C3BB"/>
                </a:solidFill>
                <a:latin typeface="Hiragino Sans"/>
              </a:rPr>
              <a:t>MCP / worktree / サブエージェント</a:t>
            </a:r>
          </a:p>
        </p:txBody>
      </p:sp>
      <p:sp>
        <p:nvSpPr>
          <p:cNvPr id="50" name="Goal"/>
          <p:cNvSpPr/>
          <p:nvPr/>
        </p:nvSpPr>
        <p:spPr>
          <a:xfrm>
            <a:off x="736600" y="5524500"/>
            <a:ext cx="10515600" cy="508000"/>
          </a:xfrm>
          <a:prstGeom prst="rect">
            <a:avLst/>
          </a:prstGeom>
          <a:noFill/>
          <a:ln>
            <a:noFill/>
          </a:ln>
        </p:spPr>
        <p:txBody>
          <a:bodyPr wrap="square" lIns="0" tIns="0" rIns="0" bIns="0" anchor="ctr"/>
          <a:lstStyle/>
          <a:p>
            <a:pPr algn="l"/>
            <a:r>
              <a:rPr lang="ja-JP" sz="1600" b="1" dirty="0">
                <a:solidFill>
                  <a:srgbClr val="D97757"/>
                </a:solidFill>
                <a:latin typeface="Hiragino Sans"/>
              </a:rPr>
              <a:t>今日のゴール: 日常業務の一部をClaude Codeに任せられるようになる</a:t>
            </a:r>
          </a:p>
        </p:txBody>
      </p:sp>
      <p:sp>
        <p:nvSpPr>
          <p:cNvPr id="51" name="PageNum"/>
          <p:cNvSpPr/>
          <p:nvPr/>
        </p:nvSpPr>
        <p:spPr>
          <a:xfrm>
            <a:off x="11277600" y="6400800"/>
            <a:ext cx="736600" cy="279400"/>
          </a:xfrm>
          <a:prstGeom prst="rect">
            <a:avLst/>
          </a:prstGeom>
          <a:noFill/>
          <a:ln>
            <a:noFill/>
          </a:ln>
        </p:spPr>
        <p:txBody>
          <a:bodyPr wrap="square" lIns="0" tIns="0" rIns="0" bIns="0" anchor="ctr"/>
          <a:lstStyle/>
          <a:p>
            <a:pPr algn="r"/>
            <a:r>
              <a:rPr lang="en-US" sz="1400" dirty="0">
                <a:solidFill>
                  <a:srgbClr val="6B6963"/>
                </a:solidFill>
                <a:latin typeface="Helvetica Neue"/>
              </a:rPr>
              <a:t>2 / 16</a:t>
            </a:r>
          </a:p>
        </p:txBody>
      </p:sp>
    </p:spTree>
    <p:extLst>
      <p:ext uri="{BB962C8B-B14F-4D97-AF65-F5344CB8AC3E}">
        <p14:creationId xmlns:p14="http://schemas.microsoft.com/office/powerpoint/2010/main" val="7009350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100" name="Part Label"/>
          <p:cNvSpPr txBox="1"/>
          <p:nvPr/>
        </p:nvSpPr>
        <p:spPr>
          <a:xfrm>
            <a:off x="731520" y="274320"/>
            <a:ext cx="4572000" cy="274320"/>
          </a:xfrm>
          <a:prstGeom prst="rect">
            <a:avLst/>
          </a:prstGeom>
          <a:noFill/>
        </p:spPr>
        <p:txBody>
          <a:bodyPr wrap="square">
            <a:spAutoFit/>
          </a:bodyPr>
          <a:lstStyle/>
          <a:p>
            <a:pPr algn="l">
              <a:lnSpc>
                <a:spcPts val="1800"/>
              </a:lnSpc>
              <a:spcAft>
                <a:spcPts val="0"/>
              </a:spcAft>
            </a:pPr>
            <a:r>
              <a:rPr lang="en-US" sz="1200" b="1" dirty="0">
                <a:solidFill>
                  <a:srgbClr val="D97757"/>
                </a:solidFill>
                <a:latin typeface="Helvetica Neue"/>
              </a:rPr>
              <a:t>PART 1 — Claude Code とは</a:t>
            </a:r>
          </a:p>
        </p:txBody>
      </p:sp>
      <p:sp>
        <p:nvSpPr>
          <p:cNvPr id="101" name="Title"/>
          <p:cNvSpPr txBox="1"/>
          <p:nvPr/>
        </p:nvSpPr>
        <p:spPr>
          <a:xfrm>
            <a:off x="731520" y="548640"/>
            <a:ext cx="10058400" cy="548640"/>
          </a:xfrm>
          <a:prstGeom prst="rect">
            <a:avLst/>
          </a:prstGeom>
          <a:noFill/>
        </p:spPr>
        <p:txBody>
          <a:bodyPr wrap="square">
            <a:spAutoFit/>
          </a:bodyPr>
          <a:lstStyle/>
          <a:p>
            <a:pPr algn="l">
              <a:lnSpc>
                <a:spcPts val="3600"/>
              </a:lnSpc>
              <a:spcAft>
                <a:spcPts val="0"/>
              </a:spcAft>
            </a:pPr>
            <a:r>
              <a:rPr lang="ja-JP" sz="2800" b="1" dirty="0">
                <a:solidFill>
                  <a:srgbClr val="FAF9F5"/>
                </a:solidFill>
                <a:latin typeface="Hiragino Sans"/>
              </a:rPr>
              <a:t>まずは調査だけ任せてみる</a:t>
            </a:r>
          </a:p>
        </p:txBody>
      </p:sp>
      <p:sp>
        <p:nvSpPr>
          <p:cNvPr id="102" name="Subtitle"/>
          <p:cNvSpPr txBox="1"/>
          <p:nvPr/>
        </p:nvSpPr>
        <p:spPr>
          <a:xfrm>
            <a:off x="731520" y="1097280"/>
            <a:ext cx="10058400" cy="365760"/>
          </a:xfrm>
          <a:prstGeom prst="rect">
            <a:avLst/>
          </a:prstGeom>
          <a:noFill/>
        </p:spPr>
        <p:txBody>
          <a:bodyPr wrap="square">
            <a:spAutoFit/>
          </a:bodyPr>
          <a:lstStyle/>
          <a:p>
            <a:pPr algn="l">
              <a:lnSpc>
                <a:spcPts val="2400"/>
              </a:lnSpc>
              <a:spcAft>
                <a:spcPts val="0"/>
              </a:spcAft>
            </a:pPr>
            <a:r>
              <a:rPr lang="ja-JP" sz="1600" b="0" dirty="0">
                <a:solidFill>
                  <a:srgbClr val="B0AEA5"/>
                </a:solidFill>
                <a:latin typeface="Hiragino Sans"/>
              </a:rPr>
              <a:t>よくある痛み: 調査・影響範囲の把握で時間が溶ける</a:t>
            </a:r>
          </a:p>
        </p:txBody>
      </p:sp>
      <p:cxnSp>
        <p:nvCxnSpPr>
          <p:cNvPr id="103" name="Divider"/>
          <p:cNvCxnSpPr/>
          <p:nvPr/>
        </p:nvCxnSpPr>
        <p:spPr>
          <a:xfrm>
            <a:off x="731520" y="1645920"/>
            <a:ext cx="10698480" cy="0"/>
          </a:xfrm>
          <a:prstGeom prst="line">
            <a:avLst/>
          </a:prstGeom>
          <a:ln w="9525">
            <a:solidFill>
              <a:srgbClr val="3D3835"/>
            </a:solidFill>
          </a:ln>
        </p:spPr>
      </p:cxnSp>
      <p:sp>
        <p:nvSpPr>
          <p:cNvPr id="110" name="Before BG"/>
          <p:cNvSpPr/>
          <p:nvPr/>
        </p:nvSpPr>
        <p:spPr>
          <a:xfrm>
            <a:off x="731520" y="1920240"/>
            <a:ext cx="4983720" cy="2926080"/>
          </a:xfrm>
          <a:prstGeom prst="roundRect">
            <a:avLst>
              <a:gd name="adj" fmla="val 2500"/>
            </a:avLst>
          </a:prstGeom>
          <a:solidFill>
            <a:srgbClr val="2D2926"/>
          </a:solidFill>
          <a:ln w="12700">
            <a:solidFill>
              <a:srgbClr val="E07070">
                <a:alpha val="30000"/>
              </a:srgbClr>
            </a:solidFill>
          </a:ln>
        </p:spPr>
        <p:txBody>
          <a:bodyPr/>
          <a:lstStyle/>
          <a:p>
            <a:endParaRPr/>
          </a:p>
        </p:txBody>
      </p:sp>
      <p:sp>
        <p:nvSpPr>
          <p:cNvPr id="111" name="Before Accent"/>
          <p:cNvSpPr/>
          <p:nvPr/>
        </p:nvSpPr>
        <p:spPr>
          <a:xfrm>
            <a:off x="731520" y="1920240"/>
            <a:ext cx="4983720" cy="54864"/>
          </a:xfrm>
          <a:prstGeom prst="roundRect">
            <a:avLst>
              <a:gd name="adj" fmla="val 50000"/>
            </a:avLst>
          </a:prstGeom>
          <a:solidFill>
            <a:srgbClr val="E07070"/>
          </a:solidFill>
          <a:ln>
            <a:noFill/>
          </a:ln>
        </p:spPr>
        <p:txBody>
          <a:bodyPr/>
          <a:lstStyle/>
          <a:p>
            <a:endParaRPr/>
          </a:p>
        </p:txBody>
      </p:sp>
      <p:sp>
        <p:nvSpPr>
          <p:cNvPr id="112" name="Before Content"/>
          <p:cNvSpPr txBox="1"/>
          <p:nvPr/>
        </p:nvSpPr>
        <p:spPr>
          <a:xfrm>
            <a:off x="960120" y="2148840"/>
            <a:ext cx="4526520" cy="1098634"/>
          </a:xfrm>
          <a:prstGeom prst="rect">
            <a:avLst/>
          </a:prstGeom>
          <a:noFill/>
        </p:spPr>
        <p:txBody>
          <a:bodyPr wrap="square">
            <a:spAutoFit/>
          </a:bodyPr>
          <a:lstStyle/>
          <a:p>
            <a:pPr algn="l">
              <a:lnSpc>
                <a:spcPts val="2400"/>
              </a:lnSpc>
              <a:spcAft>
                <a:spcPts val="600"/>
              </a:spcAft>
            </a:pPr>
            <a:r>
              <a:rPr lang="en-US" sz="1800" b="1" dirty="0">
                <a:solidFill>
                  <a:srgbClr val="E07070"/>
                </a:solidFill>
                <a:latin typeface="Helvetica Neue"/>
              </a:rPr>
              <a:t>Before</a:t>
            </a:r>
            <a:r>
              <a:rPr lang="ja-JP" sz="1400" b="0" dirty="0">
                <a:solidFill>
                  <a:srgbClr val="B0AEA5"/>
                </a:solidFill>
                <a:latin typeface="Hiragino Sans"/>
              </a:rPr>
              <a:t>  — 手動で調査する場合</a:t>
            </a:r>
          </a:p>
          <a:p>
            <a:pPr algn="l">
              <a:lnSpc>
                <a:spcPts val="2400"/>
              </a:lnSpc>
              <a:spcAft>
                <a:spcPts val="300"/>
              </a:spcAft>
            </a:pPr>
            <a:r>
              <a:rPr lang="ja-JP" sz="1600" b="0" dirty="0">
                <a:solidFill>
                  <a:srgbClr val="C5C3BB"/>
                </a:solidFill>
                <a:latin typeface="Hiragino Sans"/>
              </a:rPr>
              <a:t>チケット1件の調査に30分。</a:t>
            </a:r>
          </a:p>
          <a:p>
            <a:pPr algn="l">
              <a:lnSpc>
                <a:spcPts val="2400"/>
              </a:lnSpc>
              <a:spcAft>
                <a:spcPts val="300"/>
              </a:spcAft>
            </a:pPr>
            <a:r>
              <a:rPr lang="ja-JP" sz="1600" b="0" dirty="0">
                <a:solidFill>
                  <a:srgbClr val="C5C3BB"/>
                </a:solidFill>
                <a:latin typeface="Hiragino Sans"/>
              </a:rPr>
              <a:t>ログを追い、参照箇所を</a:t>
            </a:r>
            <a:r>
              <a:rPr lang="ja-JP" sz="1600" b="0">
                <a:solidFill>
                  <a:srgbClr val="C5C3BB"/>
                </a:solidFill>
                <a:latin typeface="Hiragino Sans"/>
              </a:rPr>
              <a:t>探し、影響</a:t>
            </a:r>
            <a:r>
              <a:rPr lang="ja-JP" sz="1600" b="0" dirty="0">
                <a:solidFill>
                  <a:srgbClr val="C5C3BB"/>
                </a:solidFill>
                <a:latin typeface="Hiragino Sans"/>
              </a:rPr>
              <a:t>範囲を整理する</a:t>
            </a:r>
          </a:p>
        </p:txBody>
      </p:sp>
      <p:sp>
        <p:nvSpPr>
          <p:cNvPr id="120" name="Arrow"/>
          <p:cNvSpPr/>
          <p:nvPr/>
        </p:nvSpPr>
        <p:spPr>
          <a:xfrm>
            <a:off x="5852400" y="3200400"/>
            <a:ext cx="457200" cy="365760"/>
          </a:xfrm>
          <a:prstGeom prst="chevron">
            <a:avLst>
              <a:gd name="adj" fmla="val 50000"/>
            </a:avLst>
          </a:prstGeom>
          <a:solidFill>
            <a:srgbClr val="D97757">
              <a:alpha val="40000"/>
            </a:srgbClr>
          </a:solidFill>
          <a:ln>
            <a:noFill/>
          </a:ln>
        </p:spPr>
        <p:txBody>
          <a:bodyPr/>
          <a:lstStyle/>
          <a:p>
            <a:endParaRPr/>
          </a:p>
        </p:txBody>
      </p:sp>
      <p:sp>
        <p:nvSpPr>
          <p:cNvPr id="130" name="After BG"/>
          <p:cNvSpPr/>
          <p:nvPr/>
        </p:nvSpPr>
        <p:spPr>
          <a:xfrm>
            <a:off x="6446760" y="1920240"/>
            <a:ext cx="4983720" cy="2926080"/>
          </a:xfrm>
          <a:prstGeom prst="roundRect">
            <a:avLst>
              <a:gd name="adj" fmla="val 2500"/>
            </a:avLst>
          </a:prstGeom>
          <a:solidFill>
            <a:srgbClr val="2D2926"/>
          </a:solidFill>
          <a:ln w="12700">
            <a:solidFill>
              <a:srgbClr val="7BC9A0">
                <a:alpha val="30000"/>
              </a:srgbClr>
            </a:solidFill>
          </a:ln>
        </p:spPr>
        <p:txBody>
          <a:bodyPr/>
          <a:lstStyle/>
          <a:p>
            <a:endParaRPr/>
          </a:p>
        </p:txBody>
      </p:sp>
      <p:sp>
        <p:nvSpPr>
          <p:cNvPr id="131" name="After Accent"/>
          <p:cNvSpPr/>
          <p:nvPr/>
        </p:nvSpPr>
        <p:spPr>
          <a:xfrm>
            <a:off x="6446760" y="1920240"/>
            <a:ext cx="4983720" cy="54864"/>
          </a:xfrm>
          <a:prstGeom prst="roundRect">
            <a:avLst>
              <a:gd name="adj" fmla="val 50000"/>
            </a:avLst>
          </a:prstGeom>
          <a:solidFill>
            <a:srgbClr val="7BC9A0"/>
          </a:solidFill>
          <a:ln>
            <a:noFill/>
          </a:ln>
        </p:spPr>
        <p:txBody>
          <a:bodyPr/>
          <a:lstStyle/>
          <a:p>
            <a:endParaRPr/>
          </a:p>
        </p:txBody>
      </p:sp>
      <p:sp>
        <p:nvSpPr>
          <p:cNvPr id="132" name="After Content"/>
          <p:cNvSpPr txBox="1"/>
          <p:nvPr/>
        </p:nvSpPr>
        <p:spPr>
          <a:xfrm>
            <a:off x="6675360" y="2148840"/>
            <a:ext cx="4526520" cy="1098634"/>
          </a:xfrm>
          <a:prstGeom prst="rect">
            <a:avLst/>
          </a:prstGeom>
          <a:noFill/>
        </p:spPr>
        <p:txBody>
          <a:bodyPr wrap="square">
            <a:spAutoFit/>
          </a:bodyPr>
          <a:lstStyle/>
          <a:p>
            <a:pPr algn="l">
              <a:lnSpc>
                <a:spcPts val="2400"/>
              </a:lnSpc>
              <a:spcAft>
                <a:spcPts val="600"/>
              </a:spcAft>
            </a:pPr>
            <a:r>
              <a:rPr lang="en-US" sz="1800" b="1" dirty="0">
                <a:solidFill>
                  <a:srgbClr val="7BC9A0"/>
                </a:solidFill>
                <a:latin typeface="Helvetica Neue"/>
              </a:rPr>
              <a:t>After</a:t>
            </a:r>
            <a:r>
              <a:rPr lang="ja-JP" sz="1400" b="0" dirty="0">
                <a:solidFill>
                  <a:srgbClr val="B0AEA5"/>
                </a:solidFill>
                <a:latin typeface="Hiragino Sans"/>
              </a:rPr>
              <a:t>  — Claude Code に任せた場合</a:t>
            </a:r>
          </a:p>
          <a:p>
            <a:pPr algn="l">
              <a:lnSpc>
                <a:spcPts val="2400"/>
              </a:lnSpc>
              <a:spcAft>
                <a:spcPts val="300"/>
              </a:spcAft>
            </a:pPr>
            <a:r>
              <a:rPr lang="ja-JP" sz="1600" b="0" dirty="0">
                <a:solidFill>
                  <a:srgbClr val="C5C3BB"/>
                </a:solidFill>
                <a:latin typeface="Hiragino Sans"/>
              </a:rPr>
              <a:t>Claude Codeに任せると数分で返ってくる。</a:t>
            </a:r>
          </a:p>
          <a:p>
            <a:pPr algn="l">
              <a:lnSpc>
                <a:spcPts val="2400"/>
              </a:lnSpc>
              <a:spcAft>
                <a:spcPts val="300"/>
              </a:spcAft>
            </a:pPr>
            <a:r>
              <a:rPr lang="ja-JP" sz="1600" b="0" dirty="0">
                <a:solidFill>
                  <a:srgbClr val="C5C3BB"/>
                </a:solidFill>
                <a:latin typeface="Hiragino Sans"/>
              </a:rPr>
              <a:t>調査結果・原因候補・影響</a:t>
            </a:r>
            <a:r>
              <a:rPr lang="ja-JP" sz="1600" b="0">
                <a:solidFill>
                  <a:srgbClr val="C5C3BB"/>
                </a:solidFill>
                <a:latin typeface="Hiragino Sans"/>
              </a:rPr>
              <a:t>範囲がまとまる</a:t>
            </a:r>
            <a:endParaRPr lang="ja-JP" sz="1600" b="0" dirty="0">
              <a:solidFill>
                <a:srgbClr val="C5C3BB"/>
              </a:solidFill>
              <a:latin typeface="Hiragino Sans"/>
            </a:endParaRPr>
          </a:p>
        </p:txBody>
      </p:sp>
      <p:sp>
        <p:nvSpPr>
          <p:cNvPr id="140" name="Takeaway BG"/>
          <p:cNvSpPr/>
          <p:nvPr/>
        </p:nvSpPr>
        <p:spPr>
          <a:xfrm>
            <a:off x="731520" y="5211120"/>
            <a:ext cx="10698960" cy="822960"/>
          </a:xfrm>
          <a:prstGeom prst="roundRect">
            <a:avLst>
              <a:gd name="adj" fmla="val 5000"/>
            </a:avLst>
          </a:prstGeom>
          <a:solidFill>
            <a:srgbClr val="2D2926"/>
          </a:solidFill>
          <a:ln>
            <a:noFill/>
          </a:ln>
        </p:spPr>
        <p:txBody>
          <a:bodyPr/>
          <a:lstStyle/>
          <a:p>
            <a:endParaRPr/>
          </a:p>
        </p:txBody>
      </p:sp>
      <p:sp>
        <p:nvSpPr>
          <p:cNvPr id="141" name="Accent Bar"/>
          <p:cNvSpPr/>
          <p:nvPr/>
        </p:nvSpPr>
        <p:spPr>
          <a:xfrm>
            <a:off x="731520" y="5211120"/>
            <a:ext cx="54864" cy="822960"/>
          </a:xfrm>
          <a:prstGeom prst="rect">
            <a:avLst/>
          </a:prstGeom>
          <a:solidFill>
            <a:srgbClr val="D97757"/>
          </a:solidFill>
          <a:ln>
            <a:noFill/>
          </a:ln>
        </p:spPr>
        <p:txBody>
          <a:bodyPr/>
          <a:lstStyle/>
          <a:p>
            <a:endParaRPr/>
          </a:p>
        </p:txBody>
      </p:sp>
      <p:sp>
        <p:nvSpPr>
          <p:cNvPr id="142" name="Takeaway"/>
          <p:cNvSpPr txBox="1"/>
          <p:nvPr/>
        </p:nvSpPr>
        <p:spPr>
          <a:xfrm>
            <a:off x="1005840" y="5302560"/>
            <a:ext cx="10333200" cy="640080"/>
          </a:xfrm>
          <a:prstGeom prst="rect">
            <a:avLst/>
          </a:prstGeom>
          <a:noFill/>
        </p:spPr>
        <p:txBody>
          <a:bodyPr wrap="square">
            <a:spAutoFit/>
          </a:bodyPr>
          <a:lstStyle/>
          <a:p>
            <a:pPr algn="l">
              <a:lnSpc>
                <a:spcPts val="2200"/>
              </a:lnSpc>
              <a:spcAft>
                <a:spcPts val="200"/>
              </a:spcAft>
            </a:pPr>
            <a:r>
              <a:rPr lang="ja-JP" sz="1400" b="0" dirty="0">
                <a:solidFill>
                  <a:srgbClr val="C5C3BB"/>
                </a:solidFill>
                <a:latin typeface="Hiragino Sans"/>
              </a:rPr>
              <a:t>入口: 最初は実装ではなく「調査・要約・差分整理」だけ</a:t>
            </a:r>
          </a:p>
          <a:p>
            <a:pPr algn="l">
              <a:lnSpc>
                <a:spcPts val="2200"/>
              </a:lnSpc>
              <a:spcAft>
                <a:spcPts val="0"/>
              </a:spcAft>
            </a:pPr>
            <a:r>
              <a:rPr lang="ja-JP" sz="1600" b="1" dirty="0">
                <a:solidFill>
                  <a:srgbClr val="D97757"/>
                </a:solidFill>
                <a:latin typeface="Hiragino Sans"/>
              </a:rPr>
              <a:t>→ いきなり実装させず、業務の一部から始める</a:t>
            </a:r>
          </a:p>
        </p:txBody>
      </p:sp>
      <p:sp>
        <p:nvSpPr>
          <p:cNvPr id="150" name="PageNum"/>
          <p:cNvSpPr txBox="1"/>
          <p:nvPr/>
        </p:nvSpPr>
        <p:spPr>
          <a:xfrm>
            <a:off x="11247120" y="6400800"/>
            <a:ext cx="640080" cy="274320"/>
          </a:xfrm>
          <a:prstGeom prst="rect">
            <a:avLst/>
          </a:prstGeom>
          <a:noFill/>
        </p:spPr>
        <p:txBody>
          <a:bodyPr wrap="square">
            <a:spAutoFit/>
          </a:bodyPr>
          <a:lstStyle/>
          <a:p>
            <a:pPr algn="r">
              <a:lnSpc>
                <a:spcPts val="1500"/>
              </a:lnSpc>
              <a:spcAft>
                <a:spcPts val="0"/>
              </a:spcAft>
            </a:pPr>
            <a:r>
              <a:rPr lang="en-US" sz="1100" b="0" dirty="0">
                <a:solidFill>
                  <a:srgbClr val="B0AEA5"/>
                </a:solidFill>
                <a:latin typeface="Helvetica Neue"/>
              </a:rPr>
              <a:t>3 / 16</a:t>
            </a:r>
          </a:p>
        </p:txBody>
      </p:sp>
    </p:spTree>
    <p:extLst>
      <p:ext uri="{BB962C8B-B14F-4D97-AF65-F5344CB8AC3E}">
        <p14:creationId xmlns:p14="http://schemas.microsoft.com/office/powerpoint/2010/main" val="1559256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10" name="Part"/>
          <p:cNvSpPr txBox="1"/>
          <p:nvPr/>
        </p:nvSpPr>
        <p:spPr>
          <a:xfrm>
            <a:off x="731520" y="274320"/>
            <a:ext cx="4572000" cy="274320"/>
          </a:xfrm>
          <a:prstGeom prst="rect">
            <a:avLst/>
          </a:prstGeom>
          <a:noFill/>
        </p:spPr>
        <p:txBody>
          <a:bodyPr wrap="square">
            <a:spAutoFit/>
          </a:bodyPr>
          <a:lstStyle/>
          <a:p>
            <a:pPr algn="l">
              <a:lnSpc>
                <a:spcPts val="1800"/>
              </a:lnSpc>
              <a:spcAft>
                <a:spcPts val="0"/>
              </a:spcAft>
            </a:pPr>
            <a:r>
              <a:rPr lang="en-US" sz="1200" b="1" dirty="0">
                <a:solidFill>
                  <a:srgbClr val="D97757"/>
                </a:solidFill>
                <a:latin typeface="Helvetica Neue"/>
              </a:rPr>
              <a:t>PART 1 — Claude Code とは</a:t>
            </a:r>
          </a:p>
        </p:txBody>
      </p:sp>
      <p:sp>
        <p:nvSpPr>
          <p:cNvPr id="11" name="Title"/>
          <p:cNvSpPr txBox="1"/>
          <p:nvPr/>
        </p:nvSpPr>
        <p:spPr>
          <a:xfrm>
            <a:off x="731520" y="548640"/>
            <a:ext cx="10058400" cy="548640"/>
          </a:xfrm>
          <a:prstGeom prst="rect">
            <a:avLst/>
          </a:prstGeom>
          <a:noFill/>
        </p:spPr>
        <p:txBody>
          <a:bodyPr wrap="square">
            <a:spAutoFit/>
          </a:bodyPr>
          <a:lstStyle/>
          <a:p>
            <a:pPr algn="l">
              <a:lnSpc>
                <a:spcPts val="3600"/>
              </a:lnSpc>
              <a:spcAft>
                <a:spcPts val="0"/>
              </a:spcAft>
            </a:pPr>
            <a:r>
              <a:rPr lang="ja-JP" sz="2800" b="1" dirty="0">
                <a:solidFill>
                  <a:srgbClr val="FAF9F5"/>
                </a:solidFill>
                <a:latin typeface="Hiragino Sans"/>
              </a:rPr>
              <a:t>Claude Code でできること</a:t>
            </a:r>
          </a:p>
        </p:txBody>
      </p:sp>
      <p:sp>
        <p:nvSpPr>
          <p:cNvPr id="20" name="Step 1"/>
          <p:cNvSpPr/>
          <p:nvPr/>
        </p:nvSpPr>
        <p:spPr>
          <a:xfrm>
            <a:off x="1417320" y="1371600"/>
            <a:ext cx="1645920" cy="640080"/>
          </a:xfrm>
          <a:prstGeom prst="roundRect">
            <a:avLst>
              <a:gd name="adj" fmla="val 8000"/>
            </a:avLst>
          </a:prstGeom>
          <a:solidFill>
            <a:srgbClr val="D97757"/>
          </a:solidFill>
          <a:ln w="12700">
            <a:solidFill>
              <a:srgbClr val="D97757"/>
            </a:solidFill>
          </a:ln>
        </p:spPr>
        <p:txBody>
          <a:bodyPr anchor="ctr" anchorCtr="0">
            <a:noAutofit/>
          </a:bodyPr>
          <a:lstStyle/>
          <a:p>
            <a:pPr algn="ctr">
              <a:lnSpc>
                <a:spcPts val="2400"/>
              </a:lnSpc>
              <a:spcAft>
                <a:spcPts val="0"/>
              </a:spcAft>
            </a:pPr>
            <a:r>
              <a:rPr lang="ja-JP" sz="1800" b="1" dirty="0">
                <a:solidFill>
                  <a:srgbClr val="FAF9F5"/>
                </a:solidFill>
                <a:latin typeface="Hiragino Sans"/>
              </a:rPr>
              <a:t>調査</a:t>
            </a:r>
          </a:p>
        </p:txBody>
      </p:sp>
      <p:sp>
        <p:nvSpPr>
          <p:cNvPr id="21" name="Arrow 1"/>
          <p:cNvSpPr/>
          <p:nvPr/>
        </p:nvSpPr>
        <p:spPr>
          <a:xfrm>
            <a:off x="3063240" y="1600200"/>
            <a:ext cx="274320" cy="182880"/>
          </a:xfrm>
          <a:prstGeom prst="chevron">
            <a:avLst>
              <a:gd name="adj" fmla="val 50000"/>
            </a:avLst>
          </a:prstGeom>
          <a:solidFill>
            <a:srgbClr val="D97757">
              <a:alpha val="35000"/>
            </a:srgbClr>
          </a:solidFill>
          <a:ln>
            <a:noFill/>
          </a:ln>
        </p:spPr>
        <p:txBody>
          <a:bodyPr/>
          <a:lstStyle/>
          <a:p>
            <a:endParaRPr/>
          </a:p>
        </p:txBody>
      </p:sp>
      <p:sp>
        <p:nvSpPr>
          <p:cNvPr id="22" name="Step 2"/>
          <p:cNvSpPr/>
          <p:nvPr/>
        </p:nvSpPr>
        <p:spPr>
          <a:xfrm>
            <a:off x="3337560" y="1371600"/>
            <a:ext cx="1645920" cy="640080"/>
          </a:xfrm>
          <a:prstGeom prst="roundRect">
            <a:avLst>
              <a:gd name="adj" fmla="val 8000"/>
            </a:avLst>
          </a:prstGeom>
          <a:solidFill>
            <a:srgbClr val="2D2926"/>
          </a:solidFill>
          <a:ln w="12700">
            <a:solidFill>
              <a:srgbClr val="3D3835"/>
            </a:solidFill>
          </a:ln>
        </p:spPr>
        <p:txBody>
          <a:bodyPr anchor="ctr" anchorCtr="0">
            <a:noAutofit/>
          </a:bodyPr>
          <a:lstStyle/>
          <a:p>
            <a:pPr algn="ctr">
              <a:lnSpc>
                <a:spcPts val="2400"/>
              </a:lnSpc>
              <a:spcAft>
                <a:spcPts val="0"/>
              </a:spcAft>
            </a:pPr>
            <a:r>
              <a:rPr lang="ja-JP" sz="1800" b="1" dirty="0">
                <a:solidFill>
                  <a:srgbClr val="FAF9F5"/>
                </a:solidFill>
                <a:latin typeface="Hiragino Sans"/>
              </a:rPr>
              <a:t>計画</a:t>
            </a:r>
          </a:p>
        </p:txBody>
      </p:sp>
      <p:sp>
        <p:nvSpPr>
          <p:cNvPr id="23" name="Arrow 2"/>
          <p:cNvSpPr/>
          <p:nvPr/>
        </p:nvSpPr>
        <p:spPr>
          <a:xfrm>
            <a:off x="4983480" y="1600200"/>
            <a:ext cx="274320" cy="182880"/>
          </a:xfrm>
          <a:prstGeom prst="chevron">
            <a:avLst>
              <a:gd name="adj" fmla="val 50000"/>
            </a:avLst>
          </a:prstGeom>
          <a:solidFill>
            <a:srgbClr val="D97757">
              <a:alpha val="35000"/>
            </a:srgbClr>
          </a:solidFill>
          <a:ln>
            <a:noFill/>
          </a:ln>
        </p:spPr>
        <p:txBody>
          <a:bodyPr/>
          <a:lstStyle/>
          <a:p>
            <a:endParaRPr/>
          </a:p>
        </p:txBody>
      </p:sp>
      <p:sp>
        <p:nvSpPr>
          <p:cNvPr id="24" name="Step 3"/>
          <p:cNvSpPr/>
          <p:nvPr/>
        </p:nvSpPr>
        <p:spPr>
          <a:xfrm>
            <a:off x="5257800" y="1371600"/>
            <a:ext cx="1645920" cy="640080"/>
          </a:xfrm>
          <a:prstGeom prst="roundRect">
            <a:avLst>
              <a:gd name="adj" fmla="val 8000"/>
            </a:avLst>
          </a:prstGeom>
          <a:solidFill>
            <a:srgbClr val="2D2926"/>
          </a:solidFill>
          <a:ln w="12700">
            <a:solidFill>
              <a:srgbClr val="3D3835"/>
            </a:solidFill>
          </a:ln>
        </p:spPr>
        <p:txBody>
          <a:bodyPr anchor="ctr" anchorCtr="0">
            <a:noAutofit/>
          </a:bodyPr>
          <a:lstStyle/>
          <a:p>
            <a:pPr algn="ctr">
              <a:lnSpc>
                <a:spcPts val="2400"/>
              </a:lnSpc>
              <a:spcAft>
                <a:spcPts val="0"/>
              </a:spcAft>
            </a:pPr>
            <a:r>
              <a:rPr lang="ja-JP" sz="1800" b="1" dirty="0">
                <a:solidFill>
                  <a:srgbClr val="FAF9F5"/>
                </a:solidFill>
                <a:latin typeface="Hiragino Sans"/>
              </a:rPr>
              <a:t>実装</a:t>
            </a:r>
          </a:p>
        </p:txBody>
      </p:sp>
      <p:sp>
        <p:nvSpPr>
          <p:cNvPr id="25" name="Arrow 3"/>
          <p:cNvSpPr/>
          <p:nvPr/>
        </p:nvSpPr>
        <p:spPr>
          <a:xfrm>
            <a:off x="6903720" y="1600200"/>
            <a:ext cx="274320" cy="182880"/>
          </a:xfrm>
          <a:prstGeom prst="chevron">
            <a:avLst>
              <a:gd name="adj" fmla="val 50000"/>
            </a:avLst>
          </a:prstGeom>
          <a:solidFill>
            <a:srgbClr val="D97757">
              <a:alpha val="35000"/>
            </a:srgbClr>
          </a:solidFill>
          <a:ln>
            <a:noFill/>
          </a:ln>
        </p:spPr>
        <p:txBody>
          <a:bodyPr/>
          <a:lstStyle/>
          <a:p>
            <a:endParaRPr/>
          </a:p>
        </p:txBody>
      </p:sp>
      <p:sp>
        <p:nvSpPr>
          <p:cNvPr id="26" name="Step 4"/>
          <p:cNvSpPr/>
          <p:nvPr/>
        </p:nvSpPr>
        <p:spPr>
          <a:xfrm>
            <a:off x="7178040" y="1371600"/>
            <a:ext cx="1645920" cy="640080"/>
          </a:xfrm>
          <a:prstGeom prst="roundRect">
            <a:avLst>
              <a:gd name="adj" fmla="val 8000"/>
            </a:avLst>
          </a:prstGeom>
          <a:solidFill>
            <a:srgbClr val="2D2926"/>
          </a:solidFill>
          <a:ln w="12700">
            <a:solidFill>
              <a:srgbClr val="3D3835"/>
            </a:solidFill>
          </a:ln>
        </p:spPr>
        <p:txBody>
          <a:bodyPr anchor="ctr" anchorCtr="0">
            <a:noAutofit/>
          </a:bodyPr>
          <a:lstStyle/>
          <a:p>
            <a:pPr algn="ctr">
              <a:lnSpc>
                <a:spcPts val="2400"/>
              </a:lnSpc>
              <a:spcAft>
                <a:spcPts val="0"/>
              </a:spcAft>
            </a:pPr>
            <a:r>
              <a:rPr lang="ja-JP" sz="1800" b="1" dirty="0">
                <a:solidFill>
                  <a:srgbClr val="FAF9F5"/>
                </a:solidFill>
                <a:latin typeface="Hiragino Sans"/>
              </a:rPr>
              <a:t>検証</a:t>
            </a:r>
          </a:p>
        </p:txBody>
      </p:sp>
      <p:sp>
        <p:nvSpPr>
          <p:cNvPr id="27" name="Arrow 4"/>
          <p:cNvSpPr/>
          <p:nvPr/>
        </p:nvSpPr>
        <p:spPr>
          <a:xfrm>
            <a:off x="8823960" y="1600200"/>
            <a:ext cx="274320" cy="182880"/>
          </a:xfrm>
          <a:prstGeom prst="chevron">
            <a:avLst>
              <a:gd name="adj" fmla="val 50000"/>
            </a:avLst>
          </a:prstGeom>
          <a:solidFill>
            <a:srgbClr val="D97757">
              <a:alpha val="35000"/>
            </a:srgbClr>
          </a:solidFill>
          <a:ln>
            <a:noFill/>
          </a:ln>
        </p:spPr>
        <p:txBody>
          <a:bodyPr/>
          <a:lstStyle/>
          <a:p>
            <a:endParaRPr/>
          </a:p>
        </p:txBody>
      </p:sp>
      <p:sp>
        <p:nvSpPr>
          <p:cNvPr id="28" name="Step 5"/>
          <p:cNvSpPr/>
          <p:nvPr/>
        </p:nvSpPr>
        <p:spPr>
          <a:xfrm>
            <a:off x="9098280" y="1371600"/>
            <a:ext cx="1645920" cy="640080"/>
          </a:xfrm>
          <a:prstGeom prst="roundRect">
            <a:avLst>
              <a:gd name="adj" fmla="val 8000"/>
            </a:avLst>
          </a:prstGeom>
          <a:solidFill>
            <a:srgbClr val="2D2926"/>
          </a:solidFill>
          <a:ln w="12700">
            <a:solidFill>
              <a:srgbClr val="3D3835"/>
            </a:solidFill>
          </a:ln>
        </p:spPr>
        <p:txBody>
          <a:bodyPr anchor="ctr" anchorCtr="0">
            <a:noAutofit/>
          </a:bodyPr>
          <a:lstStyle/>
          <a:p>
            <a:pPr algn="ctr">
              <a:lnSpc>
                <a:spcPts val="2400"/>
              </a:lnSpc>
              <a:spcAft>
                <a:spcPts val="0"/>
              </a:spcAft>
            </a:pPr>
            <a:r>
              <a:rPr lang="ja-JP" sz="1800" b="1" dirty="0">
                <a:solidFill>
                  <a:srgbClr val="FAF9F5"/>
                </a:solidFill>
                <a:latin typeface="Hiragino Sans"/>
              </a:rPr>
              <a:t>要約</a:t>
            </a:r>
          </a:p>
        </p:txBody>
      </p:sp>
      <p:cxnSp>
        <p:nvCxnSpPr>
          <p:cNvPr id="40" name="Div"/>
          <p:cNvCxnSpPr/>
          <p:nvPr/>
        </p:nvCxnSpPr>
        <p:spPr>
          <a:xfrm>
            <a:off x="731520" y="2286000"/>
            <a:ext cx="10698480" cy="0"/>
          </a:xfrm>
          <a:prstGeom prst="line">
            <a:avLst/>
          </a:prstGeom>
          <a:ln w="9525">
            <a:solidFill>
              <a:srgbClr val="3D3835"/>
            </a:solidFill>
          </a:ln>
        </p:spPr>
      </p:cxnSp>
      <p:sp>
        <p:nvSpPr>
          <p:cNvPr id="50" name="Bullet BG 0"/>
          <p:cNvSpPr/>
          <p:nvPr/>
        </p:nvSpPr>
        <p:spPr>
          <a:xfrm>
            <a:off x="731520" y="2468880"/>
            <a:ext cx="5120640" cy="1280160"/>
          </a:xfrm>
          <a:prstGeom prst="roundRect">
            <a:avLst>
              <a:gd name="adj" fmla="val 4000"/>
            </a:avLst>
          </a:prstGeom>
          <a:solidFill>
            <a:srgbClr val="2D2926"/>
          </a:solidFill>
          <a:ln>
            <a:noFill/>
          </a:ln>
        </p:spPr>
        <p:txBody>
          <a:bodyPr/>
          <a:lstStyle/>
          <a:p>
            <a:endParaRPr/>
          </a:p>
        </p:txBody>
      </p:sp>
      <p:sp>
        <p:nvSpPr>
          <p:cNvPr id="51" name="Bullet Accent 0"/>
          <p:cNvSpPr/>
          <p:nvPr/>
        </p:nvSpPr>
        <p:spPr>
          <a:xfrm>
            <a:off x="731520" y="2468880"/>
            <a:ext cx="45720" cy="1280160"/>
          </a:xfrm>
          <a:prstGeom prst="rect">
            <a:avLst/>
          </a:prstGeom>
          <a:solidFill>
            <a:srgbClr val="D97757">
              <a:alpha val="50000"/>
            </a:srgbClr>
          </a:solidFill>
          <a:ln>
            <a:noFill/>
          </a:ln>
        </p:spPr>
        <p:txBody>
          <a:bodyPr/>
          <a:lstStyle/>
          <a:p>
            <a:endParaRPr/>
          </a:p>
        </p:txBody>
      </p:sp>
      <p:sp>
        <p:nvSpPr>
          <p:cNvPr id="60" name="Bullet Text 0"/>
          <p:cNvSpPr txBox="1"/>
          <p:nvPr/>
        </p:nvSpPr>
        <p:spPr>
          <a:xfrm>
            <a:off x="960120" y="2606040"/>
            <a:ext cx="4754880" cy="1005840"/>
          </a:xfrm>
          <a:prstGeom prst="rect">
            <a:avLst/>
          </a:prstGeom>
          <a:noFill/>
        </p:spPr>
        <p:txBody>
          <a:bodyPr wrap="square">
            <a:spAutoFit/>
          </a:bodyPr>
          <a:lstStyle/>
          <a:p>
            <a:pPr algn="l">
              <a:lnSpc>
                <a:spcPts val="2400"/>
              </a:lnSpc>
              <a:spcAft>
                <a:spcPts val="200"/>
              </a:spcAft>
            </a:pPr>
            <a:r>
              <a:rPr lang="ja-JP" sz="1600" b="1" dirty="0">
                <a:solidFill>
                  <a:srgbClr val="FAF9F5"/>
                </a:solidFill>
                <a:latin typeface="Hiragino Sans"/>
              </a:rPr>
              <a:t>ターミナルで動くAIエージェント</a:t>
            </a:r>
          </a:p>
          <a:p>
            <a:pPr algn="l">
              <a:lnSpc>
                <a:spcPts val="2200"/>
              </a:lnSpc>
              <a:spcAft>
                <a:spcPts val="0"/>
              </a:spcAft>
            </a:pPr>
            <a:r>
              <a:rPr lang="ja-JP" sz="1400" b="0" dirty="0">
                <a:solidFill>
                  <a:srgbClr val="C5C3BB"/>
                </a:solidFill>
                <a:latin typeface="Hiragino Sans"/>
              </a:rPr>
              <a:t>指示は自然言語でOK</a:t>
            </a:r>
          </a:p>
        </p:txBody>
      </p:sp>
      <p:sp>
        <p:nvSpPr>
          <p:cNvPr id="52" name="Bullet BG 1"/>
          <p:cNvSpPr/>
          <p:nvPr/>
        </p:nvSpPr>
        <p:spPr>
          <a:xfrm>
            <a:off x="6309360" y="2468880"/>
            <a:ext cx="5120640" cy="1280160"/>
          </a:xfrm>
          <a:prstGeom prst="roundRect">
            <a:avLst>
              <a:gd name="adj" fmla="val 4000"/>
            </a:avLst>
          </a:prstGeom>
          <a:solidFill>
            <a:srgbClr val="2D2926"/>
          </a:solidFill>
          <a:ln>
            <a:noFill/>
          </a:ln>
        </p:spPr>
        <p:txBody>
          <a:bodyPr/>
          <a:lstStyle/>
          <a:p>
            <a:endParaRPr/>
          </a:p>
        </p:txBody>
      </p:sp>
      <p:sp>
        <p:nvSpPr>
          <p:cNvPr id="53" name="Bullet Accent 1"/>
          <p:cNvSpPr/>
          <p:nvPr/>
        </p:nvSpPr>
        <p:spPr>
          <a:xfrm>
            <a:off x="6309360" y="2468880"/>
            <a:ext cx="45720" cy="1280160"/>
          </a:xfrm>
          <a:prstGeom prst="rect">
            <a:avLst/>
          </a:prstGeom>
          <a:solidFill>
            <a:srgbClr val="D97757">
              <a:alpha val="50000"/>
            </a:srgbClr>
          </a:solidFill>
          <a:ln>
            <a:noFill/>
          </a:ln>
        </p:spPr>
        <p:txBody>
          <a:bodyPr/>
          <a:lstStyle/>
          <a:p>
            <a:endParaRPr/>
          </a:p>
        </p:txBody>
      </p:sp>
      <p:sp>
        <p:nvSpPr>
          <p:cNvPr id="61" name="Bullet Text 1"/>
          <p:cNvSpPr txBox="1"/>
          <p:nvPr/>
        </p:nvSpPr>
        <p:spPr>
          <a:xfrm>
            <a:off x="6537960" y="2606040"/>
            <a:ext cx="4754880" cy="1005840"/>
          </a:xfrm>
          <a:prstGeom prst="rect">
            <a:avLst/>
          </a:prstGeom>
          <a:noFill/>
        </p:spPr>
        <p:txBody>
          <a:bodyPr wrap="square">
            <a:spAutoFit/>
          </a:bodyPr>
          <a:lstStyle/>
          <a:p>
            <a:pPr algn="l">
              <a:lnSpc>
                <a:spcPts val="2400"/>
              </a:lnSpc>
              <a:spcAft>
                <a:spcPts val="200"/>
              </a:spcAft>
            </a:pPr>
            <a:r>
              <a:rPr lang="ja-JP" sz="1600" b="1" dirty="0">
                <a:solidFill>
                  <a:srgbClr val="FAF9F5"/>
                </a:solidFill>
                <a:latin typeface="Hiragino Sans"/>
              </a:rPr>
              <a:t>調査→計画→実装→検証→要約</a:t>
            </a:r>
          </a:p>
          <a:p>
            <a:pPr algn="l">
              <a:lnSpc>
                <a:spcPts val="2200"/>
              </a:lnSpc>
              <a:spcAft>
                <a:spcPts val="0"/>
              </a:spcAft>
            </a:pPr>
            <a:r>
              <a:rPr lang="ja-JP" sz="1400" b="0" dirty="0">
                <a:solidFill>
                  <a:srgbClr val="C5C3BB"/>
                </a:solidFill>
                <a:latin typeface="Hiragino Sans"/>
              </a:rPr>
              <a:t>を一連で扱う</a:t>
            </a:r>
          </a:p>
        </p:txBody>
      </p:sp>
      <p:sp>
        <p:nvSpPr>
          <p:cNvPr id="54" name="Bullet BG 2"/>
          <p:cNvSpPr/>
          <p:nvPr/>
        </p:nvSpPr>
        <p:spPr>
          <a:xfrm>
            <a:off x="731520" y="3931920"/>
            <a:ext cx="5120640" cy="1280160"/>
          </a:xfrm>
          <a:prstGeom prst="roundRect">
            <a:avLst>
              <a:gd name="adj" fmla="val 4000"/>
            </a:avLst>
          </a:prstGeom>
          <a:solidFill>
            <a:srgbClr val="2D2926"/>
          </a:solidFill>
          <a:ln>
            <a:noFill/>
          </a:ln>
        </p:spPr>
        <p:txBody>
          <a:bodyPr/>
          <a:lstStyle/>
          <a:p>
            <a:endParaRPr/>
          </a:p>
        </p:txBody>
      </p:sp>
      <p:sp>
        <p:nvSpPr>
          <p:cNvPr id="55" name="Bullet Accent 2"/>
          <p:cNvSpPr/>
          <p:nvPr/>
        </p:nvSpPr>
        <p:spPr>
          <a:xfrm>
            <a:off x="731520" y="3931920"/>
            <a:ext cx="45720" cy="1280160"/>
          </a:xfrm>
          <a:prstGeom prst="rect">
            <a:avLst/>
          </a:prstGeom>
          <a:solidFill>
            <a:srgbClr val="D97757">
              <a:alpha val="50000"/>
            </a:srgbClr>
          </a:solidFill>
          <a:ln>
            <a:noFill/>
          </a:ln>
        </p:spPr>
        <p:txBody>
          <a:bodyPr/>
          <a:lstStyle/>
          <a:p>
            <a:endParaRPr/>
          </a:p>
        </p:txBody>
      </p:sp>
      <p:sp>
        <p:nvSpPr>
          <p:cNvPr id="62" name="Bullet Text 2"/>
          <p:cNvSpPr txBox="1"/>
          <p:nvPr/>
        </p:nvSpPr>
        <p:spPr>
          <a:xfrm>
            <a:off x="960120" y="4069080"/>
            <a:ext cx="4754880" cy="1005840"/>
          </a:xfrm>
          <a:prstGeom prst="rect">
            <a:avLst/>
          </a:prstGeom>
          <a:noFill/>
        </p:spPr>
        <p:txBody>
          <a:bodyPr wrap="square">
            <a:spAutoFit/>
          </a:bodyPr>
          <a:lstStyle/>
          <a:p>
            <a:pPr algn="l">
              <a:lnSpc>
                <a:spcPts val="2400"/>
              </a:lnSpc>
              <a:spcAft>
                <a:spcPts val="200"/>
              </a:spcAft>
            </a:pPr>
            <a:r>
              <a:rPr lang="ja-JP" sz="1600" b="1" dirty="0">
                <a:solidFill>
                  <a:srgbClr val="FAF9F5"/>
                </a:solidFill>
                <a:latin typeface="Hiragino Sans"/>
              </a:rPr>
              <a:t>デフォルトは読み取り専用</a:t>
            </a:r>
          </a:p>
          <a:p>
            <a:pPr algn="l">
              <a:lnSpc>
                <a:spcPts val="2200"/>
              </a:lnSpc>
              <a:spcAft>
                <a:spcPts val="0"/>
              </a:spcAft>
            </a:pPr>
            <a:r>
              <a:rPr lang="ja-JP" sz="1400" b="0" dirty="0">
                <a:solidFill>
                  <a:srgbClr val="C5C3BB"/>
                </a:solidFill>
                <a:latin typeface="Hiragino Sans"/>
              </a:rPr>
              <a:t>ファイル編集やコマンド実行は許可制</a:t>
            </a:r>
          </a:p>
        </p:txBody>
      </p:sp>
      <p:sp>
        <p:nvSpPr>
          <p:cNvPr id="56" name="Bullet BG 3"/>
          <p:cNvSpPr/>
          <p:nvPr/>
        </p:nvSpPr>
        <p:spPr>
          <a:xfrm>
            <a:off x="6309360" y="3931920"/>
            <a:ext cx="5120640" cy="1280160"/>
          </a:xfrm>
          <a:prstGeom prst="roundRect">
            <a:avLst>
              <a:gd name="adj" fmla="val 4000"/>
            </a:avLst>
          </a:prstGeom>
          <a:solidFill>
            <a:srgbClr val="2D2926"/>
          </a:solidFill>
          <a:ln>
            <a:noFill/>
          </a:ln>
        </p:spPr>
        <p:txBody>
          <a:bodyPr/>
          <a:lstStyle/>
          <a:p>
            <a:endParaRPr/>
          </a:p>
        </p:txBody>
      </p:sp>
      <p:sp>
        <p:nvSpPr>
          <p:cNvPr id="57" name="Bullet Accent 3"/>
          <p:cNvSpPr/>
          <p:nvPr/>
        </p:nvSpPr>
        <p:spPr>
          <a:xfrm>
            <a:off x="6309360" y="3931920"/>
            <a:ext cx="45720" cy="1280160"/>
          </a:xfrm>
          <a:prstGeom prst="rect">
            <a:avLst/>
          </a:prstGeom>
          <a:solidFill>
            <a:srgbClr val="D97757">
              <a:alpha val="50000"/>
            </a:srgbClr>
          </a:solidFill>
          <a:ln>
            <a:noFill/>
          </a:ln>
        </p:spPr>
        <p:txBody>
          <a:bodyPr/>
          <a:lstStyle/>
          <a:p>
            <a:endParaRPr/>
          </a:p>
        </p:txBody>
      </p:sp>
      <p:sp>
        <p:nvSpPr>
          <p:cNvPr id="63" name="Bullet Text 3"/>
          <p:cNvSpPr txBox="1"/>
          <p:nvPr/>
        </p:nvSpPr>
        <p:spPr>
          <a:xfrm>
            <a:off x="6537960" y="4069080"/>
            <a:ext cx="4754880" cy="1005840"/>
          </a:xfrm>
          <a:prstGeom prst="rect">
            <a:avLst/>
          </a:prstGeom>
          <a:noFill/>
        </p:spPr>
        <p:txBody>
          <a:bodyPr wrap="square">
            <a:spAutoFit/>
          </a:bodyPr>
          <a:lstStyle/>
          <a:p>
            <a:pPr algn="l">
              <a:lnSpc>
                <a:spcPts val="2400"/>
              </a:lnSpc>
              <a:spcAft>
                <a:spcPts val="200"/>
              </a:spcAft>
            </a:pPr>
            <a:r>
              <a:rPr lang="ja-JP" sz="1600" b="1" dirty="0">
                <a:solidFill>
                  <a:srgbClr val="FAF9F5"/>
                </a:solidFill>
                <a:latin typeface="Hiragino Sans"/>
              </a:rPr>
              <a:t>コード補完ではなく</a:t>
            </a:r>
          </a:p>
          <a:p>
            <a:pPr algn="l">
              <a:lnSpc>
                <a:spcPts val="2200"/>
              </a:lnSpc>
              <a:spcAft>
                <a:spcPts val="0"/>
              </a:spcAft>
            </a:pPr>
            <a:r>
              <a:rPr lang="ja-JP" sz="1400" b="0" dirty="0">
                <a:solidFill>
                  <a:srgbClr val="C5C3BB"/>
                </a:solidFill>
                <a:latin typeface="Hiragino Sans"/>
              </a:rPr>
              <a:t>「作業を進める」ツール</a:t>
            </a:r>
          </a:p>
        </p:txBody>
      </p:sp>
      <p:sp>
        <p:nvSpPr>
          <p:cNvPr id="99" name="PageNum"/>
          <p:cNvSpPr txBox="1"/>
          <p:nvPr/>
        </p:nvSpPr>
        <p:spPr>
          <a:xfrm>
            <a:off x="11247120" y="6400800"/>
            <a:ext cx="640080" cy="274320"/>
          </a:xfrm>
          <a:prstGeom prst="rect">
            <a:avLst/>
          </a:prstGeom>
          <a:noFill/>
        </p:spPr>
        <p:txBody>
          <a:bodyPr wrap="square">
            <a:spAutoFit/>
          </a:bodyPr>
          <a:lstStyle/>
          <a:p>
            <a:pPr algn="r">
              <a:lnSpc>
                <a:spcPts val="1500"/>
              </a:lnSpc>
              <a:spcAft>
                <a:spcPts val="0"/>
              </a:spcAft>
            </a:pPr>
            <a:r>
              <a:rPr lang="en-US" sz="1100" b="0" dirty="0">
                <a:solidFill>
                  <a:srgbClr val="B0AEA5"/>
                </a:solidFill>
                <a:latin typeface="Helvetica Neue"/>
              </a:rPr>
              <a:t>4 / 16</a:t>
            </a:r>
          </a:p>
        </p:txBody>
      </p:sp>
    </p:spTree>
    <p:extLst>
      <p:ext uri="{BB962C8B-B14F-4D97-AF65-F5344CB8AC3E}">
        <p14:creationId xmlns:p14="http://schemas.microsoft.com/office/powerpoint/2010/main" val="17278155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10" name="Part"/>
          <p:cNvSpPr txBox="1"/>
          <p:nvPr/>
        </p:nvSpPr>
        <p:spPr>
          <a:xfrm>
            <a:off x="731520" y="274320"/>
            <a:ext cx="4572000" cy="274320"/>
          </a:xfrm>
          <a:prstGeom prst="rect">
            <a:avLst/>
          </a:prstGeom>
          <a:noFill/>
        </p:spPr>
        <p:txBody>
          <a:bodyPr wrap="square">
            <a:spAutoFit/>
          </a:bodyPr>
          <a:lstStyle/>
          <a:p>
            <a:pPr algn="l">
              <a:lnSpc>
                <a:spcPts val="1800"/>
              </a:lnSpc>
            </a:pPr>
            <a:r>
              <a:rPr lang="en-US" sz="1200" b="1" dirty="0">
                <a:solidFill>
                  <a:srgbClr val="D97757"/>
                </a:solidFill>
                <a:latin typeface="Helvetica Neue"/>
              </a:rPr>
              <a:t>PART 1 — Claude Code とは</a:t>
            </a:r>
          </a:p>
        </p:txBody>
      </p:sp>
      <p:sp>
        <p:nvSpPr>
          <p:cNvPr id="11" name="Title"/>
          <p:cNvSpPr txBox="1"/>
          <p:nvPr/>
        </p:nvSpPr>
        <p:spPr>
          <a:xfrm>
            <a:off x="731520" y="548640"/>
            <a:ext cx="10058400" cy="548640"/>
          </a:xfrm>
          <a:prstGeom prst="rect">
            <a:avLst/>
          </a:prstGeom>
          <a:noFill/>
        </p:spPr>
        <p:txBody>
          <a:bodyPr wrap="square">
            <a:spAutoFit/>
          </a:bodyPr>
          <a:lstStyle/>
          <a:p>
            <a:pPr algn="l">
              <a:lnSpc>
                <a:spcPts val="3600"/>
              </a:lnSpc>
            </a:pPr>
            <a:r>
              <a:rPr lang="ja-JP" sz="2800" b="1" dirty="0">
                <a:solidFill>
                  <a:srgbClr val="FAF9F5"/>
                </a:solidFill>
                <a:latin typeface="Hiragino Sans"/>
              </a:rPr>
              <a:t>Claude Code のツール群</a:t>
            </a:r>
          </a:p>
        </p:txBody>
      </p:sp>
      <p:sp>
        <p:nvSpPr>
          <p:cNvPr id="20" name="Tool BG 0"/>
          <p:cNvSpPr/>
          <p:nvPr/>
        </p:nvSpPr>
        <p:spPr>
          <a:xfrm>
            <a:off x="731520" y="1280160"/>
            <a:ext cx="5120640" cy="914400"/>
          </a:xfrm>
          <a:prstGeom prst="roundRect">
            <a:avLst>
              <a:gd name="adj" fmla="val 5000"/>
            </a:avLst>
          </a:prstGeom>
          <a:solidFill>
            <a:srgbClr val="2D2926"/>
          </a:solidFill>
          <a:ln w="12700">
            <a:solidFill>
              <a:srgbClr val="3D3835"/>
            </a:solidFill>
          </a:ln>
        </p:spPr>
        <p:txBody>
          <a:bodyPr/>
          <a:lstStyle/>
          <a:p>
            <a:endParaRPr/>
          </a:p>
        </p:txBody>
      </p:sp>
      <p:sp>
        <p:nvSpPr>
          <p:cNvPr id="21" name="Tool Accent 0"/>
          <p:cNvSpPr/>
          <p:nvPr/>
        </p:nvSpPr>
        <p:spPr>
          <a:xfrm>
            <a:off x="731520" y="1280160"/>
            <a:ext cx="45720" cy="914400"/>
          </a:xfrm>
          <a:prstGeom prst="rect">
            <a:avLst/>
          </a:prstGeom>
          <a:solidFill>
            <a:srgbClr val="6A9BCC"/>
          </a:solidFill>
          <a:ln>
            <a:noFill/>
          </a:ln>
        </p:spPr>
        <p:txBody>
          <a:bodyPr/>
          <a:lstStyle/>
          <a:p>
            <a:endParaRPr/>
          </a:p>
        </p:txBody>
      </p:sp>
      <p:sp>
        <p:nvSpPr>
          <p:cNvPr id="22" name="Tool Text 0"/>
          <p:cNvSpPr txBox="1"/>
          <p:nvPr/>
        </p:nvSpPr>
        <p:spPr>
          <a:xfrm>
            <a:off x="960120" y="1417320"/>
            <a:ext cx="4754880" cy="640080"/>
          </a:xfrm>
          <a:prstGeom prst="rect">
            <a:avLst/>
          </a:prstGeom>
          <a:noFill/>
        </p:spPr>
        <p:txBody>
          <a:bodyPr wrap="square">
            <a:spAutoFit/>
          </a:bodyPr>
          <a:lstStyle/>
          <a:p>
            <a:pPr algn="l">
              <a:lnSpc>
                <a:spcPts val="2200"/>
              </a:lnSpc>
              <a:spcAft>
                <a:spcPts val="200"/>
              </a:spcAft>
            </a:pPr>
            <a:r>
              <a:rPr lang="en-US" sz="1600" b="1" dirty="0">
                <a:solidFill>
                  <a:srgbClr val="6A9BCC"/>
                </a:solidFill>
                <a:latin typeface="SF Mono"/>
              </a:rPr>
              <a:t>Read / Grep / Glob</a:t>
            </a:r>
          </a:p>
          <a:p>
            <a:pPr algn="l">
              <a:lnSpc>
                <a:spcPts val="2000"/>
              </a:lnSpc>
            </a:pPr>
            <a:r>
              <a:rPr lang="ja-JP" sz="1400" b="0" dirty="0">
                <a:solidFill>
                  <a:srgbClr val="C5C3BB"/>
                </a:solidFill>
                <a:latin typeface="Hiragino Sans"/>
              </a:rPr>
              <a:t>ファイルの閲覧・コード検索</a:t>
            </a:r>
          </a:p>
        </p:txBody>
      </p:sp>
      <p:sp>
        <p:nvSpPr>
          <p:cNvPr id="23" name="Tool BG 1"/>
          <p:cNvSpPr/>
          <p:nvPr/>
        </p:nvSpPr>
        <p:spPr>
          <a:xfrm>
            <a:off x="6309360" y="1280160"/>
            <a:ext cx="5120640" cy="914400"/>
          </a:xfrm>
          <a:prstGeom prst="roundRect">
            <a:avLst>
              <a:gd name="adj" fmla="val 5000"/>
            </a:avLst>
          </a:prstGeom>
          <a:solidFill>
            <a:srgbClr val="2D2926"/>
          </a:solidFill>
          <a:ln w="12700">
            <a:solidFill>
              <a:srgbClr val="3D3835"/>
            </a:solidFill>
          </a:ln>
        </p:spPr>
        <p:txBody>
          <a:bodyPr/>
          <a:lstStyle/>
          <a:p>
            <a:endParaRPr/>
          </a:p>
        </p:txBody>
      </p:sp>
      <p:sp>
        <p:nvSpPr>
          <p:cNvPr id="24" name="Tool Accent 1"/>
          <p:cNvSpPr/>
          <p:nvPr/>
        </p:nvSpPr>
        <p:spPr>
          <a:xfrm>
            <a:off x="6309360" y="1280160"/>
            <a:ext cx="45720" cy="914400"/>
          </a:xfrm>
          <a:prstGeom prst="rect">
            <a:avLst/>
          </a:prstGeom>
          <a:solidFill>
            <a:srgbClr val="6A9BCC"/>
          </a:solidFill>
          <a:ln>
            <a:noFill/>
          </a:ln>
        </p:spPr>
        <p:txBody>
          <a:bodyPr/>
          <a:lstStyle/>
          <a:p>
            <a:endParaRPr/>
          </a:p>
        </p:txBody>
      </p:sp>
      <p:sp>
        <p:nvSpPr>
          <p:cNvPr id="25" name="Tool Text 1"/>
          <p:cNvSpPr txBox="1"/>
          <p:nvPr/>
        </p:nvSpPr>
        <p:spPr>
          <a:xfrm>
            <a:off x="6537960" y="1417320"/>
            <a:ext cx="4754880" cy="640080"/>
          </a:xfrm>
          <a:prstGeom prst="rect">
            <a:avLst/>
          </a:prstGeom>
          <a:noFill/>
        </p:spPr>
        <p:txBody>
          <a:bodyPr wrap="square">
            <a:spAutoFit/>
          </a:bodyPr>
          <a:lstStyle/>
          <a:p>
            <a:pPr algn="l">
              <a:lnSpc>
                <a:spcPts val="2200"/>
              </a:lnSpc>
              <a:spcAft>
                <a:spcPts val="200"/>
              </a:spcAft>
            </a:pPr>
            <a:r>
              <a:rPr lang="en-US" sz="1600" b="1" dirty="0">
                <a:solidFill>
                  <a:srgbClr val="6A9BCC"/>
                </a:solidFill>
                <a:latin typeface="SF Mono"/>
              </a:rPr>
              <a:t>Edit / Write</a:t>
            </a:r>
          </a:p>
          <a:p>
            <a:pPr algn="l">
              <a:lnSpc>
                <a:spcPts val="2000"/>
              </a:lnSpc>
            </a:pPr>
            <a:r>
              <a:rPr lang="ja-JP" sz="1400" b="0" dirty="0">
                <a:solidFill>
                  <a:srgbClr val="C5C3BB"/>
                </a:solidFill>
                <a:latin typeface="Hiragino Sans"/>
              </a:rPr>
              <a:t>ファイルの編集・作成</a:t>
            </a:r>
          </a:p>
        </p:txBody>
      </p:sp>
      <p:sp>
        <p:nvSpPr>
          <p:cNvPr id="26" name="Tool BG 2"/>
          <p:cNvSpPr/>
          <p:nvPr/>
        </p:nvSpPr>
        <p:spPr>
          <a:xfrm>
            <a:off x="731520" y="2468880"/>
            <a:ext cx="5120640" cy="914400"/>
          </a:xfrm>
          <a:prstGeom prst="roundRect">
            <a:avLst>
              <a:gd name="adj" fmla="val 5000"/>
            </a:avLst>
          </a:prstGeom>
          <a:solidFill>
            <a:srgbClr val="2D2926"/>
          </a:solidFill>
          <a:ln w="12700">
            <a:solidFill>
              <a:srgbClr val="3D3835"/>
            </a:solidFill>
          </a:ln>
        </p:spPr>
        <p:txBody>
          <a:bodyPr/>
          <a:lstStyle/>
          <a:p>
            <a:endParaRPr/>
          </a:p>
        </p:txBody>
      </p:sp>
      <p:sp>
        <p:nvSpPr>
          <p:cNvPr id="27" name="Tool Accent 2"/>
          <p:cNvSpPr/>
          <p:nvPr/>
        </p:nvSpPr>
        <p:spPr>
          <a:xfrm>
            <a:off x="731520" y="2468880"/>
            <a:ext cx="45720" cy="914400"/>
          </a:xfrm>
          <a:prstGeom prst="rect">
            <a:avLst/>
          </a:prstGeom>
          <a:solidFill>
            <a:srgbClr val="6A9BCC"/>
          </a:solidFill>
          <a:ln>
            <a:noFill/>
          </a:ln>
        </p:spPr>
        <p:txBody>
          <a:bodyPr/>
          <a:lstStyle/>
          <a:p>
            <a:endParaRPr/>
          </a:p>
        </p:txBody>
      </p:sp>
      <p:sp>
        <p:nvSpPr>
          <p:cNvPr id="28" name="Tool Text 2"/>
          <p:cNvSpPr txBox="1"/>
          <p:nvPr/>
        </p:nvSpPr>
        <p:spPr>
          <a:xfrm>
            <a:off x="960120" y="2606040"/>
            <a:ext cx="4754880" cy="640080"/>
          </a:xfrm>
          <a:prstGeom prst="rect">
            <a:avLst/>
          </a:prstGeom>
          <a:noFill/>
        </p:spPr>
        <p:txBody>
          <a:bodyPr wrap="square">
            <a:spAutoFit/>
          </a:bodyPr>
          <a:lstStyle/>
          <a:p>
            <a:pPr algn="l">
              <a:lnSpc>
                <a:spcPts val="2200"/>
              </a:lnSpc>
              <a:spcAft>
                <a:spcPts val="200"/>
              </a:spcAft>
            </a:pPr>
            <a:r>
              <a:rPr lang="en-US" sz="1600" b="1" dirty="0">
                <a:solidFill>
                  <a:srgbClr val="6A9BCC"/>
                </a:solidFill>
                <a:latin typeface="SF Mono"/>
              </a:rPr>
              <a:t>WebSearch / WebFetch</a:t>
            </a:r>
          </a:p>
          <a:p>
            <a:pPr algn="l">
              <a:lnSpc>
                <a:spcPts val="2000"/>
              </a:lnSpc>
            </a:pPr>
            <a:r>
              <a:rPr lang="ja-JP" sz="1400" b="0" dirty="0">
                <a:solidFill>
                  <a:srgbClr val="C5C3BB"/>
                </a:solidFill>
                <a:latin typeface="Hiragino Sans"/>
              </a:rPr>
              <a:t>Web検索・ページ取得</a:t>
            </a:r>
          </a:p>
        </p:txBody>
      </p:sp>
      <p:sp>
        <p:nvSpPr>
          <p:cNvPr id="29" name="Tool BG 3"/>
          <p:cNvSpPr/>
          <p:nvPr/>
        </p:nvSpPr>
        <p:spPr>
          <a:xfrm>
            <a:off x="6309360" y="2468880"/>
            <a:ext cx="5120640" cy="914400"/>
          </a:xfrm>
          <a:prstGeom prst="roundRect">
            <a:avLst>
              <a:gd name="adj" fmla="val 5000"/>
            </a:avLst>
          </a:prstGeom>
          <a:solidFill>
            <a:srgbClr val="2D2926"/>
          </a:solidFill>
          <a:ln w="12700">
            <a:solidFill>
              <a:srgbClr val="3D3835"/>
            </a:solidFill>
          </a:ln>
        </p:spPr>
        <p:txBody>
          <a:bodyPr/>
          <a:lstStyle/>
          <a:p>
            <a:endParaRPr/>
          </a:p>
        </p:txBody>
      </p:sp>
      <p:sp>
        <p:nvSpPr>
          <p:cNvPr id="30" name="Tool Accent 3"/>
          <p:cNvSpPr/>
          <p:nvPr/>
        </p:nvSpPr>
        <p:spPr>
          <a:xfrm>
            <a:off x="6309360" y="2468880"/>
            <a:ext cx="45720" cy="914400"/>
          </a:xfrm>
          <a:prstGeom prst="rect">
            <a:avLst/>
          </a:prstGeom>
          <a:solidFill>
            <a:srgbClr val="6A9BCC"/>
          </a:solidFill>
          <a:ln>
            <a:noFill/>
          </a:ln>
        </p:spPr>
        <p:txBody>
          <a:bodyPr/>
          <a:lstStyle/>
          <a:p>
            <a:endParaRPr/>
          </a:p>
        </p:txBody>
      </p:sp>
      <p:sp>
        <p:nvSpPr>
          <p:cNvPr id="31" name="Tool Text 3"/>
          <p:cNvSpPr txBox="1"/>
          <p:nvPr/>
        </p:nvSpPr>
        <p:spPr>
          <a:xfrm>
            <a:off x="6537960" y="2606040"/>
            <a:ext cx="4754880" cy="640080"/>
          </a:xfrm>
          <a:prstGeom prst="rect">
            <a:avLst/>
          </a:prstGeom>
          <a:noFill/>
        </p:spPr>
        <p:txBody>
          <a:bodyPr wrap="square">
            <a:spAutoFit/>
          </a:bodyPr>
          <a:lstStyle/>
          <a:p>
            <a:pPr algn="l">
              <a:lnSpc>
                <a:spcPts val="2200"/>
              </a:lnSpc>
              <a:spcAft>
                <a:spcPts val="200"/>
              </a:spcAft>
            </a:pPr>
            <a:r>
              <a:rPr lang="en-US" sz="1600" b="1" dirty="0">
                <a:solidFill>
                  <a:srgbClr val="6A9BCC"/>
                </a:solidFill>
                <a:latin typeface="SF Mono"/>
              </a:rPr>
              <a:t>Task</a:t>
            </a:r>
          </a:p>
          <a:p>
            <a:pPr algn="l">
              <a:lnSpc>
                <a:spcPts val="2000"/>
              </a:lnSpc>
            </a:pPr>
            <a:r>
              <a:rPr lang="ja-JP" sz="1400" b="0" dirty="0">
                <a:solidFill>
                  <a:srgbClr val="C5C3BB"/>
                </a:solidFill>
                <a:latin typeface="Hiragino Sans"/>
              </a:rPr>
              <a:t>サブエージェントによる並列探索</a:t>
            </a:r>
          </a:p>
        </p:txBody>
      </p:sp>
      <p:sp>
        <p:nvSpPr>
          <p:cNvPr id="40" name="Bash BG"/>
          <p:cNvSpPr/>
          <p:nvPr/>
        </p:nvSpPr>
        <p:spPr>
          <a:xfrm>
            <a:off x="731520" y="3749040"/>
            <a:ext cx="10698480" cy="2194560"/>
          </a:xfrm>
          <a:prstGeom prst="roundRect">
            <a:avLst>
              <a:gd name="adj" fmla="val 2500"/>
            </a:avLst>
          </a:prstGeom>
          <a:solidFill>
            <a:srgbClr val="2D2926"/>
          </a:solidFill>
          <a:ln w="12700">
            <a:solidFill>
              <a:srgbClr val="3D3835"/>
            </a:solidFill>
          </a:ln>
        </p:spPr>
        <p:txBody>
          <a:bodyPr/>
          <a:lstStyle/>
          <a:p>
            <a:endParaRPr/>
          </a:p>
        </p:txBody>
      </p:sp>
      <p:sp>
        <p:nvSpPr>
          <p:cNvPr id="41" name="Bash Title"/>
          <p:cNvSpPr txBox="1"/>
          <p:nvPr/>
        </p:nvSpPr>
        <p:spPr>
          <a:xfrm>
            <a:off x="960120" y="3886200"/>
            <a:ext cx="10241280" cy="365760"/>
          </a:xfrm>
          <a:prstGeom prst="rect">
            <a:avLst/>
          </a:prstGeom>
          <a:noFill/>
        </p:spPr>
        <p:txBody>
          <a:bodyPr wrap="square">
            <a:spAutoFit/>
          </a:bodyPr>
          <a:lstStyle/>
          <a:p>
            <a:pPr algn="l">
              <a:lnSpc>
                <a:spcPts val="2400"/>
              </a:lnSpc>
            </a:pPr>
            <a:r>
              <a:rPr lang="en-US" sz="1800" b="1" dirty="0">
                <a:solidFill>
                  <a:srgbClr val="D97757"/>
                </a:solidFill>
                <a:latin typeface="Hiragino Sans"/>
              </a:rPr>
              <a:t>Bash — あらゆるコマンドを実行できる</a:t>
            </a:r>
          </a:p>
        </p:txBody>
      </p:sp>
      <p:sp>
        <p:nvSpPr>
          <p:cNvPr id="42" name="Code BG"/>
          <p:cNvSpPr/>
          <p:nvPr/>
        </p:nvSpPr>
        <p:spPr>
          <a:xfrm>
            <a:off x="960120" y="4297680"/>
            <a:ext cx="10241280" cy="1554480"/>
          </a:xfrm>
          <a:prstGeom prst="roundRect">
            <a:avLst>
              <a:gd name="adj" fmla="val 2000"/>
            </a:avLst>
          </a:prstGeom>
          <a:solidFill>
            <a:srgbClr val="1B1918"/>
          </a:solidFill>
          <a:ln>
            <a:noFill/>
          </a:ln>
        </p:spPr>
        <p:txBody>
          <a:bodyPr/>
          <a:lstStyle/>
          <a:p>
            <a:endParaRPr/>
          </a:p>
        </p:txBody>
      </p:sp>
      <p:sp>
        <p:nvSpPr>
          <p:cNvPr id="43" name="Code"/>
          <p:cNvSpPr txBox="1"/>
          <p:nvPr/>
        </p:nvSpPr>
        <p:spPr>
          <a:xfrm>
            <a:off x="1188720" y="4389120"/>
            <a:ext cx="9783960" cy="1371600"/>
          </a:xfrm>
          <a:prstGeom prst="rect">
            <a:avLst/>
          </a:prstGeom>
          <a:noFill/>
        </p:spPr>
        <p:txBody>
          <a:bodyPr wrap="square">
            <a:spAutoFit/>
          </a:bodyPr>
          <a:lstStyle/>
          <a:p>
            <a:pPr algn="l">
              <a:lnSpc>
                <a:spcPts val="2000"/>
              </a:lnSpc>
              <a:spcAft>
                <a:spcPts val="100"/>
              </a:spcAft>
            </a:pPr>
            <a:r>
              <a:rPr lang="en-US" sz="1200" b="0" dirty="0">
                <a:solidFill>
                  <a:srgbClr val="6A9BCC"/>
                </a:solidFill>
                <a:latin typeface="SF Mono"/>
              </a:rPr>
              <a:t>say "完了しました"</a:t>
            </a:r>
            <a:r>
              <a:rPr lang="en-US" sz="1200" b="0" dirty="0">
                <a:solidFill>
                  <a:srgbClr val="B0AEA5"/>
                </a:solidFill>
                <a:latin typeface="SF Mono"/>
              </a:rPr>
              <a:t>           # 音声で通知</a:t>
            </a:r>
          </a:p>
          <a:p>
            <a:pPr algn="l">
              <a:lnSpc>
                <a:spcPts val="2000"/>
              </a:lnSpc>
              <a:spcAft>
                <a:spcPts val="100"/>
              </a:spcAft>
            </a:pPr>
            <a:r>
              <a:rPr lang="en-US" sz="1200" b="0" dirty="0">
                <a:solidFill>
                  <a:srgbClr val="6A9BCC"/>
                </a:solidFill>
                <a:latin typeface="SF Mono"/>
              </a:rPr>
              <a:t>marp slides.md --pptx</a:t>
            </a:r>
            <a:r>
              <a:rPr lang="en-US" sz="1200" b="0" dirty="0">
                <a:solidFill>
                  <a:srgbClr val="B0AEA5"/>
                </a:solidFill>
                <a:latin typeface="SF Mono"/>
              </a:rPr>
              <a:t>        # スライド生成</a:t>
            </a:r>
          </a:p>
          <a:p>
            <a:pPr algn="l">
              <a:lnSpc>
                <a:spcPts val="2000"/>
              </a:lnSpc>
              <a:spcAft>
                <a:spcPts val="100"/>
              </a:spcAft>
            </a:pPr>
            <a:r>
              <a:rPr lang="en-US" sz="1200" b="0" dirty="0">
                <a:solidFill>
                  <a:srgbClr val="6A9BCC"/>
                </a:solidFill>
                <a:latin typeface="SF Mono"/>
              </a:rPr>
              <a:t>ffmpeg -i video.mp4 out.gif</a:t>
            </a:r>
            <a:r>
              <a:rPr lang="en-US" sz="1200" b="0" dirty="0">
                <a:solidFill>
                  <a:srgbClr val="B0AEA5"/>
                </a:solidFill>
                <a:latin typeface="SF Mono"/>
              </a:rPr>
              <a:t>  # 動画をGIFに変換</a:t>
            </a:r>
          </a:p>
          <a:p>
            <a:pPr algn="l">
              <a:lnSpc>
                <a:spcPts val="2000"/>
              </a:lnSpc>
              <a:spcAft>
                <a:spcPts val="100"/>
              </a:spcAft>
            </a:pPr>
            <a:r>
              <a:rPr lang="en-US" sz="1200" b="0" dirty="0">
                <a:solidFill>
                  <a:srgbClr val="6A9BCC"/>
                </a:solidFill>
                <a:latin typeface="SF Mono"/>
              </a:rPr>
              <a:t>git log --oneline -10</a:t>
            </a:r>
            <a:r>
              <a:rPr lang="en-US" sz="1200" b="0" dirty="0">
                <a:solidFill>
                  <a:srgbClr val="B0AEA5"/>
                </a:solidFill>
                <a:latin typeface="SF Mono"/>
              </a:rPr>
              <a:t>        # 直近のコミットを確認</a:t>
            </a:r>
          </a:p>
          <a:p>
            <a:pPr algn="l">
              <a:lnSpc>
                <a:spcPts val="2000"/>
              </a:lnSpc>
            </a:pPr>
            <a:r>
              <a:rPr lang="en-US" sz="1200" b="0" dirty="0">
                <a:solidFill>
                  <a:srgbClr val="6A9BCC"/>
                </a:solidFill>
                <a:latin typeface="SF Mono"/>
              </a:rPr>
              <a:t>npm test</a:t>
            </a:r>
            <a:r>
              <a:rPr lang="en-US" sz="1200" b="0" dirty="0">
                <a:solidFill>
                  <a:srgbClr val="B0AEA5"/>
                </a:solidFill>
                <a:latin typeface="SF Mono"/>
              </a:rPr>
              <a:t>                     # テスト実行</a:t>
            </a:r>
          </a:p>
        </p:txBody>
      </p:sp>
      <p:sp>
        <p:nvSpPr>
          <p:cNvPr id="50" name="Footer"/>
          <p:cNvSpPr txBox="1"/>
          <p:nvPr/>
        </p:nvSpPr>
        <p:spPr>
          <a:xfrm>
            <a:off x="731520" y="6217920"/>
            <a:ext cx="10698480" cy="365760"/>
          </a:xfrm>
          <a:prstGeom prst="rect">
            <a:avLst/>
          </a:prstGeom>
          <a:noFill/>
        </p:spPr>
        <p:txBody>
          <a:bodyPr wrap="square">
            <a:spAutoFit/>
          </a:bodyPr>
          <a:lstStyle/>
          <a:p>
            <a:pPr algn="l">
              <a:lnSpc>
                <a:spcPts val="2200"/>
              </a:lnSpc>
            </a:pPr>
            <a:r>
              <a:rPr lang="ja-JP" sz="1400" b="0" dirty="0">
                <a:solidFill>
                  <a:srgbClr val="D97757"/>
                </a:solidFill>
                <a:latin typeface="Hiragino Sans"/>
              </a:rPr>
              <a:t>→ 開発作業に限らない。コマンドで実現できることは、何でも</a:t>
            </a:r>
          </a:p>
        </p:txBody>
      </p:sp>
      <p:sp>
        <p:nvSpPr>
          <p:cNvPr id="99" name="PageNum"/>
          <p:cNvSpPr txBox="1"/>
          <p:nvPr/>
        </p:nvSpPr>
        <p:spPr>
          <a:xfrm>
            <a:off x="11247120" y="6400800"/>
            <a:ext cx="640080" cy="274320"/>
          </a:xfrm>
          <a:prstGeom prst="rect">
            <a:avLst/>
          </a:prstGeom>
          <a:noFill/>
        </p:spPr>
        <p:txBody>
          <a:bodyPr wrap="square">
            <a:spAutoFit/>
          </a:bodyPr>
          <a:lstStyle/>
          <a:p>
            <a:pPr algn="r">
              <a:lnSpc>
                <a:spcPts val="1500"/>
              </a:lnSpc>
            </a:pPr>
            <a:r>
              <a:rPr lang="en-US" sz="1100" b="0" dirty="0">
                <a:solidFill>
                  <a:srgbClr val="B0AEA5"/>
                </a:solidFill>
                <a:latin typeface="Helvetica Neue"/>
              </a:rPr>
              <a:t>5 / 16</a:t>
            </a:r>
          </a:p>
        </p:txBody>
      </p:sp>
    </p:spTree>
    <p:extLst>
      <p:ext uri="{BB962C8B-B14F-4D97-AF65-F5344CB8AC3E}">
        <p14:creationId xmlns:p14="http://schemas.microsoft.com/office/powerpoint/2010/main" val="14502604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10" name="Part"/>
          <p:cNvSpPr txBox="1"/>
          <p:nvPr/>
        </p:nvSpPr>
        <p:spPr>
          <a:xfrm>
            <a:off x="731520" y="274320"/>
            <a:ext cx="4572000" cy="274320"/>
          </a:xfrm>
          <a:prstGeom prst="rect">
            <a:avLst/>
          </a:prstGeom>
          <a:noFill/>
        </p:spPr>
        <p:txBody>
          <a:bodyPr wrap="square">
            <a:spAutoFit/>
          </a:bodyPr>
          <a:lstStyle/>
          <a:p>
            <a:pPr algn="l">
              <a:lnSpc>
                <a:spcPts val="1800"/>
              </a:lnSpc>
            </a:pPr>
            <a:r>
              <a:rPr lang="en-US" sz="1200" b="1" dirty="0">
                <a:solidFill>
                  <a:srgbClr val="D97757"/>
                </a:solidFill>
                <a:latin typeface="Helvetica Neue"/>
              </a:rPr>
              <a:t>PART 1 — Claude Code とは</a:t>
            </a:r>
          </a:p>
        </p:txBody>
      </p:sp>
      <p:sp>
        <p:nvSpPr>
          <p:cNvPr id="11" name="Title"/>
          <p:cNvSpPr txBox="1"/>
          <p:nvPr/>
        </p:nvSpPr>
        <p:spPr>
          <a:xfrm>
            <a:off x="731520" y="548640"/>
            <a:ext cx="10058400" cy="548640"/>
          </a:xfrm>
          <a:prstGeom prst="rect">
            <a:avLst/>
          </a:prstGeom>
          <a:noFill/>
        </p:spPr>
        <p:txBody>
          <a:bodyPr wrap="square">
            <a:spAutoFit/>
          </a:bodyPr>
          <a:lstStyle/>
          <a:p>
            <a:pPr algn="l">
              <a:lnSpc>
                <a:spcPts val="3600"/>
              </a:lnSpc>
            </a:pPr>
            <a:r>
              <a:rPr lang="ja-JP" sz="2800" b="1" dirty="0">
                <a:solidFill>
                  <a:srgbClr val="FAF9F5"/>
                </a:solidFill>
                <a:latin typeface="Hiragino Sans"/>
              </a:rPr>
              <a:t>ChatGPT・Copilotとの使い分け</a:t>
            </a:r>
          </a:p>
        </p:txBody>
      </p:sp>
      <p:sp>
        <p:nvSpPr>
          <p:cNvPr id="20" name="Header BG 0"/>
          <p:cNvSpPr/>
          <p:nvPr/>
        </p:nvSpPr>
        <p:spPr>
          <a:xfrm>
            <a:off x="2651760" y="1280160"/>
            <a:ext cx="2895600" cy="548640"/>
          </a:xfrm>
          <a:prstGeom prst="roundRect">
            <a:avLst>
              <a:gd name="adj" fmla="val 6000"/>
            </a:avLst>
          </a:prstGeom>
          <a:solidFill>
            <a:srgbClr val="74AA9C">
              <a:alpha val="20000"/>
            </a:srgbClr>
          </a:solidFill>
          <a:ln>
            <a:noFill/>
          </a:ln>
        </p:spPr>
        <p:txBody>
          <a:bodyPr anchor="ctr">
            <a:noAutofit/>
          </a:bodyPr>
          <a:lstStyle/>
          <a:p>
            <a:pPr algn="ctr">
              <a:lnSpc>
                <a:spcPts val="2400"/>
              </a:lnSpc>
            </a:pPr>
            <a:r>
              <a:rPr lang="en-US" sz="1600" b="1" dirty="0">
                <a:solidFill>
                  <a:srgbClr val="74AA9C"/>
                </a:solidFill>
                <a:latin typeface="Hiragino Sans"/>
              </a:rPr>
              <a:t>ChatGPT</a:t>
            </a:r>
          </a:p>
        </p:txBody>
      </p:sp>
      <p:sp>
        <p:nvSpPr>
          <p:cNvPr id="22" name="Header BG 1"/>
          <p:cNvSpPr/>
          <p:nvPr/>
        </p:nvSpPr>
        <p:spPr>
          <a:xfrm>
            <a:off x="5638800" y="1280160"/>
            <a:ext cx="2895600" cy="548640"/>
          </a:xfrm>
          <a:prstGeom prst="roundRect">
            <a:avLst>
              <a:gd name="adj" fmla="val 6000"/>
            </a:avLst>
          </a:prstGeom>
          <a:solidFill>
            <a:srgbClr val="79B8FF">
              <a:alpha val="20000"/>
            </a:srgbClr>
          </a:solidFill>
          <a:ln>
            <a:noFill/>
          </a:ln>
        </p:spPr>
        <p:txBody>
          <a:bodyPr anchor="ctr">
            <a:noAutofit/>
          </a:bodyPr>
          <a:lstStyle/>
          <a:p>
            <a:pPr algn="ctr">
              <a:lnSpc>
                <a:spcPts val="2400"/>
              </a:lnSpc>
            </a:pPr>
            <a:r>
              <a:rPr lang="en-US" sz="1600" b="1" dirty="0">
                <a:solidFill>
                  <a:srgbClr val="79B8FF"/>
                </a:solidFill>
                <a:latin typeface="Hiragino Sans"/>
              </a:rPr>
              <a:t>GitHub Copilot</a:t>
            </a:r>
          </a:p>
        </p:txBody>
      </p:sp>
      <p:sp>
        <p:nvSpPr>
          <p:cNvPr id="24" name="Header BG 2"/>
          <p:cNvSpPr/>
          <p:nvPr/>
        </p:nvSpPr>
        <p:spPr>
          <a:xfrm>
            <a:off x="8625840" y="1280160"/>
            <a:ext cx="2895600" cy="548640"/>
          </a:xfrm>
          <a:prstGeom prst="roundRect">
            <a:avLst>
              <a:gd name="adj" fmla="val 6000"/>
            </a:avLst>
          </a:prstGeom>
          <a:solidFill>
            <a:srgbClr val="D97757">
              <a:alpha val="20000"/>
            </a:srgbClr>
          </a:solidFill>
          <a:ln>
            <a:noFill/>
          </a:ln>
        </p:spPr>
        <p:txBody>
          <a:bodyPr anchor="ctr">
            <a:noAutofit/>
          </a:bodyPr>
          <a:lstStyle/>
          <a:p>
            <a:pPr algn="ctr">
              <a:lnSpc>
                <a:spcPts val="2400"/>
              </a:lnSpc>
            </a:pPr>
            <a:r>
              <a:rPr lang="en-US" sz="1600" b="1" dirty="0">
                <a:solidFill>
                  <a:srgbClr val="D97757"/>
                </a:solidFill>
                <a:latin typeface="Hiragino Sans"/>
              </a:rPr>
              <a:t>Claude Code</a:t>
            </a:r>
          </a:p>
        </p:txBody>
      </p:sp>
      <p:sp>
        <p:nvSpPr>
          <p:cNvPr id="40" name="Label 0"/>
          <p:cNvSpPr txBox="1"/>
          <p:nvPr/>
        </p:nvSpPr>
        <p:spPr>
          <a:xfrm>
            <a:off x="731520" y="1920240"/>
            <a:ext cx="1828800" cy="768096"/>
          </a:xfrm>
          <a:prstGeom prst="rect">
            <a:avLst/>
          </a:prstGeom>
          <a:noFill/>
        </p:spPr>
        <p:txBody>
          <a:bodyPr wrap="square" anchor="ctr">
            <a:noAutofit/>
          </a:bodyPr>
          <a:lstStyle/>
          <a:p>
            <a:pPr algn="r">
              <a:lnSpc>
                <a:spcPts val="2000"/>
              </a:lnSpc>
            </a:pPr>
            <a:r>
              <a:rPr lang="ja-JP" sz="1400" b="1" dirty="0">
                <a:solidFill>
                  <a:srgbClr val="B0AEA5"/>
                </a:solidFill>
                <a:latin typeface="Hiragino Sans"/>
              </a:rPr>
              <a:t>どこで使う？</a:t>
            </a:r>
          </a:p>
        </p:txBody>
      </p:sp>
      <p:sp>
        <p:nvSpPr>
          <p:cNvPr id="50" name="Cell BG 0-0"/>
          <p:cNvSpPr/>
          <p:nvPr/>
        </p:nvSpPr>
        <p:spPr>
          <a:xfrm>
            <a:off x="2651760" y="1920240"/>
            <a:ext cx="2895600" cy="768096"/>
          </a:xfrm>
          <a:prstGeom prst="roundRect">
            <a:avLst>
              <a:gd name="adj" fmla="val 5000"/>
            </a:avLst>
          </a:prstGeom>
          <a:solidFill>
            <a:srgbClr val="2D2926"/>
          </a:solidFill>
          <a:ln>
            <a:noFill/>
          </a:ln>
        </p:spPr>
        <p:txBody>
          <a:bodyPr/>
          <a:lstStyle/>
          <a:p>
            <a:endParaRPr/>
          </a:p>
        </p:txBody>
      </p:sp>
      <p:sp>
        <p:nvSpPr>
          <p:cNvPr id="51" name="Cell Text 0-0"/>
          <p:cNvSpPr txBox="1"/>
          <p:nvPr/>
        </p:nvSpPr>
        <p:spPr>
          <a:xfrm>
            <a:off x="2788920" y="1965960"/>
            <a:ext cx="2621280" cy="676656"/>
          </a:xfrm>
          <a:prstGeom prst="rect">
            <a:avLst/>
          </a:prstGeom>
          <a:noFill/>
        </p:spPr>
        <p:txBody>
          <a:bodyPr wrap="square" anchor="ctr">
            <a:noAutofit/>
          </a:bodyPr>
          <a:lstStyle/>
          <a:p>
            <a:pPr algn="ctr">
              <a:lnSpc>
                <a:spcPts val="1800"/>
              </a:lnSpc>
            </a:pPr>
            <a:r>
              <a:rPr lang="ja-JP" sz="1400" b="0" dirty="0">
                <a:solidFill>
                  <a:srgbClr val="C5C3BB"/>
                </a:solidFill>
                <a:latin typeface="Hiragino Sans"/>
              </a:rPr>
              <a:t>ブラウザのチャット画面</a:t>
            </a:r>
          </a:p>
        </p:txBody>
      </p:sp>
      <p:sp>
        <p:nvSpPr>
          <p:cNvPr id="52" name="Cell BG 0-1"/>
          <p:cNvSpPr/>
          <p:nvPr/>
        </p:nvSpPr>
        <p:spPr>
          <a:xfrm>
            <a:off x="5638800" y="1920240"/>
            <a:ext cx="2895600" cy="768096"/>
          </a:xfrm>
          <a:prstGeom prst="roundRect">
            <a:avLst>
              <a:gd name="adj" fmla="val 5000"/>
            </a:avLst>
          </a:prstGeom>
          <a:solidFill>
            <a:srgbClr val="2D2926"/>
          </a:solidFill>
          <a:ln>
            <a:noFill/>
          </a:ln>
        </p:spPr>
        <p:txBody>
          <a:bodyPr/>
          <a:lstStyle/>
          <a:p>
            <a:endParaRPr/>
          </a:p>
        </p:txBody>
      </p:sp>
      <p:sp>
        <p:nvSpPr>
          <p:cNvPr id="53" name="Cell Text 0-1"/>
          <p:cNvSpPr txBox="1"/>
          <p:nvPr/>
        </p:nvSpPr>
        <p:spPr>
          <a:xfrm>
            <a:off x="5775960" y="1965960"/>
            <a:ext cx="2621280" cy="676656"/>
          </a:xfrm>
          <a:prstGeom prst="rect">
            <a:avLst/>
          </a:prstGeom>
          <a:noFill/>
        </p:spPr>
        <p:txBody>
          <a:bodyPr wrap="square" anchor="ctr">
            <a:noAutofit/>
          </a:bodyPr>
          <a:lstStyle/>
          <a:p>
            <a:pPr algn="ctr">
              <a:lnSpc>
                <a:spcPts val="1800"/>
              </a:lnSpc>
            </a:pPr>
            <a:r>
              <a:rPr lang="ja-JP" sz="1400" b="0" dirty="0">
                <a:solidFill>
                  <a:srgbClr val="C5C3BB"/>
                </a:solidFill>
                <a:latin typeface="Hiragino Sans"/>
              </a:rPr>
              <a:t>VSCodeの中
（エディタ拡張）</a:t>
            </a:r>
          </a:p>
        </p:txBody>
      </p:sp>
      <p:sp>
        <p:nvSpPr>
          <p:cNvPr id="54" name="Cell BG 0-2"/>
          <p:cNvSpPr/>
          <p:nvPr/>
        </p:nvSpPr>
        <p:spPr>
          <a:xfrm>
            <a:off x="8625840" y="1920240"/>
            <a:ext cx="2895600" cy="768096"/>
          </a:xfrm>
          <a:prstGeom prst="roundRect">
            <a:avLst>
              <a:gd name="adj" fmla="val 5000"/>
            </a:avLst>
          </a:prstGeom>
          <a:solidFill>
            <a:srgbClr val="2D2926"/>
          </a:solidFill>
          <a:ln>
            <a:noFill/>
          </a:ln>
        </p:spPr>
        <p:txBody>
          <a:bodyPr/>
          <a:lstStyle/>
          <a:p>
            <a:endParaRPr/>
          </a:p>
        </p:txBody>
      </p:sp>
      <p:sp>
        <p:nvSpPr>
          <p:cNvPr id="55" name="Cell Text 0-2"/>
          <p:cNvSpPr txBox="1"/>
          <p:nvPr/>
        </p:nvSpPr>
        <p:spPr>
          <a:xfrm>
            <a:off x="8763000" y="1965960"/>
            <a:ext cx="2621280" cy="676656"/>
          </a:xfrm>
          <a:prstGeom prst="rect">
            <a:avLst/>
          </a:prstGeom>
          <a:noFill/>
        </p:spPr>
        <p:txBody>
          <a:bodyPr wrap="square" anchor="ctr">
            <a:noAutofit/>
          </a:bodyPr>
          <a:lstStyle/>
          <a:p>
            <a:pPr algn="ctr">
              <a:lnSpc>
                <a:spcPts val="1800"/>
              </a:lnSpc>
            </a:pPr>
            <a:r>
              <a:rPr lang="ja-JP" sz="1400" b="0" dirty="0">
                <a:solidFill>
                  <a:srgbClr val="FAF9F5"/>
                </a:solidFill>
                <a:latin typeface="Hiragino Sans"/>
              </a:rPr>
              <a:t>ターミナル
（黒い画面）</a:t>
            </a:r>
          </a:p>
        </p:txBody>
      </p:sp>
      <p:sp>
        <p:nvSpPr>
          <p:cNvPr id="41" name="Label 1"/>
          <p:cNvSpPr txBox="1"/>
          <p:nvPr/>
        </p:nvSpPr>
        <p:spPr>
          <a:xfrm>
            <a:off x="731520" y="2779776"/>
            <a:ext cx="1828800" cy="768096"/>
          </a:xfrm>
          <a:prstGeom prst="rect">
            <a:avLst/>
          </a:prstGeom>
          <a:noFill/>
        </p:spPr>
        <p:txBody>
          <a:bodyPr wrap="square" anchor="ctr">
            <a:noAutofit/>
          </a:bodyPr>
          <a:lstStyle/>
          <a:p>
            <a:pPr algn="r">
              <a:lnSpc>
                <a:spcPts val="2000"/>
              </a:lnSpc>
            </a:pPr>
            <a:r>
              <a:rPr lang="ja-JP" sz="1400" b="1" dirty="0">
                <a:solidFill>
                  <a:srgbClr val="B0AEA5"/>
                </a:solidFill>
                <a:latin typeface="Hiragino Sans"/>
              </a:rPr>
              <a:t>何をしてくれる？</a:t>
            </a:r>
          </a:p>
        </p:txBody>
      </p:sp>
      <p:sp>
        <p:nvSpPr>
          <p:cNvPr id="56" name="Cell BG 1-0"/>
          <p:cNvSpPr/>
          <p:nvPr/>
        </p:nvSpPr>
        <p:spPr>
          <a:xfrm>
            <a:off x="2651760" y="2779776"/>
            <a:ext cx="2895600" cy="768096"/>
          </a:xfrm>
          <a:prstGeom prst="roundRect">
            <a:avLst>
              <a:gd name="adj" fmla="val 5000"/>
            </a:avLst>
          </a:prstGeom>
          <a:solidFill>
            <a:srgbClr val="2D2926"/>
          </a:solidFill>
          <a:ln>
            <a:noFill/>
          </a:ln>
        </p:spPr>
        <p:txBody>
          <a:bodyPr/>
          <a:lstStyle/>
          <a:p>
            <a:endParaRPr/>
          </a:p>
        </p:txBody>
      </p:sp>
      <p:sp>
        <p:nvSpPr>
          <p:cNvPr id="57" name="Cell Text 1-0"/>
          <p:cNvSpPr txBox="1"/>
          <p:nvPr/>
        </p:nvSpPr>
        <p:spPr>
          <a:xfrm>
            <a:off x="2788920" y="2825496"/>
            <a:ext cx="2621280" cy="676656"/>
          </a:xfrm>
          <a:prstGeom prst="rect">
            <a:avLst/>
          </a:prstGeom>
          <a:noFill/>
        </p:spPr>
        <p:txBody>
          <a:bodyPr wrap="square" anchor="ctr">
            <a:noAutofit/>
          </a:bodyPr>
          <a:lstStyle/>
          <a:p>
            <a:pPr algn="ctr">
              <a:lnSpc>
                <a:spcPts val="1800"/>
              </a:lnSpc>
            </a:pPr>
            <a:r>
              <a:rPr lang="ja-JP" sz="1400" b="0" dirty="0">
                <a:solidFill>
                  <a:srgbClr val="C5C3BB"/>
                </a:solidFill>
                <a:latin typeface="Hiragino Sans"/>
              </a:rPr>
              <a:t>質問すると
答えてくれる</a:t>
            </a:r>
          </a:p>
        </p:txBody>
      </p:sp>
      <p:sp>
        <p:nvSpPr>
          <p:cNvPr id="58" name="Cell BG 1-1"/>
          <p:cNvSpPr/>
          <p:nvPr/>
        </p:nvSpPr>
        <p:spPr>
          <a:xfrm>
            <a:off x="5638800" y="2779776"/>
            <a:ext cx="2895600" cy="768096"/>
          </a:xfrm>
          <a:prstGeom prst="roundRect">
            <a:avLst>
              <a:gd name="adj" fmla="val 5000"/>
            </a:avLst>
          </a:prstGeom>
          <a:solidFill>
            <a:srgbClr val="2D2926"/>
          </a:solidFill>
          <a:ln>
            <a:noFill/>
          </a:ln>
        </p:spPr>
        <p:txBody>
          <a:bodyPr/>
          <a:lstStyle/>
          <a:p>
            <a:endParaRPr/>
          </a:p>
        </p:txBody>
      </p:sp>
      <p:sp>
        <p:nvSpPr>
          <p:cNvPr id="59" name="Cell Text 1-1"/>
          <p:cNvSpPr txBox="1"/>
          <p:nvPr/>
        </p:nvSpPr>
        <p:spPr>
          <a:xfrm>
            <a:off x="5775960" y="2825496"/>
            <a:ext cx="2621280" cy="676656"/>
          </a:xfrm>
          <a:prstGeom prst="rect">
            <a:avLst/>
          </a:prstGeom>
          <a:noFill/>
        </p:spPr>
        <p:txBody>
          <a:bodyPr wrap="square" anchor="ctr">
            <a:noAutofit/>
          </a:bodyPr>
          <a:lstStyle/>
          <a:p>
            <a:pPr algn="ctr">
              <a:lnSpc>
                <a:spcPts val="1800"/>
              </a:lnSpc>
            </a:pPr>
            <a:r>
              <a:rPr lang="ja-JP" sz="1400" b="0" dirty="0">
                <a:solidFill>
                  <a:srgbClr val="C5C3BB"/>
                </a:solidFill>
                <a:latin typeface="Hiragino Sans"/>
              </a:rPr>
              <a:t>コードの続きを
提案してくれる</a:t>
            </a:r>
          </a:p>
        </p:txBody>
      </p:sp>
      <p:sp>
        <p:nvSpPr>
          <p:cNvPr id="60" name="Cell BG 1-2"/>
          <p:cNvSpPr/>
          <p:nvPr/>
        </p:nvSpPr>
        <p:spPr>
          <a:xfrm>
            <a:off x="8625840" y="2779776"/>
            <a:ext cx="2895600" cy="768096"/>
          </a:xfrm>
          <a:prstGeom prst="roundRect">
            <a:avLst>
              <a:gd name="adj" fmla="val 5000"/>
            </a:avLst>
          </a:prstGeom>
          <a:solidFill>
            <a:srgbClr val="2D2926"/>
          </a:solidFill>
          <a:ln>
            <a:noFill/>
          </a:ln>
        </p:spPr>
        <p:txBody>
          <a:bodyPr/>
          <a:lstStyle/>
          <a:p>
            <a:endParaRPr/>
          </a:p>
        </p:txBody>
      </p:sp>
      <p:sp>
        <p:nvSpPr>
          <p:cNvPr id="61" name="Cell Text 1-2"/>
          <p:cNvSpPr txBox="1"/>
          <p:nvPr/>
        </p:nvSpPr>
        <p:spPr>
          <a:xfrm>
            <a:off x="8763000" y="2825496"/>
            <a:ext cx="2621280" cy="676656"/>
          </a:xfrm>
          <a:prstGeom prst="rect">
            <a:avLst/>
          </a:prstGeom>
          <a:noFill/>
        </p:spPr>
        <p:txBody>
          <a:bodyPr wrap="square" anchor="ctr">
            <a:noAutofit/>
          </a:bodyPr>
          <a:lstStyle/>
          <a:p>
            <a:pPr algn="ctr">
              <a:lnSpc>
                <a:spcPts val="1800"/>
              </a:lnSpc>
            </a:pPr>
            <a:r>
              <a:rPr lang="ja-JP" sz="1400" b="0" dirty="0">
                <a:solidFill>
                  <a:srgbClr val="FAF9F5"/>
                </a:solidFill>
                <a:latin typeface="Hiragino Sans"/>
              </a:rPr>
              <a:t>指示すると
調査→計画→実装→検証
まで一連でやる</a:t>
            </a:r>
          </a:p>
        </p:txBody>
      </p:sp>
      <p:sp>
        <p:nvSpPr>
          <p:cNvPr id="42" name="Label 2"/>
          <p:cNvSpPr txBox="1"/>
          <p:nvPr/>
        </p:nvSpPr>
        <p:spPr>
          <a:xfrm>
            <a:off x="731520" y="3639312"/>
            <a:ext cx="1828800" cy="768096"/>
          </a:xfrm>
          <a:prstGeom prst="rect">
            <a:avLst/>
          </a:prstGeom>
          <a:noFill/>
        </p:spPr>
        <p:txBody>
          <a:bodyPr wrap="square" anchor="ctr">
            <a:noAutofit/>
          </a:bodyPr>
          <a:lstStyle/>
          <a:p>
            <a:pPr algn="r">
              <a:lnSpc>
                <a:spcPts val="2000"/>
              </a:lnSpc>
            </a:pPr>
            <a:r>
              <a:rPr lang="ja-JP" sz="1400" b="1" dirty="0">
                <a:solidFill>
                  <a:srgbClr val="B0AEA5"/>
                </a:solidFill>
                <a:latin typeface="Hiragino Sans"/>
              </a:rPr>
              <a:t>やりとりの例</a:t>
            </a:r>
          </a:p>
        </p:txBody>
      </p:sp>
      <p:sp>
        <p:nvSpPr>
          <p:cNvPr id="62" name="Cell BG 2-0"/>
          <p:cNvSpPr/>
          <p:nvPr/>
        </p:nvSpPr>
        <p:spPr>
          <a:xfrm>
            <a:off x="2651760" y="3639312"/>
            <a:ext cx="2895600" cy="768096"/>
          </a:xfrm>
          <a:prstGeom prst="roundRect">
            <a:avLst>
              <a:gd name="adj" fmla="val 5000"/>
            </a:avLst>
          </a:prstGeom>
          <a:solidFill>
            <a:srgbClr val="2D2926"/>
          </a:solidFill>
          <a:ln>
            <a:noFill/>
          </a:ln>
        </p:spPr>
        <p:txBody>
          <a:bodyPr/>
          <a:lstStyle/>
          <a:p>
            <a:endParaRPr/>
          </a:p>
        </p:txBody>
      </p:sp>
      <p:sp>
        <p:nvSpPr>
          <p:cNvPr id="63" name="Cell Text 2-0"/>
          <p:cNvSpPr txBox="1"/>
          <p:nvPr/>
        </p:nvSpPr>
        <p:spPr>
          <a:xfrm>
            <a:off x="2788920" y="3685032"/>
            <a:ext cx="2621280" cy="676656"/>
          </a:xfrm>
          <a:prstGeom prst="rect">
            <a:avLst/>
          </a:prstGeom>
          <a:noFill/>
        </p:spPr>
        <p:txBody>
          <a:bodyPr wrap="square" anchor="ctr">
            <a:noAutofit/>
          </a:bodyPr>
          <a:lstStyle/>
          <a:p>
            <a:pPr algn="ctr">
              <a:lnSpc>
                <a:spcPts val="1800"/>
              </a:lnSpc>
            </a:pPr>
            <a:r>
              <a:rPr lang="ja-JP" sz="1400" b="0" dirty="0">
                <a:solidFill>
                  <a:srgbClr val="C5C3BB"/>
                </a:solidFill>
                <a:latin typeface="Hiragino Sans"/>
              </a:rPr>
              <a:t>「この設計
 どう思う？」</a:t>
            </a:r>
          </a:p>
        </p:txBody>
      </p:sp>
      <p:sp>
        <p:nvSpPr>
          <p:cNvPr id="64" name="Cell BG 2-1"/>
          <p:cNvSpPr/>
          <p:nvPr/>
        </p:nvSpPr>
        <p:spPr>
          <a:xfrm>
            <a:off x="5638800" y="3639312"/>
            <a:ext cx="2895600" cy="768096"/>
          </a:xfrm>
          <a:prstGeom prst="roundRect">
            <a:avLst>
              <a:gd name="adj" fmla="val 5000"/>
            </a:avLst>
          </a:prstGeom>
          <a:solidFill>
            <a:srgbClr val="2D2926"/>
          </a:solidFill>
          <a:ln>
            <a:noFill/>
          </a:ln>
        </p:spPr>
        <p:txBody>
          <a:bodyPr/>
          <a:lstStyle/>
          <a:p>
            <a:endParaRPr/>
          </a:p>
        </p:txBody>
      </p:sp>
      <p:sp>
        <p:nvSpPr>
          <p:cNvPr id="65" name="Cell Text 2-1"/>
          <p:cNvSpPr txBox="1"/>
          <p:nvPr/>
        </p:nvSpPr>
        <p:spPr>
          <a:xfrm>
            <a:off x="5775960" y="3685032"/>
            <a:ext cx="2621280" cy="676656"/>
          </a:xfrm>
          <a:prstGeom prst="rect">
            <a:avLst/>
          </a:prstGeom>
          <a:noFill/>
        </p:spPr>
        <p:txBody>
          <a:bodyPr wrap="square" anchor="ctr">
            <a:noAutofit/>
          </a:bodyPr>
          <a:lstStyle/>
          <a:p>
            <a:pPr algn="ctr">
              <a:lnSpc>
                <a:spcPts val="1800"/>
              </a:lnSpc>
            </a:pPr>
            <a:r>
              <a:rPr lang="ja-JP" sz="1400" b="0" dirty="0">
                <a:solidFill>
                  <a:srgbClr val="C5C3BB"/>
                </a:solidFill>
                <a:latin typeface="Hiragino Sans"/>
              </a:rPr>
              <a:t>（書いてると
 候補が出る）</a:t>
            </a:r>
          </a:p>
        </p:txBody>
      </p:sp>
      <p:sp>
        <p:nvSpPr>
          <p:cNvPr id="66" name="Cell BG 2-2"/>
          <p:cNvSpPr/>
          <p:nvPr/>
        </p:nvSpPr>
        <p:spPr>
          <a:xfrm>
            <a:off x="8625840" y="3639312"/>
            <a:ext cx="2895600" cy="768096"/>
          </a:xfrm>
          <a:prstGeom prst="roundRect">
            <a:avLst>
              <a:gd name="adj" fmla="val 5000"/>
            </a:avLst>
          </a:prstGeom>
          <a:solidFill>
            <a:srgbClr val="2D2926"/>
          </a:solidFill>
          <a:ln>
            <a:noFill/>
          </a:ln>
        </p:spPr>
        <p:txBody>
          <a:bodyPr/>
          <a:lstStyle/>
          <a:p>
            <a:endParaRPr/>
          </a:p>
        </p:txBody>
      </p:sp>
      <p:sp>
        <p:nvSpPr>
          <p:cNvPr id="67" name="Cell Text 2-2"/>
          <p:cNvSpPr txBox="1"/>
          <p:nvPr/>
        </p:nvSpPr>
        <p:spPr>
          <a:xfrm>
            <a:off x="8763000" y="3685032"/>
            <a:ext cx="2621280" cy="676656"/>
          </a:xfrm>
          <a:prstGeom prst="rect">
            <a:avLst/>
          </a:prstGeom>
          <a:noFill/>
        </p:spPr>
        <p:txBody>
          <a:bodyPr wrap="square" anchor="ctr">
            <a:noAutofit/>
          </a:bodyPr>
          <a:lstStyle/>
          <a:p>
            <a:pPr algn="ctr">
              <a:lnSpc>
                <a:spcPts val="1800"/>
              </a:lnSpc>
            </a:pPr>
            <a:r>
              <a:rPr lang="ja-JP" sz="1400" b="0" dirty="0">
                <a:solidFill>
                  <a:srgbClr val="FAF9F5"/>
                </a:solidFill>
                <a:latin typeface="Hiragino Sans"/>
              </a:rPr>
              <a:t>「このバグの原因を
 調べて修正案を出して」</a:t>
            </a:r>
          </a:p>
        </p:txBody>
      </p:sp>
      <p:sp>
        <p:nvSpPr>
          <p:cNvPr id="43" name="Label 3"/>
          <p:cNvSpPr txBox="1"/>
          <p:nvPr/>
        </p:nvSpPr>
        <p:spPr>
          <a:xfrm>
            <a:off x="731520" y="4498848"/>
            <a:ext cx="1828800" cy="768096"/>
          </a:xfrm>
          <a:prstGeom prst="rect">
            <a:avLst/>
          </a:prstGeom>
          <a:noFill/>
        </p:spPr>
        <p:txBody>
          <a:bodyPr wrap="square" anchor="ctr">
            <a:noAutofit/>
          </a:bodyPr>
          <a:lstStyle/>
          <a:p>
            <a:pPr algn="r">
              <a:lnSpc>
                <a:spcPts val="2000"/>
              </a:lnSpc>
            </a:pPr>
            <a:r>
              <a:rPr lang="ja-JP" sz="1400" b="1" dirty="0">
                <a:solidFill>
                  <a:srgbClr val="B0AEA5"/>
                </a:solidFill>
                <a:latin typeface="Hiragino Sans"/>
              </a:rPr>
              <a:t>見ているもの</a:t>
            </a:r>
          </a:p>
        </p:txBody>
      </p:sp>
      <p:sp>
        <p:nvSpPr>
          <p:cNvPr id="68" name="Cell BG 3-0"/>
          <p:cNvSpPr/>
          <p:nvPr/>
        </p:nvSpPr>
        <p:spPr>
          <a:xfrm>
            <a:off x="2651760" y="4498848"/>
            <a:ext cx="2895600" cy="768096"/>
          </a:xfrm>
          <a:prstGeom prst="roundRect">
            <a:avLst>
              <a:gd name="adj" fmla="val 5000"/>
            </a:avLst>
          </a:prstGeom>
          <a:solidFill>
            <a:srgbClr val="2D2926"/>
          </a:solidFill>
          <a:ln>
            <a:noFill/>
          </a:ln>
        </p:spPr>
        <p:txBody>
          <a:bodyPr/>
          <a:lstStyle/>
          <a:p>
            <a:endParaRPr/>
          </a:p>
        </p:txBody>
      </p:sp>
      <p:sp>
        <p:nvSpPr>
          <p:cNvPr id="69" name="Cell Text 3-0"/>
          <p:cNvSpPr txBox="1"/>
          <p:nvPr/>
        </p:nvSpPr>
        <p:spPr>
          <a:xfrm>
            <a:off x="2788920" y="4544568"/>
            <a:ext cx="2621280" cy="676656"/>
          </a:xfrm>
          <a:prstGeom prst="rect">
            <a:avLst/>
          </a:prstGeom>
          <a:noFill/>
        </p:spPr>
        <p:txBody>
          <a:bodyPr wrap="square" anchor="ctr">
            <a:noAutofit/>
          </a:bodyPr>
          <a:lstStyle/>
          <a:p>
            <a:pPr algn="ctr">
              <a:lnSpc>
                <a:spcPts val="1800"/>
              </a:lnSpc>
            </a:pPr>
            <a:r>
              <a:rPr lang="ja-JP" sz="1400" b="0" dirty="0">
                <a:solidFill>
                  <a:srgbClr val="C5C3BB"/>
                </a:solidFill>
                <a:latin typeface="Hiragino Sans"/>
              </a:rPr>
              <a:t>あなたが貼った
テキストだけ</a:t>
            </a:r>
          </a:p>
        </p:txBody>
      </p:sp>
      <p:sp>
        <p:nvSpPr>
          <p:cNvPr id="70" name="Cell BG 3-1"/>
          <p:cNvSpPr/>
          <p:nvPr/>
        </p:nvSpPr>
        <p:spPr>
          <a:xfrm>
            <a:off x="5638800" y="4498848"/>
            <a:ext cx="2895600" cy="768096"/>
          </a:xfrm>
          <a:prstGeom prst="roundRect">
            <a:avLst>
              <a:gd name="adj" fmla="val 5000"/>
            </a:avLst>
          </a:prstGeom>
          <a:solidFill>
            <a:srgbClr val="2D2926"/>
          </a:solidFill>
          <a:ln>
            <a:noFill/>
          </a:ln>
        </p:spPr>
        <p:txBody>
          <a:bodyPr/>
          <a:lstStyle/>
          <a:p>
            <a:endParaRPr/>
          </a:p>
        </p:txBody>
      </p:sp>
      <p:sp>
        <p:nvSpPr>
          <p:cNvPr id="71" name="Cell Text 3-1"/>
          <p:cNvSpPr txBox="1"/>
          <p:nvPr/>
        </p:nvSpPr>
        <p:spPr>
          <a:xfrm>
            <a:off x="5775960" y="4544568"/>
            <a:ext cx="2621280" cy="676656"/>
          </a:xfrm>
          <a:prstGeom prst="rect">
            <a:avLst/>
          </a:prstGeom>
          <a:noFill/>
        </p:spPr>
        <p:txBody>
          <a:bodyPr wrap="square" anchor="ctr">
            <a:noAutofit/>
          </a:bodyPr>
          <a:lstStyle/>
          <a:p>
            <a:pPr algn="ctr">
              <a:lnSpc>
                <a:spcPts val="1800"/>
              </a:lnSpc>
            </a:pPr>
            <a:r>
              <a:rPr lang="ja-JP" sz="1400" b="0" dirty="0">
                <a:solidFill>
                  <a:srgbClr val="C5C3BB"/>
                </a:solidFill>
                <a:latin typeface="Hiragino Sans"/>
              </a:rPr>
              <a:t>今開いている
ファイル</a:t>
            </a:r>
          </a:p>
        </p:txBody>
      </p:sp>
      <p:sp>
        <p:nvSpPr>
          <p:cNvPr id="72" name="Cell BG 3-2"/>
          <p:cNvSpPr/>
          <p:nvPr/>
        </p:nvSpPr>
        <p:spPr>
          <a:xfrm>
            <a:off x="8625840" y="4498848"/>
            <a:ext cx="2895600" cy="768096"/>
          </a:xfrm>
          <a:prstGeom prst="roundRect">
            <a:avLst>
              <a:gd name="adj" fmla="val 5000"/>
            </a:avLst>
          </a:prstGeom>
          <a:solidFill>
            <a:srgbClr val="2D2926"/>
          </a:solidFill>
          <a:ln>
            <a:noFill/>
          </a:ln>
        </p:spPr>
        <p:txBody>
          <a:bodyPr/>
          <a:lstStyle/>
          <a:p>
            <a:endParaRPr/>
          </a:p>
        </p:txBody>
      </p:sp>
      <p:sp>
        <p:nvSpPr>
          <p:cNvPr id="73" name="Cell Text 3-2"/>
          <p:cNvSpPr txBox="1"/>
          <p:nvPr/>
        </p:nvSpPr>
        <p:spPr>
          <a:xfrm>
            <a:off x="8763000" y="4544568"/>
            <a:ext cx="2621280" cy="676656"/>
          </a:xfrm>
          <a:prstGeom prst="rect">
            <a:avLst/>
          </a:prstGeom>
          <a:noFill/>
        </p:spPr>
        <p:txBody>
          <a:bodyPr wrap="square" anchor="ctr">
            <a:noAutofit/>
          </a:bodyPr>
          <a:lstStyle/>
          <a:p>
            <a:pPr algn="ctr">
              <a:lnSpc>
                <a:spcPts val="1800"/>
              </a:lnSpc>
            </a:pPr>
            <a:r>
              <a:rPr lang="ja-JP" sz="1400" b="0" dirty="0">
                <a:solidFill>
                  <a:srgbClr val="FAF9F5"/>
                </a:solidFill>
                <a:latin typeface="Hiragino Sans"/>
              </a:rPr>
              <a:t>プロジェクトの
ファイル全部
＋Webも検索</a:t>
            </a:r>
          </a:p>
        </p:txBody>
      </p:sp>
      <p:sp>
        <p:nvSpPr>
          <p:cNvPr id="44" name="Label 4"/>
          <p:cNvSpPr txBox="1"/>
          <p:nvPr/>
        </p:nvSpPr>
        <p:spPr>
          <a:xfrm>
            <a:off x="731520" y="5358384"/>
            <a:ext cx="1828800" cy="768096"/>
          </a:xfrm>
          <a:prstGeom prst="rect">
            <a:avLst/>
          </a:prstGeom>
          <a:noFill/>
        </p:spPr>
        <p:txBody>
          <a:bodyPr wrap="square" anchor="ctr">
            <a:noAutofit/>
          </a:bodyPr>
          <a:lstStyle/>
          <a:p>
            <a:pPr algn="r">
              <a:lnSpc>
                <a:spcPts val="2000"/>
              </a:lnSpc>
            </a:pPr>
            <a:r>
              <a:rPr lang="ja-JP" sz="1400" b="1" dirty="0">
                <a:solidFill>
                  <a:srgbClr val="B0AEA5"/>
                </a:solidFill>
                <a:latin typeface="Hiragino Sans"/>
              </a:rPr>
              <a:t>あなたの役割</a:t>
            </a:r>
          </a:p>
        </p:txBody>
      </p:sp>
      <p:sp>
        <p:nvSpPr>
          <p:cNvPr id="74" name="Cell BG 4-0"/>
          <p:cNvSpPr/>
          <p:nvPr/>
        </p:nvSpPr>
        <p:spPr>
          <a:xfrm>
            <a:off x="2651760" y="5358384"/>
            <a:ext cx="2895600" cy="768096"/>
          </a:xfrm>
          <a:prstGeom prst="roundRect">
            <a:avLst>
              <a:gd name="adj" fmla="val 5000"/>
            </a:avLst>
          </a:prstGeom>
          <a:solidFill>
            <a:srgbClr val="2D2926"/>
          </a:solidFill>
          <a:ln>
            <a:noFill/>
          </a:ln>
        </p:spPr>
        <p:txBody>
          <a:bodyPr/>
          <a:lstStyle/>
          <a:p>
            <a:endParaRPr/>
          </a:p>
        </p:txBody>
      </p:sp>
      <p:sp>
        <p:nvSpPr>
          <p:cNvPr id="75" name="Cell Text 4-0"/>
          <p:cNvSpPr txBox="1"/>
          <p:nvPr/>
        </p:nvSpPr>
        <p:spPr>
          <a:xfrm>
            <a:off x="2788920" y="5404104"/>
            <a:ext cx="2621280" cy="676656"/>
          </a:xfrm>
          <a:prstGeom prst="rect">
            <a:avLst/>
          </a:prstGeom>
          <a:noFill/>
        </p:spPr>
        <p:txBody>
          <a:bodyPr wrap="square" anchor="ctr">
            <a:noAutofit/>
          </a:bodyPr>
          <a:lstStyle/>
          <a:p>
            <a:pPr algn="ctr">
              <a:lnSpc>
                <a:spcPts val="1800"/>
              </a:lnSpc>
            </a:pPr>
            <a:r>
              <a:rPr lang="ja-JP" sz="1400" b="0" dirty="0">
                <a:solidFill>
                  <a:srgbClr val="C5C3BB"/>
                </a:solidFill>
                <a:latin typeface="Hiragino Sans"/>
              </a:rPr>
              <a:t>質問を考える
回答を判断する</a:t>
            </a:r>
          </a:p>
        </p:txBody>
      </p:sp>
      <p:sp>
        <p:nvSpPr>
          <p:cNvPr id="76" name="Cell BG 4-1"/>
          <p:cNvSpPr/>
          <p:nvPr/>
        </p:nvSpPr>
        <p:spPr>
          <a:xfrm>
            <a:off x="5638800" y="5358384"/>
            <a:ext cx="2895600" cy="768096"/>
          </a:xfrm>
          <a:prstGeom prst="roundRect">
            <a:avLst>
              <a:gd name="adj" fmla="val 5000"/>
            </a:avLst>
          </a:prstGeom>
          <a:solidFill>
            <a:srgbClr val="2D2926"/>
          </a:solidFill>
          <a:ln>
            <a:noFill/>
          </a:ln>
        </p:spPr>
        <p:txBody>
          <a:bodyPr/>
          <a:lstStyle/>
          <a:p>
            <a:endParaRPr/>
          </a:p>
        </p:txBody>
      </p:sp>
      <p:sp>
        <p:nvSpPr>
          <p:cNvPr id="77" name="Cell Text 4-1"/>
          <p:cNvSpPr txBox="1"/>
          <p:nvPr/>
        </p:nvSpPr>
        <p:spPr>
          <a:xfrm>
            <a:off x="5775960" y="5404104"/>
            <a:ext cx="2621280" cy="676656"/>
          </a:xfrm>
          <a:prstGeom prst="rect">
            <a:avLst/>
          </a:prstGeom>
          <a:noFill/>
        </p:spPr>
        <p:txBody>
          <a:bodyPr wrap="square" anchor="ctr">
            <a:noAutofit/>
          </a:bodyPr>
          <a:lstStyle/>
          <a:p>
            <a:pPr algn="ctr">
              <a:lnSpc>
                <a:spcPts val="1800"/>
              </a:lnSpc>
            </a:pPr>
            <a:r>
              <a:rPr lang="ja-JP" sz="1400" b="0" dirty="0">
                <a:solidFill>
                  <a:srgbClr val="C5C3BB"/>
                </a:solidFill>
                <a:latin typeface="Hiragino Sans"/>
              </a:rPr>
              <a:t>補完候補を
Tab/Escで選ぶ</a:t>
            </a:r>
          </a:p>
        </p:txBody>
      </p:sp>
      <p:sp>
        <p:nvSpPr>
          <p:cNvPr id="78" name="Cell BG 4-2"/>
          <p:cNvSpPr/>
          <p:nvPr/>
        </p:nvSpPr>
        <p:spPr>
          <a:xfrm>
            <a:off x="8625840" y="5358384"/>
            <a:ext cx="2895600" cy="768096"/>
          </a:xfrm>
          <a:prstGeom prst="roundRect">
            <a:avLst>
              <a:gd name="adj" fmla="val 5000"/>
            </a:avLst>
          </a:prstGeom>
          <a:solidFill>
            <a:srgbClr val="2D2926"/>
          </a:solidFill>
          <a:ln>
            <a:noFill/>
          </a:ln>
        </p:spPr>
        <p:txBody>
          <a:bodyPr/>
          <a:lstStyle/>
          <a:p>
            <a:endParaRPr/>
          </a:p>
        </p:txBody>
      </p:sp>
      <p:sp>
        <p:nvSpPr>
          <p:cNvPr id="79" name="Cell Text 4-2"/>
          <p:cNvSpPr txBox="1"/>
          <p:nvPr/>
        </p:nvSpPr>
        <p:spPr>
          <a:xfrm>
            <a:off x="8763000" y="5404104"/>
            <a:ext cx="2621280" cy="676656"/>
          </a:xfrm>
          <a:prstGeom prst="rect">
            <a:avLst/>
          </a:prstGeom>
          <a:noFill/>
        </p:spPr>
        <p:txBody>
          <a:bodyPr wrap="square" anchor="ctr">
            <a:noAutofit/>
          </a:bodyPr>
          <a:lstStyle/>
          <a:p>
            <a:pPr algn="ctr">
              <a:lnSpc>
                <a:spcPts val="1800"/>
              </a:lnSpc>
            </a:pPr>
            <a:r>
              <a:rPr lang="ja-JP" sz="1400" b="0" dirty="0">
                <a:solidFill>
                  <a:srgbClr val="FAF9F5"/>
                </a:solidFill>
                <a:latin typeface="Hiragino Sans"/>
              </a:rPr>
              <a:t>方向づけと判断
の2回だけ</a:t>
            </a:r>
          </a:p>
        </p:txBody>
      </p:sp>
      <p:sp>
        <p:nvSpPr>
          <p:cNvPr id="90" name="Footer"/>
          <p:cNvSpPr txBox="1"/>
          <p:nvPr/>
        </p:nvSpPr>
        <p:spPr>
          <a:xfrm>
            <a:off x="731520" y="6217920"/>
            <a:ext cx="10698480" cy="365760"/>
          </a:xfrm>
          <a:prstGeom prst="rect">
            <a:avLst/>
          </a:prstGeom>
          <a:noFill/>
        </p:spPr>
        <p:txBody>
          <a:bodyPr wrap="square">
            <a:spAutoFit/>
          </a:bodyPr>
          <a:lstStyle/>
          <a:p>
            <a:pPr algn="l">
              <a:lnSpc>
                <a:spcPts val="2200"/>
              </a:lnSpc>
            </a:pPr>
            <a:r>
              <a:rPr lang="ja-JP" sz="1400" b="0" dirty="0">
                <a:solidFill>
                  <a:srgbClr val="B0AEA5"/>
                </a:solidFill>
                <a:latin typeface="Hiragino Sans"/>
              </a:rPr>
              <a:t>→ 排他的ではなく補完的。併用するのがおすすめ</a:t>
            </a:r>
          </a:p>
        </p:txBody>
      </p:sp>
      <p:sp>
        <p:nvSpPr>
          <p:cNvPr id="99" name="PageNum"/>
          <p:cNvSpPr txBox="1"/>
          <p:nvPr/>
        </p:nvSpPr>
        <p:spPr>
          <a:xfrm>
            <a:off x="11247120" y="6400800"/>
            <a:ext cx="640080" cy="274320"/>
          </a:xfrm>
          <a:prstGeom prst="rect">
            <a:avLst/>
          </a:prstGeom>
          <a:noFill/>
        </p:spPr>
        <p:txBody>
          <a:bodyPr wrap="square">
            <a:spAutoFit/>
          </a:bodyPr>
          <a:lstStyle/>
          <a:p>
            <a:pPr algn="r">
              <a:lnSpc>
                <a:spcPts val="1500"/>
              </a:lnSpc>
            </a:pPr>
            <a:r>
              <a:rPr lang="en-US" sz="1100" b="0" dirty="0">
                <a:solidFill>
                  <a:srgbClr val="B0AEA5"/>
                </a:solidFill>
                <a:latin typeface="Helvetica Neue"/>
              </a:rPr>
              <a:t>6 / 16</a:t>
            </a:r>
          </a:p>
        </p:txBody>
      </p:sp>
    </p:spTree>
    <p:extLst>
      <p:ext uri="{BB962C8B-B14F-4D97-AF65-F5344CB8AC3E}">
        <p14:creationId xmlns:p14="http://schemas.microsoft.com/office/powerpoint/2010/main" val="335202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10" name="Part"/>
          <p:cNvSpPr txBox="1"/>
          <p:nvPr/>
        </p:nvSpPr>
        <p:spPr>
          <a:xfrm>
            <a:off x="731520" y="274320"/>
            <a:ext cx="4572000" cy="274320"/>
          </a:xfrm>
          <a:prstGeom prst="rect">
            <a:avLst/>
          </a:prstGeom>
          <a:noFill/>
        </p:spPr>
        <p:txBody>
          <a:bodyPr wrap="square">
            <a:spAutoFit/>
          </a:bodyPr>
          <a:lstStyle/>
          <a:p>
            <a:pPr algn="l">
              <a:lnSpc>
                <a:spcPts val="1800"/>
              </a:lnSpc>
            </a:pPr>
            <a:r>
              <a:rPr lang="en-US" sz="1200" b="1" dirty="0">
                <a:solidFill>
                  <a:srgbClr val="D97757"/>
                </a:solidFill>
                <a:latin typeface="Helvetica Neue"/>
              </a:rPr>
              <a:t>PART 1 — Claude Code とは</a:t>
            </a:r>
          </a:p>
        </p:txBody>
      </p:sp>
      <p:sp>
        <p:nvSpPr>
          <p:cNvPr id="11" name="Title"/>
          <p:cNvSpPr txBox="1"/>
          <p:nvPr/>
        </p:nvSpPr>
        <p:spPr>
          <a:xfrm>
            <a:off x="731520" y="548640"/>
            <a:ext cx="10058400" cy="548640"/>
          </a:xfrm>
          <a:prstGeom prst="rect">
            <a:avLst/>
          </a:prstGeom>
          <a:noFill/>
        </p:spPr>
        <p:txBody>
          <a:bodyPr wrap="square">
            <a:spAutoFit/>
          </a:bodyPr>
          <a:lstStyle/>
          <a:p>
            <a:pPr algn="l">
              <a:lnSpc>
                <a:spcPts val="3600"/>
              </a:lnSpc>
            </a:pPr>
            <a:r>
              <a:rPr lang="ja-JP" sz="2800" b="1" dirty="0">
                <a:solidFill>
                  <a:srgbClr val="FAF9F5"/>
                </a:solidFill>
                <a:latin typeface="Hiragino Sans"/>
              </a:rPr>
              <a:t>開発フローがどう変わるか</a:t>
            </a:r>
          </a:p>
        </p:txBody>
      </p:sp>
      <p:sp>
        <p:nvSpPr>
          <p:cNvPr id="15" name="Left Header"/>
          <p:cNvSpPr txBox="1"/>
          <p:nvPr/>
        </p:nvSpPr>
        <p:spPr>
          <a:xfrm>
            <a:off x="731520" y="1188720"/>
            <a:ext cx="5074920" cy="365760"/>
          </a:xfrm>
          <a:prstGeom prst="rect">
            <a:avLst/>
          </a:prstGeom>
          <a:noFill/>
        </p:spPr>
        <p:txBody>
          <a:bodyPr wrap="square">
            <a:spAutoFit/>
          </a:bodyPr>
          <a:lstStyle/>
          <a:p>
            <a:pPr algn="ctr">
              <a:lnSpc>
                <a:spcPts val="2400"/>
              </a:lnSpc>
            </a:pPr>
            <a:r>
              <a:rPr lang="ja-JP" sz="1800" b="1" dirty="0">
                <a:solidFill>
                  <a:srgbClr val="D97757"/>
                </a:solidFill>
                <a:latin typeface="Hiragino Sans"/>
              </a:rPr>
              <a:t>従来の開発フロー</a:t>
            </a:r>
          </a:p>
        </p:txBody>
      </p:sp>
      <p:sp>
        <p:nvSpPr>
          <p:cNvPr id="16" name="Right Header"/>
          <p:cNvSpPr txBox="1"/>
          <p:nvPr/>
        </p:nvSpPr>
        <p:spPr>
          <a:xfrm>
            <a:off x="6355080" y="1188720"/>
            <a:ext cx="5074920" cy="365760"/>
          </a:xfrm>
          <a:prstGeom prst="rect">
            <a:avLst/>
          </a:prstGeom>
          <a:noFill/>
        </p:spPr>
        <p:txBody>
          <a:bodyPr wrap="square">
            <a:spAutoFit/>
          </a:bodyPr>
          <a:lstStyle/>
          <a:p>
            <a:pPr algn="ctr">
              <a:lnSpc>
                <a:spcPts val="2400"/>
              </a:lnSpc>
            </a:pPr>
            <a:r>
              <a:rPr lang="ja-JP" sz="1800" b="1" dirty="0">
                <a:solidFill>
                  <a:srgbClr val="6A9BCC"/>
                </a:solidFill>
                <a:latin typeface="Hiragino Sans"/>
              </a:rPr>
              <a:t>Claude Code を使った開発フロー</a:t>
            </a:r>
          </a:p>
        </p:txBody>
      </p:sp>
      <p:sp>
        <p:nvSpPr>
          <p:cNvPr id="20" name="L Row 0"/>
          <p:cNvSpPr/>
          <p:nvPr/>
        </p:nvSpPr>
        <p:spPr>
          <a:xfrm>
            <a:off x="731520" y="1645920"/>
            <a:ext cx="5074920" cy="548640"/>
          </a:xfrm>
          <a:prstGeom prst="roundRect">
            <a:avLst>
              <a:gd name="adj" fmla="val 8000"/>
            </a:avLst>
          </a:prstGeom>
          <a:solidFill>
            <a:srgbClr val="2D2926"/>
          </a:solidFill>
          <a:ln>
            <a:noFill/>
          </a:ln>
        </p:spPr>
        <p:txBody>
          <a:bodyPr anchor="ctr">
            <a:noAutofit/>
          </a:bodyPr>
          <a:lstStyle/>
          <a:p>
            <a:pPr marL="228600" algn="l">
              <a:lnSpc>
                <a:spcPts val="2000"/>
              </a:lnSpc>
            </a:pPr>
            <a:r>
              <a:rPr lang="ja-JP" sz="1600" b="1" dirty="0">
                <a:solidFill>
                  <a:srgbClr val="E8956F"/>
                </a:solidFill>
                <a:latin typeface="Hiragino Sans"/>
              </a:rPr>
              <a:t>コードを読む</a:t>
            </a:r>
            <a:r>
              <a:rPr lang="en-US" sz="1200" b="0" dirty="0">
                <a:solidFill>
                  <a:srgbClr val="D97757">
                    <a:alpha val="60000"/>
                  </a:srgbClr>
                </a:solidFill>
                <a:latin typeface="Helvetica Neue"/>
              </a:rPr>
              <a:t>  Developer</a:t>
            </a:r>
          </a:p>
        </p:txBody>
      </p:sp>
      <p:sp>
        <p:nvSpPr>
          <p:cNvPr id="21" name="L Arrow 0"/>
          <p:cNvSpPr/>
          <p:nvPr/>
        </p:nvSpPr>
        <p:spPr>
          <a:xfrm rot="5400000">
            <a:off x="3223260" y="2171700"/>
            <a:ext cx="137160" cy="91440"/>
          </a:xfrm>
          <a:prstGeom prst="chevron">
            <a:avLst>
              <a:gd name="adj" fmla="val 50000"/>
            </a:avLst>
          </a:prstGeom>
          <a:solidFill>
            <a:srgbClr val="D97757">
              <a:alpha val="30000"/>
            </a:srgbClr>
          </a:solidFill>
          <a:ln>
            <a:noFill/>
          </a:ln>
        </p:spPr>
        <p:txBody>
          <a:bodyPr/>
          <a:lstStyle/>
          <a:p>
            <a:endParaRPr/>
          </a:p>
        </p:txBody>
      </p:sp>
      <p:sp>
        <p:nvSpPr>
          <p:cNvPr id="22" name="L Row 1"/>
          <p:cNvSpPr/>
          <p:nvPr/>
        </p:nvSpPr>
        <p:spPr>
          <a:xfrm>
            <a:off x="731520" y="2286000"/>
            <a:ext cx="5074920" cy="548640"/>
          </a:xfrm>
          <a:prstGeom prst="roundRect">
            <a:avLst>
              <a:gd name="adj" fmla="val 8000"/>
            </a:avLst>
          </a:prstGeom>
          <a:solidFill>
            <a:srgbClr val="2D2926"/>
          </a:solidFill>
          <a:ln>
            <a:noFill/>
          </a:ln>
        </p:spPr>
        <p:txBody>
          <a:bodyPr anchor="ctr">
            <a:noAutofit/>
          </a:bodyPr>
          <a:lstStyle/>
          <a:p>
            <a:pPr marL="228600" algn="l">
              <a:lnSpc>
                <a:spcPts val="2000"/>
              </a:lnSpc>
            </a:pPr>
            <a:r>
              <a:rPr lang="ja-JP" sz="1600" b="1" dirty="0">
                <a:solidFill>
                  <a:srgbClr val="E8956F"/>
                </a:solidFill>
                <a:latin typeface="Hiragino Sans"/>
              </a:rPr>
              <a:t>方針を考える</a:t>
            </a:r>
            <a:r>
              <a:rPr lang="en-US" sz="1200" b="0" dirty="0">
                <a:solidFill>
                  <a:srgbClr val="D97757">
                    <a:alpha val="60000"/>
                  </a:srgbClr>
                </a:solidFill>
                <a:latin typeface="Helvetica Neue"/>
              </a:rPr>
              <a:t>  Developer</a:t>
            </a:r>
          </a:p>
        </p:txBody>
      </p:sp>
      <p:sp>
        <p:nvSpPr>
          <p:cNvPr id="23" name="L Arrow 1"/>
          <p:cNvSpPr/>
          <p:nvPr/>
        </p:nvSpPr>
        <p:spPr>
          <a:xfrm rot="5400000">
            <a:off x="3223260" y="2811780"/>
            <a:ext cx="137160" cy="91440"/>
          </a:xfrm>
          <a:prstGeom prst="chevron">
            <a:avLst>
              <a:gd name="adj" fmla="val 50000"/>
            </a:avLst>
          </a:prstGeom>
          <a:solidFill>
            <a:srgbClr val="D97757">
              <a:alpha val="30000"/>
            </a:srgbClr>
          </a:solidFill>
          <a:ln>
            <a:noFill/>
          </a:ln>
        </p:spPr>
        <p:txBody>
          <a:bodyPr/>
          <a:lstStyle/>
          <a:p>
            <a:endParaRPr/>
          </a:p>
        </p:txBody>
      </p:sp>
      <p:sp>
        <p:nvSpPr>
          <p:cNvPr id="24" name="L Row 2"/>
          <p:cNvSpPr/>
          <p:nvPr/>
        </p:nvSpPr>
        <p:spPr>
          <a:xfrm>
            <a:off x="731520" y="2926080"/>
            <a:ext cx="5074920" cy="548640"/>
          </a:xfrm>
          <a:prstGeom prst="roundRect">
            <a:avLst>
              <a:gd name="adj" fmla="val 8000"/>
            </a:avLst>
          </a:prstGeom>
          <a:solidFill>
            <a:srgbClr val="2D2926"/>
          </a:solidFill>
          <a:ln>
            <a:noFill/>
          </a:ln>
        </p:spPr>
        <p:txBody>
          <a:bodyPr anchor="ctr">
            <a:noAutofit/>
          </a:bodyPr>
          <a:lstStyle/>
          <a:p>
            <a:pPr marL="228600" algn="l">
              <a:lnSpc>
                <a:spcPts val="2000"/>
              </a:lnSpc>
            </a:pPr>
            <a:r>
              <a:rPr lang="ja-JP" sz="1600" b="1" dirty="0">
                <a:solidFill>
                  <a:srgbClr val="E8956F"/>
                </a:solidFill>
                <a:latin typeface="Hiragino Sans"/>
              </a:rPr>
              <a:t>コードを書く</a:t>
            </a:r>
            <a:r>
              <a:rPr lang="en-US" sz="1200" b="0" dirty="0">
                <a:solidFill>
                  <a:srgbClr val="D97757">
                    <a:alpha val="60000"/>
                  </a:srgbClr>
                </a:solidFill>
                <a:latin typeface="Helvetica Neue"/>
              </a:rPr>
              <a:t>  Developer</a:t>
            </a:r>
          </a:p>
        </p:txBody>
      </p:sp>
      <p:sp>
        <p:nvSpPr>
          <p:cNvPr id="25" name="L Arrow 2"/>
          <p:cNvSpPr/>
          <p:nvPr/>
        </p:nvSpPr>
        <p:spPr>
          <a:xfrm rot="5400000">
            <a:off x="3223260" y="3451860"/>
            <a:ext cx="137160" cy="91440"/>
          </a:xfrm>
          <a:prstGeom prst="chevron">
            <a:avLst>
              <a:gd name="adj" fmla="val 50000"/>
            </a:avLst>
          </a:prstGeom>
          <a:solidFill>
            <a:srgbClr val="D97757">
              <a:alpha val="30000"/>
            </a:srgbClr>
          </a:solidFill>
          <a:ln>
            <a:noFill/>
          </a:ln>
        </p:spPr>
        <p:txBody>
          <a:bodyPr/>
          <a:lstStyle/>
          <a:p>
            <a:endParaRPr/>
          </a:p>
        </p:txBody>
      </p:sp>
      <p:sp>
        <p:nvSpPr>
          <p:cNvPr id="26" name="L Row 3"/>
          <p:cNvSpPr/>
          <p:nvPr/>
        </p:nvSpPr>
        <p:spPr>
          <a:xfrm>
            <a:off x="731520" y="3566160"/>
            <a:ext cx="5074920" cy="548640"/>
          </a:xfrm>
          <a:prstGeom prst="roundRect">
            <a:avLst>
              <a:gd name="adj" fmla="val 8000"/>
            </a:avLst>
          </a:prstGeom>
          <a:solidFill>
            <a:srgbClr val="2D2926"/>
          </a:solidFill>
          <a:ln>
            <a:noFill/>
          </a:ln>
        </p:spPr>
        <p:txBody>
          <a:bodyPr anchor="ctr">
            <a:noAutofit/>
          </a:bodyPr>
          <a:lstStyle/>
          <a:p>
            <a:pPr marL="228600" algn="l">
              <a:lnSpc>
                <a:spcPts val="2000"/>
              </a:lnSpc>
            </a:pPr>
            <a:r>
              <a:rPr lang="ja-JP" sz="1600" b="1" dirty="0">
                <a:solidFill>
                  <a:srgbClr val="E8956F"/>
                </a:solidFill>
                <a:latin typeface="Hiragino Sans"/>
              </a:rPr>
              <a:t>テスト実行</a:t>
            </a:r>
            <a:r>
              <a:rPr lang="en-US" sz="1200" b="0" dirty="0">
                <a:solidFill>
                  <a:srgbClr val="D97757">
                    <a:alpha val="60000"/>
                  </a:srgbClr>
                </a:solidFill>
                <a:latin typeface="Helvetica Neue"/>
              </a:rPr>
              <a:t>  Developer</a:t>
            </a:r>
          </a:p>
        </p:txBody>
      </p:sp>
      <p:sp>
        <p:nvSpPr>
          <p:cNvPr id="27" name="L Arrow 3"/>
          <p:cNvSpPr/>
          <p:nvPr/>
        </p:nvSpPr>
        <p:spPr>
          <a:xfrm rot="5400000">
            <a:off x="3223260" y="4091940"/>
            <a:ext cx="137160" cy="91440"/>
          </a:xfrm>
          <a:prstGeom prst="chevron">
            <a:avLst>
              <a:gd name="adj" fmla="val 50000"/>
            </a:avLst>
          </a:prstGeom>
          <a:solidFill>
            <a:srgbClr val="D97757">
              <a:alpha val="30000"/>
            </a:srgbClr>
          </a:solidFill>
          <a:ln>
            <a:noFill/>
          </a:ln>
        </p:spPr>
        <p:txBody>
          <a:bodyPr/>
          <a:lstStyle/>
          <a:p>
            <a:endParaRPr/>
          </a:p>
        </p:txBody>
      </p:sp>
      <p:sp>
        <p:nvSpPr>
          <p:cNvPr id="28" name="L Row 4"/>
          <p:cNvSpPr/>
          <p:nvPr/>
        </p:nvSpPr>
        <p:spPr>
          <a:xfrm>
            <a:off x="731520" y="4206240"/>
            <a:ext cx="5074920" cy="548640"/>
          </a:xfrm>
          <a:prstGeom prst="roundRect">
            <a:avLst>
              <a:gd name="adj" fmla="val 8000"/>
            </a:avLst>
          </a:prstGeom>
          <a:solidFill>
            <a:srgbClr val="2D2926"/>
          </a:solidFill>
          <a:ln>
            <a:noFill/>
          </a:ln>
        </p:spPr>
        <p:txBody>
          <a:bodyPr anchor="ctr">
            <a:noAutofit/>
          </a:bodyPr>
          <a:lstStyle/>
          <a:p>
            <a:pPr marL="228600" algn="l">
              <a:lnSpc>
                <a:spcPts val="2000"/>
              </a:lnSpc>
            </a:pPr>
            <a:r>
              <a:rPr lang="ja-JP" sz="1600" b="1" dirty="0">
                <a:solidFill>
                  <a:srgbClr val="E8956F"/>
                </a:solidFill>
                <a:latin typeface="Hiragino Sans"/>
              </a:rPr>
              <a:t>デバッグ・修正</a:t>
            </a:r>
            <a:r>
              <a:rPr lang="en-US" sz="1200" b="0" dirty="0">
                <a:solidFill>
                  <a:srgbClr val="D97757">
                    <a:alpha val="60000"/>
                  </a:srgbClr>
                </a:solidFill>
                <a:latin typeface="Helvetica Neue"/>
              </a:rPr>
              <a:t>  Developer</a:t>
            </a:r>
          </a:p>
        </p:txBody>
      </p:sp>
      <p:sp>
        <p:nvSpPr>
          <p:cNvPr id="29" name="L Arrow 4"/>
          <p:cNvSpPr/>
          <p:nvPr/>
        </p:nvSpPr>
        <p:spPr>
          <a:xfrm rot="5400000">
            <a:off x="3223260" y="4732020"/>
            <a:ext cx="137160" cy="91440"/>
          </a:xfrm>
          <a:prstGeom prst="chevron">
            <a:avLst>
              <a:gd name="adj" fmla="val 50000"/>
            </a:avLst>
          </a:prstGeom>
          <a:solidFill>
            <a:srgbClr val="D97757">
              <a:alpha val="30000"/>
            </a:srgbClr>
          </a:solidFill>
          <a:ln>
            <a:noFill/>
          </a:ln>
        </p:spPr>
        <p:txBody>
          <a:bodyPr/>
          <a:lstStyle/>
          <a:p>
            <a:endParaRPr/>
          </a:p>
        </p:txBody>
      </p:sp>
      <p:sp>
        <p:nvSpPr>
          <p:cNvPr id="30" name="L Row 5"/>
          <p:cNvSpPr/>
          <p:nvPr/>
        </p:nvSpPr>
        <p:spPr>
          <a:xfrm>
            <a:off x="731520" y="4846320"/>
            <a:ext cx="5074920" cy="548640"/>
          </a:xfrm>
          <a:prstGeom prst="roundRect">
            <a:avLst>
              <a:gd name="adj" fmla="val 8000"/>
            </a:avLst>
          </a:prstGeom>
          <a:solidFill>
            <a:srgbClr val="2D2926"/>
          </a:solidFill>
          <a:ln>
            <a:noFill/>
          </a:ln>
        </p:spPr>
        <p:txBody>
          <a:bodyPr anchor="ctr">
            <a:noAutofit/>
          </a:bodyPr>
          <a:lstStyle/>
          <a:p>
            <a:pPr marL="228600" algn="l">
              <a:lnSpc>
                <a:spcPts val="2000"/>
              </a:lnSpc>
            </a:pPr>
            <a:r>
              <a:rPr lang="ja-JP" sz="1600" b="1" dirty="0">
                <a:solidFill>
                  <a:srgbClr val="E8956F"/>
                </a:solidFill>
                <a:latin typeface="Hiragino Sans"/>
              </a:rPr>
              <a:t>差分整理・PR作成</a:t>
            </a:r>
            <a:r>
              <a:rPr lang="en-US" sz="1200" b="0" dirty="0">
                <a:solidFill>
                  <a:srgbClr val="D97757">
                    <a:alpha val="60000"/>
                  </a:srgbClr>
                </a:solidFill>
                <a:latin typeface="Helvetica Neue"/>
              </a:rPr>
              <a:t>  Developer</a:t>
            </a:r>
          </a:p>
        </p:txBody>
      </p:sp>
      <p:sp>
        <p:nvSpPr>
          <p:cNvPr id="50" name="R Row 0"/>
          <p:cNvSpPr/>
          <p:nvPr/>
        </p:nvSpPr>
        <p:spPr>
          <a:xfrm>
            <a:off x="6355080" y="1645920"/>
            <a:ext cx="5074920" cy="548640"/>
          </a:xfrm>
          <a:prstGeom prst="roundRect">
            <a:avLst>
              <a:gd name="adj" fmla="val 8000"/>
            </a:avLst>
          </a:prstGeom>
          <a:solidFill>
            <a:srgbClr val="3D2A20"/>
          </a:solidFill>
          <a:ln>
            <a:noFill/>
          </a:ln>
        </p:spPr>
        <p:txBody>
          <a:bodyPr anchor="ctr">
            <a:noAutofit/>
          </a:bodyPr>
          <a:lstStyle/>
          <a:p>
            <a:pPr marL="228600" algn="l">
              <a:lnSpc>
                <a:spcPts val="2000"/>
              </a:lnSpc>
            </a:pPr>
            <a:r>
              <a:rPr lang="ja-JP" sz="1600" b="1" dirty="0">
                <a:solidFill>
                  <a:srgbClr val="E8956F"/>
                </a:solidFill>
                <a:latin typeface="Hiragino Sans"/>
              </a:rPr>
              <a:t>目標・背景を伝える</a:t>
            </a:r>
            <a:r>
              <a:rPr lang="en-US" sz="1200" b="0" dirty="0">
                <a:solidFill>
                  <a:srgbClr val="D97757">
                    <a:alpha val="60000"/>
                  </a:srgbClr>
                </a:solidFill>
                <a:latin typeface="Helvetica Neue"/>
              </a:rPr>
              <a:t>  Developer</a:t>
            </a:r>
          </a:p>
        </p:txBody>
      </p:sp>
      <p:sp>
        <p:nvSpPr>
          <p:cNvPr id="51" name="R Arrow 0"/>
          <p:cNvSpPr/>
          <p:nvPr/>
        </p:nvSpPr>
        <p:spPr>
          <a:xfrm rot="5400000">
            <a:off x="8846820" y="2171700"/>
            <a:ext cx="137160" cy="91440"/>
          </a:xfrm>
          <a:prstGeom prst="chevron">
            <a:avLst>
              <a:gd name="adj" fmla="val 50000"/>
            </a:avLst>
          </a:prstGeom>
          <a:solidFill>
            <a:srgbClr val="6A9BCC">
              <a:alpha val="30000"/>
            </a:srgbClr>
          </a:solidFill>
          <a:ln>
            <a:noFill/>
          </a:ln>
        </p:spPr>
        <p:txBody>
          <a:bodyPr/>
          <a:lstStyle/>
          <a:p>
            <a:endParaRPr/>
          </a:p>
        </p:txBody>
      </p:sp>
      <p:sp>
        <p:nvSpPr>
          <p:cNvPr id="52" name="R Row 1"/>
          <p:cNvSpPr/>
          <p:nvPr/>
        </p:nvSpPr>
        <p:spPr>
          <a:xfrm>
            <a:off x="6355080" y="2286000"/>
            <a:ext cx="5074920" cy="548640"/>
          </a:xfrm>
          <a:prstGeom prst="roundRect">
            <a:avLst>
              <a:gd name="adj" fmla="val 8000"/>
            </a:avLst>
          </a:prstGeom>
          <a:solidFill>
            <a:srgbClr val="1E2A35"/>
          </a:solidFill>
          <a:ln>
            <a:noFill/>
          </a:ln>
        </p:spPr>
        <p:txBody>
          <a:bodyPr anchor="ctr">
            <a:noAutofit/>
          </a:bodyPr>
          <a:lstStyle/>
          <a:p>
            <a:pPr marL="228600" algn="l">
              <a:lnSpc>
                <a:spcPts val="2000"/>
              </a:lnSpc>
            </a:pPr>
            <a:r>
              <a:rPr lang="ja-JP" sz="1600" b="1" dirty="0">
                <a:solidFill>
                  <a:srgbClr val="6A9BCC"/>
                </a:solidFill>
                <a:latin typeface="Hiragino Sans"/>
              </a:rPr>
              <a:t>コード調査</a:t>
            </a:r>
            <a:r>
              <a:rPr lang="en-US" sz="1200" b="0" dirty="0">
                <a:solidFill>
                  <a:srgbClr val="6A9BCC">
                    <a:alpha val="60000"/>
                  </a:srgbClr>
                </a:solidFill>
                <a:latin typeface="Helvetica Neue"/>
              </a:rPr>
              <a:t>  Claude</a:t>
            </a:r>
          </a:p>
        </p:txBody>
      </p:sp>
      <p:sp>
        <p:nvSpPr>
          <p:cNvPr id="53" name="R Arrow 1"/>
          <p:cNvSpPr/>
          <p:nvPr/>
        </p:nvSpPr>
        <p:spPr>
          <a:xfrm rot="5400000">
            <a:off x="8846820" y="2811780"/>
            <a:ext cx="137160" cy="91440"/>
          </a:xfrm>
          <a:prstGeom prst="chevron">
            <a:avLst>
              <a:gd name="adj" fmla="val 50000"/>
            </a:avLst>
          </a:prstGeom>
          <a:solidFill>
            <a:srgbClr val="6A9BCC">
              <a:alpha val="30000"/>
            </a:srgbClr>
          </a:solidFill>
          <a:ln>
            <a:noFill/>
          </a:ln>
        </p:spPr>
        <p:txBody>
          <a:bodyPr/>
          <a:lstStyle/>
          <a:p>
            <a:endParaRPr/>
          </a:p>
        </p:txBody>
      </p:sp>
      <p:sp>
        <p:nvSpPr>
          <p:cNvPr id="54" name="R Row 2"/>
          <p:cNvSpPr/>
          <p:nvPr/>
        </p:nvSpPr>
        <p:spPr>
          <a:xfrm>
            <a:off x="6355080" y="2926080"/>
            <a:ext cx="5074920" cy="548640"/>
          </a:xfrm>
          <a:prstGeom prst="roundRect">
            <a:avLst>
              <a:gd name="adj" fmla="val 8000"/>
            </a:avLst>
          </a:prstGeom>
          <a:solidFill>
            <a:srgbClr val="1E2A35"/>
          </a:solidFill>
          <a:ln>
            <a:noFill/>
          </a:ln>
        </p:spPr>
        <p:txBody>
          <a:bodyPr anchor="ctr">
            <a:noAutofit/>
          </a:bodyPr>
          <a:lstStyle/>
          <a:p>
            <a:pPr marL="228600" algn="l">
              <a:lnSpc>
                <a:spcPts val="2000"/>
              </a:lnSpc>
            </a:pPr>
            <a:r>
              <a:rPr lang="ja-JP" sz="1600" b="1" dirty="0">
                <a:solidFill>
                  <a:srgbClr val="6A9BCC"/>
                </a:solidFill>
                <a:latin typeface="Hiragino Sans"/>
              </a:rPr>
              <a:t>計画提案</a:t>
            </a:r>
            <a:r>
              <a:rPr lang="en-US" sz="1200" b="0" dirty="0">
                <a:solidFill>
                  <a:srgbClr val="6A9BCC">
                    <a:alpha val="60000"/>
                  </a:srgbClr>
                </a:solidFill>
                <a:latin typeface="Helvetica Neue"/>
              </a:rPr>
              <a:t>  Claude</a:t>
            </a:r>
          </a:p>
        </p:txBody>
      </p:sp>
      <p:sp>
        <p:nvSpPr>
          <p:cNvPr id="55" name="R Arrow 2"/>
          <p:cNvSpPr/>
          <p:nvPr/>
        </p:nvSpPr>
        <p:spPr>
          <a:xfrm rot="5400000">
            <a:off x="8846820" y="3451860"/>
            <a:ext cx="137160" cy="91440"/>
          </a:xfrm>
          <a:prstGeom prst="chevron">
            <a:avLst>
              <a:gd name="adj" fmla="val 50000"/>
            </a:avLst>
          </a:prstGeom>
          <a:solidFill>
            <a:srgbClr val="6A9BCC">
              <a:alpha val="30000"/>
            </a:srgbClr>
          </a:solidFill>
          <a:ln>
            <a:noFill/>
          </a:ln>
        </p:spPr>
        <p:txBody>
          <a:bodyPr/>
          <a:lstStyle/>
          <a:p>
            <a:endParaRPr/>
          </a:p>
        </p:txBody>
      </p:sp>
      <p:sp>
        <p:nvSpPr>
          <p:cNvPr id="56" name="R Row 3"/>
          <p:cNvSpPr/>
          <p:nvPr/>
        </p:nvSpPr>
        <p:spPr>
          <a:xfrm>
            <a:off x="6355080" y="3566160"/>
            <a:ext cx="5074920" cy="548640"/>
          </a:xfrm>
          <a:prstGeom prst="roundRect">
            <a:avLst>
              <a:gd name="adj" fmla="val 8000"/>
            </a:avLst>
          </a:prstGeom>
          <a:solidFill>
            <a:srgbClr val="3D2A20"/>
          </a:solidFill>
          <a:ln>
            <a:noFill/>
          </a:ln>
        </p:spPr>
        <p:txBody>
          <a:bodyPr anchor="ctr">
            <a:noAutofit/>
          </a:bodyPr>
          <a:lstStyle/>
          <a:p>
            <a:pPr marL="228600" algn="l">
              <a:lnSpc>
                <a:spcPts val="2000"/>
              </a:lnSpc>
            </a:pPr>
            <a:r>
              <a:rPr lang="ja-JP" sz="1600" b="1" dirty="0">
                <a:solidFill>
                  <a:srgbClr val="E8956F"/>
                </a:solidFill>
                <a:latin typeface="Hiragino Sans"/>
              </a:rPr>
              <a:t>レビュー</a:t>
            </a:r>
            <a:r>
              <a:rPr lang="en-US" sz="1200" b="0" dirty="0">
                <a:solidFill>
                  <a:srgbClr val="D97757">
                    <a:alpha val="60000"/>
                  </a:srgbClr>
                </a:solidFill>
                <a:latin typeface="Helvetica Neue"/>
              </a:rPr>
              <a:t>  Developer</a:t>
            </a:r>
          </a:p>
        </p:txBody>
      </p:sp>
      <p:sp>
        <p:nvSpPr>
          <p:cNvPr id="57" name="R Arrow 3"/>
          <p:cNvSpPr/>
          <p:nvPr/>
        </p:nvSpPr>
        <p:spPr>
          <a:xfrm rot="5400000">
            <a:off x="8846820" y="4091940"/>
            <a:ext cx="137160" cy="91440"/>
          </a:xfrm>
          <a:prstGeom prst="chevron">
            <a:avLst>
              <a:gd name="adj" fmla="val 50000"/>
            </a:avLst>
          </a:prstGeom>
          <a:solidFill>
            <a:srgbClr val="6A9BCC">
              <a:alpha val="30000"/>
            </a:srgbClr>
          </a:solidFill>
          <a:ln>
            <a:noFill/>
          </a:ln>
        </p:spPr>
        <p:txBody>
          <a:bodyPr/>
          <a:lstStyle/>
          <a:p>
            <a:endParaRPr/>
          </a:p>
        </p:txBody>
      </p:sp>
      <p:sp>
        <p:nvSpPr>
          <p:cNvPr id="58" name="R Row 4"/>
          <p:cNvSpPr/>
          <p:nvPr/>
        </p:nvSpPr>
        <p:spPr>
          <a:xfrm>
            <a:off x="6355080" y="4206240"/>
            <a:ext cx="5074920" cy="548640"/>
          </a:xfrm>
          <a:prstGeom prst="roundRect">
            <a:avLst>
              <a:gd name="adj" fmla="val 8000"/>
            </a:avLst>
          </a:prstGeom>
          <a:solidFill>
            <a:srgbClr val="1E2A35"/>
          </a:solidFill>
          <a:ln>
            <a:noFill/>
          </a:ln>
        </p:spPr>
        <p:txBody>
          <a:bodyPr anchor="ctr">
            <a:noAutofit/>
          </a:bodyPr>
          <a:lstStyle/>
          <a:p>
            <a:pPr marL="228600" algn="l">
              <a:lnSpc>
                <a:spcPts val="2000"/>
              </a:lnSpc>
            </a:pPr>
            <a:r>
              <a:rPr lang="ja-JP" sz="1600" b="1" dirty="0">
                <a:solidFill>
                  <a:srgbClr val="6A9BCC"/>
                </a:solidFill>
                <a:latin typeface="Hiragino Sans"/>
              </a:rPr>
              <a:t>実装・テスト・検証</a:t>
            </a:r>
            <a:r>
              <a:rPr lang="en-US" sz="1200" b="0" dirty="0">
                <a:solidFill>
                  <a:srgbClr val="6A9BCC">
                    <a:alpha val="60000"/>
                  </a:srgbClr>
                </a:solidFill>
                <a:latin typeface="Helvetica Neue"/>
              </a:rPr>
              <a:t>  Claude</a:t>
            </a:r>
          </a:p>
        </p:txBody>
      </p:sp>
      <p:sp>
        <p:nvSpPr>
          <p:cNvPr id="59" name="R Arrow 4"/>
          <p:cNvSpPr/>
          <p:nvPr/>
        </p:nvSpPr>
        <p:spPr>
          <a:xfrm rot="5400000">
            <a:off x="8846820" y="4732020"/>
            <a:ext cx="137160" cy="91440"/>
          </a:xfrm>
          <a:prstGeom prst="chevron">
            <a:avLst>
              <a:gd name="adj" fmla="val 50000"/>
            </a:avLst>
          </a:prstGeom>
          <a:solidFill>
            <a:srgbClr val="6A9BCC">
              <a:alpha val="30000"/>
            </a:srgbClr>
          </a:solidFill>
          <a:ln>
            <a:noFill/>
          </a:ln>
        </p:spPr>
        <p:txBody>
          <a:bodyPr/>
          <a:lstStyle/>
          <a:p>
            <a:endParaRPr/>
          </a:p>
        </p:txBody>
      </p:sp>
      <p:sp>
        <p:nvSpPr>
          <p:cNvPr id="60" name="R Row 5"/>
          <p:cNvSpPr/>
          <p:nvPr/>
        </p:nvSpPr>
        <p:spPr>
          <a:xfrm>
            <a:off x="6355080" y="4846320"/>
            <a:ext cx="5074920" cy="548640"/>
          </a:xfrm>
          <a:prstGeom prst="roundRect">
            <a:avLst>
              <a:gd name="adj" fmla="val 8000"/>
            </a:avLst>
          </a:prstGeom>
          <a:solidFill>
            <a:srgbClr val="1E2A35"/>
          </a:solidFill>
          <a:ln>
            <a:noFill/>
          </a:ln>
        </p:spPr>
        <p:txBody>
          <a:bodyPr anchor="ctr">
            <a:noAutofit/>
          </a:bodyPr>
          <a:lstStyle/>
          <a:p>
            <a:pPr marL="228600" algn="l">
              <a:lnSpc>
                <a:spcPts val="2000"/>
              </a:lnSpc>
            </a:pPr>
            <a:r>
              <a:rPr lang="ja-JP" sz="1600" b="1" dirty="0">
                <a:solidFill>
                  <a:srgbClr val="6A9BCC"/>
                </a:solidFill>
                <a:latin typeface="Hiragino Sans"/>
              </a:rPr>
              <a:t>差分整理・PR作成</a:t>
            </a:r>
            <a:r>
              <a:rPr lang="en-US" sz="1200" b="0" dirty="0">
                <a:solidFill>
                  <a:srgbClr val="6A9BCC">
                    <a:alpha val="60000"/>
                  </a:srgbClr>
                </a:solidFill>
                <a:latin typeface="Helvetica Neue"/>
              </a:rPr>
              <a:t>  Claude</a:t>
            </a:r>
          </a:p>
        </p:txBody>
      </p:sp>
      <p:sp>
        <p:nvSpPr>
          <p:cNvPr id="80" name="Footer"/>
          <p:cNvSpPr txBox="1"/>
          <p:nvPr/>
        </p:nvSpPr>
        <p:spPr>
          <a:xfrm>
            <a:off x="731520" y="5760720"/>
            <a:ext cx="10698480" cy="365760"/>
          </a:xfrm>
          <a:prstGeom prst="rect">
            <a:avLst/>
          </a:prstGeom>
          <a:noFill/>
        </p:spPr>
        <p:txBody>
          <a:bodyPr wrap="square">
            <a:spAutoFit/>
          </a:bodyPr>
          <a:lstStyle/>
          <a:p>
            <a:pPr algn="l">
              <a:lnSpc>
                <a:spcPts val="2200"/>
              </a:lnSpc>
            </a:pPr>
            <a:r>
              <a:rPr lang="ja-JP" sz="1600" b="1" dirty="0">
                <a:solidFill>
                  <a:srgbClr val="D97757"/>
                </a:solidFill>
                <a:latin typeface="Hiragino Sans"/>
              </a:rPr>
              <a:t>→ 開発者の出番は「方向づけ」と「判断」の2回だけになる</a:t>
            </a:r>
          </a:p>
        </p:txBody>
      </p:sp>
      <p:sp>
        <p:nvSpPr>
          <p:cNvPr id="99" name="PageNum"/>
          <p:cNvSpPr txBox="1"/>
          <p:nvPr/>
        </p:nvSpPr>
        <p:spPr>
          <a:xfrm>
            <a:off x="11247120" y="6400800"/>
            <a:ext cx="640080" cy="274320"/>
          </a:xfrm>
          <a:prstGeom prst="rect">
            <a:avLst/>
          </a:prstGeom>
          <a:noFill/>
        </p:spPr>
        <p:txBody>
          <a:bodyPr wrap="square">
            <a:spAutoFit/>
          </a:bodyPr>
          <a:lstStyle/>
          <a:p>
            <a:pPr algn="r">
              <a:lnSpc>
                <a:spcPts val="1500"/>
              </a:lnSpc>
            </a:pPr>
            <a:r>
              <a:rPr lang="en-US" sz="1100" b="0" dirty="0">
                <a:solidFill>
                  <a:srgbClr val="B0AEA5"/>
                </a:solidFill>
                <a:latin typeface="Helvetica Neue"/>
              </a:rPr>
              <a:t>7 / 16</a:t>
            </a:r>
          </a:p>
        </p:txBody>
      </p:sp>
    </p:spTree>
    <p:extLst>
      <p:ext uri="{BB962C8B-B14F-4D97-AF65-F5344CB8AC3E}">
        <p14:creationId xmlns:p14="http://schemas.microsoft.com/office/powerpoint/2010/main" val="11836716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10" name="Part"/>
          <p:cNvSpPr txBox="1"/>
          <p:nvPr/>
        </p:nvSpPr>
        <p:spPr>
          <a:xfrm>
            <a:off x="731520" y="274320"/>
            <a:ext cx="4572000" cy="274320"/>
          </a:xfrm>
          <a:prstGeom prst="rect">
            <a:avLst/>
          </a:prstGeom>
          <a:noFill/>
        </p:spPr>
        <p:txBody>
          <a:bodyPr wrap="square">
            <a:spAutoFit/>
          </a:bodyPr>
          <a:lstStyle/>
          <a:p>
            <a:pPr algn="l">
              <a:lnSpc>
                <a:spcPts val="1800"/>
              </a:lnSpc>
            </a:pPr>
            <a:r>
              <a:rPr lang="en-US" sz="1200" b="1" dirty="0">
                <a:solidFill>
                  <a:srgbClr val="D97757"/>
                </a:solidFill>
                <a:latin typeface="Helvetica Neue"/>
              </a:rPr>
              <a:t>PART 1 — Claude Code とは</a:t>
            </a:r>
          </a:p>
        </p:txBody>
      </p:sp>
      <p:sp>
        <p:nvSpPr>
          <p:cNvPr id="11" name="Title"/>
          <p:cNvSpPr txBox="1"/>
          <p:nvPr/>
        </p:nvSpPr>
        <p:spPr>
          <a:xfrm>
            <a:off x="731520" y="548640"/>
            <a:ext cx="10058400" cy="548640"/>
          </a:xfrm>
          <a:prstGeom prst="rect">
            <a:avLst/>
          </a:prstGeom>
          <a:noFill/>
        </p:spPr>
        <p:txBody>
          <a:bodyPr wrap="square">
            <a:spAutoFit/>
          </a:bodyPr>
          <a:lstStyle/>
          <a:p>
            <a:pPr algn="l">
              <a:lnSpc>
                <a:spcPts val="3600"/>
              </a:lnSpc>
            </a:pPr>
            <a:r>
              <a:rPr lang="ja-JP" sz="2800" b="1" dirty="0">
                <a:solidFill>
                  <a:srgbClr val="FAF9F5"/>
                </a:solidFill>
                <a:latin typeface="Hiragino Sans"/>
              </a:rPr>
              <a:t>具体例で見てみる</a:t>
            </a:r>
          </a:p>
        </p:txBody>
      </p:sp>
      <p:sp>
        <p:nvSpPr>
          <p:cNvPr id="12" name="Scenario"/>
          <p:cNvSpPr txBox="1"/>
          <p:nvPr/>
        </p:nvSpPr>
        <p:spPr>
          <a:xfrm>
            <a:off x="731520" y="1005840"/>
            <a:ext cx="10058400" cy="365760"/>
          </a:xfrm>
          <a:prstGeom prst="rect">
            <a:avLst/>
          </a:prstGeom>
          <a:noFill/>
        </p:spPr>
        <p:txBody>
          <a:bodyPr wrap="square">
            <a:spAutoFit/>
          </a:bodyPr>
          <a:lstStyle/>
          <a:p>
            <a:pPr algn="l">
              <a:lnSpc>
                <a:spcPts val="2400"/>
              </a:lnSpc>
            </a:pPr>
            <a:r>
              <a:rPr lang="ja-JP" sz="1600" b="0" dirty="0">
                <a:solidFill>
                  <a:srgbClr val="B0AEA5"/>
                </a:solidFill>
                <a:latin typeface="Hiragino Sans"/>
              </a:rPr>
              <a:t>例：「CIが落ちた。原因を調査して修正案を出して」</a:t>
            </a:r>
          </a:p>
        </p:txBody>
      </p:sp>
      <p:sp>
        <p:nvSpPr>
          <p:cNvPr id="15" name="Timeline"/>
          <p:cNvSpPr/>
          <p:nvPr/>
        </p:nvSpPr>
        <p:spPr>
          <a:xfrm>
            <a:off x="6086475" y="1554480"/>
            <a:ext cx="19050" cy="4389120"/>
          </a:xfrm>
          <a:prstGeom prst="rect">
            <a:avLst/>
          </a:prstGeom>
          <a:solidFill>
            <a:srgbClr val="3D3835"/>
          </a:solidFill>
          <a:ln>
            <a:noFill/>
          </a:ln>
        </p:spPr>
        <p:txBody>
          <a:bodyPr/>
          <a:lstStyle/>
          <a:p>
            <a:endParaRPr/>
          </a:p>
        </p:txBody>
      </p:sp>
      <p:sp>
        <p:nvSpPr>
          <p:cNvPr id="20" name="Dot 0"/>
          <p:cNvSpPr/>
          <p:nvPr/>
        </p:nvSpPr>
        <p:spPr>
          <a:xfrm>
            <a:off x="6004560" y="2011680"/>
            <a:ext cx="182880" cy="182880"/>
          </a:xfrm>
          <a:prstGeom prst="ellipse">
            <a:avLst/>
          </a:prstGeom>
          <a:solidFill>
            <a:srgbClr val="D97757"/>
          </a:solidFill>
          <a:ln>
            <a:noFill/>
          </a:ln>
        </p:spPr>
        <p:txBody>
          <a:bodyPr/>
          <a:lstStyle/>
          <a:p>
            <a:endParaRPr/>
          </a:p>
        </p:txBody>
      </p:sp>
      <p:sp>
        <p:nvSpPr>
          <p:cNvPr id="21" name="Bubble 0"/>
          <p:cNvSpPr/>
          <p:nvPr/>
        </p:nvSpPr>
        <p:spPr>
          <a:xfrm>
            <a:off x="1295400" y="1600200"/>
            <a:ext cx="4572000" cy="1143000"/>
          </a:xfrm>
          <a:prstGeom prst="roundRect">
            <a:avLst>
              <a:gd name="adj" fmla="val 5000"/>
            </a:avLst>
          </a:prstGeom>
          <a:solidFill>
            <a:srgbClr val="3D2A20"/>
          </a:solidFill>
          <a:ln>
            <a:noFill/>
          </a:ln>
        </p:spPr>
        <p:txBody>
          <a:bodyPr/>
          <a:lstStyle/>
          <a:p>
            <a:endParaRPr/>
          </a:p>
        </p:txBody>
      </p:sp>
      <p:sp>
        <p:nvSpPr>
          <p:cNvPr id="22" name="Bubble Text 0"/>
          <p:cNvSpPr txBox="1"/>
          <p:nvPr/>
        </p:nvSpPr>
        <p:spPr>
          <a:xfrm>
            <a:off x="1478280" y="1645920"/>
            <a:ext cx="4206240" cy="914400"/>
          </a:xfrm>
          <a:prstGeom prst="rect">
            <a:avLst/>
          </a:prstGeom>
          <a:noFill/>
        </p:spPr>
        <p:txBody>
          <a:bodyPr wrap="square">
            <a:spAutoFit/>
          </a:bodyPr>
          <a:lstStyle/>
          <a:p>
            <a:pPr algn="l">
              <a:lnSpc>
                <a:spcPts val="1800"/>
              </a:lnSpc>
              <a:spcAft>
                <a:spcPts val="200"/>
              </a:spcAft>
            </a:pPr>
            <a:r>
              <a:rPr lang="en-US" sz="1200" b="1" dirty="0">
                <a:solidFill>
                  <a:srgbClr val="D97757">
                    <a:alpha val="70000"/>
                  </a:srgbClr>
                </a:solidFill>
                <a:latin typeface="Helvetica Neue"/>
              </a:rPr>
              <a:t>Developer</a:t>
            </a:r>
            <a:r>
              <a:rPr lang="ja-JP" sz="1400" b="1" dirty="0">
                <a:solidFill>
                  <a:srgbClr val="E8956F"/>
                </a:solidFill>
                <a:latin typeface="Hiragino Sans"/>
              </a:rPr>
              <a:t>  方向づけ</a:t>
            </a:r>
          </a:p>
          <a:p>
            <a:pPr algn="l">
              <a:lnSpc>
                <a:spcPts val="1800"/>
              </a:lnSpc>
            </a:pPr>
            <a:r>
              <a:rPr lang="ja-JP" sz="1200" b="0" dirty="0">
                <a:solidFill>
                  <a:srgbClr val="C5C3BB"/>
                </a:solidFill>
                <a:latin typeface="SF Mono"/>
              </a:rPr>
              <a:t>CIが落ちた。
ログを要約して
原因候補を3つ挙げて</a:t>
            </a:r>
          </a:p>
        </p:txBody>
      </p:sp>
      <p:sp>
        <p:nvSpPr>
          <p:cNvPr id="23" name="Dot 1"/>
          <p:cNvSpPr/>
          <p:nvPr/>
        </p:nvSpPr>
        <p:spPr>
          <a:xfrm>
            <a:off x="6004560" y="3108960"/>
            <a:ext cx="182880" cy="182880"/>
          </a:xfrm>
          <a:prstGeom prst="ellipse">
            <a:avLst/>
          </a:prstGeom>
          <a:solidFill>
            <a:srgbClr val="6A9BCC"/>
          </a:solidFill>
          <a:ln>
            <a:noFill/>
          </a:ln>
        </p:spPr>
        <p:txBody>
          <a:bodyPr/>
          <a:lstStyle/>
          <a:p>
            <a:endParaRPr/>
          </a:p>
        </p:txBody>
      </p:sp>
      <p:sp>
        <p:nvSpPr>
          <p:cNvPr id="24" name="Bubble 1"/>
          <p:cNvSpPr/>
          <p:nvPr/>
        </p:nvSpPr>
        <p:spPr>
          <a:xfrm>
            <a:off x="6324600" y="2697480"/>
            <a:ext cx="4572000" cy="1097280"/>
          </a:xfrm>
          <a:prstGeom prst="roundRect">
            <a:avLst>
              <a:gd name="adj" fmla="val 5000"/>
            </a:avLst>
          </a:prstGeom>
          <a:solidFill>
            <a:srgbClr val="1E2A35"/>
          </a:solidFill>
          <a:ln>
            <a:noFill/>
          </a:ln>
        </p:spPr>
        <p:txBody>
          <a:bodyPr/>
          <a:lstStyle/>
          <a:p>
            <a:endParaRPr/>
          </a:p>
        </p:txBody>
      </p:sp>
      <p:sp>
        <p:nvSpPr>
          <p:cNvPr id="25" name="Bubble Text 1"/>
          <p:cNvSpPr txBox="1"/>
          <p:nvPr/>
        </p:nvSpPr>
        <p:spPr>
          <a:xfrm>
            <a:off x="6507480" y="2743200"/>
            <a:ext cx="4206240" cy="914400"/>
          </a:xfrm>
          <a:prstGeom prst="rect">
            <a:avLst/>
          </a:prstGeom>
          <a:noFill/>
        </p:spPr>
        <p:txBody>
          <a:bodyPr wrap="square">
            <a:spAutoFit/>
          </a:bodyPr>
          <a:lstStyle/>
          <a:p>
            <a:pPr algn="l">
              <a:lnSpc>
                <a:spcPts val="1800"/>
              </a:lnSpc>
              <a:spcAft>
                <a:spcPts val="200"/>
              </a:spcAft>
            </a:pPr>
            <a:r>
              <a:rPr lang="en-US" sz="1200" b="1" dirty="0">
                <a:solidFill>
                  <a:srgbClr val="6A9BCC">
                    <a:alpha val="70000"/>
                  </a:srgbClr>
                </a:solidFill>
                <a:latin typeface="Helvetica Neue"/>
              </a:rPr>
              <a:t>Claude</a:t>
            </a:r>
            <a:r>
              <a:rPr lang="ja-JP" sz="1400" b="1" dirty="0">
                <a:solidFill>
                  <a:srgbClr val="6A9BCC"/>
                </a:solidFill>
                <a:latin typeface="Hiragino Sans"/>
              </a:rPr>
              <a:t>  調査 → 計画提案</a:t>
            </a:r>
          </a:p>
          <a:p>
            <a:pPr algn="l">
              <a:lnSpc>
                <a:spcPts val="1800"/>
              </a:lnSpc>
            </a:pPr>
            <a:r>
              <a:rPr lang="ja-JP" sz="1200" b="0" dirty="0">
                <a:solidFill>
                  <a:srgbClr val="C5C3BB"/>
                </a:solidFill>
                <a:latin typeface="SF Mono"/>
              </a:rPr>
              <a:t>失敗箇所はX。
依存関係の不整合が濃厚。
原因候補を3つ提示します</a:t>
            </a:r>
          </a:p>
        </p:txBody>
      </p:sp>
      <p:sp>
        <p:nvSpPr>
          <p:cNvPr id="26" name="Dot 2"/>
          <p:cNvSpPr/>
          <p:nvPr/>
        </p:nvSpPr>
        <p:spPr>
          <a:xfrm>
            <a:off x="6004560" y="4206240"/>
            <a:ext cx="182880" cy="182880"/>
          </a:xfrm>
          <a:prstGeom prst="ellipse">
            <a:avLst/>
          </a:prstGeom>
          <a:solidFill>
            <a:srgbClr val="D97757"/>
          </a:solidFill>
          <a:ln>
            <a:noFill/>
          </a:ln>
        </p:spPr>
        <p:txBody>
          <a:bodyPr/>
          <a:lstStyle/>
          <a:p>
            <a:endParaRPr/>
          </a:p>
        </p:txBody>
      </p:sp>
      <p:sp>
        <p:nvSpPr>
          <p:cNvPr id="27" name="Bubble 2"/>
          <p:cNvSpPr/>
          <p:nvPr/>
        </p:nvSpPr>
        <p:spPr>
          <a:xfrm>
            <a:off x="1295400" y="3794760"/>
            <a:ext cx="4572000" cy="1005840"/>
          </a:xfrm>
          <a:prstGeom prst="roundRect">
            <a:avLst>
              <a:gd name="adj" fmla="val 5000"/>
            </a:avLst>
          </a:prstGeom>
          <a:solidFill>
            <a:srgbClr val="3D2A20"/>
          </a:solidFill>
          <a:ln>
            <a:noFill/>
          </a:ln>
        </p:spPr>
        <p:txBody>
          <a:bodyPr/>
          <a:lstStyle/>
          <a:p>
            <a:endParaRPr/>
          </a:p>
        </p:txBody>
      </p:sp>
      <p:sp>
        <p:nvSpPr>
          <p:cNvPr id="28" name="Bubble Text 2"/>
          <p:cNvSpPr txBox="1"/>
          <p:nvPr/>
        </p:nvSpPr>
        <p:spPr>
          <a:xfrm>
            <a:off x="1478280" y="3840480"/>
            <a:ext cx="4206240" cy="914400"/>
          </a:xfrm>
          <a:prstGeom prst="rect">
            <a:avLst/>
          </a:prstGeom>
          <a:noFill/>
        </p:spPr>
        <p:txBody>
          <a:bodyPr wrap="square">
            <a:spAutoFit/>
          </a:bodyPr>
          <a:lstStyle/>
          <a:p>
            <a:pPr algn="l">
              <a:lnSpc>
                <a:spcPts val="1800"/>
              </a:lnSpc>
              <a:spcAft>
                <a:spcPts val="200"/>
              </a:spcAft>
            </a:pPr>
            <a:r>
              <a:rPr lang="en-US" sz="1200" b="1" dirty="0">
                <a:solidFill>
                  <a:srgbClr val="D97757">
                    <a:alpha val="70000"/>
                  </a:srgbClr>
                </a:solidFill>
                <a:latin typeface="Helvetica Neue"/>
              </a:rPr>
              <a:t>Developer</a:t>
            </a:r>
            <a:r>
              <a:rPr lang="ja-JP" sz="1400" b="1" dirty="0">
                <a:solidFill>
                  <a:srgbClr val="E8956F"/>
                </a:solidFill>
                <a:latin typeface="Hiragino Sans"/>
              </a:rPr>
              <a:t>  判断</a:t>
            </a:r>
          </a:p>
          <a:p>
            <a:pPr algn="l">
              <a:lnSpc>
                <a:spcPts val="1800"/>
              </a:lnSpc>
            </a:pPr>
            <a:r>
              <a:rPr lang="ja-JP" sz="1200" b="0" dirty="0">
                <a:solidFill>
                  <a:srgbClr val="C5C3BB"/>
                </a:solidFill>
                <a:latin typeface="SF Mono"/>
              </a:rPr>
              <a:t>候補2を深掘りして。
既存仕様は変えないで</a:t>
            </a:r>
          </a:p>
        </p:txBody>
      </p:sp>
      <p:sp>
        <p:nvSpPr>
          <p:cNvPr id="29" name="Dot 3"/>
          <p:cNvSpPr/>
          <p:nvPr/>
        </p:nvSpPr>
        <p:spPr>
          <a:xfrm>
            <a:off x="6004560" y="5303520"/>
            <a:ext cx="182880" cy="182880"/>
          </a:xfrm>
          <a:prstGeom prst="ellipse">
            <a:avLst/>
          </a:prstGeom>
          <a:solidFill>
            <a:srgbClr val="6A9BCC"/>
          </a:solidFill>
          <a:ln>
            <a:noFill/>
          </a:ln>
        </p:spPr>
        <p:txBody>
          <a:bodyPr/>
          <a:lstStyle/>
          <a:p>
            <a:endParaRPr/>
          </a:p>
        </p:txBody>
      </p:sp>
      <p:sp>
        <p:nvSpPr>
          <p:cNvPr id="30" name="Bubble 3"/>
          <p:cNvSpPr/>
          <p:nvPr/>
        </p:nvSpPr>
        <p:spPr>
          <a:xfrm>
            <a:off x="6324600" y="4892040"/>
            <a:ext cx="4572000" cy="1005840"/>
          </a:xfrm>
          <a:prstGeom prst="roundRect">
            <a:avLst>
              <a:gd name="adj" fmla="val 5000"/>
            </a:avLst>
          </a:prstGeom>
          <a:solidFill>
            <a:srgbClr val="1E2A35"/>
          </a:solidFill>
          <a:ln>
            <a:noFill/>
          </a:ln>
        </p:spPr>
        <p:txBody>
          <a:bodyPr/>
          <a:lstStyle/>
          <a:p>
            <a:endParaRPr/>
          </a:p>
        </p:txBody>
      </p:sp>
      <p:sp>
        <p:nvSpPr>
          <p:cNvPr id="31" name="Bubble Text 3"/>
          <p:cNvSpPr txBox="1"/>
          <p:nvPr/>
        </p:nvSpPr>
        <p:spPr>
          <a:xfrm>
            <a:off x="6507480" y="4937760"/>
            <a:ext cx="4206240" cy="914400"/>
          </a:xfrm>
          <a:prstGeom prst="rect">
            <a:avLst/>
          </a:prstGeom>
          <a:noFill/>
        </p:spPr>
        <p:txBody>
          <a:bodyPr wrap="square">
            <a:spAutoFit/>
          </a:bodyPr>
          <a:lstStyle/>
          <a:p>
            <a:pPr algn="l">
              <a:lnSpc>
                <a:spcPts val="1800"/>
              </a:lnSpc>
              <a:spcAft>
                <a:spcPts val="200"/>
              </a:spcAft>
            </a:pPr>
            <a:r>
              <a:rPr lang="en-US" sz="1200" b="1" dirty="0">
                <a:solidFill>
                  <a:srgbClr val="6A9BCC">
                    <a:alpha val="70000"/>
                  </a:srgbClr>
                </a:solidFill>
                <a:latin typeface="Helvetica Neue"/>
              </a:rPr>
              <a:t>Claude</a:t>
            </a:r>
            <a:r>
              <a:rPr lang="ja-JP" sz="1400" b="1" dirty="0">
                <a:solidFill>
                  <a:srgbClr val="6A9BCC"/>
                </a:solidFill>
                <a:latin typeface="Hiragino Sans"/>
              </a:rPr>
              <a:t>  実行 → 取りまとめ</a:t>
            </a:r>
          </a:p>
          <a:p>
            <a:pPr algn="l">
              <a:lnSpc>
                <a:spcPts val="1800"/>
              </a:lnSpc>
            </a:pPr>
            <a:r>
              <a:rPr lang="ja-JP" sz="1200" b="0" dirty="0">
                <a:solidFill>
                  <a:srgbClr val="C5C3BB"/>
                </a:solidFill>
                <a:latin typeface="SF Mono"/>
              </a:rPr>
              <a:t>根拠と修正案を整理。
テストも追加済み。</a:t>
            </a:r>
          </a:p>
        </p:txBody>
      </p:sp>
      <p:sp>
        <p:nvSpPr>
          <p:cNvPr id="80" name="Footer"/>
          <p:cNvSpPr txBox="1"/>
          <p:nvPr/>
        </p:nvSpPr>
        <p:spPr>
          <a:xfrm>
            <a:off x="731520" y="5943600"/>
            <a:ext cx="10698480" cy="457200"/>
          </a:xfrm>
          <a:prstGeom prst="rect">
            <a:avLst/>
          </a:prstGeom>
          <a:noFill/>
        </p:spPr>
        <p:txBody>
          <a:bodyPr wrap="square">
            <a:spAutoFit/>
          </a:bodyPr>
          <a:lstStyle/>
          <a:p>
            <a:pPr algn="l">
              <a:lnSpc>
                <a:spcPts val="2200"/>
              </a:lnSpc>
            </a:pPr>
            <a:r>
              <a:rPr lang="ja-JP" sz="1600" b="1" dirty="0">
                <a:solidFill>
                  <a:srgbClr val="D97757"/>
                </a:solidFill>
                <a:latin typeface="Hiragino Sans"/>
              </a:rPr>
              <a:t>→ 「丸投げ」ではなく「要所で判断する」。この感覚が重要</a:t>
            </a:r>
          </a:p>
        </p:txBody>
      </p:sp>
      <p:sp>
        <p:nvSpPr>
          <p:cNvPr id="99" name="PageNum"/>
          <p:cNvSpPr txBox="1"/>
          <p:nvPr/>
        </p:nvSpPr>
        <p:spPr>
          <a:xfrm>
            <a:off x="11247120" y="6400800"/>
            <a:ext cx="640080" cy="274320"/>
          </a:xfrm>
          <a:prstGeom prst="rect">
            <a:avLst/>
          </a:prstGeom>
          <a:noFill/>
        </p:spPr>
        <p:txBody>
          <a:bodyPr wrap="square">
            <a:spAutoFit/>
          </a:bodyPr>
          <a:lstStyle/>
          <a:p>
            <a:pPr algn="r">
              <a:lnSpc>
                <a:spcPts val="1500"/>
              </a:lnSpc>
            </a:pPr>
            <a:r>
              <a:rPr lang="en-US" sz="1100" b="0" dirty="0">
                <a:solidFill>
                  <a:srgbClr val="B0AEA5"/>
                </a:solidFill>
                <a:latin typeface="Helvetica Neue"/>
              </a:rPr>
              <a:t>8 / 16</a:t>
            </a:r>
          </a:p>
        </p:txBody>
      </p:sp>
    </p:spTree>
    <p:extLst>
      <p:ext uri="{BB962C8B-B14F-4D97-AF65-F5344CB8AC3E}">
        <p14:creationId xmlns:p14="http://schemas.microsoft.com/office/powerpoint/2010/main" val="5643782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31F1D"/>
        </a:solidFill>
        <a:effectLst/>
      </p:bgPr>
    </p:bg>
    <p:spTree>
      <p:nvGrpSpPr>
        <p:cNvPr id="1" name=""/>
        <p:cNvGrpSpPr/>
        <p:nvPr/>
      </p:nvGrpSpPr>
      <p:grpSpPr>
        <a:xfrm>
          <a:off x="0" y="0"/>
          <a:ext cx="0" cy="0"/>
          <a:chOff x="0" y="0"/>
          <a:chExt cx="0" cy="0"/>
        </a:xfrm>
      </p:grpSpPr>
      <p:cxnSp>
        <p:nvCxnSpPr>
          <p:cNvPr id="2" name="LineL"/>
          <p:cNvCxnSpPr/>
          <p:nvPr/>
        </p:nvCxnSpPr>
        <p:spPr>
          <a:xfrm>
            <a:off x="1725564" y="3302000"/>
            <a:ext cx="1524000" cy="0"/>
          </a:xfrm>
          <a:prstGeom prst="line">
            <a:avLst/>
          </a:prstGeom>
          <a:ln w="12700">
            <a:solidFill>
              <a:srgbClr val="D97757"/>
            </a:solidFill>
          </a:ln>
        </p:spPr>
      </p:cxnSp>
      <p:cxnSp>
        <p:nvCxnSpPr>
          <p:cNvPr id="3" name="LineR"/>
          <p:cNvCxnSpPr/>
          <p:nvPr/>
        </p:nvCxnSpPr>
        <p:spPr>
          <a:xfrm>
            <a:off x="8971934" y="3302000"/>
            <a:ext cx="1524000" cy="0"/>
          </a:xfrm>
          <a:prstGeom prst="line">
            <a:avLst/>
          </a:prstGeom>
          <a:ln w="12700">
            <a:solidFill>
              <a:srgbClr val="D97757"/>
            </a:solidFill>
          </a:ln>
        </p:spPr>
      </p:cxnSp>
      <p:sp>
        <p:nvSpPr>
          <p:cNvPr id="4" name="PartLabel"/>
          <p:cNvSpPr/>
          <p:nvPr/>
        </p:nvSpPr>
        <p:spPr>
          <a:xfrm>
            <a:off x="4191000" y="2159000"/>
            <a:ext cx="3810000" cy="508000"/>
          </a:xfrm>
          <a:prstGeom prst="rect">
            <a:avLst/>
          </a:prstGeom>
          <a:noFill/>
          <a:ln>
            <a:noFill/>
          </a:ln>
        </p:spPr>
        <p:txBody>
          <a:bodyPr wrap="square" lIns="0" tIns="0" rIns="0" bIns="0" anchor="ctr"/>
          <a:lstStyle/>
          <a:p>
            <a:pPr algn="ctr"/>
            <a:r>
              <a:rPr lang="en-US" sz="1800" b="1" dirty="0">
                <a:solidFill>
                  <a:srgbClr val="D97757"/>
                </a:solidFill>
                <a:latin typeface="Helvetica Neue"/>
              </a:rPr>
              <a:t>PART 2</a:t>
            </a:r>
          </a:p>
        </p:txBody>
      </p:sp>
      <p:sp>
        <p:nvSpPr>
          <p:cNvPr id="5" name="Title"/>
          <p:cNvSpPr/>
          <p:nvPr/>
        </p:nvSpPr>
        <p:spPr>
          <a:xfrm>
            <a:off x="2286000" y="2818989"/>
            <a:ext cx="7620000" cy="762000"/>
          </a:xfrm>
          <a:prstGeom prst="rect">
            <a:avLst/>
          </a:prstGeom>
          <a:noFill/>
          <a:ln>
            <a:noFill/>
          </a:ln>
        </p:spPr>
        <p:txBody>
          <a:bodyPr wrap="square" lIns="0" tIns="0" rIns="0" bIns="0" anchor="ctr"/>
          <a:lstStyle/>
          <a:p>
            <a:pPr algn="ctr">
              <a:lnSpc>
                <a:spcPts val="6000"/>
              </a:lnSpc>
            </a:pPr>
            <a:r>
              <a:rPr lang="ja-JP" sz="4000" b="1" dirty="0">
                <a:solidFill>
                  <a:srgbClr val="FAF9F5"/>
                </a:solidFill>
                <a:latin typeface="Hiragino Sans"/>
              </a:rPr>
              <a:t>コミュニケーションの心得</a:t>
            </a:r>
          </a:p>
        </p:txBody>
      </p:sp>
      <p:sp>
        <p:nvSpPr>
          <p:cNvPr id="6" name="Sub"/>
          <p:cNvSpPr/>
          <p:nvPr/>
        </p:nvSpPr>
        <p:spPr>
          <a:xfrm>
            <a:off x="2286000" y="3683000"/>
            <a:ext cx="7620000" cy="1016000"/>
          </a:xfrm>
          <a:prstGeom prst="rect">
            <a:avLst/>
          </a:prstGeom>
          <a:noFill/>
          <a:ln>
            <a:noFill/>
          </a:ln>
        </p:spPr>
        <p:txBody>
          <a:bodyPr wrap="square" lIns="0" tIns="0" rIns="0" bIns="0" anchor="t"/>
          <a:lstStyle/>
          <a:p>
            <a:pPr algn="ctr">
              <a:lnSpc>
                <a:spcPts val="3600"/>
              </a:lnSpc>
            </a:pPr>
            <a:r>
              <a:rPr lang="ja-JP" sz="2400" dirty="0">
                <a:solidFill>
                  <a:srgbClr val="C5C3BB"/>
                </a:solidFill>
                <a:latin typeface="Hiragino Sans"/>
              </a:rPr>
              <a:t>伝え方で結果が変わるのは、</a:t>
            </a:r>
          </a:p>
          <a:p>
            <a:pPr algn="ctr">
              <a:lnSpc>
                <a:spcPts val="3600"/>
              </a:lnSpc>
            </a:pPr>
            <a:r>
              <a:rPr lang="ja-JP" sz="2400">
                <a:solidFill>
                  <a:srgbClr val="C5C3BB"/>
                </a:solidFill>
                <a:latin typeface="Hiragino Sans"/>
              </a:rPr>
              <a:t>人間と</a:t>
            </a:r>
            <a:r>
              <a:rPr lang="ja-JP" sz="2400" dirty="0">
                <a:solidFill>
                  <a:srgbClr val="C5C3BB"/>
                </a:solidFill>
                <a:latin typeface="Hiragino Sans"/>
              </a:rPr>
              <a:t>同じ</a:t>
            </a:r>
          </a:p>
        </p:txBody>
      </p:sp>
      <p:sp>
        <p:nvSpPr>
          <p:cNvPr id="7" name="PageNum"/>
          <p:cNvSpPr/>
          <p:nvPr/>
        </p:nvSpPr>
        <p:spPr>
          <a:xfrm>
            <a:off x="11277600" y="6400800"/>
            <a:ext cx="736600" cy="279400"/>
          </a:xfrm>
          <a:prstGeom prst="rect">
            <a:avLst/>
          </a:prstGeom>
          <a:noFill/>
          <a:ln>
            <a:noFill/>
          </a:ln>
        </p:spPr>
        <p:txBody>
          <a:bodyPr wrap="square" lIns="0" tIns="0" rIns="0" bIns="0" anchor="ctr"/>
          <a:lstStyle/>
          <a:p>
            <a:pPr algn="r"/>
            <a:r>
              <a:rPr lang="en-US" sz="1400" dirty="0">
                <a:solidFill>
                  <a:srgbClr val="6B6963"/>
                </a:solidFill>
                <a:latin typeface="Helvetica Neue"/>
              </a:rPr>
              <a:t>9 / 16</a:t>
            </a:r>
          </a:p>
        </p:txBody>
      </p:sp>
    </p:spTree>
    <p:extLst>
      <p:ext uri="{BB962C8B-B14F-4D97-AF65-F5344CB8AC3E}">
        <p14:creationId xmlns:p14="http://schemas.microsoft.com/office/powerpoint/2010/main" val="3744942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10" name="Part"/>
          <p:cNvSpPr txBox="1"/>
          <p:nvPr/>
        </p:nvSpPr>
        <p:spPr>
          <a:xfrm>
            <a:off x="731520" y="274320"/>
            <a:ext cx="5486400" cy="274320"/>
          </a:xfrm>
          <a:prstGeom prst="rect">
            <a:avLst/>
          </a:prstGeom>
          <a:noFill/>
        </p:spPr>
        <p:txBody>
          <a:bodyPr wrap="square">
            <a:spAutoFit/>
          </a:bodyPr>
          <a:lstStyle/>
          <a:p>
            <a:pPr algn="l">
              <a:lnSpc>
                <a:spcPts val="1800"/>
              </a:lnSpc>
            </a:pPr>
            <a:r>
              <a:rPr lang="en-US" sz="1200" b="1" dirty="0">
                <a:solidFill>
                  <a:srgbClr val="D97757"/>
                </a:solidFill>
                <a:latin typeface="Helvetica Neue"/>
              </a:rPr>
              <a:t>PART 2 — コミュニケーション</a:t>
            </a:r>
          </a:p>
        </p:txBody>
      </p:sp>
      <p:sp>
        <p:nvSpPr>
          <p:cNvPr id="11" name="Title"/>
          <p:cNvSpPr txBox="1"/>
          <p:nvPr/>
        </p:nvSpPr>
        <p:spPr>
          <a:xfrm>
            <a:off x="731520" y="548640"/>
            <a:ext cx="10058400" cy="548640"/>
          </a:xfrm>
          <a:prstGeom prst="rect">
            <a:avLst/>
          </a:prstGeom>
          <a:noFill/>
        </p:spPr>
        <p:txBody>
          <a:bodyPr wrap="square">
            <a:spAutoFit/>
          </a:bodyPr>
          <a:lstStyle/>
          <a:p>
            <a:pPr algn="l">
              <a:lnSpc>
                <a:spcPts val="3600"/>
              </a:lnSpc>
            </a:pPr>
            <a:r>
              <a:rPr lang="ja-JP" sz="2800" b="1" dirty="0">
                <a:solidFill>
                  <a:srgbClr val="FAF9F5"/>
                </a:solidFill>
                <a:latin typeface="Hiragino Sans"/>
              </a:rPr>
              <a:t>チャットボット vs エージェント</a:t>
            </a:r>
          </a:p>
        </p:txBody>
      </p:sp>
      <p:cxnSp>
        <p:nvCxnSpPr>
          <p:cNvPr id="12" name="Div"/>
          <p:cNvCxnSpPr/>
          <p:nvPr/>
        </p:nvCxnSpPr>
        <p:spPr>
          <a:xfrm>
            <a:off x="731520" y="1188720"/>
            <a:ext cx="10698480" cy="0"/>
          </a:xfrm>
          <a:prstGeom prst="line">
            <a:avLst/>
          </a:prstGeom>
          <a:ln w="9525">
            <a:solidFill>
              <a:srgbClr val="3D3835"/>
            </a:solidFill>
          </a:ln>
        </p:spPr>
      </p:cxnSp>
      <p:sp>
        <p:nvSpPr>
          <p:cNvPr id="20" name="Left BG"/>
          <p:cNvSpPr/>
          <p:nvPr/>
        </p:nvSpPr>
        <p:spPr>
          <a:xfrm>
            <a:off x="731520" y="1371600"/>
            <a:ext cx="4983720" cy="3657600"/>
          </a:xfrm>
          <a:prstGeom prst="roundRect">
            <a:avLst>
              <a:gd name="adj" fmla="val 2500"/>
            </a:avLst>
          </a:prstGeom>
          <a:solidFill>
            <a:srgbClr val="2D2926"/>
          </a:solidFill>
          <a:ln w="12700">
            <a:solidFill>
              <a:srgbClr val="E07070">
                <a:alpha val="30000"/>
              </a:srgbClr>
            </a:solidFill>
          </a:ln>
        </p:spPr>
        <p:txBody>
          <a:bodyPr/>
          <a:lstStyle/>
          <a:p>
            <a:endParaRPr/>
          </a:p>
        </p:txBody>
      </p:sp>
      <p:sp>
        <p:nvSpPr>
          <p:cNvPr id="21" name="Left Accent"/>
          <p:cNvSpPr/>
          <p:nvPr/>
        </p:nvSpPr>
        <p:spPr>
          <a:xfrm>
            <a:off x="731520" y="1371600"/>
            <a:ext cx="4983720" cy="54864"/>
          </a:xfrm>
          <a:prstGeom prst="roundRect">
            <a:avLst>
              <a:gd name="adj" fmla="val 50000"/>
            </a:avLst>
          </a:prstGeom>
          <a:solidFill>
            <a:srgbClr val="E07070"/>
          </a:solidFill>
          <a:ln>
            <a:noFill/>
          </a:ln>
        </p:spPr>
        <p:txBody>
          <a:bodyPr/>
          <a:lstStyle/>
          <a:p>
            <a:endParaRPr/>
          </a:p>
        </p:txBody>
      </p:sp>
      <p:sp>
        <p:nvSpPr>
          <p:cNvPr id="22" name="Left Text"/>
          <p:cNvSpPr txBox="1"/>
          <p:nvPr/>
        </p:nvSpPr>
        <p:spPr>
          <a:xfrm>
            <a:off x="960120" y="1600200"/>
            <a:ext cx="4526520" cy="1829603"/>
          </a:xfrm>
          <a:prstGeom prst="rect">
            <a:avLst/>
          </a:prstGeom>
          <a:noFill/>
        </p:spPr>
        <p:txBody>
          <a:bodyPr wrap="square">
            <a:spAutoFit/>
          </a:bodyPr>
          <a:lstStyle/>
          <a:p>
            <a:pPr algn="l">
              <a:lnSpc>
                <a:spcPts val="2800"/>
              </a:lnSpc>
              <a:spcAft>
                <a:spcPts val="200"/>
              </a:spcAft>
            </a:pPr>
            <a:r>
              <a:rPr lang="ja-JP" sz="2000" b="1" dirty="0">
                <a:solidFill>
                  <a:srgbClr val="E07070"/>
                </a:solidFill>
                <a:latin typeface="Hiragino Sans"/>
              </a:rPr>
              <a:t>チャットボット</a:t>
            </a:r>
          </a:p>
          <a:p>
            <a:pPr algn="l">
              <a:lnSpc>
                <a:spcPts val="2200"/>
              </a:lnSpc>
              <a:spcAft>
                <a:spcPts val="500"/>
              </a:spcAft>
            </a:pPr>
            <a:r>
              <a:rPr lang="ja-JP" sz="1400" b="0" dirty="0">
                <a:solidFill>
                  <a:srgbClr val="B0AEA5"/>
                </a:solidFill>
                <a:latin typeface="Hiragino Sans"/>
              </a:rPr>
              <a:t>電話サポートに近い</a:t>
            </a:r>
          </a:p>
          <a:p>
            <a:pPr algn="l">
              <a:lnSpc>
                <a:spcPts val="2200"/>
              </a:lnSpc>
              <a:spcAft>
                <a:spcPts val="300"/>
              </a:spcAft>
            </a:pPr>
            <a:r>
              <a:rPr lang="ja-JP" sz="1500" b="0" dirty="0">
                <a:solidFill>
                  <a:srgbClr val="C5C3BB"/>
                </a:solidFill>
                <a:latin typeface="Hiragino Sans"/>
              </a:rPr>
              <a:t>• 質問 → 回答 → 質問 → 回答</a:t>
            </a:r>
          </a:p>
          <a:p>
            <a:pPr algn="l">
              <a:lnSpc>
                <a:spcPts val="2200"/>
              </a:lnSpc>
              <a:spcAft>
                <a:spcPts val="300"/>
              </a:spcAft>
            </a:pPr>
            <a:r>
              <a:rPr lang="ja-JP" sz="1500" b="0" dirty="0">
                <a:solidFill>
                  <a:srgbClr val="C5C3BB"/>
                </a:solidFill>
                <a:latin typeface="Hiragino Sans"/>
              </a:rPr>
              <a:t>• 1回のやりとりが完結</a:t>
            </a:r>
          </a:p>
          <a:p>
            <a:pPr algn="l">
              <a:lnSpc>
                <a:spcPts val="2200"/>
              </a:lnSpc>
              <a:spcAft>
                <a:spcPts val="300"/>
              </a:spcAft>
            </a:pPr>
            <a:r>
              <a:rPr lang="ja-JP" sz="1500" b="0" dirty="0">
                <a:solidFill>
                  <a:srgbClr val="C5C3BB"/>
                </a:solidFill>
                <a:latin typeface="Hiragino Sans"/>
              </a:rPr>
              <a:t>• プロンプトテンプレートが有効</a:t>
            </a:r>
          </a:p>
        </p:txBody>
      </p:sp>
      <p:sp>
        <p:nvSpPr>
          <p:cNvPr id="25" name="Arrow"/>
          <p:cNvSpPr/>
          <p:nvPr/>
        </p:nvSpPr>
        <p:spPr>
          <a:xfrm>
            <a:off x="5852400" y="3017520"/>
            <a:ext cx="457200" cy="365760"/>
          </a:xfrm>
          <a:prstGeom prst="chevron">
            <a:avLst>
              <a:gd name="adj" fmla="val 50000"/>
            </a:avLst>
          </a:prstGeom>
          <a:solidFill>
            <a:srgbClr val="D97757">
              <a:alpha val="40000"/>
            </a:srgbClr>
          </a:solidFill>
          <a:ln>
            <a:noFill/>
          </a:ln>
        </p:spPr>
        <p:txBody>
          <a:bodyPr/>
          <a:lstStyle/>
          <a:p>
            <a:endParaRPr/>
          </a:p>
        </p:txBody>
      </p:sp>
      <p:sp>
        <p:nvSpPr>
          <p:cNvPr id="30" name="Right BG"/>
          <p:cNvSpPr/>
          <p:nvPr/>
        </p:nvSpPr>
        <p:spPr>
          <a:xfrm>
            <a:off x="6446760" y="1371600"/>
            <a:ext cx="4983720" cy="3657600"/>
          </a:xfrm>
          <a:prstGeom prst="roundRect">
            <a:avLst>
              <a:gd name="adj" fmla="val 2500"/>
            </a:avLst>
          </a:prstGeom>
          <a:solidFill>
            <a:srgbClr val="2D2926"/>
          </a:solidFill>
          <a:ln w="12700">
            <a:solidFill>
              <a:srgbClr val="7BC9A0">
                <a:alpha val="30000"/>
              </a:srgbClr>
            </a:solidFill>
          </a:ln>
        </p:spPr>
        <p:txBody>
          <a:bodyPr/>
          <a:lstStyle/>
          <a:p>
            <a:endParaRPr/>
          </a:p>
        </p:txBody>
      </p:sp>
      <p:sp>
        <p:nvSpPr>
          <p:cNvPr id="31" name="Right Accent"/>
          <p:cNvSpPr/>
          <p:nvPr/>
        </p:nvSpPr>
        <p:spPr>
          <a:xfrm>
            <a:off x="6446760" y="1371600"/>
            <a:ext cx="4983720" cy="54864"/>
          </a:xfrm>
          <a:prstGeom prst="roundRect">
            <a:avLst>
              <a:gd name="adj" fmla="val 50000"/>
            </a:avLst>
          </a:prstGeom>
          <a:solidFill>
            <a:srgbClr val="7BC9A0"/>
          </a:solidFill>
          <a:ln>
            <a:noFill/>
          </a:ln>
        </p:spPr>
        <p:txBody>
          <a:bodyPr/>
          <a:lstStyle/>
          <a:p>
            <a:endParaRPr/>
          </a:p>
        </p:txBody>
      </p:sp>
      <p:sp>
        <p:nvSpPr>
          <p:cNvPr id="32" name="Right Text"/>
          <p:cNvSpPr txBox="1"/>
          <p:nvPr/>
        </p:nvSpPr>
        <p:spPr>
          <a:xfrm>
            <a:off x="6675360" y="1600200"/>
            <a:ext cx="4526520" cy="3291840"/>
          </a:xfrm>
          <a:prstGeom prst="rect">
            <a:avLst/>
          </a:prstGeom>
          <a:noFill/>
        </p:spPr>
        <p:txBody>
          <a:bodyPr wrap="square">
            <a:spAutoFit/>
          </a:bodyPr>
          <a:lstStyle/>
          <a:p>
            <a:pPr algn="l">
              <a:lnSpc>
                <a:spcPts val="2800"/>
              </a:lnSpc>
              <a:spcAft>
                <a:spcPts val="200"/>
              </a:spcAft>
            </a:pPr>
            <a:r>
              <a:rPr lang="ja-JP" sz="2000" b="1" dirty="0">
                <a:solidFill>
                  <a:srgbClr val="7BC9A0"/>
                </a:solidFill>
                <a:latin typeface="Hiragino Sans"/>
              </a:rPr>
              <a:t>エージェント（Claude Code）</a:t>
            </a:r>
          </a:p>
          <a:p>
            <a:pPr algn="l">
              <a:lnSpc>
                <a:spcPts val="2200"/>
              </a:lnSpc>
              <a:spcAft>
                <a:spcPts val="500"/>
              </a:spcAft>
            </a:pPr>
            <a:r>
              <a:rPr lang="ja-JP" sz="1400" b="0" dirty="0">
                <a:solidFill>
                  <a:srgbClr val="B0AEA5"/>
                </a:solidFill>
                <a:latin typeface="Hiragino Sans"/>
              </a:rPr>
              <a:t>仕事を任せた同僚に近い</a:t>
            </a:r>
          </a:p>
          <a:p>
            <a:pPr algn="l">
              <a:lnSpc>
                <a:spcPts val="2200"/>
              </a:lnSpc>
              <a:spcAft>
                <a:spcPts val="300"/>
              </a:spcAft>
            </a:pPr>
            <a:r>
              <a:rPr lang="ja-JP" sz="1500" b="0" dirty="0">
                <a:solidFill>
                  <a:srgbClr val="C5C3BB"/>
                </a:solidFill>
                <a:latin typeface="Hiragino Sans"/>
              </a:rPr>
              <a:t>• 方向付けして、まず動いてもらう</a:t>
            </a:r>
          </a:p>
          <a:p>
            <a:pPr algn="l">
              <a:lnSpc>
                <a:spcPts val="2200"/>
              </a:lnSpc>
              <a:spcAft>
                <a:spcPts val="300"/>
              </a:spcAft>
            </a:pPr>
            <a:r>
              <a:rPr lang="ja-JP" sz="1500" b="0" dirty="0">
                <a:solidFill>
                  <a:srgbClr val="C5C3BB"/>
                </a:solidFill>
                <a:latin typeface="Hiragino Sans"/>
              </a:rPr>
              <a:t>• 出力を見てディスカッションする</a:t>
            </a:r>
          </a:p>
          <a:p>
            <a:pPr algn="l">
              <a:lnSpc>
                <a:spcPts val="2200"/>
              </a:lnSpc>
              <a:spcAft>
                <a:spcPts val="300"/>
              </a:spcAft>
            </a:pPr>
            <a:r>
              <a:rPr lang="ja-JP" sz="1500" b="0" dirty="0">
                <a:solidFill>
                  <a:srgbClr val="C5C3BB"/>
                </a:solidFill>
                <a:latin typeface="Hiragino Sans"/>
              </a:rPr>
              <a:t>• 対話の中で方向を修正していく</a:t>
            </a:r>
          </a:p>
        </p:txBody>
      </p:sp>
      <p:sp>
        <p:nvSpPr>
          <p:cNvPr id="40" name="Footer BG"/>
          <p:cNvSpPr/>
          <p:nvPr/>
        </p:nvSpPr>
        <p:spPr>
          <a:xfrm>
            <a:off x="731520" y="5303520"/>
            <a:ext cx="10698960" cy="640080"/>
          </a:xfrm>
          <a:prstGeom prst="roundRect">
            <a:avLst>
              <a:gd name="adj" fmla="val 5000"/>
            </a:avLst>
          </a:prstGeom>
          <a:solidFill>
            <a:srgbClr val="2D2926"/>
          </a:solidFill>
          <a:ln>
            <a:noFill/>
          </a:ln>
        </p:spPr>
        <p:txBody>
          <a:bodyPr/>
          <a:lstStyle/>
          <a:p>
            <a:endParaRPr/>
          </a:p>
        </p:txBody>
      </p:sp>
      <p:sp>
        <p:nvSpPr>
          <p:cNvPr id="41" name="Footer Accent"/>
          <p:cNvSpPr/>
          <p:nvPr/>
        </p:nvSpPr>
        <p:spPr>
          <a:xfrm>
            <a:off x="731520" y="5303520"/>
            <a:ext cx="54864" cy="640080"/>
          </a:xfrm>
          <a:prstGeom prst="rect">
            <a:avLst/>
          </a:prstGeom>
          <a:solidFill>
            <a:srgbClr val="D97757"/>
          </a:solidFill>
          <a:ln>
            <a:noFill/>
          </a:ln>
        </p:spPr>
        <p:txBody>
          <a:bodyPr/>
          <a:lstStyle/>
          <a:p>
            <a:endParaRPr/>
          </a:p>
        </p:txBody>
      </p:sp>
      <p:sp>
        <p:nvSpPr>
          <p:cNvPr id="42" name="Footer Text"/>
          <p:cNvSpPr txBox="1"/>
          <p:nvPr/>
        </p:nvSpPr>
        <p:spPr>
          <a:xfrm>
            <a:off x="1005840" y="5394960"/>
            <a:ext cx="10058400" cy="457200"/>
          </a:xfrm>
          <a:prstGeom prst="rect">
            <a:avLst/>
          </a:prstGeom>
          <a:noFill/>
        </p:spPr>
        <p:txBody>
          <a:bodyPr wrap="square">
            <a:spAutoFit/>
          </a:bodyPr>
          <a:lstStyle/>
          <a:p>
            <a:pPr algn="l">
              <a:lnSpc>
                <a:spcPts val="2200"/>
              </a:lnSpc>
            </a:pPr>
            <a:r>
              <a:rPr lang="ja-JP" sz="1600" b="1" dirty="0">
                <a:solidFill>
                  <a:srgbClr val="D97757"/>
                </a:solidFill>
                <a:latin typeface="Hiragino Sans"/>
              </a:rPr>
              <a:t>→ チャットボットの作法をそのままエージェントに持ち込まない</a:t>
            </a:r>
          </a:p>
        </p:txBody>
      </p:sp>
      <p:sp>
        <p:nvSpPr>
          <p:cNvPr id="99" name="PN"/>
          <p:cNvSpPr txBox="1"/>
          <p:nvPr/>
        </p:nvSpPr>
        <p:spPr>
          <a:xfrm>
            <a:off x="11247120" y="6400800"/>
            <a:ext cx="640080" cy="274320"/>
          </a:xfrm>
          <a:prstGeom prst="rect">
            <a:avLst/>
          </a:prstGeom>
          <a:noFill/>
        </p:spPr>
        <p:txBody>
          <a:bodyPr wrap="square">
            <a:spAutoFit/>
          </a:bodyPr>
          <a:lstStyle/>
          <a:p>
            <a:pPr algn="r">
              <a:lnSpc>
                <a:spcPts val="1500"/>
              </a:lnSpc>
            </a:pPr>
            <a:r>
              <a:rPr lang="en-US" sz="1100" b="0" dirty="0">
                <a:solidFill>
                  <a:srgbClr val="B0AEA5"/>
                </a:solidFill>
                <a:latin typeface="Helvetica Neue"/>
              </a:rPr>
              <a:t>10 / 16</a:t>
            </a:r>
          </a:p>
        </p:txBody>
      </p:sp>
    </p:spTree>
    <p:extLst>
      <p:ext uri="{BB962C8B-B14F-4D97-AF65-F5344CB8AC3E}">
        <p14:creationId xmlns:p14="http://schemas.microsoft.com/office/powerpoint/2010/main" val="2398341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10" name="Part"/>
          <p:cNvSpPr txBox="1"/>
          <p:nvPr/>
        </p:nvSpPr>
        <p:spPr>
          <a:xfrm>
            <a:off x="731520" y="274320"/>
            <a:ext cx="5486400" cy="274320"/>
          </a:xfrm>
          <a:prstGeom prst="rect">
            <a:avLst/>
          </a:prstGeom>
          <a:noFill/>
        </p:spPr>
        <p:txBody>
          <a:bodyPr wrap="square">
            <a:spAutoFit/>
          </a:bodyPr>
          <a:lstStyle/>
          <a:p>
            <a:pPr algn="l">
              <a:lnSpc>
                <a:spcPts val="1800"/>
              </a:lnSpc>
            </a:pPr>
            <a:r>
              <a:rPr lang="en-US" sz="1200" b="1" dirty="0">
                <a:solidFill>
                  <a:srgbClr val="D97757"/>
                </a:solidFill>
                <a:latin typeface="Helvetica Neue"/>
              </a:rPr>
              <a:t>PART 2 — コミュニケーション</a:t>
            </a:r>
          </a:p>
        </p:txBody>
      </p:sp>
      <p:sp>
        <p:nvSpPr>
          <p:cNvPr id="11" name="Title"/>
          <p:cNvSpPr txBox="1"/>
          <p:nvPr/>
        </p:nvSpPr>
        <p:spPr>
          <a:xfrm>
            <a:off x="731520" y="548640"/>
            <a:ext cx="10058400" cy="548640"/>
          </a:xfrm>
          <a:prstGeom prst="rect">
            <a:avLst/>
          </a:prstGeom>
          <a:noFill/>
        </p:spPr>
        <p:txBody>
          <a:bodyPr wrap="square">
            <a:spAutoFit/>
          </a:bodyPr>
          <a:lstStyle/>
          <a:p>
            <a:pPr algn="l">
              <a:lnSpc>
                <a:spcPts val="3600"/>
              </a:lnSpc>
            </a:pPr>
            <a:r>
              <a:rPr lang="ja-JP" sz="2800" b="1" dirty="0">
                <a:solidFill>
                  <a:srgbClr val="FAF9F5"/>
                </a:solidFill>
                <a:latin typeface="Hiragino Sans"/>
              </a:rPr>
              <a:t>初手の方向付け</a:t>
            </a:r>
          </a:p>
        </p:txBody>
      </p:sp>
      <p:cxnSp>
        <p:nvCxnSpPr>
          <p:cNvPr id="12" name="Div"/>
          <p:cNvCxnSpPr/>
          <p:nvPr/>
        </p:nvCxnSpPr>
        <p:spPr>
          <a:xfrm>
            <a:off x="731520" y="1188720"/>
            <a:ext cx="10698480" cy="0"/>
          </a:xfrm>
          <a:prstGeom prst="line">
            <a:avLst/>
          </a:prstGeom>
          <a:ln w="9525">
            <a:solidFill>
              <a:srgbClr val="3D3835"/>
            </a:solidFill>
          </a:ln>
        </p:spPr>
      </p:cxnSp>
      <p:sp>
        <p:nvSpPr>
          <p:cNvPr id="20" name="El BG 0"/>
          <p:cNvSpPr/>
          <p:nvPr/>
        </p:nvSpPr>
        <p:spPr>
          <a:xfrm>
            <a:off x="731520" y="1371600"/>
            <a:ext cx="4572000" cy="640080"/>
          </a:xfrm>
          <a:prstGeom prst="roundRect">
            <a:avLst>
              <a:gd name="adj" fmla="val 5000"/>
            </a:avLst>
          </a:prstGeom>
          <a:solidFill>
            <a:srgbClr val="2D2926"/>
          </a:solidFill>
          <a:ln>
            <a:noFill/>
          </a:ln>
        </p:spPr>
        <p:txBody>
          <a:bodyPr/>
          <a:lstStyle/>
          <a:p>
            <a:endParaRPr/>
          </a:p>
        </p:txBody>
      </p:sp>
      <p:sp>
        <p:nvSpPr>
          <p:cNvPr id="21" name="El Acc 0"/>
          <p:cNvSpPr/>
          <p:nvPr/>
        </p:nvSpPr>
        <p:spPr>
          <a:xfrm>
            <a:off x="731520" y="1371600"/>
            <a:ext cx="45720" cy="640080"/>
          </a:xfrm>
          <a:prstGeom prst="rect">
            <a:avLst/>
          </a:prstGeom>
          <a:solidFill>
            <a:srgbClr val="D97757"/>
          </a:solidFill>
          <a:ln>
            <a:noFill/>
          </a:ln>
        </p:spPr>
        <p:txBody>
          <a:bodyPr/>
          <a:lstStyle/>
          <a:p>
            <a:endParaRPr/>
          </a:p>
        </p:txBody>
      </p:sp>
      <p:sp>
        <p:nvSpPr>
          <p:cNvPr id="22" name="El Txt 0"/>
          <p:cNvSpPr txBox="1"/>
          <p:nvPr/>
        </p:nvSpPr>
        <p:spPr>
          <a:xfrm>
            <a:off x="960120" y="1463040"/>
            <a:ext cx="4206240" cy="457200"/>
          </a:xfrm>
          <a:prstGeom prst="rect">
            <a:avLst/>
          </a:prstGeom>
          <a:noFill/>
        </p:spPr>
        <p:txBody>
          <a:bodyPr wrap="square" anchor="ctr">
            <a:noAutofit/>
          </a:bodyPr>
          <a:lstStyle/>
          <a:p>
            <a:pPr algn="l">
              <a:lnSpc>
                <a:spcPts val="2400"/>
              </a:lnSpc>
              <a:spcAft>
                <a:spcPts val="100"/>
              </a:spcAft>
            </a:pPr>
            <a:r>
              <a:rPr lang="ja-JP" sz="1800" b="1" dirty="0">
                <a:solidFill>
                  <a:srgbClr val="D97757"/>
                </a:solidFill>
                <a:latin typeface="Hiragino Sans"/>
              </a:rPr>
              <a:t>ゴール</a:t>
            </a:r>
          </a:p>
          <a:p>
            <a:pPr algn="l">
              <a:lnSpc>
                <a:spcPts val="2000"/>
              </a:lnSpc>
            </a:pPr>
            <a:r>
              <a:rPr lang="ja-JP" sz="1400" b="0" dirty="0">
                <a:solidFill>
                  <a:srgbClr val="C5C3BB"/>
                </a:solidFill>
                <a:latin typeface="Hiragino Sans"/>
              </a:rPr>
              <a:t>何を達成したいか</a:t>
            </a:r>
          </a:p>
        </p:txBody>
      </p:sp>
      <p:sp>
        <p:nvSpPr>
          <p:cNvPr id="23" name="El BG 1"/>
          <p:cNvSpPr/>
          <p:nvPr/>
        </p:nvSpPr>
        <p:spPr>
          <a:xfrm>
            <a:off x="731520" y="2194560"/>
            <a:ext cx="4572000" cy="640080"/>
          </a:xfrm>
          <a:prstGeom prst="roundRect">
            <a:avLst>
              <a:gd name="adj" fmla="val 5000"/>
            </a:avLst>
          </a:prstGeom>
          <a:solidFill>
            <a:srgbClr val="2D2926"/>
          </a:solidFill>
          <a:ln>
            <a:noFill/>
          </a:ln>
        </p:spPr>
        <p:txBody>
          <a:bodyPr/>
          <a:lstStyle/>
          <a:p>
            <a:endParaRPr/>
          </a:p>
        </p:txBody>
      </p:sp>
      <p:sp>
        <p:nvSpPr>
          <p:cNvPr id="24" name="El Acc 1"/>
          <p:cNvSpPr/>
          <p:nvPr/>
        </p:nvSpPr>
        <p:spPr>
          <a:xfrm>
            <a:off x="731520" y="2194560"/>
            <a:ext cx="45720" cy="640080"/>
          </a:xfrm>
          <a:prstGeom prst="rect">
            <a:avLst/>
          </a:prstGeom>
          <a:solidFill>
            <a:srgbClr val="6A9BCC"/>
          </a:solidFill>
          <a:ln>
            <a:noFill/>
          </a:ln>
        </p:spPr>
        <p:txBody>
          <a:bodyPr/>
          <a:lstStyle/>
          <a:p>
            <a:endParaRPr/>
          </a:p>
        </p:txBody>
      </p:sp>
      <p:sp>
        <p:nvSpPr>
          <p:cNvPr id="25" name="El Txt 1"/>
          <p:cNvSpPr txBox="1"/>
          <p:nvPr/>
        </p:nvSpPr>
        <p:spPr>
          <a:xfrm>
            <a:off x="960120" y="2286000"/>
            <a:ext cx="4206240" cy="457200"/>
          </a:xfrm>
          <a:prstGeom prst="rect">
            <a:avLst/>
          </a:prstGeom>
          <a:noFill/>
        </p:spPr>
        <p:txBody>
          <a:bodyPr wrap="square" anchor="ctr">
            <a:noAutofit/>
          </a:bodyPr>
          <a:lstStyle/>
          <a:p>
            <a:pPr algn="l">
              <a:lnSpc>
                <a:spcPts val="2400"/>
              </a:lnSpc>
              <a:spcAft>
                <a:spcPts val="100"/>
              </a:spcAft>
            </a:pPr>
            <a:r>
              <a:rPr lang="ja-JP" sz="1800" b="1" dirty="0">
                <a:solidFill>
                  <a:srgbClr val="6A9BCC"/>
                </a:solidFill>
                <a:latin typeface="Hiragino Sans"/>
              </a:rPr>
              <a:t>背景・制約</a:t>
            </a:r>
          </a:p>
          <a:p>
            <a:pPr algn="l">
              <a:lnSpc>
                <a:spcPts val="2000"/>
              </a:lnSpc>
            </a:pPr>
            <a:r>
              <a:rPr lang="ja-JP" sz="1400" b="0" dirty="0">
                <a:solidFill>
                  <a:srgbClr val="C5C3BB"/>
                </a:solidFill>
                <a:latin typeface="Hiragino Sans"/>
              </a:rPr>
              <a:t>なぜ必要か / やってはいけないこと</a:t>
            </a:r>
          </a:p>
        </p:txBody>
      </p:sp>
      <p:sp>
        <p:nvSpPr>
          <p:cNvPr id="26" name="El BG 2"/>
          <p:cNvSpPr/>
          <p:nvPr/>
        </p:nvSpPr>
        <p:spPr>
          <a:xfrm>
            <a:off x="731520" y="3017520"/>
            <a:ext cx="4572000" cy="640080"/>
          </a:xfrm>
          <a:prstGeom prst="roundRect">
            <a:avLst>
              <a:gd name="adj" fmla="val 5000"/>
            </a:avLst>
          </a:prstGeom>
          <a:solidFill>
            <a:srgbClr val="2D2926"/>
          </a:solidFill>
          <a:ln>
            <a:noFill/>
          </a:ln>
        </p:spPr>
        <p:txBody>
          <a:bodyPr/>
          <a:lstStyle/>
          <a:p>
            <a:endParaRPr/>
          </a:p>
        </p:txBody>
      </p:sp>
      <p:sp>
        <p:nvSpPr>
          <p:cNvPr id="27" name="El Acc 2"/>
          <p:cNvSpPr/>
          <p:nvPr/>
        </p:nvSpPr>
        <p:spPr>
          <a:xfrm>
            <a:off x="731520" y="3017520"/>
            <a:ext cx="45720" cy="640080"/>
          </a:xfrm>
          <a:prstGeom prst="rect">
            <a:avLst/>
          </a:prstGeom>
          <a:solidFill>
            <a:srgbClr val="7BC9A0"/>
          </a:solidFill>
          <a:ln>
            <a:noFill/>
          </a:ln>
        </p:spPr>
        <p:txBody>
          <a:bodyPr/>
          <a:lstStyle/>
          <a:p>
            <a:endParaRPr/>
          </a:p>
        </p:txBody>
      </p:sp>
      <p:sp>
        <p:nvSpPr>
          <p:cNvPr id="28" name="El Txt 2"/>
          <p:cNvSpPr txBox="1"/>
          <p:nvPr/>
        </p:nvSpPr>
        <p:spPr>
          <a:xfrm>
            <a:off x="960120" y="3108960"/>
            <a:ext cx="4206240" cy="457200"/>
          </a:xfrm>
          <a:prstGeom prst="rect">
            <a:avLst/>
          </a:prstGeom>
          <a:noFill/>
        </p:spPr>
        <p:txBody>
          <a:bodyPr wrap="square" anchor="ctr">
            <a:noAutofit/>
          </a:bodyPr>
          <a:lstStyle/>
          <a:p>
            <a:pPr algn="l">
              <a:lnSpc>
                <a:spcPts val="2400"/>
              </a:lnSpc>
              <a:spcAft>
                <a:spcPts val="100"/>
              </a:spcAft>
            </a:pPr>
            <a:r>
              <a:rPr lang="ja-JP" sz="1800" b="1" dirty="0">
                <a:solidFill>
                  <a:srgbClr val="7BC9A0"/>
                </a:solidFill>
                <a:latin typeface="Hiragino Sans"/>
              </a:rPr>
              <a:t>現状</a:t>
            </a:r>
          </a:p>
          <a:p>
            <a:pPr algn="l">
              <a:lnSpc>
                <a:spcPts val="2000"/>
              </a:lnSpc>
            </a:pPr>
            <a:r>
              <a:rPr lang="ja-JP" sz="1400" b="0" dirty="0">
                <a:solidFill>
                  <a:srgbClr val="C5C3BB"/>
                </a:solidFill>
                <a:latin typeface="Hiragino Sans"/>
              </a:rPr>
              <a:t>今どうなっているか</a:t>
            </a:r>
          </a:p>
        </p:txBody>
      </p:sp>
      <p:sp>
        <p:nvSpPr>
          <p:cNvPr id="29" name="El BG 3"/>
          <p:cNvSpPr/>
          <p:nvPr/>
        </p:nvSpPr>
        <p:spPr>
          <a:xfrm>
            <a:off x="731520" y="3840480"/>
            <a:ext cx="4572000" cy="640080"/>
          </a:xfrm>
          <a:prstGeom prst="roundRect">
            <a:avLst>
              <a:gd name="adj" fmla="val 5000"/>
            </a:avLst>
          </a:prstGeom>
          <a:solidFill>
            <a:srgbClr val="2D2926"/>
          </a:solidFill>
          <a:ln>
            <a:noFill/>
          </a:ln>
        </p:spPr>
        <p:txBody>
          <a:bodyPr/>
          <a:lstStyle/>
          <a:p>
            <a:endParaRPr/>
          </a:p>
        </p:txBody>
      </p:sp>
      <p:sp>
        <p:nvSpPr>
          <p:cNvPr id="30" name="El Acc 3"/>
          <p:cNvSpPr/>
          <p:nvPr/>
        </p:nvSpPr>
        <p:spPr>
          <a:xfrm>
            <a:off x="731520" y="3840480"/>
            <a:ext cx="45720" cy="640080"/>
          </a:xfrm>
          <a:prstGeom prst="rect">
            <a:avLst/>
          </a:prstGeom>
          <a:solidFill>
            <a:srgbClr val="B88AD0"/>
          </a:solidFill>
          <a:ln>
            <a:noFill/>
          </a:ln>
        </p:spPr>
        <p:txBody>
          <a:bodyPr/>
          <a:lstStyle/>
          <a:p>
            <a:endParaRPr/>
          </a:p>
        </p:txBody>
      </p:sp>
      <p:sp>
        <p:nvSpPr>
          <p:cNvPr id="31" name="El Txt 3"/>
          <p:cNvSpPr txBox="1"/>
          <p:nvPr/>
        </p:nvSpPr>
        <p:spPr>
          <a:xfrm>
            <a:off x="960120" y="3931920"/>
            <a:ext cx="4206240" cy="457200"/>
          </a:xfrm>
          <a:prstGeom prst="rect">
            <a:avLst/>
          </a:prstGeom>
          <a:noFill/>
        </p:spPr>
        <p:txBody>
          <a:bodyPr wrap="square" anchor="ctr">
            <a:noAutofit/>
          </a:bodyPr>
          <a:lstStyle/>
          <a:p>
            <a:pPr algn="l">
              <a:lnSpc>
                <a:spcPts val="2400"/>
              </a:lnSpc>
              <a:spcAft>
                <a:spcPts val="100"/>
              </a:spcAft>
            </a:pPr>
            <a:r>
              <a:rPr lang="ja-JP" sz="1800" b="1" dirty="0">
                <a:solidFill>
                  <a:srgbClr val="B88AD0"/>
                </a:solidFill>
                <a:latin typeface="Hiragino Sans"/>
              </a:rPr>
              <a:t>まず見たいもの</a:t>
            </a:r>
          </a:p>
          <a:p>
            <a:pPr algn="l">
              <a:lnSpc>
                <a:spcPts val="2000"/>
              </a:lnSpc>
            </a:pPr>
            <a:r>
              <a:rPr lang="ja-JP" sz="1400" b="0" dirty="0">
                <a:solidFill>
                  <a:srgbClr val="C5C3BB"/>
                </a:solidFill>
                <a:latin typeface="Hiragino Sans"/>
              </a:rPr>
              <a:t>最初の一歩としてほしい出力</a:t>
            </a:r>
          </a:p>
        </p:txBody>
      </p:sp>
      <p:sp>
        <p:nvSpPr>
          <p:cNvPr id="50" name="Bad Label"/>
          <p:cNvSpPr txBox="1"/>
          <p:nvPr/>
        </p:nvSpPr>
        <p:spPr>
          <a:xfrm>
            <a:off x="5760720" y="1371600"/>
            <a:ext cx="5669280" cy="274320"/>
          </a:xfrm>
          <a:prstGeom prst="rect">
            <a:avLst/>
          </a:prstGeom>
          <a:noFill/>
        </p:spPr>
        <p:txBody>
          <a:bodyPr wrap="square">
            <a:spAutoFit/>
          </a:bodyPr>
          <a:lstStyle/>
          <a:p>
            <a:pPr algn="l">
              <a:lnSpc>
                <a:spcPts val="2000"/>
              </a:lnSpc>
            </a:pPr>
            <a:r>
              <a:rPr lang="ja-JP" sz="1600" b="1" dirty="0">
                <a:solidFill>
                  <a:srgbClr val="E07070"/>
                </a:solidFill>
                <a:latin typeface="Hiragino Sans"/>
              </a:rPr>
              <a:t>✕ チャットボット的な指示</a:t>
            </a:r>
          </a:p>
        </p:txBody>
      </p:sp>
      <p:sp>
        <p:nvSpPr>
          <p:cNvPr id="51" name="Bad BG"/>
          <p:cNvSpPr/>
          <p:nvPr/>
        </p:nvSpPr>
        <p:spPr>
          <a:xfrm>
            <a:off x="5760720" y="1737360"/>
            <a:ext cx="5669280" cy="548640"/>
          </a:xfrm>
          <a:prstGeom prst="roundRect">
            <a:avLst>
              <a:gd name="adj" fmla="val 5000"/>
            </a:avLst>
          </a:prstGeom>
          <a:solidFill>
            <a:srgbClr val="2D2926"/>
          </a:solidFill>
          <a:ln w="12700">
            <a:solidFill>
              <a:srgbClr val="E07070">
                <a:alpha val="25000"/>
              </a:srgbClr>
            </a:solidFill>
          </a:ln>
        </p:spPr>
        <p:txBody>
          <a:bodyPr anchor="ctr">
            <a:noAutofit/>
          </a:bodyPr>
          <a:lstStyle/>
          <a:p>
            <a:pPr marL="228600" algn="l">
              <a:lnSpc>
                <a:spcPts val="2000"/>
              </a:lnSpc>
            </a:pPr>
            <a:r>
              <a:rPr lang="ja-JP" sz="1400" b="0" dirty="0">
                <a:solidFill>
                  <a:srgbClr val="6A9BCC"/>
                </a:solidFill>
                <a:latin typeface="SF Mono"/>
              </a:rPr>
              <a:t>この機能を改善して</a:t>
            </a:r>
          </a:p>
        </p:txBody>
      </p:sp>
      <p:sp>
        <p:nvSpPr>
          <p:cNvPr id="55" name="Good Label"/>
          <p:cNvSpPr txBox="1"/>
          <p:nvPr/>
        </p:nvSpPr>
        <p:spPr>
          <a:xfrm>
            <a:off x="5760720" y="2468880"/>
            <a:ext cx="5669280" cy="274320"/>
          </a:xfrm>
          <a:prstGeom prst="rect">
            <a:avLst/>
          </a:prstGeom>
          <a:noFill/>
        </p:spPr>
        <p:txBody>
          <a:bodyPr wrap="square">
            <a:spAutoFit/>
          </a:bodyPr>
          <a:lstStyle/>
          <a:p>
            <a:pPr algn="l">
              <a:lnSpc>
                <a:spcPts val="2000"/>
              </a:lnSpc>
            </a:pPr>
            <a:r>
              <a:rPr lang="ja-JP" sz="1600" b="1" dirty="0">
                <a:solidFill>
                  <a:srgbClr val="7BC9A0"/>
                </a:solidFill>
                <a:latin typeface="Hiragino Sans"/>
              </a:rPr>
              <a:t>○ エージェントへの方向付け</a:t>
            </a:r>
          </a:p>
        </p:txBody>
      </p:sp>
      <p:sp>
        <p:nvSpPr>
          <p:cNvPr id="56" name="Good BG"/>
          <p:cNvSpPr/>
          <p:nvPr/>
        </p:nvSpPr>
        <p:spPr>
          <a:xfrm>
            <a:off x="5760720" y="2834160"/>
            <a:ext cx="5669280" cy="2194560"/>
          </a:xfrm>
          <a:prstGeom prst="roundRect">
            <a:avLst>
              <a:gd name="adj" fmla="val 3000"/>
            </a:avLst>
          </a:prstGeom>
          <a:solidFill>
            <a:srgbClr val="2D2926"/>
          </a:solidFill>
          <a:ln w="12700">
            <a:solidFill>
              <a:srgbClr val="7BC9A0">
                <a:alpha val="25000"/>
              </a:srgbClr>
            </a:solidFill>
          </a:ln>
        </p:spPr>
        <p:txBody>
          <a:bodyPr lIns="228600" tIns="182880" anchor="t">
            <a:noAutofit/>
          </a:bodyPr>
          <a:lstStyle/>
          <a:p>
            <a:pPr algn="l">
              <a:lnSpc>
                <a:spcPts val="2000"/>
              </a:lnSpc>
              <a:spcAft>
                <a:spcPts val="100"/>
              </a:spcAft>
            </a:pPr>
            <a:r>
              <a:rPr lang="ja-JP" sz="1400" b="0" dirty="0">
                <a:solidFill>
                  <a:srgbClr val="6A9BCC"/>
                </a:solidFill>
                <a:latin typeface="SF Mono"/>
              </a:rPr>
              <a:t>CIが落ちている。</a:t>
            </a:r>
          </a:p>
          <a:p>
            <a:pPr algn="l">
              <a:lnSpc>
                <a:spcPts val="2000"/>
              </a:lnSpc>
              <a:spcAft>
                <a:spcPts val="100"/>
              </a:spcAft>
            </a:pPr>
            <a:r>
              <a:rPr lang="ja-JP" sz="1400" b="0" dirty="0">
                <a:solidFill>
                  <a:srgbClr val="6A9BCC"/>
                </a:solidFill>
                <a:latin typeface="SF Mono"/>
              </a:rPr>
              <a:t>現状：昨日のリファクタ以降失敗する</a:t>
            </a:r>
          </a:p>
          <a:p>
            <a:pPr algn="l">
              <a:lnSpc>
                <a:spcPts val="2000"/>
              </a:lnSpc>
              <a:spcAft>
                <a:spcPts val="100"/>
              </a:spcAft>
            </a:pPr>
            <a:r>
              <a:rPr lang="ja-JP" sz="1400" b="0" dirty="0">
                <a:solidFill>
                  <a:srgbClr val="6A9BCC"/>
                </a:solidFill>
                <a:latin typeface="SF Mono"/>
              </a:rPr>
              <a:t>ようになった。</a:t>
            </a:r>
          </a:p>
          <a:p>
            <a:pPr algn="l">
              <a:lnSpc>
                <a:spcPts val="2000"/>
              </a:lnSpc>
              <a:spcAft>
                <a:spcPts val="100"/>
              </a:spcAft>
            </a:pPr>
            <a:r>
              <a:rPr lang="ja-JP" sz="1400" b="0" dirty="0">
                <a:solidFill>
                  <a:srgbClr val="6A9BCC"/>
                </a:solidFill>
                <a:latin typeface="SF Mono"/>
              </a:rPr>
              <a:t>目標：ログを要約し、原因候補を</a:t>
            </a:r>
          </a:p>
          <a:p>
            <a:pPr algn="l">
              <a:lnSpc>
                <a:spcPts val="2000"/>
              </a:lnSpc>
              <a:spcAft>
                <a:spcPts val="100"/>
              </a:spcAft>
            </a:pPr>
            <a:r>
              <a:rPr lang="ja-JP" sz="1400" b="0" dirty="0">
                <a:solidFill>
                  <a:srgbClr val="6A9BCC"/>
                </a:solidFill>
                <a:latin typeface="SF Mono"/>
              </a:rPr>
              <a:t>3つ挙げて。</a:t>
            </a:r>
          </a:p>
          <a:p>
            <a:pPr algn="l">
              <a:lnSpc>
                <a:spcPts val="2000"/>
              </a:lnSpc>
              <a:spcAft>
                <a:spcPts val="100"/>
              </a:spcAft>
            </a:pPr>
            <a:r>
              <a:rPr lang="ja-JP" sz="1400" b="0" dirty="0">
                <a:solidFill>
                  <a:srgbClr val="6A9BCC"/>
                </a:solidFill>
                <a:latin typeface="SF Mono"/>
              </a:rPr>
              <a:t>調査結果は箇条書きでまとめて。</a:t>
            </a:r>
          </a:p>
          <a:p>
            <a:pPr algn="l">
              <a:lnSpc>
                <a:spcPts val="2000"/>
              </a:lnSpc>
            </a:pPr>
            <a:r>
              <a:rPr lang="ja-JP" sz="1400" b="0" dirty="0">
                <a:solidFill>
                  <a:srgbClr val="6A9BCC"/>
                </a:solidFill>
                <a:latin typeface="SF Mono"/>
              </a:rPr>
              <a:t>コードの変更はまだしないこと。</a:t>
            </a:r>
          </a:p>
        </p:txBody>
      </p:sp>
      <p:sp>
        <p:nvSpPr>
          <p:cNvPr id="99" name="PN"/>
          <p:cNvSpPr txBox="1"/>
          <p:nvPr/>
        </p:nvSpPr>
        <p:spPr>
          <a:xfrm>
            <a:off x="11247120" y="6400800"/>
            <a:ext cx="640080" cy="274320"/>
          </a:xfrm>
          <a:prstGeom prst="rect">
            <a:avLst/>
          </a:prstGeom>
          <a:noFill/>
        </p:spPr>
        <p:txBody>
          <a:bodyPr wrap="square">
            <a:spAutoFit/>
          </a:bodyPr>
          <a:lstStyle/>
          <a:p>
            <a:pPr algn="r">
              <a:lnSpc>
                <a:spcPts val="1500"/>
              </a:lnSpc>
            </a:pPr>
            <a:r>
              <a:rPr lang="en-US" sz="1100" b="0" dirty="0">
                <a:solidFill>
                  <a:srgbClr val="B0AEA5"/>
                </a:solidFill>
                <a:latin typeface="Helvetica Neue"/>
              </a:rPr>
              <a:t>11 / 16</a:t>
            </a:r>
          </a:p>
        </p:txBody>
      </p:sp>
    </p:spTree>
    <p:extLst>
      <p:ext uri="{BB962C8B-B14F-4D97-AF65-F5344CB8AC3E}">
        <p14:creationId xmlns:p14="http://schemas.microsoft.com/office/powerpoint/2010/main" val="16452942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10" name="Part"/>
          <p:cNvSpPr txBox="1"/>
          <p:nvPr/>
        </p:nvSpPr>
        <p:spPr>
          <a:xfrm>
            <a:off x="731520" y="274320"/>
            <a:ext cx="5486400" cy="274320"/>
          </a:xfrm>
          <a:prstGeom prst="rect">
            <a:avLst/>
          </a:prstGeom>
          <a:noFill/>
        </p:spPr>
        <p:txBody>
          <a:bodyPr wrap="square">
            <a:spAutoFit/>
          </a:bodyPr>
          <a:lstStyle/>
          <a:p>
            <a:pPr algn="l">
              <a:lnSpc>
                <a:spcPts val="1800"/>
              </a:lnSpc>
            </a:pPr>
            <a:r>
              <a:rPr lang="en-US" sz="1200" b="1" dirty="0">
                <a:solidFill>
                  <a:srgbClr val="D97757"/>
                </a:solidFill>
                <a:latin typeface="Helvetica Neue"/>
              </a:rPr>
              <a:t>PART 2 — コミュニケーション</a:t>
            </a:r>
          </a:p>
        </p:txBody>
      </p:sp>
      <p:sp>
        <p:nvSpPr>
          <p:cNvPr id="11" name="Title"/>
          <p:cNvSpPr txBox="1"/>
          <p:nvPr/>
        </p:nvSpPr>
        <p:spPr>
          <a:xfrm>
            <a:off x="731520" y="548640"/>
            <a:ext cx="10058400" cy="548640"/>
          </a:xfrm>
          <a:prstGeom prst="rect">
            <a:avLst/>
          </a:prstGeom>
          <a:noFill/>
        </p:spPr>
        <p:txBody>
          <a:bodyPr wrap="square">
            <a:spAutoFit/>
          </a:bodyPr>
          <a:lstStyle/>
          <a:p>
            <a:pPr algn="l">
              <a:lnSpc>
                <a:spcPts val="3600"/>
              </a:lnSpc>
            </a:pPr>
            <a:r>
              <a:rPr lang="ja-JP" sz="2800" b="1" dirty="0">
                <a:solidFill>
                  <a:srgbClr val="FAF9F5"/>
                </a:solidFill>
                <a:latin typeface="Hiragino Sans"/>
              </a:rPr>
              <a:t>対話しながら進める</a:t>
            </a:r>
          </a:p>
        </p:txBody>
      </p:sp>
      <p:sp>
        <p:nvSpPr>
          <p:cNvPr id="20" name="Step 0"/>
          <p:cNvSpPr/>
          <p:nvPr/>
        </p:nvSpPr>
        <p:spPr>
          <a:xfrm>
            <a:off x="1165860" y="1188720"/>
            <a:ext cx="2286000" cy="548640"/>
          </a:xfrm>
          <a:prstGeom prst="roundRect">
            <a:avLst>
              <a:gd name="adj" fmla="val 10000"/>
            </a:avLst>
          </a:prstGeom>
          <a:solidFill>
            <a:srgbClr val="D97757"/>
          </a:solidFill>
          <a:ln w="12700">
            <a:solidFill>
              <a:srgbClr val="D97757"/>
            </a:solidFill>
          </a:ln>
        </p:spPr>
        <p:txBody>
          <a:bodyPr anchor="ctr">
            <a:noAutofit/>
          </a:bodyPr>
          <a:lstStyle/>
          <a:p>
            <a:pPr algn="ctr">
              <a:lnSpc>
                <a:spcPts val="2200"/>
              </a:lnSpc>
            </a:pPr>
            <a:r>
              <a:rPr lang="ja-JP" sz="1600" b="1" dirty="0">
                <a:solidFill>
                  <a:srgbClr val="FAF9F5"/>
                </a:solidFill>
                <a:latin typeface="Hiragino Sans"/>
              </a:rPr>
              <a:t>1. 方向付け</a:t>
            </a:r>
          </a:p>
        </p:txBody>
      </p:sp>
      <p:sp>
        <p:nvSpPr>
          <p:cNvPr id="21" name="Arr 0"/>
          <p:cNvSpPr/>
          <p:nvPr/>
        </p:nvSpPr>
        <p:spPr>
          <a:xfrm>
            <a:off x="3451860" y="1394460"/>
            <a:ext cx="228600" cy="137160"/>
          </a:xfrm>
          <a:prstGeom prst="chevron">
            <a:avLst>
              <a:gd name="adj" fmla="val 50000"/>
            </a:avLst>
          </a:prstGeom>
          <a:solidFill>
            <a:srgbClr val="D97757">
              <a:alpha val="35000"/>
            </a:srgbClr>
          </a:solidFill>
          <a:ln>
            <a:noFill/>
          </a:ln>
        </p:spPr>
        <p:txBody>
          <a:bodyPr/>
          <a:lstStyle/>
          <a:p>
            <a:endParaRPr/>
          </a:p>
        </p:txBody>
      </p:sp>
      <p:sp>
        <p:nvSpPr>
          <p:cNvPr id="22" name="Step 1"/>
          <p:cNvSpPr/>
          <p:nvPr/>
        </p:nvSpPr>
        <p:spPr>
          <a:xfrm>
            <a:off x="3680460" y="1188720"/>
            <a:ext cx="2286000" cy="548640"/>
          </a:xfrm>
          <a:prstGeom prst="roundRect">
            <a:avLst>
              <a:gd name="adj" fmla="val 10000"/>
            </a:avLst>
          </a:prstGeom>
          <a:solidFill>
            <a:srgbClr val="2D2926"/>
          </a:solidFill>
          <a:ln w="12700">
            <a:solidFill>
              <a:srgbClr val="3D3835"/>
            </a:solidFill>
          </a:ln>
        </p:spPr>
        <p:txBody>
          <a:bodyPr anchor="ctr">
            <a:noAutofit/>
          </a:bodyPr>
          <a:lstStyle/>
          <a:p>
            <a:pPr algn="ctr">
              <a:lnSpc>
                <a:spcPts val="2200"/>
              </a:lnSpc>
            </a:pPr>
            <a:r>
              <a:rPr lang="ja-JP" sz="1600" b="1" dirty="0">
                <a:solidFill>
                  <a:srgbClr val="FAF9F5"/>
                </a:solidFill>
                <a:latin typeface="Hiragino Sans"/>
              </a:rPr>
              <a:t>2. たたき台を見る</a:t>
            </a:r>
          </a:p>
        </p:txBody>
      </p:sp>
      <p:sp>
        <p:nvSpPr>
          <p:cNvPr id="23" name="Arr 1"/>
          <p:cNvSpPr/>
          <p:nvPr/>
        </p:nvSpPr>
        <p:spPr>
          <a:xfrm>
            <a:off x="5966460" y="1394460"/>
            <a:ext cx="228600" cy="137160"/>
          </a:xfrm>
          <a:prstGeom prst="chevron">
            <a:avLst>
              <a:gd name="adj" fmla="val 50000"/>
            </a:avLst>
          </a:prstGeom>
          <a:solidFill>
            <a:srgbClr val="D97757">
              <a:alpha val="35000"/>
            </a:srgbClr>
          </a:solidFill>
          <a:ln>
            <a:noFill/>
          </a:ln>
        </p:spPr>
        <p:txBody>
          <a:bodyPr/>
          <a:lstStyle/>
          <a:p>
            <a:endParaRPr/>
          </a:p>
        </p:txBody>
      </p:sp>
      <p:sp>
        <p:nvSpPr>
          <p:cNvPr id="24" name="Step 2"/>
          <p:cNvSpPr/>
          <p:nvPr/>
        </p:nvSpPr>
        <p:spPr>
          <a:xfrm>
            <a:off x="6195060" y="1188720"/>
            <a:ext cx="2286000" cy="548640"/>
          </a:xfrm>
          <a:prstGeom prst="roundRect">
            <a:avLst>
              <a:gd name="adj" fmla="val 10000"/>
            </a:avLst>
          </a:prstGeom>
          <a:solidFill>
            <a:srgbClr val="2D2926"/>
          </a:solidFill>
          <a:ln w="12700">
            <a:solidFill>
              <a:srgbClr val="3D3835"/>
            </a:solidFill>
          </a:ln>
        </p:spPr>
        <p:txBody>
          <a:bodyPr anchor="ctr">
            <a:noAutofit/>
          </a:bodyPr>
          <a:lstStyle/>
          <a:p>
            <a:pPr algn="ctr">
              <a:lnSpc>
                <a:spcPts val="2200"/>
              </a:lnSpc>
            </a:pPr>
            <a:r>
              <a:rPr lang="ja-JP" sz="1600" b="1" dirty="0">
                <a:solidFill>
                  <a:srgbClr val="7BC9A0"/>
                </a:solidFill>
                <a:latin typeface="Hiragino Sans"/>
              </a:rPr>
              <a:t>3. 議論・修正</a:t>
            </a:r>
          </a:p>
        </p:txBody>
      </p:sp>
      <p:sp>
        <p:nvSpPr>
          <p:cNvPr id="25" name="Arr 2"/>
          <p:cNvSpPr/>
          <p:nvPr/>
        </p:nvSpPr>
        <p:spPr>
          <a:xfrm>
            <a:off x="8481060" y="1394460"/>
            <a:ext cx="228600" cy="137160"/>
          </a:xfrm>
          <a:prstGeom prst="chevron">
            <a:avLst>
              <a:gd name="adj" fmla="val 50000"/>
            </a:avLst>
          </a:prstGeom>
          <a:solidFill>
            <a:srgbClr val="D97757">
              <a:alpha val="35000"/>
            </a:srgbClr>
          </a:solidFill>
          <a:ln>
            <a:noFill/>
          </a:ln>
        </p:spPr>
        <p:txBody>
          <a:bodyPr/>
          <a:lstStyle/>
          <a:p>
            <a:endParaRPr/>
          </a:p>
        </p:txBody>
      </p:sp>
      <p:sp>
        <p:nvSpPr>
          <p:cNvPr id="26" name="Step 3"/>
          <p:cNvSpPr/>
          <p:nvPr/>
        </p:nvSpPr>
        <p:spPr>
          <a:xfrm>
            <a:off x="8709660" y="1188720"/>
            <a:ext cx="2286000" cy="548640"/>
          </a:xfrm>
          <a:prstGeom prst="roundRect">
            <a:avLst>
              <a:gd name="adj" fmla="val 10000"/>
            </a:avLst>
          </a:prstGeom>
          <a:solidFill>
            <a:srgbClr val="2D2926"/>
          </a:solidFill>
          <a:ln w="12700">
            <a:solidFill>
              <a:srgbClr val="3D3835"/>
            </a:solidFill>
          </a:ln>
        </p:spPr>
        <p:txBody>
          <a:bodyPr anchor="ctr">
            <a:noAutofit/>
          </a:bodyPr>
          <a:lstStyle/>
          <a:p>
            <a:pPr algn="ctr">
              <a:lnSpc>
                <a:spcPts val="2200"/>
              </a:lnSpc>
            </a:pPr>
            <a:r>
              <a:rPr lang="ja-JP" sz="1600" b="1" dirty="0">
                <a:solidFill>
                  <a:srgbClr val="FAF9F5"/>
                </a:solidFill>
                <a:latin typeface="Hiragino Sans"/>
              </a:rPr>
              <a:t>4. 次の一手</a:t>
            </a:r>
          </a:p>
        </p:txBody>
      </p:sp>
      <p:cxnSp>
        <p:nvCxnSpPr>
          <p:cNvPr id="30" name="Div2"/>
          <p:cNvCxnSpPr/>
          <p:nvPr/>
        </p:nvCxnSpPr>
        <p:spPr>
          <a:xfrm>
            <a:off x="731520" y="2011680"/>
            <a:ext cx="10698480" cy="0"/>
          </a:xfrm>
          <a:prstGeom prst="line">
            <a:avLst/>
          </a:prstGeom>
          <a:ln w="9525">
            <a:solidFill>
              <a:srgbClr val="3D3835"/>
            </a:solidFill>
          </a:ln>
        </p:spPr>
      </p:cxnSp>
      <p:sp>
        <p:nvSpPr>
          <p:cNvPr id="31" name="Sec Title"/>
          <p:cNvSpPr txBox="1"/>
          <p:nvPr/>
        </p:nvSpPr>
        <p:spPr>
          <a:xfrm>
            <a:off x="731520" y="2194560"/>
            <a:ext cx="10058400" cy="457200"/>
          </a:xfrm>
          <a:prstGeom prst="rect">
            <a:avLst/>
          </a:prstGeom>
          <a:noFill/>
        </p:spPr>
        <p:txBody>
          <a:bodyPr wrap="square">
            <a:spAutoFit/>
          </a:bodyPr>
          <a:lstStyle/>
          <a:p>
            <a:pPr algn="l">
              <a:lnSpc>
                <a:spcPts val="3000"/>
              </a:lnSpc>
            </a:pPr>
            <a:r>
              <a:rPr lang="ja-JP" sz="2200" b="1" dirty="0">
                <a:solidFill>
                  <a:srgbClr val="FAF9F5"/>
                </a:solidFill>
                <a:latin typeface="Hiragino Sans"/>
              </a:rPr>
              <a:t>対話のコツ</a:t>
            </a:r>
          </a:p>
        </p:txBody>
      </p:sp>
      <p:sp>
        <p:nvSpPr>
          <p:cNvPr id="40" name="Tech BG 0"/>
          <p:cNvSpPr/>
          <p:nvPr/>
        </p:nvSpPr>
        <p:spPr>
          <a:xfrm>
            <a:off x="731520" y="2834640"/>
            <a:ext cx="3322320" cy="3200400"/>
          </a:xfrm>
          <a:prstGeom prst="roundRect">
            <a:avLst>
              <a:gd name="adj" fmla="val 3000"/>
            </a:avLst>
          </a:prstGeom>
          <a:solidFill>
            <a:srgbClr val="2D2926"/>
          </a:solidFill>
          <a:ln>
            <a:noFill/>
          </a:ln>
        </p:spPr>
        <p:txBody>
          <a:bodyPr/>
          <a:lstStyle/>
          <a:p>
            <a:endParaRPr/>
          </a:p>
        </p:txBody>
      </p:sp>
      <p:sp>
        <p:nvSpPr>
          <p:cNvPr id="41" name="Tech Acc 0"/>
          <p:cNvSpPr/>
          <p:nvPr/>
        </p:nvSpPr>
        <p:spPr>
          <a:xfrm>
            <a:off x="731520" y="2834640"/>
            <a:ext cx="3322320" cy="45720"/>
          </a:xfrm>
          <a:prstGeom prst="roundRect">
            <a:avLst>
              <a:gd name="adj" fmla="val 50000"/>
            </a:avLst>
          </a:prstGeom>
          <a:solidFill>
            <a:srgbClr val="6A9BCC"/>
          </a:solidFill>
          <a:ln>
            <a:noFill/>
          </a:ln>
        </p:spPr>
        <p:txBody>
          <a:bodyPr/>
          <a:lstStyle/>
          <a:p>
            <a:endParaRPr/>
          </a:p>
        </p:txBody>
      </p:sp>
      <p:sp>
        <p:nvSpPr>
          <p:cNvPr id="42" name="Tech Txt 0"/>
          <p:cNvSpPr txBox="1"/>
          <p:nvPr/>
        </p:nvSpPr>
        <p:spPr>
          <a:xfrm>
            <a:off x="914400" y="3063240"/>
            <a:ext cx="2956560" cy="2834640"/>
          </a:xfrm>
          <a:prstGeom prst="rect">
            <a:avLst/>
          </a:prstGeom>
          <a:noFill/>
        </p:spPr>
        <p:txBody>
          <a:bodyPr wrap="square">
            <a:spAutoFit/>
          </a:bodyPr>
          <a:lstStyle/>
          <a:p>
            <a:pPr algn="l">
              <a:lnSpc>
                <a:spcPts val="2800"/>
              </a:lnSpc>
              <a:spcAft>
                <a:spcPts val="400"/>
              </a:spcAft>
            </a:pPr>
            <a:r>
              <a:rPr lang="ja-JP" sz="1800" b="1" dirty="0">
                <a:solidFill>
                  <a:srgbClr val="6A9BCC"/>
                </a:solidFill>
                <a:latin typeface="Hiragino Sans"/>
              </a:rPr>
              <a:t>「なぜ」を聞く</a:t>
            </a:r>
          </a:p>
          <a:p>
            <a:pPr algn="l">
              <a:lnSpc>
                <a:spcPts val="2200"/>
              </a:lnSpc>
            </a:pPr>
            <a:r>
              <a:rPr lang="ja-JP" sz="1400" b="0" dirty="0">
                <a:solidFill>
                  <a:srgbClr val="C5C3BB"/>
                </a:solidFill>
                <a:latin typeface="Hiragino Sans"/>
              </a:rPr>
              <a:t>期待と違ったら、すぐ修正指示を出さず理由を聞く。自分の方向付けの問題が見えることも</a:t>
            </a:r>
          </a:p>
        </p:txBody>
      </p:sp>
      <p:sp>
        <p:nvSpPr>
          <p:cNvPr id="43" name="Tech BG 1"/>
          <p:cNvSpPr/>
          <p:nvPr/>
        </p:nvSpPr>
        <p:spPr>
          <a:xfrm>
            <a:off x="4419600" y="2834640"/>
            <a:ext cx="3322320" cy="3200400"/>
          </a:xfrm>
          <a:prstGeom prst="roundRect">
            <a:avLst>
              <a:gd name="adj" fmla="val 3000"/>
            </a:avLst>
          </a:prstGeom>
          <a:solidFill>
            <a:srgbClr val="2D2926"/>
          </a:solidFill>
          <a:ln>
            <a:noFill/>
          </a:ln>
        </p:spPr>
        <p:txBody>
          <a:bodyPr/>
          <a:lstStyle/>
          <a:p>
            <a:endParaRPr/>
          </a:p>
        </p:txBody>
      </p:sp>
      <p:sp>
        <p:nvSpPr>
          <p:cNvPr id="44" name="Tech Acc 1"/>
          <p:cNvSpPr/>
          <p:nvPr/>
        </p:nvSpPr>
        <p:spPr>
          <a:xfrm>
            <a:off x="4419600" y="2834640"/>
            <a:ext cx="3322320" cy="45720"/>
          </a:xfrm>
          <a:prstGeom prst="roundRect">
            <a:avLst>
              <a:gd name="adj" fmla="val 50000"/>
            </a:avLst>
          </a:prstGeom>
          <a:solidFill>
            <a:srgbClr val="6A9BCC"/>
          </a:solidFill>
          <a:ln>
            <a:noFill/>
          </a:ln>
        </p:spPr>
        <p:txBody>
          <a:bodyPr/>
          <a:lstStyle/>
          <a:p>
            <a:endParaRPr/>
          </a:p>
        </p:txBody>
      </p:sp>
      <p:sp>
        <p:nvSpPr>
          <p:cNvPr id="45" name="Tech Txt 1"/>
          <p:cNvSpPr txBox="1"/>
          <p:nvPr/>
        </p:nvSpPr>
        <p:spPr>
          <a:xfrm>
            <a:off x="4602480" y="3063240"/>
            <a:ext cx="2956560" cy="2834640"/>
          </a:xfrm>
          <a:prstGeom prst="rect">
            <a:avLst/>
          </a:prstGeom>
          <a:noFill/>
        </p:spPr>
        <p:txBody>
          <a:bodyPr wrap="square">
            <a:spAutoFit/>
          </a:bodyPr>
          <a:lstStyle/>
          <a:p>
            <a:pPr algn="l">
              <a:lnSpc>
                <a:spcPts val="2800"/>
              </a:lnSpc>
              <a:spcAft>
                <a:spcPts val="400"/>
              </a:spcAft>
            </a:pPr>
            <a:r>
              <a:rPr lang="ja-JP" sz="1800" b="1" dirty="0">
                <a:solidFill>
                  <a:srgbClr val="6A9BCC"/>
                </a:solidFill>
                <a:latin typeface="Hiragino Sans"/>
              </a:rPr>
              <a:t>提案形式で議論する</a:t>
            </a:r>
          </a:p>
          <a:p>
            <a:pPr algn="l">
              <a:lnSpc>
                <a:spcPts val="2200"/>
              </a:lnSpc>
            </a:pPr>
            <a:r>
              <a:rPr lang="ja-JP" sz="1400" b="0" dirty="0">
                <a:solidFill>
                  <a:srgbClr val="C5C3BB"/>
                </a:solidFill>
                <a:latin typeface="Hiragino Sans"/>
              </a:rPr>
              <a:t>「Xして」ではなく「Xを考えているが、どう思うか」。別の選択肢が出てくる</a:t>
            </a:r>
          </a:p>
        </p:txBody>
      </p:sp>
      <p:sp>
        <p:nvSpPr>
          <p:cNvPr id="46" name="Tech BG 2"/>
          <p:cNvSpPr/>
          <p:nvPr/>
        </p:nvSpPr>
        <p:spPr>
          <a:xfrm>
            <a:off x="8107680" y="2834640"/>
            <a:ext cx="3322320" cy="3200400"/>
          </a:xfrm>
          <a:prstGeom prst="roundRect">
            <a:avLst>
              <a:gd name="adj" fmla="val 3000"/>
            </a:avLst>
          </a:prstGeom>
          <a:solidFill>
            <a:srgbClr val="2D2926"/>
          </a:solidFill>
          <a:ln>
            <a:noFill/>
          </a:ln>
        </p:spPr>
        <p:txBody>
          <a:bodyPr/>
          <a:lstStyle/>
          <a:p>
            <a:endParaRPr/>
          </a:p>
        </p:txBody>
      </p:sp>
      <p:sp>
        <p:nvSpPr>
          <p:cNvPr id="47" name="Tech Acc 2"/>
          <p:cNvSpPr/>
          <p:nvPr/>
        </p:nvSpPr>
        <p:spPr>
          <a:xfrm>
            <a:off x="8107680" y="2834640"/>
            <a:ext cx="3322320" cy="45720"/>
          </a:xfrm>
          <a:prstGeom prst="roundRect">
            <a:avLst>
              <a:gd name="adj" fmla="val 50000"/>
            </a:avLst>
          </a:prstGeom>
          <a:solidFill>
            <a:srgbClr val="6A9BCC"/>
          </a:solidFill>
          <a:ln>
            <a:noFill/>
          </a:ln>
        </p:spPr>
        <p:txBody>
          <a:bodyPr/>
          <a:lstStyle/>
          <a:p>
            <a:endParaRPr/>
          </a:p>
        </p:txBody>
      </p:sp>
      <p:sp>
        <p:nvSpPr>
          <p:cNvPr id="48" name="Tech Txt 2"/>
          <p:cNvSpPr txBox="1"/>
          <p:nvPr/>
        </p:nvSpPr>
        <p:spPr>
          <a:xfrm>
            <a:off x="8290560" y="3063240"/>
            <a:ext cx="2956560" cy="2834640"/>
          </a:xfrm>
          <a:prstGeom prst="rect">
            <a:avLst/>
          </a:prstGeom>
          <a:noFill/>
        </p:spPr>
        <p:txBody>
          <a:bodyPr wrap="square">
            <a:spAutoFit/>
          </a:bodyPr>
          <a:lstStyle/>
          <a:p>
            <a:pPr algn="l">
              <a:lnSpc>
                <a:spcPts val="2800"/>
              </a:lnSpc>
              <a:spcAft>
                <a:spcPts val="400"/>
              </a:spcAft>
            </a:pPr>
            <a:r>
              <a:rPr lang="ja-JP" sz="1800" b="1" dirty="0">
                <a:solidFill>
                  <a:srgbClr val="6A9BCC"/>
                </a:solidFill>
                <a:latin typeface="Hiragino Sans"/>
              </a:rPr>
              <a:t>手直ししたら共有する</a:t>
            </a:r>
          </a:p>
          <a:p>
            <a:pPr algn="l">
              <a:lnSpc>
                <a:spcPts val="2200"/>
              </a:lnSpc>
            </a:pPr>
            <a:r>
              <a:rPr lang="ja-JP" sz="1400" b="0" dirty="0">
                <a:solidFill>
                  <a:srgbClr val="C5C3BB"/>
                </a:solidFill>
                <a:latin typeface="Hiragino Sans"/>
              </a:rPr>
              <a:t>自分で編集した場合は必ず伝える。伝えないと古い状態で動き続ける</a:t>
            </a:r>
          </a:p>
        </p:txBody>
      </p:sp>
      <p:sp>
        <p:nvSpPr>
          <p:cNvPr id="99" name="PN"/>
          <p:cNvSpPr txBox="1"/>
          <p:nvPr/>
        </p:nvSpPr>
        <p:spPr>
          <a:xfrm>
            <a:off x="11247120" y="6400800"/>
            <a:ext cx="640080" cy="274320"/>
          </a:xfrm>
          <a:prstGeom prst="rect">
            <a:avLst/>
          </a:prstGeom>
          <a:noFill/>
        </p:spPr>
        <p:txBody>
          <a:bodyPr wrap="square">
            <a:spAutoFit/>
          </a:bodyPr>
          <a:lstStyle/>
          <a:p>
            <a:pPr algn="r">
              <a:lnSpc>
                <a:spcPts val="1500"/>
              </a:lnSpc>
            </a:pPr>
            <a:r>
              <a:rPr lang="en-US" sz="1100" b="0" dirty="0">
                <a:solidFill>
                  <a:srgbClr val="B0AEA5"/>
                </a:solidFill>
                <a:latin typeface="Helvetica Neue"/>
              </a:rPr>
              <a:t>12 / 16</a:t>
            </a:r>
          </a:p>
        </p:txBody>
      </p:sp>
    </p:spTree>
    <p:extLst>
      <p:ext uri="{BB962C8B-B14F-4D97-AF65-F5344CB8AC3E}">
        <p14:creationId xmlns:p14="http://schemas.microsoft.com/office/powerpoint/2010/main" val="1063114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231F1D"/>
        </a:solidFill>
        <a:effectLst/>
      </p:bgPr>
    </p:bg>
    <p:spTree>
      <p:nvGrpSpPr>
        <p:cNvPr id="1" name=""/>
        <p:cNvGrpSpPr/>
        <p:nvPr/>
      </p:nvGrpSpPr>
      <p:grpSpPr>
        <a:xfrm>
          <a:off x="0" y="0"/>
          <a:ext cx="0" cy="0"/>
          <a:chOff x="0" y="0"/>
          <a:chExt cx="0" cy="0"/>
        </a:xfrm>
      </p:grpSpPr>
      <p:cxnSp>
        <p:nvCxnSpPr>
          <p:cNvPr id="2" name="LineL"/>
          <p:cNvCxnSpPr/>
          <p:nvPr/>
        </p:nvCxnSpPr>
        <p:spPr>
          <a:xfrm>
            <a:off x="2921000" y="3302000"/>
            <a:ext cx="1524000" cy="0"/>
          </a:xfrm>
          <a:prstGeom prst="line">
            <a:avLst/>
          </a:prstGeom>
          <a:ln w="12700">
            <a:solidFill>
              <a:srgbClr val="D97757"/>
            </a:solidFill>
          </a:ln>
        </p:spPr>
      </p:cxnSp>
      <p:cxnSp>
        <p:nvCxnSpPr>
          <p:cNvPr id="3" name="LineR"/>
          <p:cNvCxnSpPr/>
          <p:nvPr/>
        </p:nvCxnSpPr>
        <p:spPr>
          <a:xfrm>
            <a:off x="7747000" y="3302000"/>
            <a:ext cx="1524000" cy="0"/>
          </a:xfrm>
          <a:prstGeom prst="line">
            <a:avLst/>
          </a:prstGeom>
          <a:ln w="12700">
            <a:solidFill>
              <a:srgbClr val="D97757"/>
            </a:solidFill>
          </a:ln>
        </p:spPr>
      </p:cxnSp>
      <p:sp>
        <p:nvSpPr>
          <p:cNvPr id="4" name="PartLabel"/>
          <p:cNvSpPr/>
          <p:nvPr/>
        </p:nvSpPr>
        <p:spPr>
          <a:xfrm>
            <a:off x="4191000" y="2159000"/>
            <a:ext cx="3810000" cy="508000"/>
          </a:xfrm>
          <a:prstGeom prst="rect">
            <a:avLst/>
          </a:prstGeom>
          <a:noFill/>
          <a:ln>
            <a:noFill/>
          </a:ln>
        </p:spPr>
        <p:txBody>
          <a:bodyPr wrap="square" lIns="0" tIns="0" rIns="0" bIns="0" anchor="ctr"/>
          <a:lstStyle/>
          <a:p>
            <a:pPr algn="ctr"/>
            <a:r>
              <a:rPr lang="en-US" sz="1800" b="1" dirty="0">
                <a:solidFill>
                  <a:srgbClr val="D97757"/>
                </a:solidFill>
                <a:latin typeface="Helvetica Neue"/>
              </a:rPr>
              <a:t>PART 3</a:t>
            </a:r>
          </a:p>
        </p:txBody>
      </p:sp>
      <p:sp>
        <p:nvSpPr>
          <p:cNvPr id="5" name="Title"/>
          <p:cNvSpPr/>
          <p:nvPr/>
        </p:nvSpPr>
        <p:spPr>
          <a:xfrm>
            <a:off x="2921000" y="2779487"/>
            <a:ext cx="6350000" cy="762000"/>
          </a:xfrm>
          <a:prstGeom prst="rect">
            <a:avLst/>
          </a:prstGeom>
          <a:noFill/>
          <a:ln>
            <a:noFill/>
          </a:ln>
        </p:spPr>
        <p:txBody>
          <a:bodyPr wrap="square" lIns="0" tIns="0" rIns="0" bIns="0" anchor="ctr"/>
          <a:lstStyle/>
          <a:p>
            <a:pPr algn="ctr">
              <a:lnSpc>
                <a:spcPts val="6600"/>
              </a:lnSpc>
            </a:pPr>
            <a:r>
              <a:rPr lang="en-US" sz="4400" b="1" dirty="0">
                <a:solidFill>
                  <a:srgbClr val="FAF9F5"/>
                </a:solidFill>
                <a:latin typeface="Helvetica Neue"/>
              </a:rPr>
              <a:t>Plan Mode</a:t>
            </a:r>
          </a:p>
        </p:txBody>
      </p:sp>
      <p:sp>
        <p:nvSpPr>
          <p:cNvPr id="6" name="Sub"/>
          <p:cNvSpPr/>
          <p:nvPr/>
        </p:nvSpPr>
        <p:spPr>
          <a:xfrm>
            <a:off x="2921000" y="3683000"/>
            <a:ext cx="6350000" cy="635000"/>
          </a:xfrm>
          <a:prstGeom prst="rect">
            <a:avLst/>
          </a:prstGeom>
          <a:noFill/>
          <a:ln>
            <a:noFill/>
          </a:ln>
        </p:spPr>
        <p:txBody>
          <a:bodyPr wrap="square" lIns="0" tIns="0" rIns="0" bIns="0" anchor="t"/>
          <a:lstStyle/>
          <a:p>
            <a:pPr algn="ctr">
              <a:lnSpc>
                <a:spcPts val="3600"/>
              </a:lnSpc>
            </a:pPr>
            <a:r>
              <a:rPr lang="ja-JP" sz="2400" dirty="0">
                <a:solidFill>
                  <a:srgbClr val="C5C3BB"/>
                </a:solidFill>
                <a:latin typeface="Hiragino Sans"/>
              </a:rPr>
              <a:t>いきなりコードを書かせない</a:t>
            </a:r>
          </a:p>
        </p:txBody>
      </p:sp>
      <p:sp>
        <p:nvSpPr>
          <p:cNvPr id="7" name="PageNum"/>
          <p:cNvSpPr/>
          <p:nvPr/>
        </p:nvSpPr>
        <p:spPr>
          <a:xfrm>
            <a:off x="11277600" y="6400800"/>
            <a:ext cx="736600" cy="279400"/>
          </a:xfrm>
          <a:prstGeom prst="rect">
            <a:avLst/>
          </a:prstGeom>
          <a:noFill/>
          <a:ln>
            <a:noFill/>
          </a:ln>
        </p:spPr>
        <p:txBody>
          <a:bodyPr wrap="square" lIns="0" tIns="0" rIns="0" bIns="0" anchor="ctr"/>
          <a:lstStyle/>
          <a:p>
            <a:pPr algn="r"/>
            <a:r>
              <a:rPr lang="en-US" sz="1400" dirty="0">
                <a:solidFill>
                  <a:srgbClr val="6B6963"/>
                </a:solidFill>
                <a:latin typeface="Helvetica Neue"/>
              </a:rPr>
              <a:t>13 / 16</a:t>
            </a:r>
          </a:p>
        </p:txBody>
      </p:sp>
    </p:spTree>
    <p:extLst>
      <p:ext uri="{BB962C8B-B14F-4D97-AF65-F5344CB8AC3E}">
        <p14:creationId xmlns:p14="http://schemas.microsoft.com/office/powerpoint/2010/main" val="19051031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PartLabel"/>
          <p:cNvSpPr/>
          <p:nvPr/>
        </p:nvSpPr>
        <p:spPr>
          <a:xfrm>
            <a:off x="736600" y="457200"/>
            <a:ext cx="1270000" cy="304800"/>
          </a:xfrm>
          <a:prstGeom prst="roundRect">
            <a:avLst>
              <a:gd name="adj" fmla="val 50000"/>
            </a:avLst>
          </a:prstGeom>
          <a:solidFill>
            <a:srgbClr val="D97757"/>
          </a:solidFill>
          <a:ln>
            <a:noFill/>
          </a:ln>
        </p:spPr>
        <p:txBody>
          <a:bodyPr wrap="none" lIns="0" tIns="0" rIns="0" bIns="0" anchor="ctr" anchorCtr="1"/>
          <a:lstStyle/>
          <a:p>
            <a:pPr algn="ctr"/>
            <a:r>
              <a:rPr lang="en-US" sz="1400" b="1" dirty="0">
                <a:solidFill>
                  <a:srgbClr val="FAF9F5"/>
                </a:solidFill>
                <a:latin typeface="Helvetica Neue"/>
              </a:rPr>
              <a:t>PART 3</a:t>
            </a:r>
          </a:p>
        </p:txBody>
      </p:sp>
      <p:sp>
        <p:nvSpPr>
          <p:cNvPr id="3" name="Title"/>
          <p:cNvSpPr/>
          <p:nvPr/>
        </p:nvSpPr>
        <p:spPr>
          <a:xfrm>
            <a:off x="2197100" y="431800"/>
            <a:ext cx="6350000" cy="381000"/>
          </a:xfrm>
          <a:prstGeom prst="rect">
            <a:avLst/>
          </a:prstGeom>
          <a:noFill/>
          <a:ln>
            <a:noFill/>
          </a:ln>
        </p:spPr>
        <p:txBody>
          <a:bodyPr wrap="square" lIns="0" tIns="0" rIns="0" bIns="0" anchor="ctr"/>
          <a:lstStyle/>
          <a:p>
            <a:pPr algn="l"/>
            <a:r>
              <a:rPr lang="ja-JP" sz="2400" b="1" dirty="0">
                <a:solidFill>
                  <a:srgbClr val="FAF9F5"/>
                </a:solidFill>
                <a:latin typeface="Hiragino Sans"/>
              </a:rPr>
              <a:t>Plan Mode とは</a:t>
            </a:r>
          </a:p>
        </p:txBody>
      </p:sp>
      <p:sp>
        <p:nvSpPr>
          <p:cNvPr id="10" name="DefCard"/>
          <p:cNvSpPr/>
          <p:nvPr/>
        </p:nvSpPr>
        <p:spPr>
          <a:xfrm>
            <a:off x="736600" y="1016000"/>
            <a:ext cx="5461000" cy="2476500"/>
          </a:xfrm>
          <a:prstGeom prst="roundRect">
            <a:avLst>
              <a:gd name="adj" fmla="val 3000"/>
            </a:avLst>
          </a:prstGeom>
          <a:solidFill>
            <a:srgbClr val="302D29"/>
          </a:solidFill>
          <a:ln w="12700">
            <a:solidFill>
              <a:srgbClr val="3A3632"/>
            </a:solidFill>
          </a:ln>
        </p:spPr>
        <p:txBody>
          <a:bodyPr/>
          <a:lstStyle/>
          <a:p>
            <a:endParaRPr lang="ja-JP" dirty="0"/>
          </a:p>
        </p:txBody>
      </p:sp>
      <p:sp>
        <p:nvSpPr>
          <p:cNvPr id="11" name="DefHeader"/>
          <p:cNvSpPr/>
          <p:nvPr/>
        </p:nvSpPr>
        <p:spPr>
          <a:xfrm>
            <a:off x="990600" y="1193800"/>
            <a:ext cx="4953000" cy="355600"/>
          </a:xfrm>
          <a:prstGeom prst="rect">
            <a:avLst/>
          </a:prstGeom>
          <a:noFill/>
          <a:ln>
            <a:noFill/>
          </a:ln>
        </p:spPr>
        <p:txBody>
          <a:bodyPr wrap="square" lIns="0" tIns="0" rIns="0" bIns="0" anchor="ctr"/>
          <a:lstStyle/>
          <a:p>
            <a:pPr algn="l"/>
            <a:r>
              <a:rPr lang="ja-JP" sz="1700" b="1" dirty="0">
                <a:solidFill>
                  <a:srgbClr val="D97757"/>
                </a:solidFill>
                <a:latin typeface="Hiragino Sans"/>
              </a:rPr>
              <a:t>概要</a:t>
            </a:r>
          </a:p>
        </p:txBody>
      </p:sp>
      <p:sp>
        <p:nvSpPr>
          <p:cNvPr id="12" name="DefBullets"/>
          <p:cNvSpPr/>
          <p:nvPr/>
        </p:nvSpPr>
        <p:spPr>
          <a:xfrm>
            <a:off x="990600" y="1600200"/>
            <a:ext cx="4953000" cy="1778000"/>
          </a:xfrm>
          <a:prstGeom prst="rect">
            <a:avLst/>
          </a:prstGeom>
          <a:noFill/>
          <a:ln>
            <a:noFill/>
          </a:ln>
        </p:spPr>
        <p:txBody>
          <a:bodyPr wrap="square" lIns="0" tIns="0" rIns="0" bIns="0" anchor="t"/>
          <a:lstStyle/>
          <a:p>
            <a:pPr marL="228600" indent="-228600" algn="l">
              <a:lnSpc>
                <a:spcPts val="2600"/>
              </a:lnSpc>
              <a:buFont typeface="Arial"/>
              <a:buChar char="•"/>
            </a:pPr>
            <a:r>
              <a:rPr lang="ja-JP" sz="1500" dirty="0">
                <a:solidFill>
                  <a:srgbClr val="C5C3BB"/>
                </a:solidFill>
                <a:latin typeface="Hiragino Sans"/>
              </a:rPr>
              <a:t>読み取り専用のモード</a:t>
            </a:r>
          </a:p>
          <a:p>
            <a:pPr marL="228600" indent="-228600" algn="l">
              <a:lnSpc>
                <a:spcPts val="2600"/>
              </a:lnSpc>
              <a:buFont typeface="Arial"/>
              <a:buChar char="•"/>
            </a:pPr>
            <a:r>
              <a:rPr lang="ja-JP" sz="1500" dirty="0">
                <a:solidFill>
                  <a:srgbClr val="C5C3BB"/>
                </a:solidFill>
                <a:latin typeface="Hiragino Sans"/>
              </a:rPr>
              <a:t>ファイル閲覧・検索・Web検索は可能</a:t>
            </a:r>
          </a:p>
          <a:p>
            <a:pPr marL="228600" indent="-228600" algn="l">
              <a:lnSpc>
                <a:spcPts val="2600"/>
              </a:lnSpc>
              <a:buFont typeface="Arial"/>
              <a:buChar char="•"/>
            </a:pPr>
            <a:r>
              <a:rPr lang="ja-JP" sz="1500" dirty="0">
                <a:solidFill>
                  <a:srgbClr val="C5C3BB"/>
                </a:solidFill>
                <a:latin typeface="Hiragino Sans"/>
              </a:rPr>
              <a:t>ファイル編集・コマンド実行は不可</a:t>
            </a:r>
          </a:p>
          <a:p>
            <a:pPr marL="228600" indent="-228600" algn="l">
              <a:lnSpc>
                <a:spcPts val="2600"/>
              </a:lnSpc>
              <a:buFont typeface="Arial"/>
              <a:buChar char="•"/>
            </a:pPr>
            <a:r>
              <a:rPr lang="ja-JP" sz="1500" dirty="0">
                <a:solidFill>
                  <a:srgbClr val="C5C3BB"/>
                </a:solidFill>
                <a:latin typeface="Hiragino Sans"/>
              </a:rPr>
              <a:t>調査と計画立案に集中するためのモード</a:t>
            </a:r>
          </a:p>
        </p:txBody>
      </p:sp>
      <p:sp>
        <p:nvSpPr>
          <p:cNvPr id="20" name="OpCard"/>
          <p:cNvSpPr/>
          <p:nvPr/>
        </p:nvSpPr>
        <p:spPr>
          <a:xfrm>
            <a:off x="736600" y="3683000"/>
            <a:ext cx="5461000" cy="1905000"/>
          </a:xfrm>
          <a:prstGeom prst="roundRect">
            <a:avLst>
              <a:gd name="adj" fmla="val 3000"/>
            </a:avLst>
          </a:prstGeom>
          <a:solidFill>
            <a:srgbClr val="302D29"/>
          </a:solidFill>
          <a:ln w="12700">
            <a:solidFill>
              <a:srgbClr val="3A3632"/>
            </a:solidFill>
          </a:ln>
        </p:spPr>
        <p:txBody>
          <a:bodyPr/>
          <a:lstStyle/>
          <a:p>
            <a:endParaRPr lang="ja-JP" dirty="0"/>
          </a:p>
        </p:txBody>
      </p:sp>
      <p:sp>
        <p:nvSpPr>
          <p:cNvPr id="21" name="OpHeader"/>
          <p:cNvSpPr/>
          <p:nvPr/>
        </p:nvSpPr>
        <p:spPr>
          <a:xfrm>
            <a:off x="990600" y="3860800"/>
            <a:ext cx="4953000" cy="355600"/>
          </a:xfrm>
          <a:prstGeom prst="rect">
            <a:avLst/>
          </a:prstGeom>
          <a:noFill/>
          <a:ln>
            <a:noFill/>
          </a:ln>
        </p:spPr>
        <p:txBody>
          <a:bodyPr wrap="square" lIns="0" tIns="0" rIns="0" bIns="0" anchor="ctr"/>
          <a:lstStyle/>
          <a:p>
            <a:pPr algn="l"/>
            <a:r>
              <a:rPr lang="ja-JP" sz="1700" b="1" dirty="0">
                <a:solidFill>
                  <a:srgbClr val="D97757"/>
                </a:solidFill>
                <a:latin typeface="Hiragino Sans"/>
              </a:rPr>
              <a:t>操作方法</a:t>
            </a:r>
          </a:p>
        </p:txBody>
      </p:sp>
      <p:sp>
        <p:nvSpPr>
          <p:cNvPr id="22" name="OpBullets"/>
          <p:cNvSpPr/>
          <p:nvPr/>
        </p:nvSpPr>
        <p:spPr>
          <a:xfrm>
            <a:off x="990600" y="4267200"/>
            <a:ext cx="4953000" cy="1143000"/>
          </a:xfrm>
          <a:prstGeom prst="rect">
            <a:avLst/>
          </a:prstGeom>
          <a:noFill/>
          <a:ln>
            <a:noFill/>
          </a:ln>
        </p:spPr>
        <p:txBody>
          <a:bodyPr wrap="square" lIns="0" tIns="0" rIns="0" bIns="0" anchor="t"/>
          <a:lstStyle/>
          <a:p>
            <a:pPr marL="228600" indent="-228600" algn="l">
              <a:lnSpc>
                <a:spcPts val="2600"/>
              </a:lnSpc>
              <a:buFont typeface="Arial"/>
              <a:buChar char="•"/>
            </a:pPr>
            <a:r>
              <a:rPr lang="ja-JP" sz="1500" dirty="0">
                <a:solidFill>
                  <a:srgbClr val="FAF9F5"/>
                </a:solidFill>
                <a:latin typeface="Hiragino Sans"/>
              </a:rPr>
              <a:t>Shift+Tab で切替（Normal → Auto Accept → Plan）</a:t>
            </a:r>
          </a:p>
          <a:p>
            <a:pPr marL="228600" indent="-228600" algn="l">
              <a:lnSpc>
                <a:spcPts val="2600"/>
              </a:lnSpc>
              <a:buFont typeface="Arial"/>
              <a:buChar char="•"/>
            </a:pPr>
            <a:r>
              <a:rPr lang="ja-JP" sz="1500" dirty="0">
                <a:solidFill>
                  <a:srgbClr val="FAF9F5"/>
                </a:solidFill>
                <a:latin typeface="Hiragino Sans"/>
              </a:rPr>
              <a:t>claude --permission-mode plan で起動</a:t>
            </a:r>
          </a:p>
        </p:txBody>
      </p:sp>
      <p:sp>
        <p:nvSpPr>
          <p:cNvPr id="30" name="WhyCard"/>
          <p:cNvSpPr/>
          <p:nvPr/>
        </p:nvSpPr>
        <p:spPr>
          <a:xfrm>
            <a:off x="6426200" y="1016000"/>
            <a:ext cx="5080000" cy="4572000"/>
          </a:xfrm>
          <a:prstGeom prst="roundRect">
            <a:avLst>
              <a:gd name="adj" fmla="val 3000"/>
            </a:avLst>
          </a:prstGeom>
          <a:solidFill>
            <a:srgbClr val="302D29"/>
          </a:solidFill>
          <a:ln w="12700">
            <a:solidFill>
              <a:srgbClr val="3A3632"/>
            </a:solidFill>
          </a:ln>
        </p:spPr>
        <p:txBody>
          <a:bodyPr/>
          <a:lstStyle/>
          <a:p>
            <a:endParaRPr lang="ja-JP" dirty="0"/>
          </a:p>
        </p:txBody>
      </p:sp>
      <p:sp>
        <p:nvSpPr>
          <p:cNvPr id="31" name="WhyHeader"/>
          <p:cNvSpPr/>
          <p:nvPr/>
        </p:nvSpPr>
        <p:spPr>
          <a:xfrm>
            <a:off x="6680200" y="1193800"/>
            <a:ext cx="4572000" cy="355600"/>
          </a:xfrm>
          <a:prstGeom prst="rect">
            <a:avLst/>
          </a:prstGeom>
          <a:noFill/>
          <a:ln>
            <a:noFill/>
          </a:ln>
        </p:spPr>
        <p:txBody>
          <a:bodyPr wrap="square" lIns="0" tIns="0" rIns="0" bIns="0" anchor="ctr"/>
          <a:lstStyle/>
          <a:p>
            <a:pPr algn="l"/>
            <a:r>
              <a:rPr lang="ja-JP" sz="1700" b="1" dirty="0">
                <a:solidFill>
                  <a:srgbClr val="D97757"/>
                </a:solidFill>
                <a:latin typeface="Hiragino Sans"/>
              </a:rPr>
              <a:t>なぜ計画から始めるのか</a:t>
            </a:r>
          </a:p>
        </p:txBody>
      </p:sp>
      <p:sp>
        <p:nvSpPr>
          <p:cNvPr id="32" name="Dot0"/>
          <p:cNvSpPr/>
          <p:nvPr/>
        </p:nvSpPr>
        <p:spPr>
          <a:xfrm>
            <a:off x="6680200" y="1778000"/>
            <a:ext cx="127000" cy="127000"/>
          </a:xfrm>
          <a:prstGeom prst="ellipse">
            <a:avLst/>
          </a:prstGeom>
          <a:solidFill>
            <a:srgbClr val="7BC9A0"/>
          </a:solidFill>
          <a:ln>
            <a:noFill/>
          </a:ln>
        </p:spPr>
        <p:txBody>
          <a:bodyPr/>
          <a:lstStyle/>
          <a:p>
            <a:endParaRPr lang="ja-JP" dirty="0"/>
          </a:p>
        </p:txBody>
      </p:sp>
      <p:sp>
        <p:nvSpPr>
          <p:cNvPr id="33" name="RTitle0"/>
          <p:cNvSpPr/>
          <p:nvPr/>
        </p:nvSpPr>
        <p:spPr>
          <a:xfrm>
            <a:off x="6934200" y="1676400"/>
            <a:ext cx="4318000" cy="355600"/>
          </a:xfrm>
          <a:prstGeom prst="rect">
            <a:avLst/>
          </a:prstGeom>
          <a:noFill/>
          <a:ln>
            <a:noFill/>
          </a:ln>
        </p:spPr>
        <p:txBody>
          <a:bodyPr wrap="square" lIns="0" tIns="0" rIns="0" bIns="0" anchor="ctr"/>
          <a:lstStyle/>
          <a:p>
            <a:pPr algn="l"/>
            <a:r>
              <a:rPr lang="ja-JP" sz="1600" b="1" dirty="0">
                <a:solidFill>
                  <a:srgbClr val="FAF9F5"/>
                </a:solidFill>
                <a:latin typeface="Hiragino Sans"/>
              </a:rPr>
              <a:t>認識のズレに早く気づける</a:t>
            </a:r>
          </a:p>
        </p:txBody>
      </p:sp>
      <p:sp>
        <p:nvSpPr>
          <p:cNvPr id="34" name="RDesc0"/>
          <p:cNvSpPr/>
          <p:nvPr/>
        </p:nvSpPr>
        <p:spPr>
          <a:xfrm>
            <a:off x="6934200" y="2057400"/>
            <a:ext cx="4318000" cy="635000"/>
          </a:xfrm>
          <a:prstGeom prst="rect">
            <a:avLst/>
          </a:prstGeom>
          <a:noFill/>
          <a:ln>
            <a:noFill/>
          </a:ln>
        </p:spPr>
        <p:txBody>
          <a:bodyPr wrap="square" lIns="0" tIns="0" rIns="0" bIns="0" anchor="t"/>
          <a:lstStyle/>
          <a:p>
            <a:pPr algn="l">
              <a:lnSpc>
                <a:spcPts val="2000"/>
              </a:lnSpc>
            </a:pPr>
            <a:r>
              <a:rPr lang="ja-JP" sz="1400" dirty="0">
                <a:solidFill>
                  <a:srgbClr val="B0AEA5"/>
                </a:solidFill>
                <a:latin typeface="Hiragino Sans"/>
              </a:rPr>
              <a:t>計画段階で認識のズレに気づける</a:t>
            </a:r>
          </a:p>
        </p:txBody>
      </p:sp>
      <p:sp>
        <p:nvSpPr>
          <p:cNvPr id="35" name="Dot1"/>
          <p:cNvSpPr/>
          <p:nvPr/>
        </p:nvSpPr>
        <p:spPr>
          <a:xfrm>
            <a:off x="6680200" y="2946400"/>
            <a:ext cx="127000" cy="127000"/>
          </a:xfrm>
          <a:prstGeom prst="ellipse">
            <a:avLst/>
          </a:prstGeom>
          <a:solidFill>
            <a:srgbClr val="6A9BCC"/>
          </a:solidFill>
          <a:ln>
            <a:noFill/>
          </a:ln>
        </p:spPr>
        <p:txBody>
          <a:bodyPr/>
          <a:lstStyle/>
          <a:p>
            <a:endParaRPr lang="ja-JP" dirty="0"/>
          </a:p>
        </p:txBody>
      </p:sp>
      <p:sp>
        <p:nvSpPr>
          <p:cNvPr id="36" name="RTitle1"/>
          <p:cNvSpPr/>
          <p:nvPr/>
        </p:nvSpPr>
        <p:spPr>
          <a:xfrm>
            <a:off x="6934200" y="2844800"/>
            <a:ext cx="4318000" cy="355600"/>
          </a:xfrm>
          <a:prstGeom prst="rect">
            <a:avLst/>
          </a:prstGeom>
          <a:noFill/>
          <a:ln>
            <a:noFill/>
          </a:ln>
        </p:spPr>
        <p:txBody>
          <a:bodyPr wrap="square" lIns="0" tIns="0" rIns="0" bIns="0" anchor="ctr"/>
          <a:lstStyle/>
          <a:p>
            <a:pPr algn="l"/>
            <a:r>
              <a:rPr lang="ja-JP" sz="1600" b="1" dirty="0">
                <a:solidFill>
                  <a:srgbClr val="FAF9F5"/>
                </a:solidFill>
                <a:latin typeface="Hiragino Sans"/>
              </a:rPr>
              <a:t>コードを壊すリスクがゼロ</a:t>
            </a:r>
          </a:p>
        </p:txBody>
      </p:sp>
      <p:sp>
        <p:nvSpPr>
          <p:cNvPr id="37" name="RDesc1"/>
          <p:cNvSpPr/>
          <p:nvPr/>
        </p:nvSpPr>
        <p:spPr>
          <a:xfrm>
            <a:off x="6934200" y="3225800"/>
            <a:ext cx="4318000" cy="635000"/>
          </a:xfrm>
          <a:prstGeom prst="rect">
            <a:avLst/>
          </a:prstGeom>
          <a:noFill/>
          <a:ln>
            <a:noFill/>
          </a:ln>
        </p:spPr>
        <p:txBody>
          <a:bodyPr wrap="square" lIns="0" tIns="0" rIns="0" bIns="0" anchor="t"/>
          <a:lstStyle/>
          <a:p>
            <a:pPr algn="l">
              <a:lnSpc>
                <a:spcPts val="2000"/>
              </a:lnSpc>
            </a:pPr>
            <a:r>
              <a:rPr lang="ja-JP" sz="1400" dirty="0">
                <a:solidFill>
                  <a:srgbClr val="B0AEA5"/>
                </a:solidFill>
                <a:latin typeface="Hiragino Sans"/>
              </a:rPr>
              <a:t>読み取り専用なので安全に試行錯誤できる</a:t>
            </a:r>
          </a:p>
        </p:txBody>
      </p:sp>
      <p:sp>
        <p:nvSpPr>
          <p:cNvPr id="38" name="Dot2"/>
          <p:cNvSpPr/>
          <p:nvPr/>
        </p:nvSpPr>
        <p:spPr>
          <a:xfrm>
            <a:off x="6680200" y="4114800"/>
            <a:ext cx="127000" cy="127000"/>
          </a:xfrm>
          <a:prstGeom prst="ellipse">
            <a:avLst/>
          </a:prstGeom>
          <a:solidFill>
            <a:srgbClr val="D97757"/>
          </a:solidFill>
          <a:ln>
            <a:noFill/>
          </a:ln>
        </p:spPr>
        <p:txBody>
          <a:bodyPr/>
          <a:lstStyle/>
          <a:p>
            <a:endParaRPr lang="ja-JP" dirty="0"/>
          </a:p>
        </p:txBody>
      </p:sp>
      <p:sp>
        <p:nvSpPr>
          <p:cNvPr id="39" name="RTitle2"/>
          <p:cNvSpPr/>
          <p:nvPr/>
        </p:nvSpPr>
        <p:spPr>
          <a:xfrm>
            <a:off x="6934200" y="4013200"/>
            <a:ext cx="4318000" cy="355600"/>
          </a:xfrm>
          <a:prstGeom prst="rect">
            <a:avLst/>
          </a:prstGeom>
          <a:noFill/>
          <a:ln>
            <a:noFill/>
          </a:ln>
        </p:spPr>
        <p:txBody>
          <a:bodyPr wrap="square" lIns="0" tIns="0" rIns="0" bIns="0" anchor="ctr"/>
          <a:lstStyle/>
          <a:p>
            <a:pPr algn="l"/>
            <a:r>
              <a:rPr lang="ja-JP" sz="1600" b="1" dirty="0">
                <a:solidFill>
                  <a:srgbClr val="FAF9F5"/>
                </a:solidFill>
                <a:latin typeface="Hiragino Sans"/>
              </a:rPr>
              <a:t>手戻りを最小限にできる</a:t>
            </a:r>
          </a:p>
        </p:txBody>
      </p:sp>
      <p:sp>
        <p:nvSpPr>
          <p:cNvPr id="40" name="RDesc2"/>
          <p:cNvSpPr/>
          <p:nvPr/>
        </p:nvSpPr>
        <p:spPr>
          <a:xfrm>
            <a:off x="6934200" y="4394200"/>
            <a:ext cx="4318000" cy="635000"/>
          </a:xfrm>
          <a:prstGeom prst="rect">
            <a:avLst/>
          </a:prstGeom>
          <a:noFill/>
          <a:ln>
            <a:noFill/>
          </a:ln>
        </p:spPr>
        <p:txBody>
          <a:bodyPr wrap="square" lIns="0" tIns="0" rIns="0" bIns="0" anchor="t"/>
          <a:lstStyle/>
          <a:p>
            <a:pPr algn="l">
              <a:lnSpc>
                <a:spcPts val="2000"/>
              </a:lnSpc>
            </a:pPr>
            <a:r>
              <a:rPr lang="ja-JP" sz="1400" dirty="0">
                <a:solidFill>
                  <a:srgbClr val="B0AEA5"/>
                </a:solidFill>
                <a:latin typeface="Hiragino Sans"/>
              </a:rPr>
              <a:t>手戻りを最小限にしてから実装に入れる</a:t>
            </a:r>
          </a:p>
        </p:txBody>
      </p:sp>
      <p:sp>
        <p:nvSpPr>
          <p:cNvPr id="50" name="PageNum"/>
          <p:cNvSpPr/>
          <p:nvPr/>
        </p:nvSpPr>
        <p:spPr>
          <a:xfrm>
            <a:off x="11277600" y="6400800"/>
            <a:ext cx="736600" cy="279400"/>
          </a:xfrm>
          <a:prstGeom prst="rect">
            <a:avLst/>
          </a:prstGeom>
          <a:noFill/>
          <a:ln>
            <a:noFill/>
          </a:ln>
        </p:spPr>
        <p:txBody>
          <a:bodyPr wrap="square" lIns="0" tIns="0" rIns="0" bIns="0" anchor="ctr"/>
          <a:lstStyle/>
          <a:p>
            <a:pPr algn="r"/>
            <a:r>
              <a:rPr lang="en-US" sz="1400" dirty="0">
                <a:solidFill>
                  <a:srgbClr val="6B6963"/>
                </a:solidFill>
                <a:latin typeface="Helvetica Neue"/>
              </a:rPr>
              <a:t>14 / 16</a:t>
            </a:r>
          </a:p>
        </p:txBody>
      </p:sp>
    </p:spTree>
    <p:extLst>
      <p:ext uri="{BB962C8B-B14F-4D97-AF65-F5344CB8AC3E}">
        <p14:creationId xmlns:p14="http://schemas.microsoft.com/office/powerpoint/2010/main" val="23176807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PartLabel"/>
          <p:cNvSpPr/>
          <p:nvPr/>
        </p:nvSpPr>
        <p:spPr>
          <a:xfrm>
            <a:off x="736600" y="457200"/>
            <a:ext cx="1270000" cy="304800"/>
          </a:xfrm>
          <a:prstGeom prst="roundRect">
            <a:avLst>
              <a:gd name="adj" fmla="val 50000"/>
            </a:avLst>
          </a:prstGeom>
          <a:solidFill>
            <a:srgbClr val="D97757"/>
          </a:solidFill>
          <a:ln>
            <a:noFill/>
          </a:ln>
        </p:spPr>
        <p:txBody>
          <a:bodyPr wrap="none" lIns="0" tIns="0" rIns="0" bIns="0" anchor="ctr" anchorCtr="1"/>
          <a:lstStyle/>
          <a:p>
            <a:pPr algn="ctr"/>
            <a:r>
              <a:rPr lang="en-US" sz="1400" b="1" dirty="0">
                <a:solidFill>
                  <a:srgbClr val="FAF9F5"/>
                </a:solidFill>
                <a:latin typeface="Helvetica Neue"/>
              </a:rPr>
              <a:t>PART 3</a:t>
            </a:r>
          </a:p>
        </p:txBody>
      </p:sp>
      <p:sp>
        <p:nvSpPr>
          <p:cNvPr id="3" name="Title"/>
          <p:cNvSpPr/>
          <p:nvPr/>
        </p:nvSpPr>
        <p:spPr>
          <a:xfrm>
            <a:off x="2197100" y="431800"/>
            <a:ext cx="7620000" cy="381000"/>
          </a:xfrm>
          <a:prstGeom prst="rect">
            <a:avLst/>
          </a:prstGeom>
          <a:noFill/>
          <a:ln>
            <a:noFill/>
          </a:ln>
        </p:spPr>
        <p:txBody>
          <a:bodyPr wrap="square" lIns="0" tIns="0" rIns="0" bIns="0" anchor="ctr"/>
          <a:lstStyle/>
          <a:p>
            <a:pPr algn="l"/>
            <a:r>
              <a:rPr lang="ja-JP" sz="2400" b="1" dirty="0">
                <a:solidFill>
                  <a:srgbClr val="FAF9F5"/>
                </a:solidFill>
                <a:latin typeface="Hiragino Sans"/>
              </a:rPr>
              <a:t>Plan Mode の実践ワークフロー</a:t>
            </a:r>
          </a:p>
        </p:txBody>
      </p:sp>
      <p:sp>
        <p:nvSpPr>
          <p:cNvPr id="10" name="StepCard0"/>
          <p:cNvSpPr/>
          <p:nvPr/>
        </p:nvSpPr>
        <p:spPr>
          <a:xfrm>
            <a:off x="736600" y="965200"/>
            <a:ext cx="2641600" cy="2921000"/>
          </a:xfrm>
          <a:prstGeom prst="roundRect">
            <a:avLst>
              <a:gd name="adj" fmla="val 3000"/>
            </a:avLst>
          </a:prstGeom>
          <a:solidFill>
            <a:srgbClr val="302D29"/>
          </a:solidFill>
          <a:ln w="12700">
            <a:solidFill>
              <a:srgbClr val="3A3632"/>
            </a:solidFill>
          </a:ln>
        </p:spPr>
        <p:txBody>
          <a:bodyPr/>
          <a:lstStyle/>
          <a:p>
            <a:endParaRPr lang="ja-JP" dirty="0"/>
          </a:p>
        </p:txBody>
      </p:sp>
      <p:sp>
        <p:nvSpPr>
          <p:cNvPr id="11" name="StepBar0"/>
          <p:cNvSpPr/>
          <p:nvPr/>
        </p:nvSpPr>
        <p:spPr>
          <a:xfrm>
            <a:off x="736600" y="965200"/>
            <a:ext cx="2641600" cy="50800"/>
          </a:xfrm>
          <a:prstGeom prst="rect">
            <a:avLst/>
          </a:prstGeom>
          <a:solidFill>
            <a:srgbClr val="7BC9A0"/>
          </a:solidFill>
          <a:ln>
            <a:noFill/>
          </a:ln>
        </p:spPr>
        <p:txBody>
          <a:bodyPr/>
          <a:lstStyle/>
          <a:p>
            <a:endParaRPr lang="ja-JP" dirty="0"/>
          </a:p>
        </p:txBody>
      </p:sp>
      <p:sp>
        <p:nvSpPr>
          <p:cNvPr id="12" name="StepLbl0"/>
          <p:cNvSpPr/>
          <p:nvPr/>
        </p:nvSpPr>
        <p:spPr>
          <a:xfrm>
            <a:off x="889000" y="1117600"/>
            <a:ext cx="2286000" cy="279400"/>
          </a:xfrm>
          <a:prstGeom prst="rect">
            <a:avLst/>
          </a:prstGeom>
          <a:noFill/>
          <a:ln>
            <a:noFill/>
          </a:ln>
        </p:spPr>
        <p:txBody>
          <a:bodyPr wrap="square" lIns="0" tIns="0" rIns="0" bIns="0" anchor="ctr"/>
          <a:lstStyle/>
          <a:p>
            <a:pPr algn="l"/>
            <a:r>
              <a:rPr lang="en-US" sz="1400" b="1" dirty="0">
                <a:solidFill>
                  <a:srgbClr val="7BC9A0"/>
                </a:solidFill>
                <a:latin typeface="Helvetica Neue"/>
              </a:rPr>
              <a:t>Step 1</a:t>
            </a:r>
          </a:p>
        </p:txBody>
      </p:sp>
      <p:sp>
        <p:nvSpPr>
          <p:cNvPr id="13" name="StepTitle0"/>
          <p:cNvSpPr/>
          <p:nvPr/>
        </p:nvSpPr>
        <p:spPr>
          <a:xfrm>
            <a:off x="889000" y="1447800"/>
            <a:ext cx="2349500" cy="635000"/>
          </a:xfrm>
          <a:prstGeom prst="rect">
            <a:avLst/>
          </a:prstGeom>
          <a:noFill/>
          <a:ln>
            <a:noFill/>
          </a:ln>
        </p:spPr>
        <p:txBody>
          <a:bodyPr wrap="square" lIns="0" tIns="0" rIns="0" bIns="0" anchor="t"/>
          <a:lstStyle/>
          <a:p>
            <a:pPr algn="l">
              <a:lnSpc>
                <a:spcPts val="2200"/>
              </a:lnSpc>
            </a:pPr>
            <a:r>
              <a:rPr lang="ja-JP" sz="1500" b="1" dirty="0">
                <a:solidFill>
                  <a:srgbClr val="FAF9F5"/>
                </a:solidFill>
                <a:latin typeface="Hiragino Sans"/>
              </a:rPr>
              <a:t>Plan Mode で</a:t>
            </a:r>
          </a:p>
          <a:p>
            <a:pPr algn="l">
              <a:lnSpc>
                <a:spcPts val="2200"/>
              </a:lnSpc>
            </a:pPr>
            <a:r>
              <a:rPr lang="ja-JP" sz="1500" b="1" dirty="0">
                <a:solidFill>
                  <a:srgbClr val="FAF9F5"/>
                </a:solidFill>
                <a:latin typeface="Hiragino Sans"/>
              </a:rPr>
              <a:t>調査・計画</a:t>
            </a:r>
          </a:p>
        </p:txBody>
      </p:sp>
      <p:sp>
        <p:nvSpPr>
          <p:cNvPr id="14" name="StepCmd0"/>
          <p:cNvSpPr/>
          <p:nvPr/>
        </p:nvSpPr>
        <p:spPr>
          <a:xfrm>
            <a:off x="889000" y="2235200"/>
            <a:ext cx="2349500" cy="698500"/>
          </a:xfrm>
          <a:prstGeom prst="rect">
            <a:avLst/>
          </a:prstGeom>
          <a:noFill/>
          <a:ln>
            <a:noFill/>
          </a:ln>
        </p:spPr>
        <p:txBody>
          <a:bodyPr wrap="square" lIns="0" tIns="0" rIns="0" bIns="0" anchor="t"/>
          <a:lstStyle/>
          <a:p>
            <a:pPr algn="l">
              <a:lnSpc>
                <a:spcPts val="1800"/>
              </a:lnSpc>
            </a:pPr>
            <a:r>
              <a:rPr lang="ja-JP" sz="1200" dirty="0">
                <a:solidFill>
                  <a:srgbClr val="6A9BCC"/>
                </a:solidFill>
                <a:latin typeface="SF Mono"/>
              </a:rPr>
              <a:t>「計画を立てて。</a:t>
            </a:r>
          </a:p>
          <a:p>
            <a:pPr algn="l">
              <a:lnSpc>
                <a:spcPts val="1800"/>
              </a:lnSpc>
            </a:pPr>
            <a:r>
              <a:rPr lang="ja-JP" sz="1200" dirty="0">
                <a:solidFill>
                  <a:srgbClr val="6A9BCC"/>
                </a:solidFill>
                <a:latin typeface="SF Mono"/>
              </a:rPr>
              <a:t>実装はまだしないで。」</a:t>
            </a:r>
          </a:p>
        </p:txBody>
      </p:sp>
      <p:sp>
        <p:nvSpPr>
          <p:cNvPr id="15" name="StepDesc0"/>
          <p:cNvSpPr/>
          <p:nvPr/>
        </p:nvSpPr>
        <p:spPr>
          <a:xfrm>
            <a:off x="889000" y="3060700"/>
            <a:ext cx="2349500" cy="698500"/>
          </a:xfrm>
          <a:prstGeom prst="rect">
            <a:avLst/>
          </a:prstGeom>
          <a:noFill/>
          <a:ln>
            <a:noFill/>
          </a:ln>
        </p:spPr>
        <p:txBody>
          <a:bodyPr wrap="square" lIns="0" tIns="0" rIns="0" bIns="0" anchor="t"/>
          <a:lstStyle/>
          <a:p>
            <a:pPr algn="l">
              <a:lnSpc>
                <a:spcPts val="1800"/>
              </a:lnSpc>
            </a:pPr>
            <a:r>
              <a:rPr lang="ja-JP" sz="1200" dirty="0">
                <a:solidFill>
                  <a:srgbClr val="B0AEA5"/>
                </a:solidFill>
                <a:latin typeface="Hiragino Sans"/>
              </a:rPr>
              <a:t>Claudeがコードを読み、</a:t>
            </a:r>
          </a:p>
          <a:p>
            <a:pPr algn="l">
              <a:lnSpc>
                <a:spcPts val="1800"/>
              </a:lnSpc>
            </a:pPr>
            <a:r>
              <a:rPr lang="ja-JP" sz="1200" dirty="0">
                <a:solidFill>
                  <a:srgbClr val="B0AEA5"/>
                </a:solidFill>
                <a:latin typeface="Hiragino Sans"/>
              </a:rPr>
              <a:t>方針を提案する</a:t>
            </a:r>
          </a:p>
        </p:txBody>
      </p:sp>
      <p:sp>
        <p:nvSpPr>
          <p:cNvPr id="20" name="StepCard1"/>
          <p:cNvSpPr/>
          <p:nvPr/>
        </p:nvSpPr>
        <p:spPr>
          <a:xfrm>
            <a:off x="3530600" y="965200"/>
            <a:ext cx="2641600" cy="2921000"/>
          </a:xfrm>
          <a:prstGeom prst="roundRect">
            <a:avLst>
              <a:gd name="adj" fmla="val 3000"/>
            </a:avLst>
          </a:prstGeom>
          <a:solidFill>
            <a:srgbClr val="302D29"/>
          </a:solidFill>
          <a:ln w="12700">
            <a:solidFill>
              <a:srgbClr val="3A3632"/>
            </a:solidFill>
          </a:ln>
        </p:spPr>
        <p:txBody>
          <a:bodyPr/>
          <a:lstStyle/>
          <a:p>
            <a:endParaRPr lang="ja-JP" dirty="0"/>
          </a:p>
        </p:txBody>
      </p:sp>
      <p:sp>
        <p:nvSpPr>
          <p:cNvPr id="21" name="StepBar1"/>
          <p:cNvSpPr/>
          <p:nvPr/>
        </p:nvSpPr>
        <p:spPr>
          <a:xfrm>
            <a:off x="3530600" y="965200"/>
            <a:ext cx="2641600" cy="50800"/>
          </a:xfrm>
          <a:prstGeom prst="rect">
            <a:avLst/>
          </a:prstGeom>
          <a:solidFill>
            <a:srgbClr val="6A9BCC"/>
          </a:solidFill>
          <a:ln>
            <a:noFill/>
          </a:ln>
        </p:spPr>
        <p:txBody>
          <a:bodyPr/>
          <a:lstStyle/>
          <a:p>
            <a:endParaRPr lang="ja-JP" dirty="0"/>
          </a:p>
        </p:txBody>
      </p:sp>
      <p:sp>
        <p:nvSpPr>
          <p:cNvPr id="22" name="StepLbl1"/>
          <p:cNvSpPr/>
          <p:nvPr/>
        </p:nvSpPr>
        <p:spPr>
          <a:xfrm>
            <a:off x="3683000" y="1117600"/>
            <a:ext cx="2286000" cy="279400"/>
          </a:xfrm>
          <a:prstGeom prst="rect">
            <a:avLst/>
          </a:prstGeom>
          <a:noFill/>
          <a:ln>
            <a:noFill/>
          </a:ln>
        </p:spPr>
        <p:txBody>
          <a:bodyPr wrap="square" lIns="0" tIns="0" rIns="0" bIns="0" anchor="ctr"/>
          <a:lstStyle/>
          <a:p>
            <a:pPr algn="l"/>
            <a:r>
              <a:rPr lang="en-US" sz="1400" b="1" dirty="0">
                <a:solidFill>
                  <a:srgbClr val="6A9BCC"/>
                </a:solidFill>
                <a:latin typeface="Helvetica Neue"/>
              </a:rPr>
              <a:t>Step 2</a:t>
            </a:r>
          </a:p>
        </p:txBody>
      </p:sp>
      <p:sp>
        <p:nvSpPr>
          <p:cNvPr id="23" name="StepTitle1"/>
          <p:cNvSpPr/>
          <p:nvPr/>
        </p:nvSpPr>
        <p:spPr>
          <a:xfrm>
            <a:off x="3683000" y="1447800"/>
            <a:ext cx="2349500" cy="635000"/>
          </a:xfrm>
          <a:prstGeom prst="rect">
            <a:avLst/>
          </a:prstGeom>
          <a:noFill/>
          <a:ln>
            <a:noFill/>
          </a:ln>
        </p:spPr>
        <p:txBody>
          <a:bodyPr wrap="square" lIns="0" tIns="0" rIns="0" bIns="0" anchor="t"/>
          <a:lstStyle/>
          <a:p>
            <a:pPr algn="l">
              <a:lnSpc>
                <a:spcPts val="2200"/>
              </a:lnSpc>
            </a:pPr>
            <a:r>
              <a:rPr lang="ja-JP" sz="1500" b="1" dirty="0">
                <a:solidFill>
                  <a:srgbClr val="FAF9F5"/>
                </a:solidFill>
                <a:latin typeface="Hiragino Sans"/>
              </a:rPr>
              <a:t>計画をレビュー</a:t>
            </a:r>
          </a:p>
        </p:txBody>
      </p:sp>
      <p:sp>
        <p:nvSpPr>
          <p:cNvPr id="24" name="StepCmd1"/>
          <p:cNvSpPr/>
          <p:nvPr/>
        </p:nvSpPr>
        <p:spPr>
          <a:xfrm>
            <a:off x="3683000" y="2235200"/>
            <a:ext cx="2349500" cy="698500"/>
          </a:xfrm>
          <a:prstGeom prst="rect">
            <a:avLst/>
          </a:prstGeom>
          <a:noFill/>
          <a:ln>
            <a:noFill/>
          </a:ln>
        </p:spPr>
        <p:txBody>
          <a:bodyPr wrap="square" lIns="0" tIns="0" rIns="0" bIns="0" anchor="t"/>
          <a:lstStyle/>
          <a:p>
            <a:pPr algn="l">
              <a:lnSpc>
                <a:spcPts val="1800"/>
              </a:lnSpc>
            </a:pPr>
            <a:r>
              <a:rPr lang="ja-JP" sz="1200" dirty="0">
                <a:solidFill>
                  <a:srgbClr val="6A9BCC"/>
                </a:solidFill>
                <a:latin typeface="SF Mono"/>
              </a:rPr>
              <a:t>「後方互換性は</a:t>
            </a:r>
          </a:p>
          <a:p>
            <a:pPr algn="l">
              <a:lnSpc>
                <a:spcPts val="1800"/>
              </a:lnSpc>
            </a:pPr>
            <a:r>
              <a:rPr lang="ja-JP" sz="1200" dirty="0">
                <a:solidFill>
                  <a:srgbClr val="6A9BCC"/>
                </a:solidFill>
                <a:latin typeface="SF Mono"/>
              </a:rPr>
              <a:t>どうする？」「テストは？」</a:t>
            </a:r>
          </a:p>
        </p:txBody>
      </p:sp>
      <p:sp>
        <p:nvSpPr>
          <p:cNvPr id="25" name="StepDesc1"/>
          <p:cNvSpPr/>
          <p:nvPr/>
        </p:nvSpPr>
        <p:spPr>
          <a:xfrm>
            <a:off x="3683000" y="3060700"/>
            <a:ext cx="2349500" cy="698500"/>
          </a:xfrm>
          <a:prstGeom prst="rect">
            <a:avLst/>
          </a:prstGeom>
          <a:noFill/>
          <a:ln>
            <a:noFill/>
          </a:ln>
        </p:spPr>
        <p:txBody>
          <a:bodyPr wrap="square" lIns="0" tIns="0" rIns="0" bIns="0" anchor="t"/>
          <a:lstStyle/>
          <a:p>
            <a:pPr algn="l">
              <a:lnSpc>
                <a:spcPts val="1800"/>
              </a:lnSpc>
            </a:pPr>
            <a:r>
              <a:rPr lang="ja-JP" sz="1200" dirty="0">
                <a:solidFill>
                  <a:srgbClr val="B0AEA5"/>
                </a:solidFill>
                <a:latin typeface="Hiragino Sans"/>
              </a:rPr>
              <a:t>不明点をつぶし、</a:t>
            </a:r>
          </a:p>
          <a:p>
            <a:pPr algn="l">
              <a:lnSpc>
                <a:spcPts val="1800"/>
              </a:lnSpc>
            </a:pPr>
            <a:r>
              <a:rPr lang="ja-JP" sz="1200" dirty="0">
                <a:solidFill>
                  <a:srgbClr val="B0AEA5"/>
                </a:solidFill>
                <a:latin typeface="Hiragino Sans"/>
              </a:rPr>
              <a:t>計画を確定する</a:t>
            </a:r>
          </a:p>
        </p:txBody>
      </p:sp>
      <p:sp>
        <p:nvSpPr>
          <p:cNvPr id="30" name="StepCard2"/>
          <p:cNvSpPr/>
          <p:nvPr/>
        </p:nvSpPr>
        <p:spPr>
          <a:xfrm>
            <a:off x="6324600" y="965200"/>
            <a:ext cx="2641600" cy="2921000"/>
          </a:xfrm>
          <a:prstGeom prst="roundRect">
            <a:avLst>
              <a:gd name="adj" fmla="val 3000"/>
            </a:avLst>
          </a:prstGeom>
          <a:solidFill>
            <a:srgbClr val="302D29"/>
          </a:solidFill>
          <a:ln w="12700">
            <a:solidFill>
              <a:srgbClr val="3A3632"/>
            </a:solidFill>
          </a:ln>
        </p:spPr>
        <p:txBody>
          <a:bodyPr/>
          <a:lstStyle/>
          <a:p>
            <a:endParaRPr lang="ja-JP" dirty="0"/>
          </a:p>
        </p:txBody>
      </p:sp>
      <p:sp>
        <p:nvSpPr>
          <p:cNvPr id="31" name="StepBar2"/>
          <p:cNvSpPr/>
          <p:nvPr/>
        </p:nvSpPr>
        <p:spPr>
          <a:xfrm>
            <a:off x="6324600" y="965200"/>
            <a:ext cx="2641600" cy="50800"/>
          </a:xfrm>
          <a:prstGeom prst="rect">
            <a:avLst/>
          </a:prstGeom>
          <a:solidFill>
            <a:srgbClr val="D97757"/>
          </a:solidFill>
          <a:ln>
            <a:noFill/>
          </a:ln>
        </p:spPr>
        <p:txBody>
          <a:bodyPr/>
          <a:lstStyle/>
          <a:p>
            <a:endParaRPr lang="ja-JP" dirty="0"/>
          </a:p>
        </p:txBody>
      </p:sp>
      <p:sp>
        <p:nvSpPr>
          <p:cNvPr id="32" name="StepLbl2"/>
          <p:cNvSpPr/>
          <p:nvPr/>
        </p:nvSpPr>
        <p:spPr>
          <a:xfrm>
            <a:off x="6477000" y="1117600"/>
            <a:ext cx="2286000" cy="279400"/>
          </a:xfrm>
          <a:prstGeom prst="rect">
            <a:avLst/>
          </a:prstGeom>
          <a:noFill/>
          <a:ln>
            <a:noFill/>
          </a:ln>
        </p:spPr>
        <p:txBody>
          <a:bodyPr wrap="square" lIns="0" tIns="0" rIns="0" bIns="0" anchor="ctr"/>
          <a:lstStyle/>
          <a:p>
            <a:pPr algn="l"/>
            <a:r>
              <a:rPr lang="en-US" sz="1400" b="1" dirty="0">
                <a:solidFill>
                  <a:srgbClr val="D97757"/>
                </a:solidFill>
                <a:latin typeface="Helvetica Neue"/>
              </a:rPr>
              <a:t>Step 3</a:t>
            </a:r>
          </a:p>
        </p:txBody>
      </p:sp>
      <p:sp>
        <p:nvSpPr>
          <p:cNvPr id="33" name="StepTitle2"/>
          <p:cNvSpPr/>
          <p:nvPr/>
        </p:nvSpPr>
        <p:spPr>
          <a:xfrm>
            <a:off x="6477000" y="1447800"/>
            <a:ext cx="2349500" cy="635000"/>
          </a:xfrm>
          <a:prstGeom prst="rect">
            <a:avLst/>
          </a:prstGeom>
          <a:noFill/>
          <a:ln>
            <a:noFill/>
          </a:ln>
        </p:spPr>
        <p:txBody>
          <a:bodyPr wrap="square" lIns="0" tIns="0" rIns="0" bIns="0" anchor="t"/>
          <a:lstStyle/>
          <a:p>
            <a:pPr algn="l">
              <a:lnSpc>
                <a:spcPts val="2200"/>
              </a:lnSpc>
            </a:pPr>
            <a:r>
              <a:rPr lang="ja-JP" sz="1500" b="1" dirty="0">
                <a:solidFill>
                  <a:srgbClr val="FAF9F5"/>
                </a:solidFill>
                <a:latin typeface="Hiragino Sans"/>
              </a:rPr>
              <a:t>実装を許可</a:t>
            </a:r>
          </a:p>
        </p:txBody>
      </p:sp>
      <p:sp>
        <p:nvSpPr>
          <p:cNvPr id="34" name="StepCmd2"/>
          <p:cNvSpPr/>
          <p:nvPr/>
        </p:nvSpPr>
        <p:spPr>
          <a:xfrm>
            <a:off x="6477000" y="2235200"/>
            <a:ext cx="2349500" cy="698500"/>
          </a:xfrm>
          <a:prstGeom prst="rect">
            <a:avLst/>
          </a:prstGeom>
          <a:noFill/>
          <a:ln>
            <a:noFill/>
          </a:ln>
        </p:spPr>
        <p:txBody>
          <a:bodyPr wrap="square" lIns="0" tIns="0" rIns="0" bIns="0" anchor="t"/>
          <a:lstStyle/>
          <a:p>
            <a:pPr algn="l">
              <a:lnSpc>
                <a:spcPts val="1800"/>
              </a:lnSpc>
            </a:pPr>
            <a:r>
              <a:rPr lang="ja-JP" sz="1200" dirty="0">
                <a:solidFill>
                  <a:srgbClr val="6A9BCC"/>
                </a:solidFill>
                <a:latin typeface="SF Mono"/>
              </a:rPr>
              <a:t>「OK、実装して」/</a:t>
            </a:r>
          </a:p>
          <a:p>
            <a:pPr algn="l">
              <a:lnSpc>
                <a:spcPts val="1800"/>
              </a:lnSpc>
            </a:pPr>
            <a:r>
              <a:rPr lang="ja-JP" sz="1200" dirty="0">
                <a:solidFill>
                  <a:srgbClr val="6A9BCC"/>
                </a:solidFill>
                <a:latin typeface="SF Mono"/>
              </a:rPr>
              <a:t>調査だけならここで完了</a:t>
            </a:r>
          </a:p>
        </p:txBody>
      </p:sp>
      <p:sp>
        <p:nvSpPr>
          <p:cNvPr id="35" name="StepDesc2"/>
          <p:cNvSpPr/>
          <p:nvPr/>
        </p:nvSpPr>
        <p:spPr>
          <a:xfrm>
            <a:off x="6477000" y="3060700"/>
            <a:ext cx="2349500" cy="698500"/>
          </a:xfrm>
          <a:prstGeom prst="rect">
            <a:avLst/>
          </a:prstGeom>
          <a:noFill/>
          <a:ln>
            <a:noFill/>
          </a:ln>
        </p:spPr>
        <p:txBody>
          <a:bodyPr wrap="square" lIns="0" tIns="0" rIns="0" bIns="0" anchor="t"/>
          <a:lstStyle/>
          <a:p>
            <a:pPr algn="l">
              <a:lnSpc>
                <a:spcPts val="1800"/>
              </a:lnSpc>
            </a:pPr>
            <a:r>
              <a:rPr lang="ja-JP" sz="1200" dirty="0">
                <a:solidFill>
                  <a:srgbClr val="B0AEA5"/>
                </a:solidFill>
                <a:latin typeface="Hiragino Sans"/>
              </a:rPr>
              <a:t>計画に沿って実装、</a:t>
            </a:r>
          </a:p>
          <a:p>
            <a:pPr algn="l">
              <a:lnSpc>
                <a:spcPts val="1800"/>
              </a:lnSpc>
            </a:pPr>
            <a:r>
              <a:rPr lang="ja-JP" sz="1200" dirty="0">
                <a:solidFill>
                  <a:srgbClr val="B0AEA5"/>
                </a:solidFill>
                <a:latin typeface="Hiragino Sans"/>
              </a:rPr>
              <a:t>または調査結果を活用</a:t>
            </a:r>
          </a:p>
        </p:txBody>
      </p:sp>
      <p:sp>
        <p:nvSpPr>
          <p:cNvPr id="40" name="StepCard3"/>
          <p:cNvSpPr/>
          <p:nvPr/>
        </p:nvSpPr>
        <p:spPr>
          <a:xfrm>
            <a:off x="9118600" y="965200"/>
            <a:ext cx="2641600" cy="2921000"/>
          </a:xfrm>
          <a:prstGeom prst="roundRect">
            <a:avLst>
              <a:gd name="adj" fmla="val 3000"/>
            </a:avLst>
          </a:prstGeom>
          <a:solidFill>
            <a:srgbClr val="302D29"/>
          </a:solidFill>
          <a:ln w="12700">
            <a:solidFill>
              <a:srgbClr val="3A3632"/>
            </a:solidFill>
          </a:ln>
        </p:spPr>
        <p:txBody>
          <a:bodyPr/>
          <a:lstStyle/>
          <a:p>
            <a:endParaRPr lang="ja-JP" dirty="0"/>
          </a:p>
        </p:txBody>
      </p:sp>
      <p:sp>
        <p:nvSpPr>
          <p:cNvPr id="41" name="StepBar3"/>
          <p:cNvSpPr/>
          <p:nvPr/>
        </p:nvSpPr>
        <p:spPr>
          <a:xfrm>
            <a:off x="9118600" y="965200"/>
            <a:ext cx="2641600" cy="50800"/>
          </a:xfrm>
          <a:prstGeom prst="rect">
            <a:avLst/>
          </a:prstGeom>
          <a:solidFill>
            <a:srgbClr val="FAF9F5"/>
          </a:solidFill>
          <a:ln>
            <a:noFill/>
          </a:ln>
        </p:spPr>
        <p:txBody>
          <a:bodyPr/>
          <a:lstStyle/>
          <a:p>
            <a:endParaRPr lang="ja-JP" dirty="0"/>
          </a:p>
        </p:txBody>
      </p:sp>
      <p:sp>
        <p:nvSpPr>
          <p:cNvPr id="42" name="StepLbl3"/>
          <p:cNvSpPr/>
          <p:nvPr/>
        </p:nvSpPr>
        <p:spPr>
          <a:xfrm>
            <a:off x="9271000" y="1117600"/>
            <a:ext cx="2286000" cy="279400"/>
          </a:xfrm>
          <a:prstGeom prst="rect">
            <a:avLst/>
          </a:prstGeom>
          <a:noFill/>
          <a:ln>
            <a:noFill/>
          </a:ln>
        </p:spPr>
        <p:txBody>
          <a:bodyPr wrap="square" lIns="0" tIns="0" rIns="0" bIns="0" anchor="ctr"/>
          <a:lstStyle/>
          <a:p>
            <a:pPr algn="l"/>
            <a:r>
              <a:rPr lang="en-US" sz="1400" b="1" dirty="0">
                <a:solidFill>
                  <a:srgbClr val="FAF9F5"/>
                </a:solidFill>
                <a:latin typeface="Helvetica Neue"/>
              </a:rPr>
              <a:t>Step 4</a:t>
            </a:r>
          </a:p>
        </p:txBody>
      </p:sp>
      <p:sp>
        <p:nvSpPr>
          <p:cNvPr id="43" name="StepTitle3"/>
          <p:cNvSpPr/>
          <p:nvPr/>
        </p:nvSpPr>
        <p:spPr>
          <a:xfrm>
            <a:off x="9271000" y="1447800"/>
            <a:ext cx="2349500" cy="635000"/>
          </a:xfrm>
          <a:prstGeom prst="rect">
            <a:avLst/>
          </a:prstGeom>
          <a:noFill/>
          <a:ln>
            <a:noFill/>
          </a:ln>
        </p:spPr>
        <p:txBody>
          <a:bodyPr wrap="square" lIns="0" tIns="0" rIns="0" bIns="0" anchor="t"/>
          <a:lstStyle/>
          <a:p>
            <a:pPr algn="l">
              <a:lnSpc>
                <a:spcPts val="2200"/>
              </a:lnSpc>
            </a:pPr>
            <a:r>
              <a:rPr lang="ja-JP" sz="1500" b="1" dirty="0">
                <a:solidFill>
                  <a:srgbClr val="FAF9F5"/>
                </a:solidFill>
                <a:latin typeface="Hiragino Sans"/>
              </a:rPr>
              <a:t>結果を確認</a:t>
            </a:r>
          </a:p>
        </p:txBody>
      </p:sp>
      <p:sp>
        <p:nvSpPr>
          <p:cNvPr id="44" name="StepCmd3"/>
          <p:cNvSpPr/>
          <p:nvPr/>
        </p:nvSpPr>
        <p:spPr>
          <a:xfrm>
            <a:off x="9271000" y="2235200"/>
            <a:ext cx="2349500" cy="698500"/>
          </a:xfrm>
          <a:prstGeom prst="rect">
            <a:avLst/>
          </a:prstGeom>
          <a:noFill/>
          <a:ln>
            <a:noFill/>
          </a:ln>
        </p:spPr>
        <p:txBody>
          <a:bodyPr wrap="square" lIns="0" tIns="0" rIns="0" bIns="0" anchor="t"/>
          <a:lstStyle/>
          <a:p>
            <a:pPr algn="l">
              <a:lnSpc>
                <a:spcPts val="1800"/>
              </a:lnSpc>
            </a:pPr>
            <a:r>
              <a:rPr lang="ja-JP" sz="1200" dirty="0">
                <a:solidFill>
                  <a:srgbClr val="6A9BCC"/>
                </a:solidFill>
                <a:latin typeface="SF Mono"/>
              </a:rPr>
              <a:t>テスト実行 → PR作成</a:t>
            </a:r>
          </a:p>
        </p:txBody>
      </p:sp>
      <p:sp>
        <p:nvSpPr>
          <p:cNvPr id="45" name="StepDesc3"/>
          <p:cNvSpPr/>
          <p:nvPr/>
        </p:nvSpPr>
        <p:spPr>
          <a:xfrm>
            <a:off x="9271000" y="3060700"/>
            <a:ext cx="2349500" cy="698500"/>
          </a:xfrm>
          <a:prstGeom prst="rect">
            <a:avLst/>
          </a:prstGeom>
          <a:noFill/>
          <a:ln>
            <a:noFill/>
          </a:ln>
        </p:spPr>
        <p:txBody>
          <a:bodyPr wrap="square" lIns="0" tIns="0" rIns="0" bIns="0" anchor="t"/>
          <a:lstStyle/>
          <a:p>
            <a:pPr algn="l">
              <a:lnSpc>
                <a:spcPts val="1800"/>
              </a:lnSpc>
            </a:pPr>
            <a:r>
              <a:rPr lang="ja-JP" sz="1200" dirty="0">
                <a:solidFill>
                  <a:srgbClr val="B0AEA5"/>
                </a:solidFill>
                <a:latin typeface="Hiragino Sans"/>
              </a:rPr>
              <a:t>変更内容を取りまとめて</a:t>
            </a:r>
          </a:p>
          <a:p>
            <a:pPr algn="l">
              <a:lnSpc>
                <a:spcPts val="1800"/>
              </a:lnSpc>
            </a:pPr>
            <a:r>
              <a:rPr lang="ja-JP" sz="1200" dirty="0">
                <a:solidFill>
                  <a:srgbClr val="B0AEA5"/>
                </a:solidFill>
                <a:latin typeface="Hiragino Sans"/>
              </a:rPr>
              <a:t>完了</a:t>
            </a:r>
          </a:p>
        </p:txBody>
      </p:sp>
      <p:sp>
        <p:nvSpPr>
          <p:cNvPr id="60" name="TipsHeader"/>
          <p:cNvSpPr/>
          <p:nvPr/>
        </p:nvSpPr>
        <p:spPr>
          <a:xfrm>
            <a:off x="736600" y="4064000"/>
            <a:ext cx="5080000" cy="355600"/>
          </a:xfrm>
          <a:prstGeom prst="rect">
            <a:avLst/>
          </a:prstGeom>
          <a:noFill/>
          <a:ln>
            <a:noFill/>
          </a:ln>
        </p:spPr>
        <p:txBody>
          <a:bodyPr wrap="square" lIns="0" tIns="0" rIns="0" bIns="0" anchor="ctr"/>
          <a:lstStyle/>
          <a:p>
            <a:pPr algn="l"/>
            <a:r>
              <a:rPr lang="ja-JP" sz="1500" b="1" dirty="0">
                <a:solidFill>
                  <a:srgbClr val="D97757"/>
                </a:solidFill>
                <a:latin typeface="Hiragino Sans"/>
              </a:rPr>
              <a:t>Step 1で伝えておくと良いこと</a:t>
            </a:r>
          </a:p>
        </p:txBody>
      </p:sp>
      <p:sp>
        <p:nvSpPr>
          <p:cNvPr id="61" name="TipCard0"/>
          <p:cNvSpPr/>
          <p:nvPr/>
        </p:nvSpPr>
        <p:spPr>
          <a:xfrm>
            <a:off x="736600" y="4521200"/>
            <a:ext cx="3632200" cy="1651000"/>
          </a:xfrm>
          <a:prstGeom prst="roundRect">
            <a:avLst>
              <a:gd name="adj" fmla="val 4000"/>
            </a:avLst>
          </a:prstGeom>
          <a:solidFill>
            <a:srgbClr val="302D29"/>
          </a:solidFill>
          <a:ln w="12700">
            <a:solidFill>
              <a:srgbClr val="3A3632"/>
            </a:solidFill>
          </a:ln>
        </p:spPr>
        <p:txBody>
          <a:bodyPr/>
          <a:lstStyle/>
          <a:p>
            <a:endParaRPr lang="ja-JP" dirty="0"/>
          </a:p>
        </p:txBody>
      </p:sp>
      <p:sp>
        <p:nvSpPr>
          <p:cNvPr id="62" name="TipBar0"/>
          <p:cNvSpPr/>
          <p:nvPr/>
        </p:nvSpPr>
        <p:spPr>
          <a:xfrm>
            <a:off x="736600" y="4521200"/>
            <a:ext cx="50800" cy="1651000"/>
          </a:xfrm>
          <a:prstGeom prst="rect">
            <a:avLst/>
          </a:prstGeom>
          <a:solidFill>
            <a:srgbClr val="7BC9A0"/>
          </a:solidFill>
          <a:ln>
            <a:noFill/>
          </a:ln>
        </p:spPr>
        <p:txBody>
          <a:bodyPr/>
          <a:lstStyle/>
          <a:p>
            <a:endParaRPr lang="ja-JP" dirty="0"/>
          </a:p>
        </p:txBody>
      </p:sp>
      <p:sp>
        <p:nvSpPr>
          <p:cNvPr id="63" name="TipText0"/>
          <p:cNvSpPr/>
          <p:nvPr/>
        </p:nvSpPr>
        <p:spPr>
          <a:xfrm>
            <a:off x="965200" y="4699000"/>
            <a:ext cx="3251200" cy="1346200"/>
          </a:xfrm>
          <a:prstGeom prst="rect">
            <a:avLst/>
          </a:prstGeom>
          <a:noFill/>
          <a:ln>
            <a:noFill/>
          </a:ln>
        </p:spPr>
        <p:txBody>
          <a:bodyPr wrap="square" lIns="0" tIns="0" rIns="0" bIns="0" anchor="t"/>
          <a:lstStyle/>
          <a:p>
            <a:pPr algn="l">
              <a:lnSpc>
                <a:spcPts val="2200"/>
              </a:lnSpc>
              <a:spcAft>
                <a:spcPts val="400"/>
              </a:spcAft>
            </a:pPr>
            <a:r>
              <a:rPr lang="ja-JP" sz="1500" b="1" dirty="0">
                <a:solidFill>
                  <a:srgbClr val="7BC9A0"/>
                </a:solidFill>
                <a:latin typeface="Hiragino Sans"/>
              </a:rPr>
              <a:t>受け入れ基準</a:t>
            </a:r>
          </a:p>
          <a:p>
            <a:pPr algn="l">
              <a:lnSpc>
                <a:spcPts val="2000"/>
              </a:lnSpc>
            </a:pPr>
            <a:r>
              <a:rPr lang="ja-JP" sz="1400" dirty="0">
                <a:solidFill>
                  <a:srgbClr val="B0AEA5"/>
                </a:solidFill>
                <a:latin typeface="Hiragino Sans"/>
              </a:rPr>
              <a:t>どうなったら完了か</a:t>
            </a:r>
          </a:p>
        </p:txBody>
      </p:sp>
      <p:sp>
        <p:nvSpPr>
          <p:cNvPr id="64" name="TipCard1"/>
          <p:cNvSpPr/>
          <p:nvPr/>
        </p:nvSpPr>
        <p:spPr>
          <a:xfrm>
            <a:off x="4521200" y="4521200"/>
            <a:ext cx="3632200" cy="1651000"/>
          </a:xfrm>
          <a:prstGeom prst="roundRect">
            <a:avLst>
              <a:gd name="adj" fmla="val 4000"/>
            </a:avLst>
          </a:prstGeom>
          <a:solidFill>
            <a:srgbClr val="302D29"/>
          </a:solidFill>
          <a:ln w="12700">
            <a:solidFill>
              <a:srgbClr val="3A3632"/>
            </a:solidFill>
          </a:ln>
        </p:spPr>
        <p:txBody>
          <a:bodyPr/>
          <a:lstStyle/>
          <a:p>
            <a:endParaRPr lang="ja-JP" dirty="0"/>
          </a:p>
        </p:txBody>
      </p:sp>
      <p:sp>
        <p:nvSpPr>
          <p:cNvPr id="65" name="TipBar1"/>
          <p:cNvSpPr/>
          <p:nvPr/>
        </p:nvSpPr>
        <p:spPr>
          <a:xfrm>
            <a:off x="4521200" y="4521200"/>
            <a:ext cx="50800" cy="1651000"/>
          </a:xfrm>
          <a:prstGeom prst="rect">
            <a:avLst/>
          </a:prstGeom>
          <a:solidFill>
            <a:srgbClr val="D97757"/>
          </a:solidFill>
          <a:ln>
            <a:noFill/>
          </a:ln>
        </p:spPr>
        <p:txBody>
          <a:bodyPr/>
          <a:lstStyle/>
          <a:p>
            <a:endParaRPr lang="ja-JP" dirty="0"/>
          </a:p>
        </p:txBody>
      </p:sp>
      <p:sp>
        <p:nvSpPr>
          <p:cNvPr id="66" name="TipText1"/>
          <p:cNvSpPr/>
          <p:nvPr/>
        </p:nvSpPr>
        <p:spPr>
          <a:xfrm>
            <a:off x="4749800" y="4699000"/>
            <a:ext cx="3251200" cy="1346200"/>
          </a:xfrm>
          <a:prstGeom prst="rect">
            <a:avLst/>
          </a:prstGeom>
          <a:noFill/>
          <a:ln>
            <a:noFill/>
          </a:ln>
        </p:spPr>
        <p:txBody>
          <a:bodyPr wrap="square" lIns="0" tIns="0" rIns="0" bIns="0" anchor="t"/>
          <a:lstStyle/>
          <a:p>
            <a:pPr algn="l">
              <a:lnSpc>
                <a:spcPts val="2200"/>
              </a:lnSpc>
              <a:spcAft>
                <a:spcPts val="400"/>
              </a:spcAft>
            </a:pPr>
            <a:r>
              <a:rPr lang="ja-JP" sz="1500" b="1" dirty="0">
                <a:solidFill>
                  <a:srgbClr val="D97757"/>
                </a:solidFill>
                <a:latin typeface="Hiragino Sans"/>
              </a:rPr>
              <a:t>禁止事項</a:t>
            </a:r>
          </a:p>
          <a:p>
            <a:pPr algn="l">
              <a:lnSpc>
                <a:spcPts val="2000"/>
              </a:lnSpc>
            </a:pPr>
            <a:r>
              <a:rPr lang="ja-JP" sz="1400" dirty="0">
                <a:solidFill>
                  <a:srgbClr val="B0AEA5"/>
                </a:solidFill>
                <a:latin typeface="Hiragino Sans"/>
              </a:rPr>
              <a:t>絶対にやってはいけない変更</a:t>
            </a:r>
          </a:p>
        </p:txBody>
      </p:sp>
      <p:sp>
        <p:nvSpPr>
          <p:cNvPr id="67" name="TipCard2"/>
          <p:cNvSpPr/>
          <p:nvPr/>
        </p:nvSpPr>
        <p:spPr>
          <a:xfrm>
            <a:off x="8305800" y="4521200"/>
            <a:ext cx="3632200" cy="1651000"/>
          </a:xfrm>
          <a:prstGeom prst="roundRect">
            <a:avLst>
              <a:gd name="adj" fmla="val 4000"/>
            </a:avLst>
          </a:prstGeom>
          <a:solidFill>
            <a:srgbClr val="302D29"/>
          </a:solidFill>
          <a:ln w="12700">
            <a:solidFill>
              <a:srgbClr val="3A3632"/>
            </a:solidFill>
          </a:ln>
        </p:spPr>
        <p:txBody>
          <a:bodyPr/>
          <a:lstStyle/>
          <a:p>
            <a:endParaRPr lang="ja-JP" dirty="0"/>
          </a:p>
        </p:txBody>
      </p:sp>
      <p:sp>
        <p:nvSpPr>
          <p:cNvPr id="68" name="TipBar2"/>
          <p:cNvSpPr/>
          <p:nvPr/>
        </p:nvSpPr>
        <p:spPr>
          <a:xfrm>
            <a:off x="8305800" y="4521200"/>
            <a:ext cx="50800" cy="1651000"/>
          </a:xfrm>
          <a:prstGeom prst="rect">
            <a:avLst/>
          </a:prstGeom>
          <a:solidFill>
            <a:srgbClr val="6A9BCC"/>
          </a:solidFill>
          <a:ln>
            <a:noFill/>
          </a:ln>
        </p:spPr>
        <p:txBody>
          <a:bodyPr/>
          <a:lstStyle/>
          <a:p>
            <a:endParaRPr lang="ja-JP" dirty="0"/>
          </a:p>
        </p:txBody>
      </p:sp>
      <p:sp>
        <p:nvSpPr>
          <p:cNvPr id="69" name="TipText2"/>
          <p:cNvSpPr/>
          <p:nvPr/>
        </p:nvSpPr>
        <p:spPr>
          <a:xfrm>
            <a:off x="8534400" y="4699000"/>
            <a:ext cx="3251200" cy="1346200"/>
          </a:xfrm>
          <a:prstGeom prst="rect">
            <a:avLst/>
          </a:prstGeom>
          <a:noFill/>
          <a:ln>
            <a:noFill/>
          </a:ln>
        </p:spPr>
        <p:txBody>
          <a:bodyPr wrap="square" lIns="0" tIns="0" rIns="0" bIns="0" anchor="t"/>
          <a:lstStyle/>
          <a:p>
            <a:pPr algn="l">
              <a:lnSpc>
                <a:spcPts val="2200"/>
              </a:lnSpc>
              <a:spcAft>
                <a:spcPts val="400"/>
              </a:spcAft>
            </a:pPr>
            <a:r>
              <a:rPr lang="ja-JP" sz="1500" b="1" dirty="0">
                <a:solidFill>
                  <a:srgbClr val="6A9BCC"/>
                </a:solidFill>
                <a:latin typeface="Hiragino Sans"/>
              </a:rPr>
              <a:t>想定外の扱い</a:t>
            </a:r>
          </a:p>
          <a:p>
            <a:pPr algn="l">
              <a:lnSpc>
                <a:spcPts val="2000"/>
              </a:lnSpc>
            </a:pPr>
            <a:r>
              <a:rPr lang="ja-JP" sz="1400" dirty="0">
                <a:solidFill>
                  <a:srgbClr val="B0AEA5"/>
                </a:solidFill>
                <a:latin typeface="Hiragino Sans"/>
              </a:rPr>
              <a:t>計画にない問題を見つけたら</a:t>
            </a:r>
          </a:p>
          <a:p>
            <a:pPr algn="l">
              <a:lnSpc>
                <a:spcPts val="2000"/>
              </a:lnSpc>
            </a:pPr>
            <a:r>
              <a:rPr lang="ja-JP" sz="1400" dirty="0">
                <a:solidFill>
                  <a:srgbClr val="B0AEA5"/>
                </a:solidFill>
                <a:latin typeface="Hiragino Sans"/>
              </a:rPr>
              <a:t>どうするか</a:t>
            </a:r>
          </a:p>
        </p:txBody>
      </p:sp>
      <p:sp>
        <p:nvSpPr>
          <p:cNvPr id="80" name="PageNum"/>
          <p:cNvSpPr/>
          <p:nvPr/>
        </p:nvSpPr>
        <p:spPr>
          <a:xfrm>
            <a:off x="11277600" y="6400800"/>
            <a:ext cx="736600" cy="279400"/>
          </a:xfrm>
          <a:prstGeom prst="rect">
            <a:avLst/>
          </a:prstGeom>
          <a:noFill/>
          <a:ln>
            <a:noFill/>
          </a:ln>
        </p:spPr>
        <p:txBody>
          <a:bodyPr wrap="square" lIns="0" tIns="0" rIns="0" bIns="0" anchor="ctr"/>
          <a:lstStyle/>
          <a:p>
            <a:pPr algn="r"/>
            <a:r>
              <a:rPr lang="en-US" sz="1400" dirty="0">
                <a:solidFill>
                  <a:srgbClr val="6B6963"/>
                </a:solidFill>
                <a:latin typeface="Helvetica Neue"/>
              </a:rPr>
              <a:t>15 / 16</a:t>
            </a:r>
          </a:p>
        </p:txBody>
      </p:sp>
    </p:spTree>
    <p:extLst>
      <p:ext uri="{BB962C8B-B14F-4D97-AF65-F5344CB8AC3E}">
        <p14:creationId xmlns:p14="http://schemas.microsoft.com/office/powerpoint/2010/main" val="3060954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B1918"/>
        </a:solidFill>
        <a:effectLst/>
      </p:bgPr>
    </p:bg>
    <p:spTree>
      <p:nvGrpSpPr>
        <p:cNvPr id="1" name=""/>
        <p:cNvGrpSpPr/>
        <p:nvPr/>
      </p:nvGrpSpPr>
      <p:grpSpPr>
        <a:xfrm>
          <a:off x="0" y="0"/>
          <a:ext cx="0" cy="0"/>
          <a:chOff x="0" y="0"/>
          <a:chExt cx="0" cy="0"/>
        </a:xfrm>
      </p:grpSpPr>
      <p:sp>
        <p:nvSpPr>
          <p:cNvPr id="2" name="Title"/>
          <p:cNvSpPr/>
          <p:nvPr/>
        </p:nvSpPr>
        <p:spPr>
          <a:xfrm>
            <a:off x="736600" y="457200"/>
            <a:ext cx="7620000" cy="635000"/>
          </a:xfrm>
          <a:prstGeom prst="rect">
            <a:avLst/>
          </a:prstGeom>
          <a:noFill/>
          <a:ln>
            <a:noFill/>
          </a:ln>
        </p:spPr>
        <p:txBody>
          <a:bodyPr wrap="square" lIns="0" tIns="0" rIns="0" bIns="0" anchor="t"/>
          <a:lstStyle/>
          <a:p>
            <a:pPr algn="l">
              <a:lnSpc>
                <a:spcPts val="5400"/>
              </a:lnSpc>
            </a:pPr>
            <a:r>
              <a:rPr lang="ja-JP" sz="3600" b="1" dirty="0">
                <a:solidFill>
                  <a:srgbClr val="FAF9F5"/>
                </a:solidFill>
                <a:latin typeface="Hiragino Sans"/>
              </a:rPr>
              <a:t>まとめ / 次回予告</a:t>
            </a:r>
          </a:p>
        </p:txBody>
      </p:sp>
      <p:sp>
        <p:nvSpPr>
          <p:cNvPr id="10" name="Card0"/>
          <p:cNvSpPr/>
          <p:nvPr/>
        </p:nvSpPr>
        <p:spPr>
          <a:xfrm>
            <a:off x="736600" y="1270000"/>
            <a:ext cx="10515600" cy="1270000"/>
          </a:xfrm>
          <a:prstGeom prst="roundRect">
            <a:avLst>
              <a:gd name="adj" fmla="val 4000"/>
            </a:avLst>
          </a:prstGeom>
          <a:solidFill>
            <a:srgbClr val="302D29"/>
          </a:solidFill>
          <a:ln w="12700">
            <a:solidFill>
              <a:srgbClr val="3A3632"/>
            </a:solidFill>
          </a:ln>
        </p:spPr>
        <p:txBody>
          <a:bodyPr/>
          <a:lstStyle/>
          <a:p>
            <a:endParaRPr lang="ja-JP" dirty="0"/>
          </a:p>
        </p:txBody>
      </p:sp>
      <p:sp>
        <p:nvSpPr>
          <p:cNvPr id="11" name="Bar0"/>
          <p:cNvSpPr/>
          <p:nvPr/>
        </p:nvSpPr>
        <p:spPr>
          <a:xfrm>
            <a:off x="736600" y="1270000"/>
            <a:ext cx="63500" cy="1270000"/>
          </a:xfrm>
          <a:prstGeom prst="rect">
            <a:avLst/>
          </a:prstGeom>
          <a:solidFill>
            <a:srgbClr val="D97757"/>
          </a:solidFill>
          <a:ln>
            <a:noFill/>
          </a:ln>
        </p:spPr>
        <p:txBody>
          <a:bodyPr/>
          <a:lstStyle/>
          <a:p>
            <a:endParaRPr lang="ja-JP" dirty="0"/>
          </a:p>
        </p:txBody>
      </p:sp>
      <p:sp>
        <p:nvSpPr>
          <p:cNvPr id="12" name="Num0"/>
          <p:cNvSpPr/>
          <p:nvPr/>
        </p:nvSpPr>
        <p:spPr>
          <a:xfrm>
            <a:off x="1041400" y="1638300"/>
            <a:ext cx="533400" cy="533400"/>
          </a:xfrm>
          <a:prstGeom prst="ellipse">
            <a:avLst/>
          </a:prstGeom>
          <a:solidFill>
            <a:srgbClr val="D97757"/>
          </a:solidFill>
          <a:ln>
            <a:noFill/>
          </a:ln>
        </p:spPr>
        <p:txBody>
          <a:bodyPr wrap="none" lIns="0" tIns="0" rIns="0" bIns="0" anchor="ctr" anchorCtr="1"/>
          <a:lstStyle/>
          <a:p>
            <a:pPr algn="ctr"/>
            <a:r>
              <a:rPr lang="en-US" sz="2000" b="1" dirty="0">
                <a:solidFill>
                  <a:srgbClr val="FAF9F5"/>
                </a:solidFill>
                <a:latin typeface="Helvetica Neue"/>
              </a:rPr>
              <a:t>1</a:t>
            </a:r>
          </a:p>
        </p:txBody>
      </p:sp>
      <p:sp>
        <p:nvSpPr>
          <p:cNvPr id="13" name="Text0"/>
          <p:cNvSpPr/>
          <p:nvPr/>
        </p:nvSpPr>
        <p:spPr>
          <a:xfrm>
            <a:off x="1752600" y="1397000"/>
            <a:ext cx="9144000" cy="635000"/>
          </a:xfrm>
          <a:prstGeom prst="rect">
            <a:avLst/>
          </a:prstGeom>
          <a:noFill/>
          <a:ln>
            <a:noFill/>
          </a:ln>
        </p:spPr>
        <p:txBody>
          <a:bodyPr wrap="square" lIns="0" tIns="0" rIns="0" bIns="0" anchor="t"/>
          <a:lstStyle/>
          <a:p>
            <a:pPr algn="l">
              <a:lnSpc>
                <a:spcPts val="2600"/>
              </a:lnSpc>
            </a:pPr>
            <a:r>
              <a:rPr lang="ja-JP" sz="1700" b="1" dirty="0">
                <a:solidFill>
                  <a:srgbClr val="FAF9F5"/>
                </a:solidFill>
                <a:latin typeface="Hiragino Sans"/>
              </a:rPr>
              <a:t>Claude Code はコード補完ではなく</a:t>
            </a:r>
          </a:p>
          <a:p>
            <a:pPr algn="l">
              <a:lnSpc>
                <a:spcPts val="2600"/>
              </a:lnSpc>
            </a:pPr>
            <a:r>
              <a:rPr lang="ja-JP" sz="1700" b="1" dirty="0">
                <a:solidFill>
                  <a:srgbClr val="FAF9F5"/>
                </a:solidFill>
                <a:latin typeface="Hiragino Sans"/>
              </a:rPr>
              <a:t>「作業を進める」ツール</a:t>
            </a:r>
          </a:p>
        </p:txBody>
      </p:sp>
      <p:sp>
        <p:nvSpPr>
          <p:cNvPr id="14" name="Desc0"/>
          <p:cNvSpPr/>
          <p:nvPr/>
        </p:nvSpPr>
        <p:spPr>
          <a:xfrm>
            <a:off x="1752600" y="2082800"/>
            <a:ext cx="9144000" cy="381000"/>
          </a:xfrm>
          <a:prstGeom prst="rect">
            <a:avLst/>
          </a:prstGeom>
          <a:noFill/>
          <a:ln>
            <a:noFill/>
          </a:ln>
        </p:spPr>
        <p:txBody>
          <a:bodyPr wrap="square" lIns="0" tIns="0" rIns="0" bIns="0" anchor="t"/>
          <a:lstStyle/>
          <a:p>
            <a:pPr algn="l">
              <a:lnSpc>
                <a:spcPts val="2000"/>
              </a:lnSpc>
            </a:pPr>
            <a:r>
              <a:rPr lang="ja-JP" sz="1400" dirty="0">
                <a:solidFill>
                  <a:srgbClr val="B0AEA5"/>
                </a:solidFill>
                <a:latin typeface="Hiragino Sans"/>
              </a:rPr>
              <a:t>調査→計画→実装→検証→取りまとめの一連フロー</a:t>
            </a:r>
          </a:p>
        </p:txBody>
      </p:sp>
      <p:sp>
        <p:nvSpPr>
          <p:cNvPr id="15" name="Card1"/>
          <p:cNvSpPr/>
          <p:nvPr/>
        </p:nvSpPr>
        <p:spPr>
          <a:xfrm>
            <a:off x="736600" y="2717800"/>
            <a:ext cx="10515600" cy="1270000"/>
          </a:xfrm>
          <a:prstGeom prst="roundRect">
            <a:avLst>
              <a:gd name="adj" fmla="val 4000"/>
            </a:avLst>
          </a:prstGeom>
          <a:solidFill>
            <a:srgbClr val="302D29"/>
          </a:solidFill>
          <a:ln w="12700">
            <a:solidFill>
              <a:srgbClr val="3A3632"/>
            </a:solidFill>
          </a:ln>
        </p:spPr>
        <p:txBody>
          <a:bodyPr/>
          <a:lstStyle/>
          <a:p>
            <a:endParaRPr lang="ja-JP" dirty="0"/>
          </a:p>
        </p:txBody>
      </p:sp>
      <p:sp>
        <p:nvSpPr>
          <p:cNvPr id="16" name="Bar1"/>
          <p:cNvSpPr/>
          <p:nvPr/>
        </p:nvSpPr>
        <p:spPr>
          <a:xfrm>
            <a:off x="736600" y="2717800"/>
            <a:ext cx="63500" cy="1270000"/>
          </a:xfrm>
          <a:prstGeom prst="rect">
            <a:avLst/>
          </a:prstGeom>
          <a:solidFill>
            <a:srgbClr val="6A9BCC"/>
          </a:solidFill>
          <a:ln>
            <a:noFill/>
          </a:ln>
        </p:spPr>
        <p:txBody>
          <a:bodyPr/>
          <a:lstStyle/>
          <a:p>
            <a:endParaRPr lang="ja-JP" dirty="0"/>
          </a:p>
        </p:txBody>
      </p:sp>
      <p:sp>
        <p:nvSpPr>
          <p:cNvPr id="17" name="Num1"/>
          <p:cNvSpPr/>
          <p:nvPr/>
        </p:nvSpPr>
        <p:spPr>
          <a:xfrm>
            <a:off x="1041400" y="3086100"/>
            <a:ext cx="533400" cy="533400"/>
          </a:xfrm>
          <a:prstGeom prst="ellipse">
            <a:avLst/>
          </a:prstGeom>
          <a:solidFill>
            <a:srgbClr val="6A9BCC"/>
          </a:solidFill>
          <a:ln>
            <a:noFill/>
          </a:ln>
        </p:spPr>
        <p:txBody>
          <a:bodyPr wrap="none" lIns="0" tIns="0" rIns="0" bIns="0" anchor="ctr" anchorCtr="1"/>
          <a:lstStyle/>
          <a:p>
            <a:pPr algn="ctr"/>
            <a:r>
              <a:rPr lang="en-US" sz="2000" b="1" dirty="0">
                <a:solidFill>
                  <a:srgbClr val="FAF9F5"/>
                </a:solidFill>
                <a:latin typeface="Helvetica Neue"/>
              </a:rPr>
              <a:t>2</a:t>
            </a:r>
          </a:p>
        </p:txBody>
      </p:sp>
      <p:sp>
        <p:nvSpPr>
          <p:cNvPr id="18" name="Text1"/>
          <p:cNvSpPr/>
          <p:nvPr/>
        </p:nvSpPr>
        <p:spPr>
          <a:xfrm>
            <a:off x="1752600" y="2844800"/>
            <a:ext cx="9144000" cy="635000"/>
          </a:xfrm>
          <a:prstGeom prst="rect">
            <a:avLst/>
          </a:prstGeom>
          <a:noFill/>
          <a:ln>
            <a:noFill/>
          </a:ln>
        </p:spPr>
        <p:txBody>
          <a:bodyPr wrap="square" lIns="0" tIns="0" rIns="0" bIns="0" anchor="t"/>
          <a:lstStyle/>
          <a:p>
            <a:pPr algn="l">
              <a:lnSpc>
                <a:spcPts val="2600"/>
              </a:lnSpc>
            </a:pPr>
            <a:r>
              <a:rPr lang="ja-JP" sz="1700" b="1" dirty="0">
                <a:solidFill>
                  <a:srgbClr val="FAF9F5"/>
                </a:solidFill>
                <a:latin typeface="Hiragino Sans"/>
              </a:rPr>
              <a:t>伝え方で結果が変わる</a:t>
            </a:r>
          </a:p>
        </p:txBody>
      </p:sp>
      <p:sp>
        <p:nvSpPr>
          <p:cNvPr id="19" name="Desc1"/>
          <p:cNvSpPr/>
          <p:nvPr/>
        </p:nvSpPr>
        <p:spPr>
          <a:xfrm>
            <a:off x="1752600" y="3530600"/>
            <a:ext cx="9144000" cy="381000"/>
          </a:xfrm>
          <a:prstGeom prst="rect">
            <a:avLst/>
          </a:prstGeom>
          <a:noFill/>
          <a:ln>
            <a:noFill/>
          </a:ln>
        </p:spPr>
        <p:txBody>
          <a:bodyPr wrap="square" lIns="0" tIns="0" rIns="0" bIns="0" anchor="t"/>
          <a:lstStyle/>
          <a:p>
            <a:pPr algn="l">
              <a:lnSpc>
                <a:spcPts val="2000"/>
              </a:lnSpc>
            </a:pPr>
            <a:r>
              <a:rPr lang="ja-JP" sz="1400" dirty="0">
                <a:solidFill>
                  <a:srgbClr val="B0AEA5"/>
                </a:solidFill>
                <a:latin typeface="Hiragino Sans"/>
              </a:rPr>
              <a:t>目標・背景・現状・期待出力を伝え、たたき台→改善ループで進める</a:t>
            </a:r>
          </a:p>
        </p:txBody>
      </p:sp>
      <p:sp>
        <p:nvSpPr>
          <p:cNvPr id="20" name="Card2"/>
          <p:cNvSpPr/>
          <p:nvPr/>
        </p:nvSpPr>
        <p:spPr>
          <a:xfrm>
            <a:off x="736600" y="4165600"/>
            <a:ext cx="10515600" cy="1270000"/>
          </a:xfrm>
          <a:prstGeom prst="roundRect">
            <a:avLst>
              <a:gd name="adj" fmla="val 4000"/>
            </a:avLst>
          </a:prstGeom>
          <a:solidFill>
            <a:srgbClr val="302D29"/>
          </a:solidFill>
          <a:ln w="12700">
            <a:solidFill>
              <a:srgbClr val="3A3632"/>
            </a:solidFill>
          </a:ln>
        </p:spPr>
        <p:txBody>
          <a:bodyPr/>
          <a:lstStyle/>
          <a:p>
            <a:endParaRPr lang="ja-JP" dirty="0"/>
          </a:p>
        </p:txBody>
      </p:sp>
      <p:sp>
        <p:nvSpPr>
          <p:cNvPr id="21" name="Bar2"/>
          <p:cNvSpPr/>
          <p:nvPr/>
        </p:nvSpPr>
        <p:spPr>
          <a:xfrm>
            <a:off x="736600" y="4165600"/>
            <a:ext cx="63500" cy="1270000"/>
          </a:xfrm>
          <a:prstGeom prst="rect">
            <a:avLst/>
          </a:prstGeom>
          <a:solidFill>
            <a:srgbClr val="7BC9A0"/>
          </a:solidFill>
          <a:ln>
            <a:noFill/>
          </a:ln>
        </p:spPr>
        <p:txBody>
          <a:bodyPr/>
          <a:lstStyle/>
          <a:p>
            <a:endParaRPr lang="ja-JP" dirty="0"/>
          </a:p>
        </p:txBody>
      </p:sp>
      <p:sp>
        <p:nvSpPr>
          <p:cNvPr id="22" name="Num2"/>
          <p:cNvSpPr/>
          <p:nvPr/>
        </p:nvSpPr>
        <p:spPr>
          <a:xfrm>
            <a:off x="1041400" y="4533900"/>
            <a:ext cx="533400" cy="533400"/>
          </a:xfrm>
          <a:prstGeom prst="ellipse">
            <a:avLst/>
          </a:prstGeom>
          <a:solidFill>
            <a:srgbClr val="7BC9A0"/>
          </a:solidFill>
          <a:ln>
            <a:noFill/>
          </a:ln>
        </p:spPr>
        <p:txBody>
          <a:bodyPr wrap="none" lIns="0" tIns="0" rIns="0" bIns="0" anchor="ctr" anchorCtr="1"/>
          <a:lstStyle/>
          <a:p>
            <a:pPr algn="ctr"/>
            <a:r>
              <a:rPr lang="en-US" sz="2000" b="1" dirty="0">
                <a:solidFill>
                  <a:srgbClr val="FAF9F5"/>
                </a:solidFill>
                <a:latin typeface="Helvetica Neue"/>
              </a:rPr>
              <a:t>3</a:t>
            </a:r>
          </a:p>
        </p:txBody>
      </p:sp>
      <p:sp>
        <p:nvSpPr>
          <p:cNvPr id="23" name="Text2"/>
          <p:cNvSpPr/>
          <p:nvPr/>
        </p:nvSpPr>
        <p:spPr>
          <a:xfrm>
            <a:off x="1752600" y="4292600"/>
            <a:ext cx="9144000" cy="635000"/>
          </a:xfrm>
          <a:prstGeom prst="rect">
            <a:avLst/>
          </a:prstGeom>
          <a:noFill/>
          <a:ln>
            <a:noFill/>
          </a:ln>
        </p:spPr>
        <p:txBody>
          <a:bodyPr wrap="square" lIns="0" tIns="0" rIns="0" bIns="0" anchor="t"/>
          <a:lstStyle/>
          <a:p>
            <a:pPr algn="l">
              <a:lnSpc>
                <a:spcPts val="2600"/>
              </a:lnSpc>
            </a:pPr>
            <a:r>
              <a:rPr lang="ja-JP" sz="1700" b="1" dirty="0">
                <a:solidFill>
                  <a:srgbClr val="FAF9F5"/>
                </a:solidFill>
                <a:latin typeface="Hiragino Sans"/>
              </a:rPr>
              <a:t>いきなりコードを書かせない</a:t>
            </a:r>
          </a:p>
        </p:txBody>
      </p:sp>
      <p:sp>
        <p:nvSpPr>
          <p:cNvPr id="24" name="Desc2"/>
          <p:cNvSpPr/>
          <p:nvPr/>
        </p:nvSpPr>
        <p:spPr>
          <a:xfrm>
            <a:off x="1752600" y="4978400"/>
            <a:ext cx="9144000" cy="381000"/>
          </a:xfrm>
          <a:prstGeom prst="rect">
            <a:avLst/>
          </a:prstGeom>
          <a:noFill/>
          <a:ln>
            <a:noFill/>
          </a:ln>
        </p:spPr>
        <p:txBody>
          <a:bodyPr wrap="square" lIns="0" tIns="0" rIns="0" bIns="0" anchor="t"/>
          <a:lstStyle/>
          <a:p>
            <a:pPr algn="l">
              <a:lnSpc>
                <a:spcPts val="2000"/>
              </a:lnSpc>
            </a:pPr>
            <a:r>
              <a:rPr lang="ja-JP" sz="1400" dirty="0">
                <a:solidFill>
                  <a:srgbClr val="B0AEA5"/>
                </a:solidFill>
                <a:latin typeface="Hiragino Sans"/>
              </a:rPr>
              <a:t>Plan Modeで方針を固めてから実装に入る</a:t>
            </a:r>
          </a:p>
        </p:txBody>
      </p:sp>
      <p:sp>
        <p:nvSpPr>
          <p:cNvPr id="40" name="CTA"/>
          <p:cNvSpPr/>
          <p:nvPr/>
        </p:nvSpPr>
        <p:spPr>
          <a:xfrm>
            <a:off x="736600" y="5689600"/>
            <a:ext cx="10515600" cy="457200"/>
          </a:xfrm>
          <a:prstGeom prst="rect">
            <a:avLst/>
          </a:prstGeom>
          <a:noFill/>
          <a:ln>
            <a:noFill/>
          </a:ln>
        </p:spPr>
        <p:txBody>
          <a:bodyPr wrap="square" lIns="0" tIns="0" rIns="0" bIns="0" anchor="ctr"/>
          <a:lstStyle/>
          <a:p>
            <a:pPr algn="l"/>
            <a:r>
              <a:rPr lang="ja-JP" sz="1800" b="1" dirty="0">
                <a:solidFill>
                  <a:srgbClr val="D97757"/>
                </a:solidFill>
                <a:latin typeface="Hiragino Sans"/>
              </a:rPr>
              <a:t>日常業務の一部を、Claude Codeに任せてみてください</a:t>
            </a:r>
          </a:p>
        </p:txBody>
      </p:sp>
      <p:sp>
        <p:nvSpPr>
          <p:cNvPr id="41" name="PageNum"/>
          <p:cNvSpPr/>
          <p:nvPr/>
        </p:nvSpPr>
        <p:spPr>
          <a:xfrm>
            <a:off x="11277600" y="6400800"/>
            <a:ext cx="736600" cy="279400"/>
          </a:xfrm>
          <a:prstGeom prst="rect">
            <a:avLst/>
          </a:prstGeom>
          <a:noFill/>
          <a:ln>
            <a:noFill/>
          </a:ln>
        </p:spPr>
        <p:txBody>
          <a:bodyPr wrap="square" lIns="0" tIns="0" rIns="0" bIns="0" anchor="ctr"/>
          <a:lstStyle/>
          <a:p>
            <a:pPr algn="r"/>
            <a:r>
              <a:rPr lang="en-US" sz="1400" dirty="0">
                <a:solidFill>
                  <a:srgbClr val="6B6963"/>
                </a:solidFill>
                <a:latin typeface="Helvetica Neue"/>
              </a:rPr>
              <a:t>16 / 16</a:t>
            </a:r>
          </a:p>
        </p:txBody>
      </p:sp>
    </p:spTree>
    <p:extLst>
      <p:ext uri="{BB962C8B-B14F-4D97-AF65-F5344CB8AC3E}">
        <p14:creationId xmlns:p14="http://schemas.microsoft.com/office/powerpoint/2010/main" val="26205442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F5B6496-13AF-DB41-B010-35B6937DBD56}">
  <we:reference id="wa200010001" version="1.0.0.0" store="ja-JP" storeType="OMEX"/>
  <we:alternateReferences>
    <we:reference id="WA200010001" version="1.0.0.0"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187</TotalTime>
  <Words>2317</Words>
  <Application>Microsoft Macintosh PowerPoint</Application>
  <PresentationFormat>ワイド画面</PresentationFormat>
  <Paragraphs>340</Paragraphs>
  <Slides>16</Slides>
  <Notes>16</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Hiragino Sans</vt:lpstr>
      <vt:lpstr>SF Mono</vt:lpstr>
      <vt:lpstr>Arial</vt:lpstr>
      <vt:lpstr>Calibri</vt:lpstr>
      <vt:lpstr>Helvetica Neue</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watanabeshota</cp:lastModifiedBy>
  <cp:revision>3</cp:revision>
  <dcterms:created xsi:type="dcterms:W3CDTF">2013-01-27T09:14:16Z</dcterms:created>
  <dcterms:modified xsi:type="dcterms:W3CDTF">2026-02-26T09:34:58Z</dcterms:modified>
  <cp:category/>
</cp:coreProperties>
</file>