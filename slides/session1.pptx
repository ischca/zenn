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3" r:id="rId2"/>
    <p:sldId id="294" r:id="rId3"/>
    <p:sldId id="276" r:id="rId4"/>
    <p:sldId id="277" r:id="rId5"/>
    <p:sldId id="278" r:id="rId6"/>
    <p:sldId id="283" r:id="rId7"/>
    <p:sldId id="280" r:id="rId8"/>
    <p:sldId id="281" r:id="rId9"/>
    <p:sldId id="289" r:id="rId10"/>
    <p:sldId id="284" r:id="rId11"/>
    <p:sldId id="285" r:id="rId12"/>
    <p:sldId id="287" r:id="rId13"/>
    <p:sldId id="290" r:id="rId14"/>
    <p:sldId id="295" r:id="rId15"/>
    <p:sldId id="292" r:id="rId16"/>
    <p:sldId id="29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75674"/>
  </p:normalViewPr>
  <p:slideViewPr>
    <p:cSldViewPr snapToGrid="0" snapToObjects="1">
      <p:cViewPr varScale="1">
        <p:scale>
          <a:sx n="82" d="100"/>
          <a:sy n="82" d="100"/>
        </p:scale>
        <p:origin x="480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189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では始めます。自己紹介は軽く済ませて。</a:t>
            </a:r>
          </a:p>
          <a:p>
            <a:r>
              <a:t>Claude Codeの社内勉強会、全3回の第1回です。</a:t>
            </a:r>
          </a:p>
          <a:p>
            <a:r>
              <a:t>今日のテーマは「理解する」。基本と対話の心得を扱います。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3回シリーズの全体像です。</a:t>
            </a:r>
          </a:p>
          <a:p>
            <a:r>
              <a:t>第1回、今日は「理解する」。Claude Codeの基本と使い方を押さえます。</a:t>
            </a:r>
          </a:p>
          <a:p>
            <a:r>
              <a:t>第2回は「カスタマイズ」。プロジェクトに合わせた設定の話です。</a:t>
            </a:r>
          </a:p>
          <a:p>
            <a:r>
              <a:t>第3回は「外部連携と並列開発」。MCP、worktree、サブエージェントを扱います。</a:t>
            </a:r>
          </a:p>
          <a:p>
            <a:r>
              <a:t>今日のゴールは、日常業務の一部をClaude Codeに任せられるようになることです。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調査や影響範囲の把握って、時間が溶けやすい作業です。ここが最初の狙いどころになります。</a:t>
            </a:r>
          </a:p>
          <a:p>
            <a:r>
              <a:t>いきなり実装を任せる必要はありません。読み取り専用で始められるのでリスクも低い。</a:t>
            </a:r>
          </a:p>
          <a:p>
            <a:r>
              <a:t>Before/Afterは体感の話なので、人やリポジトリによって差はあります。</a:t>
            </a:r>
          </a:p>
          <a:p>
            <a:r>
              <a:t>ただ「調査の時間が減る」のは、共通して実感しやすいポイントです。</a:t>
            </a:r>
          </a:p>
          <a:p>
            <a:r>
              <a:t>この感覚を持ってもらった上で、もう少し詳しく見ていきます。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Claude Codeは、ターミナルで動くAIエージェントです。</a:t>
            </a:r>
          </a:p>
          <a:p>
            <a:r>
              <a:t>「AIにコードを書かせるツールでしょ？」と思われがちですが、コード生成はできることの一部にすぎません。</a:t>
            </a:r>
          </a:p>
          <a:p>
            <a:r>
              <a:t>調査、計画、実装、検証、取りまとめ。これを一つのセッションで連続的に扱えます。</a:t>
            </a:r>
          </a:p>
          <a:p>
            <a:r>
              <a:t>安全面としては、デフォルトは読み取り専用で、ファイル編集やコマンド実行には都度許可が要ります。勝手に何かを壊す心配はありません。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Claude Codeが使えるツールを見てみます。</a:t>
            </a:r>
          </a:p>
          <a:p>
            <a:r>
              <a:t>基本ツールとして、ファイルの読み書き・検索、Web検索、サブエージェントがあります。これらはClaude Codeの内蔵ツールです。</a:t>
            </a:r>
          </a:p>
          <a:p>
            <a:r>
              <a:t>注目はBash。文字通り「あらゆるコマンド」を実行できます。</a:t>
            </a:r>
          </a:p>
          <a:p>
            <a:r>
              <a:t>テストやビルドはもちろん、marpでスライドを生成する、ffmpegで動画を変換する。こういったことも全部Bashの守備範囲です。</a:t>
            </a:r>
          </a:p>
          <a:p>
            <a:r>
              <a:t>コマンドで実現できることは、原理的にすべてClaude Codeに任せられます。</a:t>
            </a:r>
          </a:p>
          <a:p>
            <a:r>
              <a:t>どのツールを使うかは指定不要で、指示に応じてClaude Codeが自動で組み合わせます。</a:t>
            </a:r>
          </a:p>
          <a:p>
            <a:r>
              <a:t>ちなみにスライドではgitを例に出していますが、Perforceなら p4 changes -m 10 で同じようなことができます。コマンドラインから操作できるツールなら何でも使えます。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この3つのツールは競合ではなく、補完的な関係です。得意領域が違います。</a:t>
            </a:r>
          </a:p>
          <a:p>
            <a:r>
              <a:t>ChatGPTは壁打ちに強い。設計議論、仕様の言語化、アプローチの比較に向いています。</a:t>
            </a:r>
          </a:p>
          <a:p>
            <a:r>
              <a:t>Copilotはコードを書くことに強い。IDEから離れずに入力を補助してくれます。</a:t>
            </a:r>
          </a:p>
          <a:p>
            <a:r>
              <a:t>Claude Codeは一連の作業フローを進めることに強い。調査から実装、差分整理まで通しで扱えます。</a:t>
            </a:r>
          </a:p>
          <a:p>
            <a:r>
              <a:t>大事なのは「どれか1つ」ではなく、使い分けることです。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従来の開発では、全工程を自分で回します。6ステップすべてが自分の作業です。</a:t>
            </a:r>
          </a:p>
          <a:p>
            <a:r>
              <a:t>Claude Codeを使うと、開発者の出番は2箇所に絞られます。最初の方向づけと、途中の判断。</a:t>
            </a:r>
          </a:p>
          <a:p>
            <a:r>
              <a:t>これは「サボる」ではなく「判断に集中する」ということです。</a:t>
            </a:r>
          </a:p>
          <a:p>
            <a:r>
              <a:t>「コード補完」と「エージェント」の本質的な違いはここにあります。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具体的なタスクで流れを見てみます。「CIが落ちた」という日常的なシナリオです。</a:t>
            </a:r>
          </a:p>
          <a:p>
            <a:r>
              <a:t>開発者がやるのは、目標を伝えること（30秒）と、計画をレビューすること（1分）。</a:t>
            </a:r>
          </a:p>
          <a:p>
            <a:r>
              <a:t>Claudeが調査・計画提案と結果の取りまとめを担当します。</a:t>
            </a:r>
          </a:p>
          <a:p>
            <a:r>
              <a:t>開発者の介入は2回。方向づけと判断だけです。</a:t>
            </a:r>
          </a:p>
          <a:p>
            <a:r>
              <a:t>「丸投げ」ではありません。要所で判断を入れるから品質を保てます。</a:t>
            </a:r>
          </a:p>
          <a:p>
            <a:r>
              <a:t>原因調査に30分かかるところが、5分で俯瞰できるイメージです。</a:t>
            </a:r>
          </a:p>
          <a:p>
            <a:r>
              <a:t>ここからPART 2で「伝え方のコツ」を見ていきます。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2、コミュニケーションの話に入ります。</a:t>
            </a:r>
          </a:p>
          <a:p>
            <a:r>
              <a:t>先ほどの例で、開発者の発話は2回だけでした。短いですよね。でも、伝え方で結果は大きく変わります。</a:t>
            </a:r>
          </a:p>
          <a:p>
            <a:r>
              <a:t>公式のベストプラクティスにも「Claude Codeへの伝え方は、結果の質に大きく影響する」と書かれています。</a:t>
            </a:r>
          </a:p>
          <a:p>
            <a:r>
              <a:t>人間相手と同じです。何をしてほしいか明確に伝えないと、期待通りの結果は返ってきません。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チャットボットとエージェントは根本的に違います。</a:t>
            </a:r>
          </a:p>
          <a:p>
            <a:r>
              <a:t>チャットボットは電話サポートに近い。こちらが1ステップずつ指示して、その都度答えが返ってきます。</a:t>
            </a:r>
          </a:p>
          <a:p>
            <a:r>
              <a:t>エージェントは仕事を任せた同僚に近い。ゴールと背景を伝えたら、やり方は本人が判断します。</a:t>
            </a:r>
          </a:p>
          <a:p>
            <a:r>
              <a:t>同僚に仕事を任せるとき、1行ずつ「次はこのファイルを開いて、次はこの関数を見て」とは指示しませんよね。</a:t>
            </a:r>
          </a:p>
          <a:p>
            <a:r>
              <a:t>「CIが落ちてるから原因を調べて」と伝えて、やり方は任せる。</a:t>
            </a:r>
          </a:p>
          <a:p>
            <a:r>
              <a:t>この「委任」の感覚が、Claude Codeではとても大事です。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指示の4要素。目標、背景・制約、現状、期待する出力です。</a:t>
            </a:r>
          </a:p>
          <a:p>
            <a:r>
              <a:t>全部揃っている必要はありません。ただし、目標は必須です。</a:t>
            </a:r>
          </a:p>
          <a:p>
            <a:r>
              <a:t>悪い例を見てください。「この機能を改善して」。何を？どう？がまったくわかりません。</a:t>
            </a:r>
          </a:p>
          <a:p>
            <a:r>
              <a:t>良い例は、さっきと同じCIのシナリオです。現状・目標・制約・出力形式が明確になっています。</a:t>
            </a:r>
          </a:p>
          <a:p>
            <a:r>
              <a:t>「コードの変更はまだしないこと」が地味に大事で、やってほしくないことを書くと暴走を防げます。</a:t>
            </a:r>
          </a:p>
          <a:p>
            <a:r>
              <a:t>指示が具体的であるほど、結果も具体的になります。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最初から完璧を求めない。これが一番大事なマインドセットです。</a:t>
            </a:r>
          </a:p>
          <a:p>
            <a:r>
              <a:t>まず出力を見て、良い点と悪い点を具体的にフィードバックして、改善版を出してもらいます。</a:t>
            </a:r>
          </a:p>
          <a:p>
            <a:r>
              <a:t>テクニックを3つ紹介します。</a:t>
            </a:r>
          </a:p>
          <a:p>
            <a:r>
              <a:t>1つ目：「なぜそうしたのか」と聞く。自分の指示に問題があったケースも多いです。</a:t>
            </a:r>
          </a:p>
          <a:p>
            <a:r>
              <a:t>2つ目：命令ではなく提案で伝える。「Xを考えているけど、どう思う？」と聞くと、自分では気づかなかった選択肢が出てきます。</a:t>
            </a:r>
          </a:p>
          <a:p>
            <a:r>
              <a:t>3つ目：自分でコードを直接編集したら、必ずClaudeに伝えてください。伝えないと古い状態を前提に動いてしまいます。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 3、Plan Modeの話に入ります。</a:t>
            </a:r>
          </a:p>
          <a:p>
            <a:r>
              <a:t>「いきなりコードを書かせない」。これが合言葉です。</a:t>
            </a:r>
          </a:p>
          <a:p>
            <a:r>
              <a:t>PART 1-2で「何ができるか」と「どう伝えるか」を見てきました。</a:t>
            </a:r>
          </a:p>
          <a:p>
            <a:r>
              <a:t>PART 3は「どう進めるか」。ワークフローの話です。</a:t>
            </a:r>
          </a:p>
          <a:p>
            <a:r>
              <a:t>計画から始めることで、手戻りを大幅に減らせます。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Plan Modeは読み取り専用のモードです。ファイルを見たり検索はできますが、編集やコマンド実行はできません。</a:t>
            </a:r>
          </a:p>
          <a:p>
            <a:r>
              <a:t>なぜ計画から始めるのか。公式のベストプラクティスにも「計画ステップがないと、Claudeは直接コーディングに飛び込む傾向がある」と書かれています。</a:t>
            </a:r>
          </a:p>
          <a:p>
            <a:r>
              <a:t>計画なしで実装を始めると、前提の認識ズレで根本から作り直しになることがあります。</a:t>
            </a:r>
          </a:p>
          <a:p>
            <a:r>
              <a:t>Plan Modeなら壊すリスクはゼロです。安心して調査・計画できます。</a:t>
            </a:r>
          </a:p>
          <a:p>
            <a:r>
              <a:t>操作はShift+Tabで切替。起動時に --permission-mode plan で指定もできます。</a:t>
            </a:r>
          </a:p>
          <a:p>
            <a:r>
              <a:t>補足ですが、Extended Thinkingとは別の概念です。Extended Thinkingは深く考えさせる機能。Plan Modeはツールの制限。両方を同時に使うこともできます。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4ステップのワークフローです。</a:t>
            </a:r>
          </a:p>
          <a:p>
            <a:r>
              <a:t>Step 1：「計画を立てて。実装はまだしないで。」この一言が鍵です。</a:t>
            </a:r>
          </a:p>
          <a:p>
            <a:r>
              <a:t>このとき、受け入れ基準や禁止事項も伝えておくとブレません。たとえば「既存APIは壊さない」「計画にない問題を見つけたら報告して止まって」など。</a:t>
            </a:r>
          </a:p>
          <a:p>
            <a:r>
              <a:t>Step 2：計画が返ってきたらレビューします。「後方互換性は？」「テストは？」と聞いてみてください。</a:t>
            </a:r>
          </a:p>
          <a:p>
            <a:r>
              <a:t>Step 3：計画に納得したら「OK、実装して」。調査だけが目的ならここで完了です。</a:t>
            </a:r>
          </a:p>
          <a:p>
            <a:r>
              <a:t>Step 4：テストを実行して、結果を確認してコミット。</a:t>
            </a:r>
          </a:p>
          <a:p>
            <a:r>
              <a:t>小さな修正でもこの流れを習慣にすると、手戻りが劇的に減ります。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まとめです。今日の持ち帰りは3つ。</a:t>
            </a:r>
          </a:p>
          <a:p>
            <a:r>
              <a:t>1つ目：Claude Codeはコード補完ではなく「作業を進める」ツール。</a:t>
            </a:r>
          </a:p>
          <a:p>
            <a:r>
              <a:t>2つ目：伝え方で結果が変わる。目標・背景・現状・期待出力を意識してみてください。</a:t>
            </a:r>
          </a:p>
          <a:p>
            <a:r>
              <a:t>3つ目：いきなりコードを書かせない。Plan Modeで方針を固めてから実装に入る。</a:t>
            </a:r>
          </a:p>
          <a:p>
            <a:r>
              <a:t>日常業務の一部を、まず任せてみてください。</a:t>
            </a:r>
          </a:p>
          <a:p>
            <a:r>
              <a:t>次回は「プロジェクトに合わせたカスタマイズ」。CLAUDE.md、Skills、Hooksを扱います。</a:t>
            </a:r>
          </a:p>
          <a:p>
            <a:r>
              <a:t>では、質疑応答に移ります。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Deco Ring"/>
          <p:cNvSpPr/>
          <p:nvPr/>
        </p:nvSpPr>
        <p:spPr>
          <a:xfrm>
            <a:off x="8382000" y="-1143000"/>
            <a:ext cx="5486400" cy="5486400"/>
          </a:xfrm>
          <a:prstGeom prst="ellipse">
            <a:avLst/>
          </a:prstGeom>
          <a:noFill/>
          <a:ln w="76200">
            <a:solidFill>
              <a:srgbClr val="D97757">
                <a:alpha val="22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1" name="Deco Circle Fill"/>
          <p:cNvSpPr/>
          <p:nvPr/>
        </p:nvSpPr>
        <p:spPr>
          <a:xfrm>
            <a:off x="9144000" y="2743200"/>
            <a:ext cx="2286000" cy="2286000"/>
          </a:xfrm>
          <a:prstGeom prst="ellipse">
            <a:avLst/>
          </a:prstGeom>
          <a:solidFill>
            <a:srgbClr val="D97757">
              <a:alpha val="12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Deco Small Circle"/>
          <p:cNvSpPr/>
          <p:nvPr/>
        </p:nvSpPr>
        <p:spPr>
          <a:xfrm>
            <a:off x="457200" y="5486400"/>
            <a:ext cx="914400" cy="914400"/>
          </a:xfrm>
          <a:prstGeom prst="ellipse">
            <a:avLst/>
          </a:prstGeom>
          <a:noFill/>
          <a:ln w="38100">
            <a:solidFill>
              <a:srgbClr val="D97757">
                <a:alpha val="18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" name="Deco Arc"/>
          <p:cNvSpPr/>
          <p:nvPr/>
        </p:nvSpPr>
        <p:spPr>
          <a:xfrm>
            <a:off x="7620000" y="1600200"/>
            <a:ext cx="3200400" cy="3200400"/>
          </a:xfrm>
          <a:prstGeom prst="blockArc">
            <a:avLst>
              <a:gd name="adj1" fmla="val 10800000"/>
              <a:gd name="adj2" fmla="val 16200000"/>
              <a:gd name="adj3" fmla="val 8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Accent Bar"/>
          <p:cNvSpPr/>
          <p:nvPr/>
        </p:nvSpPr>
        <p:spPr>
          <a:xfrm>
            <a:off x="731520" y="1371600"/>
            <a:ext cx="54864" cy="32004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Dot 1"/>
          <p:cNvSpPr/>
          <p:nvPr/>
        </p:nvSpPr>
        <p:spPr>
          <a:xfrm>
            <a:off x="1097280" y="1097280"/>
            <a:ext cx="91440" cy="91440"/>
          </a:xfrm>
          <a:prstGeom prst="ellipse">
            <a:avLst/>
          </a:prstGeom>
          <a:solidFill>
            <a:srgbClr val="D97757">
              <a:alpha val="7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Dot 2"/>
          <p:cNvSpPr/>
          <p:nvPr/>
        </p:nvSpPr>
        <p:spPr>
          <a:xfrm>
            <a:off x="1371600" y="1097280"/>
            <a:ext cx="91440" cy="91440"/>
          </a:xfrm>
          <a:prstGeom prst="ellipse">
            <a:avLst/>
          </a:prstGeom>
          <a:solidFill>
            <a:srgbClr val="D97757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Dot 3"/>
          <p:cNvSpPr/>
          <p:nvPr/>
        </p:nvSpPr>
        <p:spPr>
          <a:xfrm>
            <a:off x="1645920" y="1097280"/>
            <a:ext cx="91440" cy="91440"/>
          </a:xfrm>
          <a:prstGeom prst="ellipse">
            <a:avLst/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8" name="Deco Stripe"/>
          <p:cNvSpPr/>
          <p:nvPr/>
        </p:nvSpPr>
        <p:spPr>
          <a:xfrm rot="2700000">
            <a:off x="10058400" y="5486400"/>
            <a:ext cx="1828800" cy="91440"/>
          </a:xfrm>
          <a:prstGeom prst="rect">
            <a:avLst/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Title"/>
          <p:cNvSpPr txBox="1"/>
          <p:nvPr/>
        </p:nvSpPr>
        <p:spPr>
          <a:xfrm>
            <a:off x="1097280" y="137160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600"/>
              </a:lnSpc>
              <a:spcAft>
                <a:spcPts val="200"/>
              </a:spcAft>
            </a:pPr>
            <a:r>
              <a:rPr lang="en-US" sz="5200" b="1" dirty="0">
                <a:solidFill>
                  <a:srgbClr val="FAF9F5"/>
                </a:solidFill>
                <a:latin typeface="Hiragino Sans"/>
              </a:rPr>
              <a:t>Claude Code</a:t>
            </a:r>
          </a:p>
          <a:p>
            <a:pPr algn="l">
              <a:lnSpc>
                <a:spcPts val="5600"/>
              </a:lnSpc>
              <a:spcAft>
                <a:spcPts val="0"/>
              </a:spcAft>
            </a:pPr>
            <a:r>
              <a:rPr lang="ja-JP" sz="5200" b="1" dirty="0">
                <a:solidFill>
                  <a:srgbClr val="FAF9F5"/>
                </a:solidFill>
                <a:latin typeface="Hiragino Sans"/>
              </a:rPr>
              <a:t>ことはじめ</a:t>
            </a:r>
          </a:p>
        </p:txBody>
      </p:sp>
      <p:sp>
        <p:nvSpPr>
          <p:cNvPr id="61" name="Subtitle"/>
          <p:cNvSpPr txBox="1"/>
          <p:nvPr/>
        </p:nvSpPr>
        <p:spPr>
          <a:xfrm>
            <a:off x="1097280" y="3109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200"/>
              </a:lnSpc>
              <a:spcAft>
                <a:spcPts val="0"/>
              </a:spcAft>
            </a:pPr>
            <a:r>
              <a:rPr lang="ja-JP" sz="2400" b="0" dirty="0">
                <a:solidFill>
                  <a:srgbClr val="D97757"/>
                </a:solidFill>
                <a:latin typeface="Hiragino Sans"/>
              </a:rPr>
              <a:t>〜 基本と対話の心得 〜</a:t>
            </a:r>
          </a:p>
        </p:txBody>
      </p:sp>
      <p:cxnSp>
        <p:nvCxnSpPr>
          <p:cNvPr id="62" name="Divider"/>
          <p:cNvCxnSpPr/>
          <p:nvPr/>
        </p:nvCxnSpPr>
        <p:spPr>
          <a:xfrm>
            <a:off x="1097280" y="3840480"/>
            <a:ext cx="2743200" cy="0"/>
          </a:xfrm>
          <a:prstGeom prst="line">
            <a:avLst/>
          </a:prstGeom>
          <a:ln w="19050">
            <a:solidFill>
              <a:srgbClr val="D97757">
                <a:alpha val="50000"/>
              </a:srgbClr>
            </a:solidFill>
          </a:ln>
        </p:spPr>
      </p:cxnSp>
      <p:sp>
        <p:nvSpPr>
          <p:cNvPr id="63" name="Meta"/>
          <p:cNvSpPr txBox="1"/>
          <p:nvPr/>
        </p:nvSpPr>
        <p:spPr>
          <a:xfrm>
            <a:off x="1097280" y="4023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lang="ja-JP" sz="1600" b="0" dirty="0">
                <a:solidFill>
                  <a:srgbClr val="B0AEA5"/>
                </a:solidFill>
                <a:latin typeface="Helvetica Neue"/>
              </a:rPr>
              <a:t>社内勉強会  |  第1回 / 全3回  |  20 min</a:t>
            </a:r>
          </a:p>
        </p:txBody>
      </p:sp>
    </p:spTree>
    <p:extLst>
      <p:ext uri="{BB962C8B-B14F-4D97-AF65-F5344CB8AC3E}">
        <p14:creationId xmlns:p14="http://schemas.microsoft.com/office/powerpoint/2010/main" val="1886364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736600" y="457200"/>
            <a:ext cx="762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4800"/>
              </a:lnSpc>
            </a:pPr>
            <a:r>
              <a:rPr lang="ja-JP" sz="3200" b="1" dirty="0">
                <a:solidFill>
                  <a:srgbClr val="FAF9F5"/>
                </a:solidFill>
                <a:latin typeface="Hiragino Sans"/>
              </a:rPr>
              <a:t>全3回のロードマップ</a:t>
            </a:r>
          </a:p>
        </p:txBody>
      </p:sp>
      <p:sp>
        <p:nvSpPr>
          <p:cNvPr id="10" name="Card0"/>
          <p:cNvSpPr/>
          <p:nvPr/>
        </p:nvSpPr>
        <p:spPr>
          <a:xfrm>
            <a:off x="736600" y="1270000"/>
            <a:ext cx="3429000" cy="3937000"/>
          </a:xfrm>
          <a:prstGeom prst="roundRect">
            <a:avLst>
              <a:gd name="adj" fmla="val 3000"/>
            </a:avLst>
          </a:prstGeom>
          <a:solidFill>
            <a:srgbClr val="3A3632"/>
          </a:solidFill>
          <a:ln w="1905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11" name="Bar0"/>
          <p:cNvSpPr/>
          <p:nvPr/>
        </p:nvSpPr>
        <p:spPr>
          <a:xfrm>
            <a:off x="736600" y="1270000"/>
            <a:ext cx="3429000" cy="635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12" name="Num0"/>
          <p:cNvSpPr/>
          <p:nvPr/>
        </p:nvSpPr>
        <p:spPr>
          <a:xfrm>
            <a:off x="965200" y="1574800"/>
            <a:ext cx="609600" cy="6096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1</a:t>
            </a:r>
          </a:p>
        </p:txBody>
      </p:sp>
      <p:sp>
        <p:nvSpPr>
          <p:cNvPr id="13" name="Label0"/>
          <p:cNvSpPr/>
          <p:nvPr/>
        </p:nvSpPr>
        <p:spPr>
          <a:xfrm>
            <a:off x="1701800" y="1625600"/>
            <a:ext cx="228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第1回（今日）</a:t>
            </a:r>
          </a:p>
        </p:txBody>
      </p:sp>
      <p:sp>
        <p:nvSpPr>
          <p:cNvPr id="14" name="Title0"/>
          <p:cNvSpPr/>
          <p:nvPr/>
        </p:nvSpPr>
        <p:spPr>
          <a:xfrm>
            <a:off x="965200" y="2413000"/>
            <a:ext cx="2984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3300"/>
              </a:lnSpc>
            </a:pPr>
            <a:r>
              <a:rPr lang="ja-JP" sz="2200" b="1" dirty="0">
                <a:solidFill>
                  <a:srgbClr val="FAF9F5"/>
                </a:solidFill>
                <a:latin typeface="Hiragino Sans"/>
              </a:rPr>
              <a:t>理解する</a:t>
            </a:r>
          </a:p>
        </p:txBody>
      </p:sp>
      <p:cxnSp>
        <p:nvCxnSpPr>
          <p:cNvPr id="15" name="Sep0"/>
          <p:cNvCxnSpPr/>
          <p:nvPr/>
        </p:nvCxnSpPr>
        <p:spPr>
          <a:xfrm>
            <a:off x="965200" y="3746500"/>
            <a:ext cx="2984500" cy="0"/>
          </a:xfrm>
          <a:prstGeom prst="line">
            <a:avLst/>
          </a:prstGeom>
          <a:ln w="9525">
            <a:solidFill>
              <a:srgbClr val="4A4743"/>
            </a:solidFill>
          </a:ln>
        </p:spPr>
      </p:cxnSp>
      <p:sp>
        <p:nvSpPr>
          <p:cNvPr id="16" name="Desc0"/>
          <p:cNvSpPr/>
          <p:nvPr/>
        </p:nvSpPr>
        <p:spPr>
          <a:xfrm>
            <a:off x="965200" y="3924300"/>
            <a:ext cx="29845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400"/>
              </a:lnSpc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基本 / コミュニケーション / Plan Mode</a:t>
            </a:r>
          </a:p>
        </p:txBody>
      </p:sp>
      <p:sp>
        <p:nvSpPr>
          <p:cNvPr id="20" name="Card1"/>
          <p:cNvSpPr/>
          <p:nvPr/>
        </p:nvSpPr>
        <p:spPr>
          <a:xfrm>
            <a:off x="4394200" y="1270000"/>
            <a:ext cx="3429000" cy="3937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905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21" name="Bar1"/>
          <p:cNvSpPr/>
          <p:nvPr/>
        </p:nvSpPr>
        <p:spPr>
          <a:xfrm>
            <a:off x="4394200" y="1270000"/>
            <a:ext cx="3429000" cy="6350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22" name="Num1"/>
          <p:cNvSpPr/>
          <p:nvPr/>
        </p:nvSpPr>
        <p:spPr>
          <a:xfrm>
            <a:off x="4622800" y="1574800"/>
            <a:ext cx="609600" cy="60960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2</a:t>
            </a:r>
          </a:p>
        </p:txBody>
      </p:sp>
      <p:sp>
        <p:nvSpPr>
          <p:cNvPr id="23" name="Label1"/>
          <p:cNvSpPr/>
          <p:nvPr/>
        </p:nvSpPr>
        <p:spPr>
          <a:xfrm>
            <a:off x="5359400" y="1625600"/>
            <a:ext cx="228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B0AEA5"/>
                </a:solidFill>
                <a:latin typeface="Hiragino Sans"/>
              </a:rPr>
              <a:t>第2回</a:t>
            </a:r>
          </a:p>
        </p:txBody>
      </p:sp>
      <p:sp>
        <p:nvSpPr>
          <p:cNvPr id="24" name="Title1"/>
          <p:cNvSpPr/>
          <p:nvPr/>
        </p:nvSpPr>
        <p:spPr>
          <a:xfrm>
            <a:off x="4622800" y="2413000"/>
            <a:ext cx="2984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3300"/>
              </a:lnSpc>
            </a:pPr>
            <a:r>
              <a:rPr lang="ja-JP" sz="2200" b="1" dirty="0">
                <a:solidFill>
                  <a:srgbClr val="FAF9F5"/>
                </a:solidFill>
                <a:latin typeface="Hiragino Sans"/>
              </a:rPr>
              <a:t>プロジェクトに合わせた</a:t>
            </a:r>
          </a:p>
          <a:p>
            <a:pPr algn="l">
              <a:lnSpc>
                <a:spcPts val="3300"/>
              </a:lnSpc>
            </a:pPr>
            <a:r>
              <a:rPr lang="ja-JP" sz="2200" b="1" dirty="0">
                <a:solidFill>
                  <a:srgbClr val="FAF9F5"/>
                </a:solidFill>
                <a:latin typeface="Hiragino Sans"/>
              </a:rPr>
              <a:t>カスタマイズ</a:t>
            </a:r>
          </a:p>
        </p:txBody>
      </p:sp>
      <p:cxnSp>
        <p:nvCxnSpPr>
          <p:cNvPr id="25" name="Sep1"/>
          <p:cNvCxnSpPr/>
          <p:nvPr/>
        </p:nvCxnSpPr>
        <p:spPr>
          <a:xfrm>
            <a:off x="4622800" y="3746500"/>
            <a:ext cx="2984500" cy="0"/>
          </a:xfrm>
          <a:prstGeom prst="line">
            <a:avLst/>
          </a:prstGeom>
          <a:ln w="9525">
            <a:solidFill>
              <a:srgbClr val="4A4743"/>
            </a:solidFill>
          </a:ln>
        </p:spPr>
      </p:cxnSp>
      <p:sp>
        <p:nvSpPr>
          <p:cNvPr id="26" name="Desc1"/>
          <p:cNvSpPr/>
          <p:nvPr/>
        </p:nvSpPr>
        <p:spPr>
          <a:xfrm>
            <a:off x="4622800" y="3924300"/>
            <a:ext cx="29845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400"/>
              </a:lnSpc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CLAUDE.md / Skills / Hooks</a:t>
            </a:r>
          </a:p>
        </p:txBody>
      </p:sp>
      <p:sp>
        <p:nvSpPr>
          <p:cNvPr id="30" name="Card2"/>
          <p:cNvSpPr/>
          <p:nvPr/>
        </p:nvSpPr>
        <p:spPr>
          <a:xfrm>
            <a:off x="8051800" y="1270000"/>
            <a:ext cx="3429000" cy="3937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905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31" name="Bar2"/>
          <p:cNvSpPr/>
          <p:nvPr/>
        </p:nvSpPr>
        <p:spPr>
          <a:xfrm>
            <a:off x="8051800" y="1270000"/>
            <a:ext cx="3429000" cy="63500"/>
          </a:xfrm>
          <a:prstGeom prst="roundRect">
            <a:avLst>
              <a:gd name="adj" fmla="val 50000"/>
            </a:avLst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32" name="Num2"/>
          <p:cNvSpPr/>
          <p:nvPr/>
        </p:nvSpPr>
        <p:spPr>
          <a:xfrm>
            <a:off x="8280400" y="1574800"/>
            <a:ext cx="609600" cy="609600"/>
          </a:xfrm>
          <a:prstGeom prst="ellipse">
            <a:avLst/>
          </a:prstGeom>
          <a:solidFill>
            <a:srgbClr val="7BC9A0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3</a:t>
            </a:r>
          </a:p>
        </p:txBody>
      </p:sp>
      <p:sp>
        <p:nvSpPr>
          <p:cNvPr id="33" name="Label2"/>
          <p:cNvSpPr/>
          <p:nvPr/>
        </p:nvSpPr>
        <p:spPr>
          <a:xfrm>
            <a:off x="9017000" y="1625600"/>
            <a:ext cx="2286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B0AEA5"/>
                </a:solidFill>
                <a:latin typeface="Hiragino Sans"/>
              </a:rPr>
              <a:t>第3回</a:t>
            </a:r>
          </a:p>
        </p:txBody>
      </p:sp>
      <p:sp>
        <p:nvSpPr>
          <p:cNvPr id="34" name="Title2"/>
          <p:cNvSpPr/>
          <p:nvPr/>
        </p:nvSpPr>
        <p:spPr>
          <a:xfrm>
            <a:off x="8280400" y="2413000"/>
            <a:ext cx="29845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3300"/>
              </a:lnSpc>
            </a:pPr>
            <a:r>
              <a:rPr lang="ja-JP" sz="2200" b="1" dirty="0">
                <a:solidFill>
                  <a:srgbClr val="FAF9F5"/>
                </a:solidFill>
                <a:latin typeface="Hiragino Sans"/>
              </a:rPr>
              <a:t>外部連携と並列開発</a:t>
            </a:r>
          </a:p>
        </p:txBody>
      </p:sp>
      <p:cxnSp>
        <p:nvCxnSpPr>
          <p:cNvPr id="35" name="Sep2"/>
          <p:cNvCxnSpPr/>
          <p:nvPr/>
        </p:nvCxnSpPr>
        <p:spPr>
          <a:xfrm>
            <a:off x="8280400" y="3746500"/>
            <a:ext cx="2984500" cy="0"/>
          </a:xfrm>
          <a:prstGeom prst="line">
            <a:avLst/>
          </a:prstGeom>
          <a:ln w="9525">
            <a:solidFill>
              <a:srgbClr val="4A4743"/>
            </a:solidFill>
          </a:ln>
        </p:spPr>
      </p:cxnSp>
      <p:sp>
        <p:nvSpPr>
          <p:cNvPr id="36" name="Desc2"/>
          <p:cNvSpPr/>
          <p:nvPr/>
        </p:nvSpPr>
        <p:spPr>
          <a:xfrm>
            <a:off x="8280400" y="3924300"/>
            <a:ext cx="29845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400"/>
              </a:lnSpc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MCP / worktree / サブエージェント</a:t>
            </a:r>
          </a:p>
        </p:txBody>
      </p:sp>
      <p:sp>
        <p:nvSpPr>
          <p:cNvPr id="50" name="Goal"/>
          <p:cNvSpPr/>
          <p:nvPr/>
        </p:nvSpPr>
        <p:spPr>
          <a:xfrm>
            <a:off x="736600" y="5524500"/>
            <a:ext cx="10515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今日のゴール: 日常業務の一部をClaude Codeに任せられるようになる</a:t>
            </a:r>
          </a:p>
        </p:txBody>
      </p:sp>
      <p:sp>
        <p:nvSpPr>
          <p:cNvPr id="51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2 / 16</a:t>
            </a:r>
          </a:p>
        </p:txBody>
      </p:sp>
    </p:spTree>
    <p:extLst>
      <p:ext uri="{BB962C8B-B14F-4D97-AF65-F5344CB8AC3E}">
        <p14:creationId xmlns:p14="http://schemas.microsoft.com/office/powerpoint/2010/main" val="700935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rt Label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0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まずは調査だけ任せてみる</a:t>
            </a:r>
          </a:p>
        </p:txBody>
      </p:sp>
      <p:sp>
        <p:nvSpPr>
          <p:cNvPr id="102" name="Subtitle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lang="ja-JP" sz="1600" b="0" dirty="0">
                <a:solidFill>
                  <a:srgbClr val="B0AEA5"/>
                </a:solidFill>
                <a:latin typeface="Hiragino Sans"/>
              </a:rPr>
              <a:t>よくある痛み: 調査・影響範囲の把握で時間が溶ける</a:t>
            </a:r>
          </a:p>
        </p:txBody>
      </p:sp>
      <p:cxnSp>
        <p:nvCxnSpPr>
          <p:cNvPr id="103" name="Divider"/>
          <p:cNvCxnSpPr/>
          <p:nvPr/>
        </p:nvCxnSpPr>
        <p:spPr>
          <a:xfrm>
            <a:off x="731520" y="1645920"/>
            <a:ext cx="10698480" cy="0"/>
          </a:xfrm>
          <a:prstGeom prst="line">
            <a:avLst/>
          </a:prstGeom>
          <a:ln w="9525">
            <a:solidFill>
              <a:srgbClr val="3D3835"/>
            </a:solidFill>
          </a:ln>
        </p:spPr>
      </p:cxnSp>
      <p:sp>
        <p:nvSpPr>
          <p:cNvPr id="110" name="Before BG"/>
          <p:cNvSpPr/>
          <p:nvPr/>
        </p:nvSpPr>
        <p:spPr>
          <a:xfrm>
            <a:off x="731520" y="1920240"/>
            <a:ext cx="4983720" cy="2926080"/>
          </a:xfrm>
          <a:prstGeom prst="roundRect">
            <a:avLst>
              <a:gd name="adj" fmla="val 2500"/>
            </a:avLst>
          </a:prstGeom>
          <a:solidFill>
            <a:srgbClr val="2D2926"/>
          </a:solidFill>
          <a:ln w="12700">
            <a:solidFill>
              <a:srgbClr val="E07070">
                <a:alpha val="30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Before Accent"/>
          <p:cNvSpPr/>
          <p:nvPr/>
        </p:nvSpPr>
        <p:spPr>
          <a:xfrm>
            <a:off x="731520" y="1920240"/>
            <a:ext cx="4983720" cy="54864"/>
          </a:xfrm>
          <a:prstGeom prst="roundRect">
            <a:avLst>
              <a:gd name="adj" fmla="val 50000"/>
            </a:avLst>
          </a:prstGeom>
          <a:solidFill>
            <a:srgbClr val="E070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efore Content"/>
          <p:cNvSpPr txBox="1"/>
          <p:nvPr/>
        </p:nvSpPr>
        <p:spPr>
          <a:xfrm>
            <a:off x="960120" y="2148840"/>
            <a:ext cx="4526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600"/>
              </a:spcAft>
            </a:pPr>
            <a:r>
              <a:rPr lang="en-US" sz="1800" b="1" dirty="0">
                <a:solidFill>
                  <a:srgbClr val="E07070"/>
                </a:solidFill>
                <a:latin typeface="Helvetica Neue"/>
              </a:rPr>
              <a:t>Before</a:t>
            </a:r>
            <a:r>
              <a:rPr lang="ja-JP" sz="1400" b="0" dirty="0">
                <a:solidFill>
                  <a:srgbClr val="B0AEA5"/>
                </a:solidFill>
                <a:latin typeface="Hiragino Sans"/>
              </a:rPr>
              <a:t>  — 手動で調査する場合</a:t>
            </a:r>
          </a:p>
          <a:p>
            <a:pPr algn="l">
              <a:lnSpc>
                <a:spcPts val="2400"/>
              </a:lnSpc>
              <a:spcAft>
                <a:spcPts val="3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チケット1件の調査に30分。</a:t>
            </a:r>
          </a:p>
          <a:p>
            <a:pPr algn="l">
              <a:lnSpc>
                <a:spcPts val="2400"/>
              </a:lnSpc>
              <a:spcAft>
                <a:spcPts val="3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ログを追い、参照箇所を探し、</a:t>
            </a:r>
          </a:p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影響範囲を整理する</a:t>
            </a:r>
          </a:p>
        </p:txBody>
      </p:sp>
      <p:sp>
        <p:nvSpPr>
          <p:cNvPr id="120" name="Arrow"/>
          <p:cNvSpPr/>
          <p:nvPr/>
        </p:nvSpPr>
        <p:spPr>
          <a:xfrm>
            <a:off x="5852400" y="3200400"/>
            <a:ext cx="457200" cy="365760"/>
          </a:xfrm>
          <a:prstGeom prst="chevron">
            <a:avLst>
              <a:gd name="adj" fmla="val 50000"/>
            </a:avLst>
          </a:prstGeom>
          <a:solidFill>
            <a:srgbClr val="D97757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0" name="After BG"/>
          <p:cNvSpPr/>
          <p:nvPr/>
        </p:nvSpPr>
        <p:spPr>
          <a:xfrm>
            <a:off x="6446760" y="1920240"/>
            <a:ext cx="4983720" cy="2926080"/>
          </a:xfrm>
          <a:prstGeom prst="roundRect">
            <a:avLst>
              <a:gd name="adj" fmla="val 2500"/>
            </a:avLst>
          </a:prstGeom>
          <a:solidFill>
            <a:srgbClr val="2D2926"/>
          </a:solidFill>
          <a:ln w="12700">
            <a:solidFill>
              <a:srgbClr val="7BC9A0">
                <a:alpha val="30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1" name="After Accent"/>
          <p:cNvSpPr/>
          <p:nvPr/>
        </p:nvSpPr>
        <p:spPr>
          <a:xfrm>
            <a:off x="6446760" y="1920240"/>
            <a:ext cx="4983720" cy="54864"/>
          </a:xfrm>
          <a:prstGeom prst="roundRect">
            <a:avLst>
              <a:gd name="adj" fmla="val 50000"/>
            </a:avLst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2" name="After Content"/>
          <p:cNvSpPr txBox="1"/>
          <p:nvPr/>
        </p:nvSpPr>
        <p:spPr>
          <a:xfrm>
            <a:off x="6675360" y="2148840"/>
            <a:ext cx="4526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600"/>
              </a:spcAft>
            </a:pPr>
            <a:r>
              <a:rPr lang="en-US" sz="1800" b="1" dirty="0">
                <a:solidFill>
                  <a:srgbClr val="7BC9A0"/>
                </a:solidFill>
                <a:latin typeface="Helvetica Neue"/>
              </a:rPr>
              <a:t>After</a:t>
            </a:r>
            <a:r>
              <a:rPr lang="ja-JP" sz="1400" b="0" dirty="0">
                <a:solidFill>
                  <a:srgbClr val="B0AEA5"/>
                </a:solidFill>
                <a:latin typeface="Hiragino Sans"/>
              </a:rPr>
              <a:t>  — Claude Code に任せた場合</a:t>
            </a:r>
          </a:p>
          <a:p>
            <a:pPr algn="l">
              <a:lnSpc>
                <a:spcPts val="2400"/>
              </a:lnSpc>
              <a:spcAft>
                <a:spcPts val="3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Claude Codeに任せると数分で返ってくる。</a:t>
            </a:r>
          </a:p>
          <a:p>
            <a:pPr algn="l">
              <a:lnSpc>
                <a:spcPts val="2400"/>
              </a:lnSpc>
              <a:spcAft>
                <a:spcPts val="3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調査結果・原因候補・影響範囲が</a:t>
            </a:r>
          </a:p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まとまる</a:t>
            </a:r>
          </a:p>
        </p:txBody>
      </p:sp>
      <p:sp>
        <p:nvSpPr>
          <p:cNvPr id="140" name="Takeaway BG"/>
          <p:cNvSpPr/>
          <p:nvPr/>
        </p:nvSpPr>
        <p:spPr>
          <a:xfrm>
            <a:off x="731520" y="5211120"/>
            <a:ext cx="10698960" cy="82296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1" name="Accent Bar"/>
          <p:cNvSpPr/>
          <p:nvPr/>
        </p:nvSpPr>
        <p:spPr>
          <a:xfrm>
            <a:off x="731520" y="5211120"/>
            <a:ext cx="54864" cy="8229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2" name="Takeaway"/>
          <p:cNvSpPr txBox="1"/>
          <p:nvPr/>
        </p:nvSpPr>
        <p:spPr>
          <a:xfrm>
            <a:off x="1005840" y="5302560"/>
            <a:ext cx="1033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200"/>
              </a:spcAft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入口: 最初は実装ではなく「調査・要約・差分整理」だけ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→ いきなり実装させず、業務の一部から始める</a:t>
            </a:r>
          </a:p>
        </p:txBody>
      </p:sp>
      <p:sp>
        <p:nvSpPr>
          <p:cNvPr id="150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3 / 16</a:t>
            </a:r>
          </a:p>
        </p:txBody>
      </p:sp>
    </p:spTree>
    <p:extLst>
      <p:ext uri="{BB962C8B-B14F-4D97-AF65-F5344CB8AC3E}">
        <p14:creationId xmlns:p14="http://schemas.microsoft.com/office/powerpoint/2010/main" val="155925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Aft>
                <a:spcPts val="0"/>
              </a:spcAft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Claude Code でできること</a:t>
            </a:r>
          </a:p>
        </p:txBody>
      </p:sp>
      <p:sp>
        <p:nvSpPr>
          <p:cNvPr id="20" name="Step 1"/>
          <p:cNvSpPr/>
          <p:nvPr/>
        </p:nvSpPr>
        <p:spPr>
          <a:xfrm>
            <a:off x="1417320" y="13716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txBody>
          <a:bodyPr anchor="ctr" anchorCtr="0">
            <a:no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lang="ja-JP" sz="1800" b="1" dirty="0">
                <a:solidFill>
                  <a:srgbClr val="FAF9F5"/>
                </a:solidFill>
                <a:latin typeface="Hiragino Sans"/>
              </a:rPr>
              <a:t>調査</a:t>
            </a:r>
          </a:p>
        </p:txBody>
      </p:sp>
      <p:sp>
        <p:nvSpPr>
          <p:cNvPr id="21" name="Arrow 1"/>
          <p:cNvSpPr/>
          <p:nvPr/>
        </p:nvSpPr>
        <p:spPr>
          <a:xfrm>
            <a:off x="3063240" y="1600200"/>
            <a:ext cx="274320" cy="18288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Step 2"/>
          <p:cNvSpPr/>
          <p:nvPr/>
        </p:nvSpPr>
        <p:spPr>
          <a:xfrm>
            <a:off x="3337560" y="13716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 anchorCtr="0">
            <a:no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lang="ja-JP" sz="1800" b="1" dirty="0">
                <a:solidFill>
                  <a:srgbClr val="FAF9F5"/>
                </a:solidFill>
                <a:latin typeface="Hiragino Sans"/>
              </a:rPr>
              <a:t>計画</a:t>
            </a:r>
          </a:p>
        </p:txBody>
      </p:sp>
      <p:sp>
        <p:nvSpPr>
          <p:cNvPr id="23" name="Arrow 2"/>
          <p:cNvSpPr/>
          <p:nvPr/>
        </p:nvSpPr>
        <p:spPr>
          <a:xfrm>
            <a:off x="4983480" y="1600200"/>
            <a:ext cx="274320" cy="18288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Step 3"/>
          <p:cNvSpPr/>
          <p:nvPr/>
        </p:nvSpPr>
        <p:spPr>
          <a:xfrm>
            <a:off x="5257800" y="13716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 anchorCtr="0">
            <a:no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lang="ja-JP" sz="1800" b="1" dirty="0">
                <a:solidFill>
                  <a:srgbClr val="FAF9F5"/>
                </a:solidFill>
                <a:latin typeface="Hiragino Sans"/>
              </a:rPr>
              <a:t>実装</a:t>
            </a:r>
          </a:p>
        </p:txBody>
      </p:sp>
      <p:sp>
        <p:nvSpPr>
          <p:cNvPr id="25" name="Arrow 3"/>
          <p:cNvSpPr/>
          <p:nvPr/>
        </p:nvSpPr>
        <p:spPr>
          <a:xfrm>
            <a:off x="6903720" y="1600200"/>
            <a:ext cx="274320" cy="18288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tep 4"/>
          <p:cNvSpPr/>
          <p:nvPr/>
        </p:nvSpPr>
        <p:spPr>
          <a:xfrm>
            <a:off x="7178040" y="13716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 anchorCtr="0">
            <a:no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lang="ja-JP" sz="1800" b="1" dirty="0">
                <a:solidFill>
                  <a:srgbClr val="FAF9F5"/>
                </a:solidFill>
                <a:latin typeface="Hiragino Sans"/>
              </a:rPr>
              <a:t>検証</a:t>
            </a:r>
          </a:p>
        </p:txBody>
      </p:sp>
      <p:sp>
        <p:nvSpPr>
          <p:cNvPr id="27" name="Arrow 4"/>
          <p:cNvSpPr/>
          <p:nvPr/>
        </p:nvSpPr>
        <p:spPr>
          <a:xfrm>
            <a:off x="8823960" y="1600200"/>
            <a:ext cx="274320" cy="18288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Step 5"/>
          <p:cNvSpPr/>
          <p:nvPr/>
        </p:nvSpPr>
        <p:spPr>
          <a:xfrm>
            <a:off x="9098280" y="1371600"/>
            <a:ext cx="1645920" cy="64008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 anchorCtr="0">
            <a:no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</a:pPr>
            <a:r>
              <a:rPr lang="ja-JP" sz="1800" b="1" dirty="0">
                <a:solidFill>
                  <a:srgbClr val="FAF9F5"/>
                </a:solidFill>
                <a:latin typeface="Hiragino Sans"/>
              </a:rPr>
              <a:t>要約</a:t>
            </a:r>
          </a:p>
        </p:txBody>
      </p:sp>
      <p:cxnSp>
        <p:nvCxnSpPr>
          <p:cNvPr id="40" name="Div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9525">
            <a:solidFill>
              <a:srgbClr val="3D3835"/>
            </a:solidFill>
          </a:ln>
        </p:spPr>
      </p:cxnSp>
      <p:sp>
        <p:nvSpPr>
          <p:cNvPr id="50" name="Bullet BG 0"/>
          <p:cNvSpPr/>
          <p:nvPr/>
        </p:nvSpPr>
        <p:spPr>
          <a:xfrm>
            <a:off x="731520" y="2468880"/>
            <a:ext cx="5120640" cy="128016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Bullet Accent 0"/>
          <p:cNvSpPr/>
          <p:nvPr/>
        </p:nvSpPr>
        <p:spPr>
          <a:xfrm>
            <a:off x="731520" y="2468880"/>
            <a:ext cx="45720" cy="1280160"/>
          </a:xfrm>
          <a:prstGeom prst="rect">
            <a:avLst/>
          </a:prstGeom>
          <a:solidFill>
            <a:srgbClr val="D97757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Bullet Text 0"/>
          <p:cNvSpPr txBox="1"/>
          <p:nvPr/>
        </p:nvSpPr>
        <p:spPr>
          <a:xfrm>
            <a:off x="960120" y="26060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200"/>
              </a:spcAft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ターミナルで動くAIエージェント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指示は自然言語でOK</a:t>
            </a:r>
          </a:p>
        </p:txBody>
      </p:sp>
      <p:sp>
        <p:nvSpPr>
          <p:cNvPr id="52" name="Bullet BG 1"/>
          <p:cNvSpPr/>
          <p:nvPr/>
        </p:nvSpPr>
        <p:spPr>
          <a:xfrm>
            <a:off x="6309360" y="2468880"/>
            <a:ext cx="5120640" cy="128016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Bullet Accent 1"/>
          <p:cNvSpPr/>
          <p:nvPr/>
        </p:nvSpPr>
        <p:spPr>
          <a:xfrm>
            <a:off x="6309360" y="2468880"/>
            <a:ext cx="45720" cy="1280160"/>
          </a:xfrm>
          <a:prstGeom prst="rect">
            <a:avLst/>
          </a:prstGeom>
          <a:solidFill>
            <a:srgbClr val="D97757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Bullet Text 1"/>
          <p:cNvSpPr txBox="1"/>
          <p:nvPr/>
        </p:nvSpPr>
        <p:spPr>
          <a:xfrm>
            <a:off x="6537960" y="26060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200"/>
              </a:spcAft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調査→計画→実装→検証→要約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を一連で扱う</a:t>
            </a:r>
          </a:p>
        </p:txBody>
      </p:sp>
      <p:sp>
        <p:nvSpPr>
          <p:cNvPr id="54" name="Bullet BG 2"/>
          <p:cNvSpPr/>
          <p:nvPr/>
        </p:nvSpPr>
        <p:spPr>
          <a:xfrm>
            <a:off x="731520" y="3931920"/>
            <a:ext cx="5120640" cy="128016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Bullet Accent 2"/>
          <p:cNvSpPr/>
          <p:nvPr/>
        </p:nvSpPr>
        <p:spPr>
          <a:xfrm>
            <a:off x="731520" y="3931920"/>
            <a:ext cx="45720" cy="1280160"/>
          </a:xfrm>
          <a:prstGeom prst="rect">
            <a:avLst/>
          </a:prstGeom>
          <a:solidFill>
            <a:srgbClr val="D97757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Bullet Text 2"/>
          <p:cNvSpPr txBox="1"/>
          <p:nvPr/>
        </p:nvSpPr>
        <p:spPr>
          <a:xfrm>
            <a:off x="960120" y="40690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200"/>
              </a:spcAft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デフォルトは読み取り専用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ファイル編集やコマンド実行は許可制</a:t>
            </a:r>
          </a:p>
        </p:txBody>
      </p:sp>
      <p:sp>
        <p:nvSpPr>
          <p:cNvPr id="56" name="Bullet BG 3"/>
          <p:cNvSpPr/>
          <p:nvPr/>
        </p:nvSpPr>
        <p:spPr>
          <a:xfrm>
            <a:off x="6309360" y="3931920"/>
            <a:ext cx="5120640" cy="1280160"/>
          </a:xfrm>
          <a:prstGeom prst="roundRect">
            <a:avLst>
              <a:gd name="adj" fmla="val 4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Bullet Accent 3"/>
          <p:cNvSpPr/>
          <p:nvPr/>
        </p:nvSpPr>
        <p:spPr>
          <a:xfrm>
            <a:off x="6309360" y="3931920"/>
            <a:ext cx="45720" cy="1280160"/>
          </a:xfrm>
          <a:prstGeom prst="rect">
            <a:avLst/>
          </a:prstGeom>
          <a:solidFill>
            <a:srgbClr val="D97757">
              <a:alpha val="5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Bullet Text 3"/>
          <p:cNvSpPr txBox="1"/>
          <p:nvPr/>
        </p:nvSpPr>
        <p:spPr>
          <a:xfrm>
            <a:off x="6537960" y="40690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200"/>
              </a:spcAft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コード補完ではなく</a:t>
            </a:r>
          </a:p>
          <a:p>
            <a:pPr algn="l">
              <a:lnSpc>
                <a:spcPts val="2200"/>
              </a:lnSpc>
              <a:spcAft>
                <a:spcPts val="0"/>
              </a:spcAft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「作業を進める」ツール</a:t>
            </a:r>
          </a:p>
        </p:txBody>
      </p:sp>
      <p:sp>
        <p:nvSpPr>
          <p:cNvPr id="99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4 / 16</a:t>
            </a:r>
          </a:p>
        </p:txBody>
      </p:sp>
    </p:spTree>
    <p:extLst>
      <p:ext uri="{BB962C8B-B14F-4D97-AF65-F5344CB8AC3E}">
        <p14:creationId xmlns:p14="http://schemas.microsoft.com/office/powerpoint/2010/main" val="1727815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Claude Code のツール群</a:t>
            </a:r>
          </a:p>
        </p:txBody>
      </p:sp>
      <p:sp>
        <p:nvSpPr>
          <p:cNvPr id="20" name="Tool BG 0"/>
          <p:cNvSpPr/>
          <p:nvPr/>
        </p:nvSpPr>
        <p:spPr>
          <a:xfrm>
            <a:off x="731520" y="1280160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Tool Accent 0"/>
          <p:cNvSpPr/>
          <p:nvPr/>
        </p:nvSpPr>
        <p:spPr>
          <a:xfrm>
            <a:off x="731520" y="1280160"/>
            <a:ext cx="45720" cy="9144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Tool Text 0"/>
          <p:cNvSpPr txBox="1"/>
          <p:nvPr/>
        </p:nvSpPr>
        <p:spPr>
          <a:xfrm>
            <a:off x="960120" y="14173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6A9BCC"/>
                </a:solidFill>
                <a:latin typeface="SF Mono"/>
              </a:rPr>
              <a:t>Read / Grep / Glob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ファイルの閲覧・コード検索</a:t>
            </a:r>
          </a:p>
        </p:txBody>
      </p:sp>
      <p:sp>
        <p:nvSpPr>
          <p:cNvPr id="23" name="Tool BG 1"/>
          <p:cNvSpPr/>
          <p:nvPr/>
        </p:nvSpPr>
        <p:spPr>
          <a:xfrm>
            <a:off x="6309360" y="1280160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Tool Accent 1"/>
          <p:cNvSpPr/>
          <p:nvPr/>
        </p:nvSpPr>
        <p:spPr>
          <a:xfrm>
            <a:off x="6309360" y="1280160"/>
            <a:ext cx="45720" cy="9144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Tool Text 1"/>
          <p:cNvSpPr txBox="1"/>
          <p:nvPr/>
        </p:nvSpPr>
        <p:spPr>
          <a:xfrm>
            <a:off x="6537960" y="14173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6A9BCC"/>
                </a:solidFill>
                <a:latin typeface="SF Mono"/>
              </a:rPr>
              <a:t>Edit / Write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ファイルの編集・作成</a:t>
            </a:r>
          </a:p>
        </p:txBody>
      </p:sp>
      <p:sp>
        <p:nvSpPr>
          <p:cNvPr id="26" name="Tool BG 2"/>
          <p:cNvSpPr/>
          <p:nvPr/>
        </p:nvSpPr>
        <p:spPr>
          <a:xfrm>
            <a:off x="731520" y="2468880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Tool Accent 2"/>
          <p:cNvSpPr/>
          <p:nvPr/>
        </p:nvSpPr>
        <p:spPr>
          <a:xfrm>
            <a:off x="731520" y="2468880"/>
            <a:ext cx="45720" cy="9144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ool Text 2"/>
          <p:cNvSpPr txBox="1"/>
          <p:nvPr/>
        </p:nvSpPr>
        <p:spPr>
          <a:xfrm>
            <a:off x="960120" y="26060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6A9BCC"/>
                </a:solidFill>
                <a:latin typeface="SF Mono"/>
              </a:rPr>
              <a:t>WebSearch / WebFetch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Web検索・ページ取得</a:t>
            </a:r>
          </a:p>
        </p:txBody>
      </p:sp>
      <p:sp>
        <p:nvSpPr>
          <p:cNvPr id="29" name="Tool BG 3"/>
          <p:cNvSpPr/>
          <p:nvPr/>
        </p:nvSpPr>
        <p:spPr>
          <a:xfrm>
            <a:off x="6309360" y="2468880"/>
            <a:ext cx="5120640" cy="9144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" name="Tool Accent 3"/>
          <p:cNvSpPr/>
          <p:nvPr/>
        </p:nvSpPr>
        <p:spPr>
          <a:xfrm>
            <a:off x="6309360" y="2468880"/>
            <a:ext cx="45720" cy="9144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ool Text 3"/>
          <p:cNvSpPr txBox="1"/>
          <p:nvPr/>
        </p:nvSpPr>
        <p:spPr>
          <a:xfrm>
            <a:off x="6537960" y="26060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6A9BCC"/>
                </a:solidFill>
                <a:latin typeface="SF Mono"/>
              </a:rPr>
              <a:t>Task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サブエージェントによる並列探索</a:t>
            </a:r>
          </a:p>
        </p:txBody>
      </p:sp>
      <p:sp>
        <p:nvSpPr>
          <p:cNvPr id="40" name="Bash BG"/>
          <p:cNvSpPr/>
          <p:nvPr/>
        </p:nvSpPr>
        <p:spPr>
          <a:xfrm>
            <a:off x="731520" y="3749040"/>
            <a:ext cx="10698480" cy="2194560"/>
          </a:xfrm>
          <a:prstGeom prst="roundRect">
            <a:avLst>
              <a:gd name="adj" fmla="val 25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Bash Title"/>
          <p:cNvSpPr txBox="1"/>
          <p:nvPr/>
        </p:nvSpPr>
        <p:spPr>
          <a:xfrm>
            <a:off x="960120" y="38862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1800" b="1" dirty="0">
                <a:solidFill>
                  <a:srgbClr val="D97757"/>
                </a:solidFill>
                <a:latin typeface="Hiragino Sans"/>
              </a:rPr>
              <a:t>Bash — あらゆるコマンドを実行できる</a:t>
            </a:r>
          </a:p>
        </p:txBody>
      </p:sp>
      <p:sp>
        <p:nvSpPr>
          <p:cNvPr id="42" name="Code BG"/>
          <p:cNvSpPr/>
          <p:nvPr/>
        </p:nvSpPr>
        <p:spPr>
          <a:xfrm>
            <a:off x="960120" y="4297680"/>
            <a:ext cx="10241280" cy="1554480"/>
          </a:xfrm>
          <a:prstGeom prst="roundRect">
            <a:avLst>
              <a:gd name="adj" fmla="val 2000"/>
            </a:avLst>
          </a:prstGeom>
          <a:solidFill>
            <a:srgbClr val="1B19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Code"/>
          <p:cNvSpPr txBox="1"/>
          <p:nvPr/>
        </p:nvSpPr>
        <p:spPr>
          <a:xfrm>
            <a:off x="1188720" y="4389120"/>
            <a:ext cx="9783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b="0" dirty="0">
                <a:solidFill>
                  <a:srgbClr val="6A9BCC"/>
                </a:solidFill>
                <a:latin typeface="SF Mono"/>
              </a:rPr>
              <a:t>say "完了しました"</a:t>
            </a:r>
            <a:r>
              <a:rPr lang="en-US" sz="1200" b="0" dirty="0">
                <a:solidFill>
                  <a:srgbClr val="B0AEA5"/>
                </a:solidFill>
                <a:latin typeface="SF Mono"/>
              </a:rPr>
              <a:t>           # 音声で通知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b="0" dirty="0">
                <a:solidFill>
                  <a:srgbClr val="6A9BCC"/>
                </a:solidFill>
                <a:latin typeface="SF Mono"/>
              </a:rPr>
              <a:t>marp slides.md --pptx</a:t>
            </a:r>
            <a:r>
              <a:rPr lang="en-US" sz="1200" b="0" dirty="0">
                <a:solidFill>
                  <a:srgbClr val="B0AEA5"/>
                </a:solidFill>
                <a:latin typeface="SF Mono"/>
              </a:rPr>
              <a:t>        # スライド生成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b="0" dirty="0">
                <a:solidFill>
                  <a:srgbClr val="6A9BCC"/>
                </a:solidFill>
                <a:latin typeface="SF Mono"/>
              </a:rPr>
              <a:t>ffmpeg -i video.mp4 out.gif</a:t>
            </a:r>
            <a:r>
              <a:rPr lang="en-US" sz="1200" b="0" dirty="0">
                <a:solidFill>
                  <a:srgbClr val="B0AEA5"/>
                </a:solidFill>
                <a:latin typeface="SF Mono"/>
              </a:rPr>
              <a:t>  # 動画をGIFに変換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en-US" sz="1200" b="0" dirty="0">
                <a:solidFill>
                  <a:srgbClr val="6A9BCC"/>
                </a:solidFill>
                <a:latin typeface="SF Mono"/>
              </a:rPr>
              <a:t>git log --oneline -10</a:t>
            </a:r>
            <a:r>
              <a:rPr lang="en-US" sz="1200" b="0" dirty="0">
                <a:solidFill>
                  <a:srgbClr val="B0AEA5"/>
                </a:solidFill>
                <a:latin typeface="SF Mono"/>
              </a:rPr>
              <a:t>        # 直近のコミットを確認</a:t>
            </a:r>
          </a:p>
          <a:p>
            <a:pPr algn="l">
              <a:lnSpc>
                <a:spcPts val="2000"/>
              </a:lnSpc>
            </a:pPr>
            <a:r>
              <a:rPr lang="en-US" sz="1200" b="0" dirty="0">
                <a:solidFill>
                  <a:srgbClr val="6A9BCC"/>
                </a:solidFill>
                <a:latin typeface="SF Mono"/>
              </a:rPr>
              <a:t>npm test</a:t>
            </a:r>
            <a:r>
              <a:rPr lang="en-US" sz="1200" b="0" dirty="0">
                <a:solidFill>
                  <a:srgbClr val="B0AEA5"/>
                </a:solidFill>
                <a:latin typeface="SF Mono"/>
              </a:rPr>
              <a:t>                     # テスト実行</a:t>
            </a:r>
          </a:p>
        </p:txBody>
      </p:sp>
      <p:sp>
        <p:nvSpPr>
          <p:cNvPr id="50" name="Footer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lang="ja-JP" sz="1400" b="0" dirty="0">
                <a:solidFill>
                  <a:srgbClr val="D97757"/>
                </a:solidFill>
                <a:latin typeface="Hiragino Sans"/>
              </a:rPr>
              <a:t>→ 開発作業に限らない。コマンドで実現できることは、何でも</a:t>
            </a:r>
          </a:p>
        </p:txBody>
      </p:sp>
      <p:sp>
        <p:nvSpPr>
          <p:cNvPr id="99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5 / 16</a:t>
            </a:r>
          </a:p>
        </p:txBody>
      </p:sp>
    </p:spTree>
    <p:extLst>
      <p:ext uri="{BB962C8B-B14F-4D97-AF65-F5344CB8AC3E}">
        <p14:creationId xmlns:p14="http://schemas.microsoft.com/office/powerpoint/2010/main" val="1450260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ChatGPT・Copilotとの使い分け</a:t>
            </a:r>
          </a:p>
        </p:txBody>
      </p:sp>
      <p:sp>
        <p:nvSpPr>
          <p:cNvPr id="20" name="Header BG 0"/>
          <p:cNvSpPr/>
          <p:nvPr/>
        </p:nvSpPr>
        <p:spPr>
          <a:xfrm>
            <a:off x="2651760" y="1280160"/>
            <a:ext cx="2895600" cy="548640"/>
          </a:xfrm>
          <a:prstGeom prst="roundRect">
            <a:avLst>
              <a:gd name="adj" fmla="val 6000"/>
            </a:avLst>
          </a:prstGeom>
          <a:solidFill>
            <a:srgbClr val="74AA9C">
              <a:alpha val="20000"/>
            </a:srgbClr>
          </a:solidFill>
          <a:ln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ts val="2400"/>
              </a:lnSpc>
            </a:pPr>
            <a:r>
              <a:rPr lang="en-US" sz="1600" b="1" dirty="0">
                <a:solidFill>
                  <a:srgbClr val="74AA9C"/>
                </a:solidFill>
                <a:latin typeface="Hiragino Sans"/>
              </a:rPr>
              <a:t>ChatGPT</a:t>
            </a:r>
          </a:p>
        </p:txBody>
      </p:sp>
      <p:sp>
        <p:nvSpPr>
          <p:cNvPr id="22" name="Header BG 1"/>
          <p:cNvSpPr/>
          <p:nvPr/>
        </p:nvSpPr>
        <p:spPr>
          <a:xfrm>
            <a:off x="5638800" y="1280160"/>
            <a:ext cx="2895600" cy="548640"/>
          </a:xfrm>
          <a:prstGeom prst="roundRect">
            <a:avLst>
              <a:gd name="adj" fmla="val 6000"/>
            </a:avLst>
          </a:prstGeom>
          <a:solidFill>
            <a:srgbClr val="79B8FF">
              <a:alpha val="20000"/>
            </a:srgbClr>
          </a:solidFill>
          <a:ln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ts val="2400"/>
              </a:lnSpc>
            </a:pPr>
            <a:r>
              <a:rPr lang="en-US" sz="1600" b="1" dirty="0">
                <a:solidFill>
                  <a:srgbClr val="79B8FF"/>
                </a:solidFill>
                <a:latin typeface="Hiragino Sans"/>
              </a:rPr>
              <a:t>GitHub Copilot</a:t>
            </a:r>
          </a:p>
        </p:txBody>
      </p:sp>
      <p:sp>
        <p:nvSpPr>
          <p:cNvPr id="24" name="Header BG 2"/>
          <p:cNvSpPr/>
          <p:nvPr/>
        </p:nvSpPr>
        <p:spPr>
          <a:xfrm>
            <a:off x="8625840" y="1280160"/>
            <a:ext cx="2895600" cy="548640"/>
          </a:xfrm>
          <a:prstGeom prst="roundRect">
            <a:avLst>
              <a:gd name="adj" fmla="val 6000"/>
            </a:avLst>
          </a:prstGeom>
          <a:solidFill>
            <a:srgbClr val="D97757">
              <a:alpha val="20000"/>
            </a:srgbClr>
          </a:solidFill>
          <a:ln>
            <a:noFill/>
          </a:ln>
        </p:spPr>
        <p:txBody>
          <a:bodyPr anchor="ctr">
            <a:noAutofit/>
          </a:bodyPr>
          <a:lstStyle/>
          <a:p>
            <a:pPr algn="ctr">
              <a:lnSpc>
                <a:spcPts val="2400"/>
              </a:lnSpc>
            </a:pPr>
            <a:r>
              <a:rPr lang="en-US" sz="1600" b="1" dirty="0">
                <a:solidFill>
                  <a:srgbClr val="D97757"/>
                </a:solidFill>
                <a:latin typeface="Hiragino Sans"/>
              </a:rPr>
              <a:t>Claude Code</a:t>
            </a:r>
          </a:p>
        </p:txBody>
      </p:sp>
      <p:sp>
        <p:nvSpPr>
          <p:cNvPr id="40" name="Label 0"/>
          <p:cNvSpPr txBox="1"/>
          <p:nvPr/>
        </p:nvSpPr>
        <p:spPr>
          <a:xfrm>
            <a:off x="731520" y="1920240"/>
            <a:ext cx="1828800" cy="7680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ts val="2000"/>
              </a:lnSpc>
            </a:pPr>
            <a:r>
              <a:rPr lang="ja-JP" sz="1400" b="1" dirty="0">
                <a:solidFill>
                  <a:srgbClr val="B0AEA5"/>
                </a:solidFill>
                <a:latin typeface="Hiragino Sans"/>
              </a:rPr>
              <a:t>どこで使う？</a:t>
            </a:r>
          </a:p>
        </p:txBody>
      </p:sp>
      <p:sp>
        <p:nvSpPr>
          <p:cNvPr id="50" name="Cell BG 0-0"/>
          <p:cNvSpPr/>
          <p:nvPr/>
        </p:nvSpPr>
        <p:spPr>
          <a:xfrm>
            <a:off x="2651760" y="1920240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Cell Text 0-0"/>
          <p:cNvSpPr txBox="1"/>
          <p:nvPr/>
        </p:nvSpPr>
        <p:spPr>
          <a:xfrm>
            <a:off x="2788920" y="1965960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ブラウザのチャット画面</a:t>
            </a:r>
          </a:p>
        </p:txBody>
      </p:sp>
      <p:sp>
        <p:nvSpPr>
          <p:cNvPr id="52" name="Cell BG 0-1"/>
          <p:cNvSpPr/>
          <p:nvPr/>
        </p:nvSpPr>
        <p:spPr>
          <a:xfrm>
            <a:off x="5638800" y="1920240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Cell Text 0-1"/>
          <p:cNvSpPr txBox="1"/>
          <p:nvPr/>
        </p:nvSpPr>
        <p:spPr>
          <a:xfrm>
            <a:off x="5775960" y="1965960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VSCodeの中
（エディタ拡張）</a:t>
            </a:r>
          </a:p>
        </p:txBody>
      </p:sp>
      <p:sp>
        <p:nvSpPr>
          <p:cNvPr id="54" name="Cell BG 0-2"/>
          <p:cNvSpPr/>
          <p:nvPr/>
        </p:nvSpPr>
        <p:spPr>
          <a:xfrm>
            <a:off x="8625840" y="1920240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Cell Text 0-2"/>
          <p:cNvSpPr txBox="1"/>
          <p:nvPr/>
        </p:nvSpPr>
        <p:spPr>
          <a:xfrm>
            <a:off x="8763000" y="1965960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FAF9F5"/>
                </a:solidFill>
                <a:latin typeface="Hiragino Sans"/>
              </a:rPr>
              <a:t>ターミナル
（黒い画面）</a:t>
            </a:r>
          </a:p>
        </p:txBody>
      </p:sp>
      <p:sp>
        <p:nvSpPr>
          <p:cNvPr id="41" name="Label 1"/>
          <p:cNvSpPr txBox="1"/>
          <p:nvPr/>
        </p:nvSpPr>
        <p:spPr>
          <a:xfrm>
            <a:off x="731520" y="2779776"/>
            <a:ext cx="1828800" cy="7680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ts val="2000"/>
              </a:lnSpc>
            </a:pPr>
            <a:r>
              <a:rPr lang="ja-JP" sz="1400" b="1" dirty="0">
                <a:solidFill>
                  <a:srgbClr val="B0AEA5"/>
                </a:solidFill>
                <a:latin typeface="Hiragino Sans"/>
              </a:rPr>
              <a:t>何をしてくれる？</a:t>
            </a:r>
          </a:p>
        </p:txBody>
      </p:sp>
      <p:sp>
        <p:nvSpPr>
          <p:cNvPr id="56" name="Cell BG 1-0"/>
          <p:cNvSpPr/>
          <p:nvPr/>
        </p:nvSpPr>
        <p:spPr>
          <a:xfrm>
            <a:off x="2651760" y="2779776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7" name="Cell Text 1-0"/>
          <p:cNvSpPr txBox="1"/>
          <p:nvPr/>
        </p:nvSpPr>
        <p:spPr>
          <a:xfrm>
            <a:off x="2788920" y="2825496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質問すると
答えてくれる</a:t>
            </a:r>
          </a:p>
        </p:txBody>
      </p:sp>
      <p:sp>
        <p:nvSpPr>
          <p:cNvPr id="58" name="Cell BG 1-1"/>
          <p:cNvSpPr/>
          <p:nvPr/>
        </p:nvSpPr>
        <p:spPr>
          <a:xfrm>
            <a:off x="5638800" y="2779776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9" name="Cell Text 1-1"/>
          <p:cNvSpPr txBox="1"/>
          <p:nvPr/>
        </p:nvSpPr>
        <p:spPr>
          <a:xfrm>
            <a:off x="5775960" y="2825496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コードの続きを
提案してくれる</a:t>
            </a:r>
          </a:p>
        </p:txBody>
      </p:sp>
      <p:sp>
        <p:nvSpPr>
          <p:cNvPr id="60" name="Cell BG 1-2"/>
          <p:cNvSpPr/>
          <p:nvPr/>
        </p:nvSpPr>
        <p:spPr>
          <a:xfrm>
            <a:off x="8625840" y="2779776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Cell Text 1-2"/>
          <p:cNvSpPr txBox="1"/>
          <p:nvPr/>
        </p:nvSpPr>
        <p:spPr>
          <a:xfrm>
            <a:off x="8763000" y="2825496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FAF9F5"/>
                </a:solidFill>
                <a:latin typeface="Hiragino Sans"/>
              </a:rPr>
              <a:t>指示すると
調査→計画→実装→検証
まで一連でやる</a:t>
            </a:r>
          </a:p>
        </p:txBody>
      </p:sp>
      <p:sp>
        <p:nvSpPr>
          <p:cNvPr id="42" name="Label 2"/>
          <p:cNvSpPr txBox="1"/>
          <p:nvPr/>
        </p:nvSpPr>
        <p:spPr>
          <a:xfrm>
            <a:off x="731520" y="3639312"/>
            <a:ext cx="1828800" cy="7680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ts val="2000"/>
              </a:lnSpc>
            </a:pPr>
            <a:r>
              <a:rPr lang="ja-JP" sz="1400" b="1" dirty="0">
                <a:solidFill>
                  <a:srgbClr val="B0AEA5"/>
                </a:solidFill>
                <a:latin typeface="Hiragino Sans"/>
              </a:rPr>
              <a:t>やりとりの例</a:t>
            </a:r>
          </a:p>
        </p:txBody>
      </p:sp>
      <p:sp>
        <p:nvSpPr>
          <p:cNvPr id="62" name="Cell BG 2-0"/>
          <p:cNvSpPr/>
          <p:nvPr/>
        </p:nvSpPr>
        <p:spPr>
          <a:xfrm>
            <a:off x="2651760" y="3639312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Cell Text 2-0"/>
          <p:cNvSpPr txBox="1"/>
          <p:nvPr/>
        </p:nvSpPr>
        <p:spPr>
          <a:xfrm>
            <a:off x="2788920" y="3685032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「この設計
 どう思う？」</a:t>
            </a:r>
          </a:p>
        </p:txBody>
      </p:sp>
      <p:sp>
        <p:nvSpPr>
          <p:cNvPr id="64" name="Cell BG 2-1"/>
          <p:cNvSpPr/>
          <p:nvPr/>
        </p:nvSpPr>
        <p:spPr>
          <a:xfrm>
            <a:off x="5638800" y="3639312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5" name="Cell Text 2-1"/>
          <p:cNvSpPr txBox="1"/>
          <p:nvPr/>
        </p:nvSpPr>
        <p:spPr>
          <a:xfrm>
            <a:off x="5775960" y="3685032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（書いてると
 候補が出る）</a:t>
            </a:r>
          </a:p>
        </p:txBody>
      </p:sp>
      <p:sp>
        <p:nvSpPr>
          <p:cNvPr id="66" name="Cell BG 2-2"/>
          <p:cNvSpPr/>
          <p:nvPr/>
        </p:nvSpPr>
        <p:spPr>
          <a:xfrm>
            <a:off x="8625840" y="3639312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7" name="Cell Text 2-2"/>
          <p:cNvSpPr txBox="1"/>
          <p:nvPr/>
        </p:nvSpPr>
        <p:spPr>
          <a:xfrm>
            <a:off x="8763000" y="3685032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FAF9F5"/>
                </a:solidFill>
                <a:latin typeface="Hiragino Sans"/>
              </a:rPr>
              <a:t>「このバグの原因を
 調べて修正案を出して」</a:t>
            </a:r>
          </a:p>
        </p:txBody>
      </p:sp>
      <p:sp>
        <p:nvSpPr>
          <p:cNvPr id="43" name="Label 3"/>
          <p:cNvSpPr txBox="1"/>
          <p:nvPr/>
        </p:nvSpPr>
        <p:spPr>
          <a:xfrm>
            <a:off x="731520" y="4498848"/>
            <a:ext cx="1828800" cy="7680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ts val="2000"/>
              </a:lnSpc>
            </a:pPr>
            <a:r>
              <a:rPr lang="ja-JP" sz="1400" b="1" dirty="0">
                <a:solidFill>
                  <a:srgbClr val="B0AEA5"/>
                </a:solidFill>
                <a:latin typeface="Hiragino Sans"/>
              </a:rPr>
              <a:t>見ているもの</a:t>
            </a:r>
          </a:p>
        </p:txBody>
      </p:sp>
      <p:sp>
        <p:nvSpPr>
          <p:cNvPr id="68" name="Cell BG 3-0"/>
          <p:cNvSpPr/>
          <p:nvPr/>
        </p:nvSpPr>
        <p:spPr>
          <a:xfrm>
            <a:off x="2651760" y="4498848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9" name="Cell Text 3-0"/>
          <p:cNvSpPr txBox="1"/>
          <p:nvPr/>
        </p:nvSpPr>
        <p:spPr>
          <a:xfrm>
            <a:off x="2788920" y="4544568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あなたが貼った
テキストだけ</a:t>
            </a:r>
          </a:p>
        </p:txBody>
      </p:sp>
      <p:sp>
        <p:nvSpPr>
          <p:cNvPr id="70" name="Cell BG 3-1"/>
          <p:cNvSpPr/>
          <p:nvPr/>
        </p:nvSpPr>
        <p:spPr>
          <a:xfrm>
            <a:off x="5638800" y="4498848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Cell Text 3-1"/>
          <p:cNvSpPr txBox="1"/>
          <p:nvPr/>
        </p:nvSpPr>
        <p:spPr>
          <a:xfrm>
            <a:off x="5775960" y="4544568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今開いている
ファイル</a:t>
            </a:r>
          </a:p>
        </p:txBody>
      </p:sp>
      <p:sp>
        <p:nvSpPr>
          <p:cNvPr id="72" name="Cell BG 3-2"/>
          <p:cNvSpPr/>
          <p:nvPr/>
        </p:nvSpPr>
        <p:spPr>
          <a:xfrm>
            <a:off x="8625840" y="4498848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" name="Cell Text 3-2"/>
          <p:cNvSpPr txBox="1"/>
          <p:nvPr/>
        </p:nvSpPr>
        <p:spPr>
          <a:xfrm>
            <a:off x="8763000" y="4544568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FAF9F5"/>
                </a:solidFill>
                <a:latin typeface="Hiragino Sans"/>
              </a:rPr>
              <a:t>プロジェクトの
ファイル全部
＋Webも検索</a:t>
            </a:r>
          </a:p>
        </p:txBody>
      </p:sp>
      <p:sp>
        <p:nvSpPr>
          <p:cNvPr id="44" name="Label 4"/>
          <p:cNvSpPr txBox="1"/>
          <p:nvPr/>
        </p:nvSpPr>
        <p:spPr>
          <a:xfrm>
            <a:off x="731520" y="5358384"/>
            <a:ext cx="1828800" cy="7680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ts val="2000"/>
              </a:lnSpc>
            </a:pPr>
            <a:r>
              <a:rPr lang="ja-JP" sz="1400" b="1" dirty="0">
                <a:solidFill>
                  <a:srgbClr val="B0AEA5"/>
                </a:solidFill>
                <a:latin typeface="Hiragino Sans"/>
              </a:rPr>
              <a:t>あなたの役割</a:t>
            </a:r>
          </a:p>
        </p:txBody>
      </p:sp>
      <p:sp>
        <p:nvSpPr>
          <p:cNvPr id="74" name="Cell BG 4-0"/>
          <p:cNvSpPr/>
          <p:nvPr/>
        </p:nvSpPr>
        <p:spPr>
          <a:xfrm>
            <a:off x="2651760" y="5358384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5" name="Cell Text 4-0"/>
          <p:cNvSpPr txBox="1"/>
          <p:nvPr/>
        </p:nvSpPr>
        <p:spPr>
          <a:xfrm>
            <a:off x="2788920" y="5404104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質問を考える
回答を判断する</a:t>
            </a:r>
          </a:p>
        </p:txBody>
      </p:sp>
      <p:sp>
        <p:nvSpPr>
          <p:cNvPr id="76" name="Cell BG 4-1"/>
          <p:cNvSpPr/>
          <p:nvPr/>
        </p:nvSpPr>
        <p:spPr>
          <a:xfrm>
            <a:off x="5638800" y="5358384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7" name="Cell Text 4-1"/>
          <p:cNvSpPr txBox="1"/>
          <p:nvPr/>
        </p:nvSpPr>
        <p:spPr>
          <a:xfrm>
            <a:off x="5775960" y="5404104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補完候補を
Tab/Escで選ぶ</a:t>
            </a:r>
          </a:p>
        </p:txBody>
      </p:sp>
      <p:sp>
        <p:nvSpPr>
          <p:cNvPr id="78" name="Cell BG 4-2"/>
          <p:cNvSpPr/>
          <p:nvPr/>
        </p:nvSpPr>
        <p:spPr>
          <a:xfrm>
            <a:off x="8625840" y="5358384"/>
            <a:ext cx="2895600" cy="768096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Cell Text 4-2"/>
          <p:cNvSpPr txBox="1"/>
          <p:nvPr/>
        </p:nvSpPr>
        <p:spPr>
          <a:xfrm>
            <a:off x="8763000" y="5404104"/>
            <a:ext cx="2621280" cy="6766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lang="ja-JP" sz="1400" b="0" dirty="0">
                <a:solidFill>
                  <a:srgbClr val="FAF9F5"/>
                </a:solidFill>
                <a:latin typeface="Hiragino Sans"/>
              </a:rPr>
              <a:t>方向づけと判断
の2回だけ</a:t>
            </a:r>
          </a:p>
        </p:txBody>
      </p:sp>
      <p:sp>
        <p:nvSpPr>
          <p:cNvPr id="90" name="Footer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lang="ja-JP" sz="1400" b="0" dirty="0">
                <a:solidFill>
                  <a:srgbClr val="B0AEA5"/>
                </a:solidFill>
                <a:latin typeface="Hiragino Sans"/>
              </a:rPr>
              <a:t>→ 排他的ではなく補完的。併用するのがおすすめ</a:t>
            </a:r>
          </a:p>
        </p:txBody>
      </p:sp>
      <p:sp>
        <p:nvSpPr>
          <p:cNvPr id="99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6 / 16</a:t>
            </a:r>
          </a:p>
        </p:txBody>
      </p:sp>
    </p:spTree>
    <p:extLst>
      <p:ext uri="{BB962C8B-B14F-4D97-AF65-F5344CB8AC3E}">
        <p14:creationId xmlns:p14="http://schemas.microsoft.com/office/powerpoint/2010/main" val="335202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開発フローがどう変わるか</a:t>
            </a:r>
          </a:p>
        </p:txBody>
      </p:sp>
      <p:sp>
        <p:nvSpPr>
          <p:cNvPr id="15" name="Left Header"/>
          <p:cNvSpPr txBox="1"/>
          <p:nvPr/>
        </p:nvSpPr>
        <p:spPr>
          <a:xfrm>
            <a:off x="731520" y="118872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</a:pPr>
            <a:r>
              <a:rPr lang="ja-JP" sz="1800" b="1" dirty="0">
                <a:solidFill>
                  <a:srgbClr val="D97757"/>
                </a:solidFill>
                <a:latin typeface="Hiragino Sans"/>
              </a:rPr>
              <a:t>従来の開発フロー</a:t>
            </a:r>
          </a:p>
        </p:txBody>
      </p:sp>
      <p:sp>
        <p:nvSpPr>
          <p:cNvPr id="16" name="Right Header"/>
          <p:cNvSpPr txBox="1"/>
          <p:nvPr/>
        </p:nvSpPr>
        <p:spPr>
          <a:xfrm>
            <a:off x="6355080" y="118872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</a:pPr>
            <a:r>
              <a:rPr lang="ja-JP" sz="1800" b="1" dirty="0">
                <a:solidFill>
                  <a:srgbClr val="6A9BCC"/>
                </a:solidFill>
                <a:latin typeface="Hiragino Sans"/>
              </a:rPr>
              <a:t>Claude Code を使った開発フロー</a:t>
            </a:r>
          </a:p>
        </p:txBody>
      </p:sp>
      <p:sp>
        <p:nvSpPr>
          <p:cNvPr id="20" name="L Row 0"/>
          <p:cNvSpPr/>
          <p:nvPr/>
        </p:nvSpPr>
        <p:spPr>
          <a:xfrm>
            <a:off x="731520" y="164592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コードを読む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21" name="L Arrow 0"/>
          <p:cNvSpPr/>
          <p:nvPr/>
        </p:nvSpPr>
        <p:spPr>
          <a:xfrm rot="5400000">
            <a:off x="3223260" y="2171700"/>
            <a:ext cx="137160" cy="91440"/>
          </a:xfrm>
          <a:prstGeom prst="chevron">
            <a:avLst>
              <a:gd name="adj" fmla="val 50000"/>
            </a:avLst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L Row 1"/>
          <p:cNvSpPr/>
          <p:nvPr/>
        </p:nvSpPr>
        <p:spPr>
          <a:xfrm>
            <a:off x="731520" y="228600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方針を考える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23" name="L Arrow 1"/>
          <p:cNvSpPr/>
          <p:nvPr/>
        </p:nvSpPr>
        <p:spPr>
          <a:xfrm rot="5400000">
            <a:off x="3223260" y="2811780"/>
            <a:ext cx="137160" cy="91440"/>
          </a:xfrm>
          <a:prstGeom prst="chevron">
            <a:avLst>
              <a:gd name="adj" fmla="val 50000"/>
            </a:avLst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L Row 2"/>
          <p:cNvSpPr/>
          <p:nvPr/>
        </p:nvSpPr>
        <p:spPr>
          <a:xfrm>
            <a:off x="731520" y="292608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コードを書く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25" name="L Arrow 2"/>
          <p:cNvSpPr/>
          <p:nvPr/>
        </p:nvSpPr>
        <p:spPr>
          <a:xfrm rot="5400000">
            <a:off x="3223260" y="3451860"/>
            <a:ext cx="137160" cy="91440"/>
          </a:xfrm>
          <a:prstGeom prst="chevron">
            <a:avLst>
              <a:gd name="adj" fmla="val 50000"/>
            </a:avLst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L Row 3"/>
          <p:cNvSpPr/>
          <p:nvPr/>
        </p:nvSpPr>
        <p:spPr>
          <a:xfrm>
            <a:off x="731520" y="356616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テスト実行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27" name="L Arrow 3"/>
          <p:cNvSpPr/>
          <p:nvPr/>
        </p:nvSpPr>
        <p:spPr>
          <a:xfrm rot="5400000">
            <a:off x="3223260" y="4091940"/>
            <a:ext cx="137160" cy="91440"/>
          </a:xfrm>
          <a:prstGeom prst="chevron">
            <a:avLst>
              <a:gd name="adj" fmla="val 50000"/>
            </a:avLst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L Row 4"/>
          <p:cNvSpPr/>
          <p:nvPr/>
        </p:nvSpPr>
        <p:spPr>
          <a:xfrm>
            <a:off x="731520" y="420624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デバッグ・修正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29" name="L Arrow 4"/>
          <p:cNvSpPr/>
          <p:nvPr/>
        </p:nvSpPr>
        <p:spPr>
          <a:xfrm rot="5400000">
            <a:off x="3223260" y="4732020"/>
            <a:ext cx="137160" cy="91440"/>
          </a:xfrm>
          <a:prstGeom prst="chevron">
            <a:avLst>
              <a:gd name="adj" fmla="val 50000"/>
            </a:avLst>
          </a:prstGeom>
          <a:solidFill>
            <a:srgbClr val="D97757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L Row 5"/>
          <p:cNvSpPr/>
          <p:nvPr/>
        </p:nvSpPr>
        <p:spPr>
          <a:xfrm>
            <a:off x="731520" y="484632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2D2926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差分整理・PR作成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50" name="R Row 0"/>
          <p:cNvSpPr/>
          <p:nvPr/>
        </p:nvSpPr>
        <p:spPr>
          <a:xfrm>
            <a:off x="6355080" y="164592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3D2A20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目標・背景を伝える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51" name="R Arrow 0"/>
          <p:cNvSpPr/>
          <p:nvPr/>
        </p:nvSpPr>
        <p:spPr>
          <a:xfrm rot="5400000">
            <a:off x="8846820" y="2171700"/>
            <a:ext cx="137160" cy="91440"/>
          </a:xfrm>
          <a:prstGeom prst="chevron">
            <a:avLst>
              <a:gd name="adj" fmla="val 50000"/>
            </a:avLst>
          </a:prstGeom>
          <a:solidFill>
            <a:srgbClr val="6A9BC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R Row 1"/>
          <p:cNvSpPr/>
          <p:nvPr/>
        </p:nvSpPr>
        <p:spPr>
          <a:xfrm>
            <a:off x="6355080" y="228600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1E2A35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6A9BCC"/>
                </a:solidFill>
                <a:latin typeface="Hiragino Sans"/>
              </a:rPr>
              <a:t>コード調査</a:t>
            </a:r>
            <a:r>
              <a:rPr lang="en-US" sz="1200" b="0" dirty="0">
                <a:solidFill>
                  <a:srgbClr val="6A9BCC">
                    <a:alpha val="60000"/>
                  </a:srgbClr>
                </a:solidFill>
                <a:latin typeface="Helvetica Neue"/>
              </a:rPr>
              <a:t>  Claude</a:t>
            </a:r>
          </a:p>
        </p:txBody>
      </p:sp>
      <p:sp>
        <p:nvSpPr>
          <p:cNvPr id="53" name="R Arrow 1"/>
          <p:cNvSpPr/>
          <p:nvPr/>
        </p:nvSpPr>
        <p:spPr>
          <a:xfrm rot="5400000">
            <a:off x="8846820" y="2811780"/>
            <a:ext cx="137160" cy="91440"/>
          </a:xfrm>
          <a:prstGeom prst="chevron">
            <a:avLst>
              <a:gd name="adj" fmla="val 50000"/>
            </a:avLst>
          </a:prstGeom>
          <a:solidFill>
            <a:srgbClr val="6A9BC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R Row 2"/>
          <p:cNvSpPr/>
          <p:nvPr/>
        </p:nvSpPr>
        <p:spPr>
          <a:xfrm>
            <a:off x="6355080" y="292608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1E2A35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6A9BCC"/>
                </a:solidFill>
                <a:latin typeface="Hiragino Sans"/>
              </a:rPr>
              <a:t>計画提案</a:t>
            </a:r>
            <a:r>
              <a:rPr lang="en-US" sz="1200" b="0" dirty="0">
                <a:solidFill>
                  <a:srgbClr val="6A9BCC">
                    <a:alpha val="60000"/>
                  </a:srgbClr>
                </a:solidFill>
                <a:latin typeface="Helvetica Neue"/>
              </a:rPr>
              <a:t>  Claude</a:t>
            </a:r>
          </a:p>
        </p:txBody>
      </p:sp>
      <p:sp>
        <p:nvSpPr>
          <p:cNvPr id="55" name="R Arrow 2"/>
          <p:cNvSpPr/>
          <p:nvPr/>
        </p:nvSpPr>
        <p:spPr>
          <a:xfrm rot="5400000">
            <a:off x="8846820" y="3451860"/>
            <a:ext cx="137160" cy="91440"/>
          </a:xfrm>
          <a:prstGeom prst="chevron">
            <a:avLst>
              <a:gd name="adj" fmla="val 50000"/>
            </a:avLst>
          </a:prstGeom>
          <a:solidFill>
            <a:srgbClr val="6A9BC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R Row 3"/>
          <p:cNvSpPr/>
          <p:nvPr/>
        </p:nvSpPr>
        <p:spPr>
          <a:xfrm>
            <a:off x="6355080" y="356616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3D2A20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E8956F"/>
                </a:solidFill>
                <a:latin typeface="Hiragino Sans"/>
              </a:rPr>
              <a:t>レビュー</a:t>
            </a:r>
            <a:r>
              <a:rPr lang="en-US" sz="1200" b="0" dirty="0">
                <a:solidFill>
                  <a:srgbClr val="D97757">
                    <a:alpha val="60000"/>
                  </a:srgbClr>
                </a:solidFill>
                <a:latin typeface="Helvetica Neue"/>
              </a:rPr>
              <a:t>  Developer</a:t>
            </a:r>
          </a:p>
        </p:txBody>
      </p:sp>
      <p:sp>
        <p:nvSpPr>
          <p:cNvPr id="57" name="R Arrow 3"/>
          <p:cNvSpPr/>
          <p:nvPr/>
        </p:nvSpPr>
        <p:spPr>
          <a:xfrm rot="5400000">
            <a:off x="8846820" y="4091940"/>
            <a:ext cx="137160" cy="91440"/>
          </a:xfrm>
          <a:prstGeom prst="chevron">
            <a:avLst>
              <a:gd name="adj" fmla="val 50000"/>
            </a:avLst>
          </a:prstGeom>
          <a:solidFill>
            <a:srgbClr val="6A9BC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8" name="R Row 4"/>
          <p:cNvSpPr/>
          <p:nvPr/>
        </p:nvSpPr>
        <p:spPr>
          <a:xfrm>
            <a:off x="6355080" y="420624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1E2A35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6A9BCC"/>
                </a:solidFill>
                <a:latin typeface="Hiragino Sans"/>
              </a:rPr>
              <a:t>実装・テスト・検証</a:t>
            </a:r>
            <a:r>
              <a:rPr lang="en-US" sz="1200" b="0" dirty="0">
                <a:solidFill>
                  <a:srgbClr val="6A9BCC">
                    <a:alpha val="60000"/>
                  </a:srgbClr>
                </a:solidFill>
                <a:latin typeface="Helvetica Neue"/>
              </a:rPr>
              <a:t>  Claude</a:t>
            </a:r>
          </a:p>
        </p:txBody>
      </p:sp>
      <p:sp>
        <p:nvSpPr>
          <p:cNvPr id="59" name="R Arrow 4"/>
          <p:cNvSpPr/>
          <p:nvPr/>
        </p:nvSpPr>
        <p:spPr>
          <a:xfrm rot="5400000">
            <a:off x="8846820" y="4732020"/>
            <a:ext cx="137160" cy="91440"/>
          </a:xfrm>
          <a:prstGeom prst="chevron">
            <a:avLst>
              <a:gd name="adj" fmla="val 50000"/>
            </a:avLst>
          </a:prstGeom>
          <a:solidFill>
            <a:srgbClr val="6A9BCC">
              <a:alpha val="3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R Row 5"/>
          <p:cNvSpPr/>
          <p:nvPr/>
        </p:nvSpPr>
        <p:spPr>
          <a:xfrm>
            <a:off x="6355080" y="4846320"/>
            <a:ext cx="5074920" cy="548640"/>
          </a:xfrm>
          <a:prstGeom prst="roundRect">
            <a:avLst>
              <a:gd name="adj" fmla="val 8000"/>
            </a:avLst>
          </a:prstGeom>
          <a:solidFill>
            <a:srgbClr val="1E2A35"/>
          </a:solidFill>
          <a:ln>
            <a:noFill/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600" b="1" dirty="0">
                <a:solidFill>
                  <a:srgbClr val="6A9BCC"/>
                </a:solidFill>
                <a:latin typeface="Hiragino Sans"/>
              </a:rPr>
              <a:t>差分整理・PR作成</a:t>
            </a:r>
            <a:r>
              <a:rPr lang="en-US" sz="1200" b="0" dirty="0">
                <a:solidFill>
                  <a:srgbClr val="6A9BCC">
                    <a:alpha val="60000"/>
                  </a:srgbClr>
                </a:solidFill>
                <a:latin typeface="Helvetica Neue"/>
              </a:rPr>
              <a:t>  Claude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→ 開発者の出番は「方向づけ」と「判断」の2回だけになる</a:t>
            </a:r>
          </a:p>
        </p:txBody>
      </p:sp>
      <p:sp>
        <p:nvSpPr>
          <p:cNvPr id="99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7 / 16</a:t>
            </a:r>
          </a:p>
        </p:txBody>
      </p:sp>
    </p:spTree>
    <p:extLst>
      <p:ext uri="{BB962C8B-B14F-4D97-AF65-F5344CB8AC3E}">
        <p14:creationId xmlns:p14="http://schemas.microsoft.com/office/powerpoint/2010/main" val="1183671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1 — Claude Code とは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具体例で見てみる</a:t>
            </a:r>
          </a:p>
        </p:txBody>
      </p:sp>
      <p:sp>
        <p:nvSpPr>
          <p:cNvPr id="12" name="Scenario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</a:pPr>
            <a:r>
              <a:rPr lang="ja-JP" sz="1600" b="0" dirty="0">
                <a:solidFill>
                  <a:srgbClr val="B0AEA5"/>
                </a:solidFill>
                <a:latin typeface="Hiragino Sans"/>
              </a:rPr>
              <a:t>例：「CIが落ちた。原因を調査して修正案を出して」</a:t>
            </a:r>
          </a:p>
        </p:txBody>
      </p:sp>
      <p:sp>
        <p:nvSpPr>
          <p:cNvPr id="15" name="Timeline"/>
          <p:cNvSpPr/>
          <p:nvPr/>
        </p:nvSpPr>
        <p:spPr>
          <a:xfrm>
            <a:off x="6086475" y="1554480"/>
            <a:ext cx="19050" cy="4389120"/>
          </a:xfrm>
          <a:prstGeom prst="rect">
            <a:avLst/>
          </a:prstGeom>
          <a:solidFill>
            <a:srgbClr val="3D38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Dot 0"/>
          <p:cNvSpPr/>
          <p:nvPr/>
        </p:nvSpPr>
        <p:spPr>
          <a:xfrm>
            <a:off x="6004560" y="2011680"/>
            <a:ext cx="182880" cy="1828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Bubble 0"/>
          <p:cNvSpPr/>
          <p:nvPr/>
        </p:nvSpPr>
        <p:spPr>
          <a:xfrm>
            <a:off x="1295400" y="1600200"/>
            <a:ext cx="4572000" cy="1005840"/>
          </a:xfrm>
          <a:prstGeom prst="roundRect">
            <a:avLst>
              <a:gd name="adj" fmla="val 5000"/>
            </a:avLst>
          </a:prstGeom>
          <a:solidFill>
            <a:srgbClr val="3D2A2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Bubble Text 0"/>
          <p:cNvSpPr txBox="1"/>
          <p:nvPr/>
        </p:nvSpPr>
        <p:spPr>
          <a:xfrm>
            <a:off x="1478280" y="164592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200"/>
              </a:spcAft>
            </a:pPr>
            <a:r>
              <a:rPr lang="en-US" sz="1200" b="1" dirty="0">
                <a:solidFill>
                  <a:srgbClr val="D97757">
                    <a:alpha val="70000"/>
                  </a:srgbClr>
                </a:solidFill>
                <a:latin typeface="Helvetica Neue"/>
              </a:rPr>
              <a:t>Developer</a:t>
            </a:r>
            <a:r>
              <a:rPr lang="ja-JP" sz="1400" b="1" dirty="0">
                <a:solidFill>
                  <a:srgbClr val="E8956F"/>
                </a:solidFill>
                <a:latin typeface="Hiragino Sans"/>
              </a:rPr>
              <a:t>  方向づけ</a:t>
            </a:r>
          </a:p>
          <a:p>
            <a:pPr algn="l">
              <a:lnSpc>
                <a:spcPts val="1800"/>
              </a:lnSpc>
            </a:pPr>
            <a:r>
              <a:rPr lang="ja-JP" sz="1200" b="0" dirty="0">
                <a:solidFill>
                  <a:srgbClr val="C5C3BB"/>
                </a:solidFill>
                <a:latin typeface="SF Mono"/>
              </a:rPr>
              <a:t>CIが落ちた。
ログを要約して
原因候補を3つ挙げて</a:t>
            </a:r>
          </a:p>
        </p:txBody>
      </p:sp>
      <p:sp>
        <p:nvSpPr>
          <p:cNvPr id="23" name="Dot 1"/>
          <p:cNvSpPr/>
          <p:nvPr/>
        </p:nvSpPr>
        <p:spPr>
          <a:xfrm>
            <a:off x="6004560" y="3108960"/>
            <a:ext cx="182880" cy="18288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Bubble 1"/>
          <p:cNvSpPr/>
          <p:nvPr/>
        </p:nvSpPr>
        <p:spPr>
          <a:xfrm>
            <a:off x="6324600" y="2697480"/>
            <a:ext cx="4572000" cy="1005840"/>
          </a:xfrm>
          <a:prstGeom prst="roundRect">
            <a:avLst>
              <a:gd name="adj" fmla="val 5000"/>
            </a:avLst>
          </a:prstGeom>
          <a:solidFill>
            <a:srgbClr val="1E2A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Bubble Text 1"/>
          <p:cNvSpPr txBox="1"/>
          <p:nvPr/>
        </p:nvSpPr>
        <p:spPr>
          <a:xfrm>
            <a:off x="6507480" y="27432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200"/>
              </a:spcAft>
            </a:pPr>
            <a:r>
              <a:rPr lang="en-US" sz="1200" b="1" dirty="0">
                <a:solidFill>
                  <a:srgbClr val="6A9BCC">
                    <a:alpha val="70000"/>
                  </a:srgbClr>
                </a:solidFill>
                <a:latin typeface="Helvetica Neue"/>
              </a:rPr>
              <a:t>Claude</a:t>
            </a:r>
            <a:r>
              <a:rPr lang="ja-JP" sz="1400" b="1" dirty="0">
                <a:solidFill>
                  <a:srgbClr val="6A9BCC"/>
                </a:solidFill>
                <a:latin typeface="Hiragino Sans"/>
              </a:rPr>
              <a:t>  調査 → 計画提案</a:t>
            </a:r>
          </a:p>
          <a:p>
            <a:pPr algn="l">
              <a:lnSpc>
                <a:spcPts val="1800"/>
              </a:lnSpc>
            </a:pPr>
            <a:r>
              <a:rPr lang="ja-JP" sz="1200" b="0" dirty="0">
                <a:solidFill>
                  <a:srgbClr val="C5C3BB"/>
                </a:solidFill>
                <a:latin typeface="SF Mono"/>
              </a:rPr>
              <a:t>失敗箇所はX。
依存関係の不整合が濃厚。
原因候補を3つ提示します</a:t>
            </a:r>
          </a:p>
        </p:txBody>
      </p:sp>
      <p:sp>
        <p:nvSpPr>
          <p:cNvPr id="26" name="Dot 2"/>
          <p:cNvSpPr/>
          <p:nvPr/>
        </p:nvSpPr>
        <p:spPr>
          <a:xfrm>
            <a:off x="6004560" y="4206240"/>
            <a:ext cx="182880" cy="1828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Bubble 2"/>
          <p:cNvSpPr/>
          <p:nvPr/>
        </p:nvSpPr>
        <p:spPr>
          <a:xfrm>
            <a:off x="1295400" y="3794760"/>
            <a:ext cx="4572000" cy="1005840"/>
          </a:xfrm>
          <a:prstGeom prst="roundRect">
            <a:avLst>
              <a:gd name="adj" fmla="val 5000"/>
            </a:avLst>
          </a:prstGeom>
          <a:solidFill>
            <a:srgbClr val="3D2A2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Bubble Text 2"/>
          <p:cNvSpPr txBox="1"/>
          <p:nvPr/>
        </p:nvSpPr>
        <p:spPr>
          <a:xfrm>
            <a:off x="1478280" y="384048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200"/>
              </a:spcAft>
            </a:pPr>
            <a:r>
              <a:rPr lang="en-US" sz="1200" b="1" dirty="0">
                <a:solidFill>
                  <a:srgbClr val="D97757">
                    <a:alpha val="70000"/>
                  </a:srgbClr>
                </a:solidFill>
                <a:latin typeface="Helvetica Neue"/>
              </a:rPr>
              <a:t>Developer</a:t>
            </a:r>
            <a:r>
              <a:rPr lang="ja-JP" sz="1400" b="1" dirty="0">
                <a:solidFill>
                  <a:srgbClr val="E8956F"/>
                </a:solidFill>
                <a:latin typeface="Hiragino Sans"/>
              </a:rPr>
              <a:t>  判断</a:t>
            </a:r>
          </a:p>
          <a:p>
            <a:pPr algn="l">
              <a:lnSpc>
                <a:spcPts val="1800"/>
              </a:lnSpc>
            </a:pPr>
            <a:r>
              <a:rPr lang="ja-JP" sz="1200" b="0" dirty="0">
                <a:solidFill>
                  <a:srgbClr val="C5C3BB"/>
                </a:solidFill>
                <a:latin typeface="SF Mono"/>
              </a:rPr>
              <a:t>候補2を深掘りして。
既存仕様は変えないで</a:t>
            </a:r>
          </a:p>
        </p:txBody>
      </p:sp>
      <p:sp>
        <p:nvSpPr>
          <p:cNvPr id="29" name="Dot 3"/>
          <p:cNvSpPr/>
          <p:nvPr/>
        </p:nvSpPr>
        <p:spPr>
          <a:xfrm>
            <a:off x="6004560" y="5303520"/>
            <a:ext cx="182880" cy="18288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Bubble 3"/>
          <p:cNvSpPr/>
          <p:nvPr/>
        </p:nvSpPr>
        <p:spPr>
          <a:xfrm>
            <a:off x="6324600" y="4892040"/>
            <a:ext cx="4572000" cy="1005840"/>
          </a:xfrm>
          <a:prstGeom prst="roundRect">
            <a:avLst>
              <a:gd name="adj" fmla="val 5000"/>
            </a:avLst>
          </a:prstGeom>
          <a:solidFill>
            <a:srgbClr val="1E2A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Bubble Text 3"/>
          <p:cNvSpPr txBox="1"/>
          <p:nvPr/>
        </p:nvSpPr>
        <p:spPr>
          <a:xfrm>
            <a:off x="6507480" y="49377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200"/>
              </a:spcAft>
            </a:pPr>
            <a:r>
              <a:rPr lang="en-US" sz="1200" b="1" dirty="0">
                <a:solidFill>
                  <a:srgbClr val="6A9BCC">
                    <a:alpha val="70000"/>
                  </a:srgbClr>
                </a:solidFill>
                <a:latin typeface="Helvetica Neue"/>
              </a:rPr>
              <a:t>Claude</a:t>
            </a:r>
            <a:r>
              <a:rPr lang="ja-JP" sz="1400" b="1" dirty="0">
                <a:solidFill>
                  <a:srgbClr val="6A9BCC"/>
                </a:solidFill>
                <a:latin typeface="Hiragino Sans"/>
              </a:rPr>
              <a:t>  実行 → 取りまとめ</a:t>
            </a:r>
          </a:p>
          <a:p>
            <a:pPr algn="l">
              <a:lnSpc>
                <a:spcPts val="1800"/>
              </a:lnSpc>
            </a:pPr>
            <a:r>
              <a:rPr lang="ja-JP" sz="1200" b="0" dirty="0">
                <a:solidFill>
                  <a:srgbClr val="C5C3BB"/>
                </a:solidFill>
                <a:latin typeface="SF Mono"/>
              </a:rPr>
              <a:t>根拠と修正案を整理。
テストも追加済み。</a:t>
            </a:r>
          </a:p>
        </p:txBody>
      </p:sp>
      <p:sp>
        <p:nvSpPr>
          <p:cNvPr id="80" name="Footer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→ 「丸投げ」ではなく「要所で判断する」。この感覚が重要</a:t>
            </a:r>
          </a:p>
        </p:txBody>
      </p:sp>
      <p:sp>
        <p:nvSpPr>
          <p:cNvPr id="99" name="PageNum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8 / 16</a:t>
            </a:r>
          </a:p>
        </p:txBody>
      </p:sp>
    </p:spTree>
    <p:extLst>
      <p:ext uri="{BB962C8B-B14F-4D97-AF65-F5344CB8AC3E}">
        <p14:creationId xmlns:p14="http://schemas.microsoft.com/office/powerpoint/2010/main" val="564378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LineL"/>
          <p:cNvCxnSpPr/>
          <p:nvPr/>
        </p:nvCxnSpPr>
        <p:spPr>
          <a:xfrm>
            <a:off x="2286000" y="3302000"/>
            <a:ext cx="1524000" cy="0"/>
          </a:xfrm>
          <a:prstGeom prst="line">
            <a:avLst/>
          </a:prstGeom>
          <a:ln w="12700">
            <a:solidFill>
              <a:srgbClr val="D97757"/>
            </a:solidFill>
          </a:ln>
        </p:spPr>
      </p:cxnSp>
      <p:cxnSp>
        <p:nvCxnSpPr>
          <p:cNvPr id="3" name="LineR"/>
          <p:cNvCxnSpPr/>
          <p:nvPr/>
        </p:nvCxnSpPr>
        <p:spPr>
          <a:xfrm>
            <a:off x="8382000" y="3302000"/>
            <a:ext cx="1524000" cy="0"/>
          </a:xfrm>
          <a:prstGeom prst="line">
            <a:avLst/>
          </a:prstGeom>
          <a:ln w="12700">
            <a:solidFill>
              <a:srgbClr val="D97757"/>
            </a:solidFill>
          </a:ln>
        </p:spPr>
      </p:cxnSp>
      <p:sp>
        <p:nvSpPr>
          <p:cNvPr id="4" name="PartLabel"/>
          <p:cNvSpPr/>
          <p:nvPr/>
        </p:nvSpPr>
        <p:spPr>
          <a:xfrm>
            <a:off x="4191000" y="2159000"/>
            <a:ext cx="381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 dirty="0">
                <a:solidFill>
                  <a:srgbClr val="D97757"/>
                </a:solidFill>
                <a:latin typeface="Helvetica Neue"/>
              </a:rPr>
              <a:t>PART 2</a:t>
            </a:r>
          </a:p>
        </p:txBody>
      </p:sp>
      <p:sp>
        <p:nvSpPr>
          <p:cNvPr id="5" name="Title"/>
          <p:cNvSpPr/>
          <p:nvPr/>
        </p:nvSpPr>
        <p:spPr>
          <a:xfrm>
            <a:off x="2286000" y="2730500"/>
            <a:ext cx="762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ts val="6000"/>
              </a:lnSpc>
            </a:pPr>
            <a:r>
              <a:rPr lang="ja-JP" sz="4000" b="1" dirty="0">
                <a:solidFill>
                  <a:srgbClr val="FAF9F5"/>
                </a:solidFill>
                <a:latin typeface="Hiragino Sans"/>
              </a:rPr>
              <a:t>コミュニケーションの心得</a:t>
            </a:r>
          </a:p>
        </p:txBody>
      </p:sp>
      <p:sp>
        <p:nvSpPr>
          <p:cNvPr id="6" name="Sub"/>
          <p:cNvSpPr/>
          <p:nvPr/>
        </p:nvSpPr>
        <p:spPr>
          <a:xfrm>
            <a:off x="2286000" y="3683000"/>
            <a:ext cx="7620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3600"/>
              </a:lnSpc>
            </a:pPr>
            <a:r>
              <a:rPr lang="ja-JP" sz="2400" dirty="0">
                <a:solidFill>
                  <a:srgbClr val="C5C3BB"/>
                </a:solidFill>
                <a:latin typeface="Hiragino Sans"/>
              </a:rPr>
              <a:t>伝え方で結果が変わるのは、</a:t>
            </a:r>
          </a:p>
          <a:p>
            <a:pPr algn="ctr">
              <a:lnSpc>
                <a:spcPts val="3600"/>
              </a:lnSpc>
            </a:pPr>
            <a:r>
              <a:rPr lang="ja-JP" sz="2400" dirty="0">
                <a:solidFill>
                  <a:srgbClr val="C5C3BB"/>
                </a:solidFill>
                <a:latin typeface="Hiragino Sans"/>
              </a:rPr>
              <a:t>人間相手と同じ</a:t>
            </a:r>
          </a:p>
        </p:txBody>
      </p:sp>
      <p:sp>
        <p:nvSpPr>
          <p:cNvPr id="7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9 / 16</a:t>
            </a:r>
          </a:p>
        </p:txBody>
      </p:sp>
    </p:spTree>
    <p:extLst>
      <p:ext uri="{BB962C8B-B14F-4D97-AF65-F5344CB8AC3E}">
        <p14:creationId xmlns:p14="http://schemas.microsoft.com/office/powerpoint/2010/main" val="374494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2 — コミュニケーション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チャットボット vs エージェント</a:t>
            </a:r>
          </a:p>
        </p:txBody>
      </p:sp>
      <p:cxnSp>
        <p:nvCxnSpPr>
          <p:cNvPr id="12" name="Div"/>
          <p:cNvCxnSpPr/>
          <p:nvPr/>
        </p:nvCxnSpPr>
        <p:spPr>
          <a:xfrm>
            <a:off x="731520" y="1188720"/>
            <a:ext cx="10698480" cy="0"/>
          </a:xfrm>
          <a:prstGeom prst="line">
            <a:avLst/>
          </a:prstGeom>
          <a:ln w="9525">
            <a:solidFill>
              <a:srgbClr val="3D3835"/>
            </a:solidFill>
          </a:ln>
        </p:spPr>
      </p:cxnSp>
      <p:sp>
        <p:nvSpPr>
          <p:cNvPr id="20" name="Left BG"/>
          <p:cNvSpPr/>
          <p:nvPr/>
        </p:nvSpPr>
        <p:spPr>
          <a:xfrm>
            <a:off x="731520" y="1371600"/>
            <a:ext cx="4983720" cy="3657600"/>
          </a:xfrm>
          <a:prstGeom prst="roundRect">
            <a:avLst>
              <a:gd name="adj" fmla="val 2500"/>
            </a:avLst>
          </a:prstGeom>
          <a:solidFill>
            <a:srgbClr val="2D2926"/>
          </a:solidFill>
          <a:ln w="12700">
            <a:solidFill>
              <a:srgbClr val="E07070">
                <a:alpha val="30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Left Accent"/>
          <p:cNvSpPr/>
          <p:nvPr/>
        </p:nvSpPr>
        <p:spPr>
          <a:xfrm>
            <a:off x="731520" y="1371600"/>
            <a:ext cx="4983720" cy="54864"/>
          </a:xfrm>
          <a:prstGeom prst="roundRect">
            <a:avLst>
              <a:gd name="adj" fmla="val 50000"/>
            </a:avLst>
          </a:prstGeom>
          <a:solidFill>
            <a:srgbClr val="E070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Left Text"/>
          <p:cNvSpPr txBox="1"/>
          <p:nvPr/>
        </p:nvSpPr>
        <p:spPr>
          <a:xfrm>
            <a:off x="960120" y="1600200"/>
            <a:ext cx="4526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200"/>
              </a:spcAft>
            </a:pPr>
            <a:r>
              <a:rPr lang="ja-JP" sz="2000" b="1" dirty="0">
                <a:solidFill>
                  <a:srgbClr val="E07070"/>
                </a:solidFill>
                <a:latin typeface="Hiragino Sans"/>
              </a:rPr>
              <a:t>チャットボット</a:t>
            </a:r>
          </a:p>
          <a:p>
            <a:pPr algn="l">
              <a:lnSpc>
                <a:spcPts val="2200"/>
              </a:lnSpc>
              <a:spcAft>
                <a:spcPts val="600"/>
              </a:spcAft>
            </a:pPr>
            <a:r>
              <a:rPr lang="ja-JP" sz="1400" b="0" dirty="0">
                <a:solidFill>
                  <a:srgbClr val="B0AEA5"/>
                </a:solidFill>
                <a:latin typeface="Hiragino Sans"/>
              </a:rPr>
              <a:t>電話サポートに近い</a:t>
            </a:r>
          </a:p>
          <a:p>
            <a:pPr algn="l">
              <a:lnSpc>
                <a:spcPts val="2400"/>
              </a:lnSpc>
              <a:spcAft>
                <a:spcPts val="4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質問 → 回答 → 質問 → 回答</a:t>
            </a:r>
          </a:p>
          <a:p>
            <a:pPr algn="l">
              <a:lnSpc>
                <a:spcPts val="2400"/>
              </a:lnSpc>
              <a:spcAft>
                <a:spcPts val="4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1回のやりとりが完結</a:t>
            </a:r>
          </a:p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ユーザーが手順を考え、</a:t>
            </a:r>
          </a:p>
          <a:p>
            <a:pPr algn="l">
              <a:lnSpc>
                <a:spcPts val="2400"/>
              </a:lnSpc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  1ステップずつ指示する</a:t>
            </a:r>
          </a:p>
        </p:txBody>
      </p:sp>
      <p:sp>
        <p:nvSpPr>
          <p:cNvPr id="25" name="Arrow"/>
          <p:cNvSpPr/>
          <p:nvPr/>
        </p:nvSpPr>
        <p:spPr>
          <a:xfrm>
            <a:off x="5852400" y="3017520"/>
            <a:ext cx="457200" cy="365760"/>
          </a:xfrm>
          <a:prstGeom prst="chevron">
            <a:avLst>
              <a:gd name="adj" fmla="val 50000"/>
            </a:avLst>
          </a:prstGeom>
          <a:solidFill>
            <a:srgbClr val="D97757">
              <a:alpha val="4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Right BG"/>
          <p:cNvSpPr/>
          <p:nvPr/>
        </p:nvSpPr>
        <p:spPr>
          <a:xfrm>
            <a:off x="6446760" y="1371600"/>
            <a:ext cx="4983720" cy="3657600"/>
          </a:xfrm>
          <a:prstGeom prst="roundRect">
            <a:avLst>
              <a:gd name="adj" fmla="val 2500"/>
            </a:avLst>
          </a:prstGeom>
          <a:solidFill>
            <a:srgbClr val="2D2926"/>
          </a:solidFill>
          <a:ln w="12700">
            <a:solidFill>
              <a:srgbClr val="7BC9A0">
                <a:alpha val="30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1" name="Right Accent"/>
          <p:cNvSpPr/>
          <p:nvPr/>
        </p:nvSpPr>
        <p:spPr>
          <a:xfrm>
            <a:off x="6446760" y="1371600"/>
            <a:ext cx="4983720" cy="54864"/>
          </a:xfrm>
          <a:prstGeom prst="roundRect">
            <a:avLst>
              <a:gd name="adj" fmla="val 50000"/>
            </a:avLst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Right Text"/>
          <p:cNvSpPr txBox="1"/>
          <p:nvPr/>
        </p:nvSpPr>
        <p:spPr>
          <a:xfrm>
            <a:off x="6675360" y="1600200"/>
            <a:ext cx="4526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200"/>
              </a:spcAft>
            </a:pPr>
            <a:r>
              <a:rPr lang="ja-JP" sz="2000" b="1" dirty="0">
                <a:solidFill>
                  <a:srgbClr val="7BC9A0"/>
                </a:solidFill>
                <a:latin typeface="Hiragino Sans"/>
              </a:rPr>
              <a:t>エージェント（Claude Code）</a:t>
            </a:r>
          </a:p>
          <a:p>
            <a:pPr algn="l">
              <a:lnSpc>
                <a:spcPts val="2200"/>
              </a:lnSpc>
              <a:spcAft>
                <a:spcPts val="600"/>
              </a:spcAft>
            </a:pPr>
            <a:r>
              <a:rPr lang="ja-JP" sz="1400" b="0" dirty="0">
                <a:solidFill>
                  <a:srgbClr val="B0AEA5"/>
                </a:solidFill>
                <a:latin typeface="Hiragino Sans"/>
              </a:rPr>
              <a:t>仕事を任せた同僚に近い</a:t>
            </a:r>
          </a:p>
          <a:p>
            <a:pPr algn="l">
              <a:lnSpc>
                <a:spcPts val="2400"/>
              </a:lnSpc>
              <a:spcAft>
                <a:spcPts val="4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ゴールを伝えたら自律的に実行</a:t>
            </a:r>
          </a:p>
          <a:p>
            <a:pPr algn="l">
              <a:lnSpc>
                <a:spcPts val="2400"/>
              </a:lnSpc>
              <a:spcAft>
                <a:spcPts val="4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ファイル読み書き・コマンド実行・</a:t>
            </a:r>
          </a:p>
          <a:p>
            <a:pPr algn="l">
              <a:lnSpc>
                <a:spcPts val="2400"/>
              </a:lnSpc>
              <a:spcAft>
                <a:spcPts val="400"/>
              </a:spcAft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  Web検索も自分でやる</a:t>
            </a:r>
          </a:p>
          <a:p>
            <a:pPr algn="l">
              <a:lnSpc>
                <a:spcPts val="2400"/>
              </a:lnSpc>
            </a:pPr>
            <a:r>
              <a:rPr lang="ja-JP" sz="1600" b="0" dirty="0">
                <a:solidFill>
                  <a:srgbClr val="C5C3BB"/>
                </a:solidFill>
                <a:latin typeface="Hiragino Sans"/>
              </a:rPr>
              <a:t>• 調査→計画→実装を一連で判断・実行</a:t>
            </a:r>
          </a:p>
        </p:txBody>
      </p:sp>
      <p:sp>
        <p:nvSpPr>
          <p:cNvPr id="40" name="Footer BG"/>
          <p:cNvSpPr/>
          <p:nvPr/>
        </p:nvSpPr>
        <p:spPr>
          <a:xfrm>
            <a:off x="731520" y="5303520"/>
            <a:ext cx="1069896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Footer Accent"/>
          <p:cNvSpPr/>
          <p:nvPr/>
        </p:nvSpPr>
        <p:spPr>
          <a:xfrm>
            <a:off x="731520" y="5303520"/>
            <a:ext cx="54864" cy="6400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Footer Text"/>
          <p:cNvSpPr txBox="1"/>
          <p:nvPr/>
        </p:nvSpPr>
        <p:spPr>
          <a:xfrm>
            <a:off x="100584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lang="ja-JP" sz="1600" b="1" dirty="0">
                <a:solidFill>
                  <a:srgbClr val="D97757"/>
                </a:solidFill>
                <a:latin typeface="Hiragino Sans"/>
              </a:rPr>
              <a:t>→ 「1行ずつ指示する」のではなく「ゴールと背景を伝えて任せる」</a:t>
            </a:r>
          </a:p>
        </p:txBody>
      </p:sp>
      <p:sp>
        <p:nvSpPr>
          <p:cNvPr id="99" name="PN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1032312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2 — コミュニケーション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指示の出し方</a:t>
            </a:r>
          </a:p>
        </p:txBody>
      </p:sp>
      <p:cxnSp>
        <p:nvCxnSpPr>
          <p:cNvPr id="12" name="Div"/>
          <p:cNvCxnSpPr/>
          <p:nvPr/>
        </p:nvCxnSpPr>
        <p:spPr>
          <a:xfrm>
            <a:off x="731520" y="1188720"/>
            <a:ext cx="10698480" cy="0"/>
          </a:xfrm>
          <a:prstGeom prst="line">
            <a:avLst/>
          </a:prstGeom>
          <a:ln w="9525">
            <a:solidFill>
              <a:srgbClr val="3D3835"/>
            </a:solidFill>
          </a:ln>
        </p:spPr>
      </p:cxnSp>
      <p:sp>
        <p:nvSpPr>
          <p:cNvPr id="20" name="El BG 0"/>
          <p:cNvSpPr/>
          <p:nvPr/>
        </p:nvSpPr>
        <p:spPr>
          <a:xfrm>
            <a:off x="731520" y="1371600"/>
            <a:ext cx="45720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El Acc 0"/>
          <p:cNvSpPr/>
          <p:nvPr/>
        </p:nvSpPr>
        <p:spPr>
          <a:xfrm>
            <a:off x="731520" y="1371600"/>
            <a:ext cx="45720" cy="6400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El Txt 0"/>
          <p:cNvSpPr txBox="1"/>
          <p:nvPr/>
        </p:nvSpPr>
        <p:spPr>
          <a:xfrm>
            <a:off x="960120" y="1463040"/>
            <a:ext cx="42062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ts val="2400"/>
              </a:lnSpc>
              <a:spcAft>
                <a:spcPts val="100"/>
              </a:spcAft>
            </a:pPr>
            <a:r>
              <a:rPr lang="ja-JP" sz="1800" b="1" dirty="0">
                <a:solidFill>
                  <a:srgbClr val="D97757"/>
                </a:solidFill>
                <a:latin typeface="Hiragino Sans"/>
              </a:rPr>
              <a:t>目標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何を達成したいか</a:t>
            </a:r>
          </a:p>
        </p:txBody>
      </p:sp>
      <p:sp>
        <p:nvSpPr>
          <p:cNvPr id="23" name="El BG 1"/>
          <p:cNvSpPr/>
          <p:nvPr/>
        </p:nvSpPr>
        <p:spPr>
          <a:xfrm>
            <a:off x="731520" y="2194560"/>
            <a:ext cx="45720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 Acc 1"/>
          <p:cNvSpPr/>
          <p:nvPr/>
        </p:nvSpPr>
        <p:spPr>
          <a:xfrm>
            <a:off x="731520" y="2194560"/>
            <a:ext cx="45720" cy="64008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El Txt 1"/>
          <p:cNvSpPr txBox="1"/>
          <p:nvPr/>
        </p:nvSpPr>
        <p:spPr>
          <a:xfrm>
            <a:off x="960120" y="2286000"/>
            <a:ext cx="42062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ts val="2400"/>
              </a:lnSpc>
              <a:spcAft>
                <a:spcPts val="100"/>
              </a:spcAft>
            </a:pPr>
            <a:r>
              <a:rPr lang="ja-JP" sz="1800" b="1" dirty="0">
                <a:solidFill>
                  <a:srgbClr val="6A9BCC"/>
                </a:solidFill>
                <a:latin typeface="Hiragino Sans"/>
              </a:rPr>
              <a:t>背景・制約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なぜ必要か / やってはいけないこと</a:t>
            </a:r>
          </a:p>
        </p:txBody>
      </p:sp>
      <p:sp>
        <p:nvSpPr>
          <p:cNvPr id="26" name="El BG 2"/>
          <p:cNvSpPr/>
          <p:nvPr/>
        </p:nvSpPr>
        <p:spPr>
          <a:xfrm>
            <a:off x="731520" y="3017520"/>
            <a:ext cx="45720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 Acc 2"/>
          <p:cNvSpPr/>
          <p:nvPr/>
        </p:nvSpPr>
        <p:spPr>
          <a:xfrm>
            <a:off x="731520" y="3017520"/>
            <a:ext cx="45720" cy="640080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El Txt 2"/>
          <p:cNvSpPr txBox="1"/>
          <p:nvPr/>
        </p:nvSpPr>
        <p:spPr>
          <a:xfrm>
            <a:off x="960120" y="3108960"/>
            <a:ext cx="42062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ts val="2400"/>
              </a:lnSpc>
              <a:spcAft>
                <a:spcPts val="100"/>
              </a:spcAft>
            </a:pPr>
            <a:r>
              <a:rPr lang="ja-JP" sz="1800" b="1" dirty="0">
                <a:solidFill>
                  <a:srgbClr val="7BC9A0"/>
                </a:solidFill>
                <a:latin typeface="Hiragino Sans"/>
              </a:rPr>
              <a:t>現状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今どうなっているか</a:t>
            </a:r>
          </a:p>
        </p:txBody>
      </p:sp>
      <p:sp>
        <p:nvSpPr>
          <p:cNvPr id="29" name="El BG 3"/>
          <p:cNvSpPr/>
          <p:nvPr/>
        </p:nvSpPr>
        <p:spPr>
          <a:xfrm>
            <a:off x="731520" y="3840480"/>
            <a:ext cx="4572000" cy="64008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El Acc 3"/>
          <p:cNvSpPr/>
          <p:nvPr/>
        </p:nvSpPr>
        <p:spPr>
          <a:xfrm>
            <a:off x="731520" y="3840480"/>
            <a:ext cx="45720" cy="640080"/>
          </a:xfrm>
          <a:prstGeom prst="rect">
            <a:avLst/>
          </a:prstGeom>
          <a:solidFill>
            <a:srgbClr val="B88AD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El Txt 3"/>
          <p:cNvSpPr txBox="1"/>
          <p:nvPr/>
        </p:nvSpPr>
        <p:spPr>
          <a:xfrm>
            <a:off x="960120" y="3931920"/>
            <a:ext cx="420624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ts val="2400"/>
              </a:lnSpc>
              <a:spcAft>
                <a:spcPts val="100"/>
              </a:spcAft>
            </a:pPr>
            <a:r>
              <a:rPr lang="ja-JP" sz="1800" b="1" dirty="0">
                <a:solidFill>
                  <a:srgbClr val="B88AD0"/>
                </a:solidFill>
                <a:latin typeface="Hiragino Sans"/>
              </a:rPr>
              <a:t>期待する出力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どういう形式で結果がほしいか</a:t>
            </a:r>
          </a:p>
        </p:txBody>
      </p:sp>
      <p:sp>
        <p:nvSpPr>
          <p:cNvPr id="50" name="Bad Label"/>
          <p:cNvSpPr txBox="1"/>
          <p:nvPr/>
        </p:nvSpPr>
        <p:spPr>
          <a:xfrm>
            <a:off x="5760720" y="13716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600" b="1" dirty="0">
                <a:solidFill>
                  <a:srgbClr val="E07070"/>
                </a:solidFill>
                <a:latin typeface="Hiragino Sans"/>
              </a:rPr>
              <a:t>Bad</a:t>
            </a:r>
          </a:p>
        </p:txBody>
      </p:sp>
      <p:sp>
        <p:nvSpPr>
          <p:cNvPr id="51" name="Bad BG"/>
          <p:cNvSpPr/>
          <p:nvPr/>
        </p:nvSpPr>
        <p:spPr>
          <a:xfrm>
            <a:off x="5760720" y="1737360"/>
            <a:ext cx="5669280" cy="54864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E07070">
                <a:alpha val="25000"/>
              </a:srgbClr>
            </a:solidFill>
          </a:ln>
        </p:spPr>
        <p:txBody>
          <a:bodyPr anchor="ctr">
            <a:noAutofit/>
          </a:bodyPr>
          <a:lstStyle/>
          <a:p>
            <a:pPr marL="228600" algn="l">
              <a:lnSpc>
                <a:spcPts val="2000"/>
              </a:lnSpc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この機能を改善して</a:t>
            </a:r>
          </a:p>
        </p:txBody>
      </p:sp>
      <p:sp>
        <p:nvSpPr>
          <p:cNvPr id="55" name="Good Label"/>
          <p:cNvSpPr txBox="1"/>
          <p:nvPr/>
        </p:nvSpPr>
        <p:spPr>
          <a:xfrm>
            <a:off x="5760720" y="24688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600" b="1" dirty="0">
                <a:solidFill>
                  <a:srgbClr val="7BC9A0"/>
                </a:solidFill>
                <a:latin typeface="Hiragino Sans"/>
              </a:rPr>
              <a:t>Good</a:t>
            </a:r>
          </a:p>
        </p:txBody>
      </p:sp>
      <p:sp>
        <p:nvSpPr>
          <p:cNvPr id="56" name="Good BG"/>
          <p:cNvSpPr/>
          <p:nvPr/>
        </p:nvSpPr>
        <p:spPr>
          <a:xfrm>
            <a:off x="5760720" y="2834160"/>
            <a:ext cx="5669280" cy="2194560"/>
          </a:xfrm>
          <a:prstGeom prst="roundRect">
            <a:avLst>
              <a:gd name="adj" fmla="val 3000"/>
            </a:avLst>
          </a:prstGeom>
          <a:solidFill>
            <a:srgbClr val="2D2926"/>
          </a:solidFill>
          <a:ln w="12700">
            <a:solidFill>
              <a:srgbClr val="7BC9A0">
                <a:alpha val="25000"/>
              </a:srgbClr>
            </a:solidFill>
          </a:ln>
        </p:spPr>
        <p:txBody>
          <a:bodyPr lIns="228600" tIns="182880" anchor="t">
            <a:noAutofit/>
          </a:bodyPr>
          <a:lstStyle/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CIが落ちている。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現状：昨日のリファクタ以降失敗する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ようになった。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目標：ログを要約し、原因候補を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3つ挙げて。</a:t>
            </a:r>
          </a:p>
          <a:p>
            <a:pPr algn="l">
              <a:lnSpc>
                <a:spcPts val="2000"/>
              </a:lnSpc>
              <a:spcAft>
                <a:spcPts val="100"/>
              </a:spcAft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調査結果は箇条書きでまとめて。</a:t>
            </a:r>
          </a:p>
          <a:p>
            <a:pPr algn="l">
              <a:lnSpc>
                <a:spcPts val="2000"/>
              </a:lnSpc>
            </a:pPr>
            <a:r>
              <a:rPr lang="ja-JP" sz="1400" b="0" dirty="0">
                <a:solidFill>
                  <a:srgbClr val="6A9BCC"/>
                </a:solidFill>
                <a:latin typeface="SF Mono"/>
              </a:rPr>
              <a:t>コードの変更はまだしないこと。</a:t>
            </a:r>
          </a:p>
        </p:txBody>
      </p:sp>
      <p:sp>
        <p:nvSpPr>
          <p:cNvPr id="99" name="PN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1369130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t"/>
          <p:cNvSpPr txBox="1"/>
          <p:nvPr/>
        </p:nvSpPr>
        <p:spPr>
          <a:xfrm>
            <a:off x="731520" y="274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200" b="1" dirty="0">
                <a:solidFill>
                  <a:srgbClr val="D97757"/>
                </a:solidFill>
                <a:latin typeface="Helvetica Neue"/>
              </a:rPr>
              <a:t>PART 2 — コミュニケーション</a:t>
            </a:r>
          </a:p>
        </p:txBody>
      </p:sp>
      <p:sp>
        <p:nvSpPr>
          <p:cNvPr id="11" name="Title"/>
          <p:cNvSpPr txBox="1"/>
          <p:nvPr/>
        </p:nvSpPr>
        <p:spPr>
          <a:xfrm>
            <a:off x="73152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</a:pPr>
            <a:r>
              <a:rPr lang="ja-JP" sz="2800" b="1" dirty="0">
                <a:solidFill>
                  <a:srgbClr val="FAF9F5"/>
                </a:solidFill>
                <a:latin typeface="Hiragino Sans"/>
              </a:rPr>
              <a:t>たたき台から始める</a:t>
            </a:r>
          </a:p>
        </p:txBody>
      </p:sp>
      <p:sp>
        <p:nvSpPr>
          <p:cNvPr id="20" name="Step 0"/>
          <p:cNvSpPr/>
          <p:nvPr/>
        </p:nvSpPr>
        <p:spPr>
          <a:xfrm>
            <a:off x="1165860" y="11887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D97757"/>
          </a:solidFill>
          <a:ln w="12700">
            <a:solidFill>
              <a:srgbClr val="D97757"/>
            </a:solidFill>
          </a:ln>
        </p:spPr>
        <p:txBody>
          <a:bodyPr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1. 指示を出す</a:t>
            </a:r>
          </a:p>
        </p:txBody>
      </p:sp>
      <p:sp>
        <p:nvSpPr>
          <p:cNvPr id="21" name="Arr 0"/>
          <p:cNvSpPr/>
          <p:nvPr/>
        </p:nvSpPr>
        <p:spPr>
          <a:xfrm>
            <a:off x="3451860" y="1394460"/>
            <a:ext cx="228600" cy="13716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Step 1"/>
          <p:cNvSpPr/>
          <p:nvPr/>
        </p:nvSpPr>
        <p:spPr>
          <a:xfrm>
            <a:off x="3680460" y="11887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2. 出力を確認</a:t>
            </a:r>
          </a:p>
        </p:txBody>
      </p:sp>
      <p:sp>
        <p:nvSpPr>
          <p:cNvPr id="23" name="Arr 1"/>
          <p:cNvSpPr/>
          <p:nvPr/>
        </p:nvSpPr>
        <p:spPr>
          <a:xfrm>
            <a:off x="5966460" y="1394460"/>
            <a:ext cx="228600" cy="13716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Step 2"/>
          <p:cNvSpPr/>
          <p:nvPr/>
        </p:nvSpPr>
        <p:spPr>
          <a:xfrm>
            <a:off x="6195060" y="11887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lang="ja-JP" sz="1600" b="1" dirty="0">
                <a:solidFill>
                  <a:srgbClr val="7BC9A0"/>
                </a:solidFill>
                <a:latin typeface="Hiragino Sans"/>
              </a:rPr>
              <a:t>3. フィードバック</a:t>
            </a:r>
          </a:p>
        </p:txBody>
      </p:sp>
      <p:sp>
        <p:nvSpPr>
          <p:cNvPr id="25" name="Arr 2"/>
          <p:cNvSpPr/>
          <p:nvPr/>
        </p:nvSpPr>
        <p:spPr>
          <a:xfrm>
            <a:off x="8481060" y="1394460"/>
            <a:ext cx="228600" cy="137160"/>
          </a:xfrm>
          <a:prstGeom prst="chevron">
            <a:avLst>
              <a:gd name="adj" fmla="val 50000"/>
            </a:avLst>
          </a:prstGeom>
          <a:solidFill>
            <a:srgbClr val="D97757">
              <a:alpha val="35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tep 3"/>
          <p:cNvSpPr/>
          <p:nvPr/>
        </p:nvSpPr>
        <p:spPr>
          <a:xfrm>
            <a:off x="8709660" y="11887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2D2926"/>
          </a:solidFill>
          <a:ln w="12700">
            <a:solidFill>
              <a:srgbClr val="3D3835"/>
            </a:solidFill>
          </a:ln>
        </p:spPr>
        <p:txBody>
          <a:bodyPr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4. 改善版</a:t>
            </a:r>
          </a:p>
        </p:txBody>
      </p:sp>
      <p:cxnSp>
        <p:nvCxnSpPr>
          <p:cNvPr id="30" name="Div2"/>
          <p:cNvCxnSpPr/>
          <p:nvPr/>
        </p:nvCxnSpPr>
        <p:spPr>
          <a:xfrm>
            <a:off x="731520" y="2011680"/>
            <a:ext cx="10698480" cy="0"/>
          </a:xfrm>
          <a:prstGeom prst="line">
            <a:avLst/>
          </a:prstGeom>
          <a:ln w="9525">
            <a:solidFill>
              <a:srgbClr val="3D3835"/>
            </a:solidFill>
          </a:ln>
        </p:spPr>
      </p:cxnSp>
      <p:sp>
        <p:nvSpPr>
          <p:cNvPr id="31" name="Sec Title"/>
          <p:cNvSpPr txBox="1"/>
          <p:nvPr/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lang="ja-JP" sz="2200" b="1" dirty="0">
                <a:solidFill>
                  <a:srgbClr val="FAF9F5"/>
                </a:solidFill>
                <a:latin typeface="Hiragino Sans"/>
              </a:rPr>
              <a:t>3つのテクニック</a:t>
            </a:r>
          </a:p>
        </p:txBody>
      </p:sp>
      <p:sp>
        <p:nvSpPr>
          <p:cNvPr id="40" name="Tech BG 0"/>
          <p:cNvSpPr/>
          <p:nvPr/>
        </p:nvSpPr>
        <p:spPr>
          <a:xfrm>
            <a:off x="731520" y="2834640"/>
            <a:ext cx="3322320" cy="3200400"/>
          </a:xfrm>
          <a:prstGeom prst="roundRect">
            <a:avLst>
              <a:gd name="adj" fmla="val 3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Tech Acc 0"/>
          <p:cNvSpPr/>
          <p:nvPr/>
        </p:nvSpPr>
        <p:spPr>
          <a:xfrm>
            <a:off x="731520" y="2834640"/>
            <a:ext cx="3322320" cy="4572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Tech Txt 0"/>
          <p:cNvSpPr txBox="1"/>
          <p:nvPr/>
        </p:nvSpPr>
        <p:spPr>
          <a:xfrm>
            <a:off x="914400" y="3063240"/>
            <a:ext cx="2956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400"/>
              </a:spcAft>
            </a:pPr>
            <a:r>
              <a:rPr lang="ja-JP" sz="1800" b="1" dirty="0">
                <a:solidFill>
                  <a:srgbClr val="6A9BCC"/>
                </a:solidFill>
                <a:latin typeface="Hiragino Sans"/>
              </a:rPr>
              <a:t>「なぜ」を聞く</a:t>
            </a:r>
          </a:p>
          <a:p>
            <a:pPr algn="l">
              <a:lnSpc>
                <a:spcPts val="22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期待と違ったら、修正指示の前に理由を聞く。自分の指示の問題が見えることがある</a:t>
            </a:r>
          </a:p>
        </p:txBody>
      </p:sp>
      <p:sp>
        <p:nvSpPr>
          <p:cNvPr id="43" name="Tech BG 1"/>
          <p:cNvSpPr/>
          <p:nvPr/>
        </p:nvSpPr>
        <p:spPr>
          <a:xfrm>
            <a:off x="4419600" y="2834640"/>
            <a:ext cx="3322320" cy="3200400"/>
          </a:xfrm>
          <a:prstGeom prst="roundRect">
            <a:avLst>
              <a:gd name="adj" fmla="val 3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Tech Acc 1"/>
          <p:cNvSpPr/>
          <p:nvPr/>
        </p:nvSpPr>
        <p:spPr>
          <a:xfrm>
            <a:off x="4419600" y="2834640"/>
            <a:ext cx="3322320" cy="4572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Tech Txt 1"/>
          <p:cNvSpPr txBox="1"/>
          <p:nvPr/>
        </p:nvSpPr>
        <p:spPr>
          <a:xfrm>
            <a:off x="4602480" y="3063240"/>
            <a:ext cx="2956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400"/>
              </a:spcAft>
            </a:pPr>
            <a:r>
              <a:rPr lang="ja-JP" sz="1800" b="1" dirty="0">
                <a:solidFill>
                  <a:srgbClr val="6A9BCC"/>
                </a:solidFill>
                <a:latin typeface="Hiragino Sans"/>
              </a:rPr>
              <a:t>提案形式で伝える</a:t>
            </a:r>
          </a:p>
          <a:p>
            <a:pPr algn="l">
              <a:lnSpc>
                <a:spcPts val="22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「Xをして」より「Xを考えているが、どう思うか」。別の選択肢が出てくる</a:t>
            </a:r>
          </a:p>
        </p:txBody>
      </p:sp>
      <p:sp>
        <p:nvSpPr>
          <p:cNvPr id="46" name="Tech BG 2"/>
          <p:cNvSpPr/>
          <p:nvPr/>
        </p:nvSpPr>
        <p:spPr>
          <a:xfrm>
            <a:off x="8107680" y="2834640"/>
            <a:ext cx="3322320" cy="3200400"/>
          </a:xfrm>
          <a:prstGeom prst="roundRect">
            <a:avLst>
              <a:gd name="adj" fmla="val 3000"/>
            </a:avLst>
          </a:prstGeom>
          <a:solidFill>
            <a:srgbClr val="2D29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Tech Acc 2"/>
          <p:cNvSpPr/>
          <p:nvPr/>
        </p:nvSpPr>
        <p:spPr>
          <a:xfrm>
            <a:off x="8107680" y="2834640"/>
            <a:ext cx="3322320" cy="4572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Tech Txt 2"/>
          <p:cNvSpPr txBox="1"/>
          <p:nvPr/>
        </p:nvSpPr>
        <p:spPr>
          <a:xfrm>
            <a:off x="8290560" y="3063240"/>
            <a:ext cx="2956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400"/>
              </a:spcAft>
            </a:pPr>
            <a:r>
              <a:rPr lang="ja-JP" sz="1800" b="1" dirty="0">
                <a:solidFill>
                  <a:srgbClr val="6A9BCC"/>
                </a:solidFill>
                <a:latin typeface="Hiragino Sans"/>
              </a:rPr>
              <a:t>手直ししたら伝える</a:t>
            </a:r>
          </a:p>
          <a:p>
            <a:pPr algn="l">
              <a:lnSpc>
                <a:spcPts val="2200"/>
              </a:lnSpc>
            </a:pPr>
            <a:r>
              <a:rPr lang="ja-JP" sz="1400" b="0" dirty="0">
                <a:solidFill>
                  <a:srgbClr val="C5C3BB"/>
                </a:solidFill>
                <a:latin typeface="Hiragino Sans"/>
              </a:rPr>
              <a:t>自分で編集した場合はClaudeに共有する。伝えないと古い状態で動き続ける</a:t>
            </a:r>
          </a:p>
        </p:txBody>
      </p:sp>
      <p:sp>
        <p:nvSpPr>
          <p:cNvPr id="99" name="PN"/>
          <p:cNvSpPr txBox="1"/>
          <p:nvPr/>
        </p:nvSpPr>
        <p:spPr>
          <a:xfrm>
            <a:off x="1124712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00"/>
              </a:lnSpc>
            </a:pPr>
            <a:r>
              <a:rPr lang="en-US" sz="1100" b="0" dirty="0">
                <a:solidFill>
                  <a:srgbClr val="B0AEA5"/>
                </a:solidFill>
                <a:latin typeface="Helvetica Neue"/>
              </a:rP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3580656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1F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LineL"/>
          <p:cNvCxnSpPr/>
          <p:nvPr/>
        </p:nvCxnSpPr>
        <p:spPr>
          <a:xfrm>
            <a:off x="2921000" y="3302000"/>
            <a:ext cx="1524000" cy="0"/>
          </a:xfrm>
          <a:prstGeom prst="line">
            <a:avLst/>
          </a:prstGeom>
          <a:ln w="12700">
            <a:solidFill>
              <a:srgbClr val="D97757"/>
            </a:solidFill>
          </a:ln>
        </p:spPr>
      </p:cxnSp>
      <p:cxnSp>
        <p:nvCxnSpPr>
          <p:cNvPr id="3" name="LineR"/>
          <p:cNvCxnSpPr/>
          <p:nvPr/>
        </p:nvCxnSpPr>
        <p:spPr>
          <a:xfrm>
            <a:off x="7747000" y="3302000"/>
            <a:ext cx="1524000" cy="0"/>
          </a:xfrm>
          <a:prstGeom prst="line">
            <a:avLst/>
          </a:prstGeom>
          <a:ln w="12700">
            <a:solidFill>
              <a:srgbClr val="D97757"/>
            </a:solidFill>
          </a:ln>
        </p:spPr>
      </p:cxnSp>
      <p:sp>
        <p:nvSpPr>
          <p:cNvPr id="4" name="PartLabel"/>
          <p:cNvSpPr/>
          <p:nvPr/>
        </p:nvSpPr>
        <p:spPr>
          <a:xfrm>
            <a:off x="4191000" y="2159000"/>
            <a:ext cx="381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 dirty="0">
                <a:solidFill>
                  <a:srgbClr val="D97757"/>
                </a:solidFill>
                <a:latin typeface="Helvetica Neue"/>
              </a:rPr>
              <a:t>PART 3</a:t>
            </a:r>
          </a:p>
        </p:txBody>
      </p:sp>
      <p:sp>
        <p:nvSpPr>
          <p:cNvPr id="5" name="Title"/>
          <p:cNvSpPr/>
          <p:nvPr/>
        </p:nvSpPr>
        <p:spPr>
          <a:xfrm>
            <a:off x="2921000" y="2730500"/>
            <a:ext cx="635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ts val="6600"/>
              </a:lnSpc>
            </a:pPr>
            <a:r>
              <a:rPr lang="en-US" sz="4400" b="1" dirty="0">
                <a:solidFill>
                  <a:srgbClr val="FAF9F5"/>
                </a:solidFill>
                <a:latin typeface="Helvetica Neue"/>
              </a:rPr>
              <a:t>Plan Mode</a:t>
            </a:r>
          </a:p>
        </p:txBody>
      </p:sp>
      <p:sp>
        <p:nvSpPr>
          <p:cNvPr id="6" name="Sub"/>
          <p:cNvSpPr/>
          <p:nvPr/>
        </p:nvSpPr>
        <p:spPr>
          <a:xfrm>
            <a:off x="2921000" y="3683000"/>
            <a:ext cx="635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3600"/>
              </a:lnSpc>
            </a:pPr>
            <a:r>
              <a:rPr lang="ja-JP" sz="2400" dirty="0">
                <a:solidFill>
                  <a:srgbClr val="C5C3BB"/>
                </a:solidFill>
                <a:latin typeface="Hiragino Sans"/>
              </a:rPr>
              <a:t>いきなりコードを書かせない</a:t>
            </a:r>
          </a:p>
        </p:txBody>
      </p:sp>
      <p:sp>
        <p:nvSpPr>
          <p:cNvPr id="7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1905103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Label"/>
          <p:cNvSpPr/>
          <p:nvPr/>
        </p:nvSpPr>
        <p:spPr>
          <a:xfrm>
            <a:off x="736600" y="457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400" b="1" dirty="0">
                <a:solidFill>
                  <a:srgbClr val="FAF9F5"/>
                </a:solidFill>
                <a:latin typeface="Helvetica Neue"/>
              </a:rPr>
              <a:t>PART 3</a:t>
            </a:r>
          </a:p>
        </p:txBody>
      </p:sp>
      <p:sp>
        <p:nvSpPr>
          <p:cNvPr id="3" name="Title"/>
          <p:cNvSpPr/>
          <p:nvPr/>
        </p:nvSpPr>
        <p:spPr>
          <a:xfrm>
            <a:off x="2197100" y="4318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400" b="1" dirty="0">
                <a:solidFill>
                  <a:srgbClr val="FAF9F5"/>
                </a:solidFill>
                <a:latin typeface="Hiragino Sans"/>
              </a:rPr>
              <a:t>Plan Mode とは</a:t>
            </a:r>
          </a:p>
        </p:txBody>
      </p:sp>
      <p:sp>
        <p:nvSpPr>
          <p:cNvPr id="10" name="DefCard"/>
          <p:cNvSpPr/>
          <p:nvPr/>
        </p:nvSpPr>
        <p:spPr>
          <a:xfrm>
            <a:off x="736600" y="1016000"/>
            <a:ext cx="5461000" cy="24765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11" name="DefHeader"/>
          <p:cNvSpPr/>
          <p:nvPr/>
        </p:nvSpPr>
        <p:spPr>
          <a:xfrm>
            <a:off x="990600" y="1193800"/>
            <a:ext cx="4953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700" b="1" dirty="0">
                <a:solidFill>
                  <a:srgbClr val="D97757"/>
                </a:solidFill>
                <a:latin typeface="Hiragino Sans"/>
              </a:rPr>
              <a:t>概要</a:t>
            </a:r>
          </a:p>
        </p:txBody>
      </p:sp>
      <p:sp>
        <p:nvSpPr>
          <p:cNvPr id="12" name="DefBullets"/>
          <p:cNvSpPr/>
          <p:nvPr/>
        </p:nvSpPr>
        <p:spPr>
          <a:xfrm>
            <a:off x="990600" y="1600200"/>
            <a:ext cx="4953000" cy="177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読み取り専用のモード</a:t>
            </a:r>
          </a:p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ファイル閲覧・検索・Web検索は可能</a:t>
            </a:r>
          </a:p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ファイル編集・コマンド実行は不可</a:t>
            </a:r>
          </a:p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C5C3BB"/>
                </a:solidFill>
                <a:latin typeface="Hiragino Sans"/>
              </a:rPr>
              <a:t>調査と計画立案に集中するためのモード</a:t>
            </a:r>
          </a:p>
        </p:txBody>
      </p:sp>
      <p:sp>
        <p:nvSpPr>
          <p:cNvPr id="20" name="OpCard"/>
          <p:cNvSpPr/>
          <p:nvPr/>
        </p:nvSpPr>
        <p:spPr>
          <a:xfrm>
            <a:off x="736600" y="3683000"/>
            <a:ext cx="5461000" cy="1905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21" name="OpHeader"/>
          <p:cNvSpPr/>
          <p:nvPr/>
        </p:nvSpPr>
        <p:spPr>
          <a:xfrm>
            <a:off x="990600" y="3860800"/>
            <a:ext cx="4953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700" b="1" dirty="0">
                <a:solidFill>
                  <a:srgbClr val="D97757"/>
                </a:solidFill>
                <a:latin typeface="Hiragino Sans"/>
              </a:rPr>
              <a:t>操作方法</a:t>
            </a:r>
          </a:p>
        </p:txBody>
      </p:sp>
      <p:sp>
        <p:nvSpPr>
          <p:cNvPr id="22" name="OpBullets"/>
          <p:cNvSpPr/>
          <p:nvPr/>
        </p:nvSpPr>
        <p:spPr>
          <a:xfrm>
            <a:off x="990600" y="4267200"/>
            <a:ext cx="4953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FAF9F5"/>
                </a:solidFill>
                <a:latin typeface="Hiragino Sans"/>
              </a:rPr>
              <a:t>Shift+Tab で切替（Normal → Auto Accept → Plan）</a:t>
            </a:r>
          </a:p>
          <a:p>
            <a:pPr marL="228600" indent="-228600" algn="l">
              <a:lnSpc>
                <a:spcPts val="2600"/>
              </a:lnSpc>
              <a:buFont typeface="Arial"/>
              <a:buChar char="•"/>
            </a:pPr>
            <a:r>
              <a:rPr lang="ja-JP" sz="1500" dirty="0">
                <a:solidFill>
                  <a:srgbClr val="FAF9F5"/>
                </a:solidFill>
                <a:latin typeface="Hiragino Sans"/>
              </a:rPr>
              <a:t>claude --permission-mode plan で起動</a:t>
            </a:r>
          </a:p>
        </p:txBody>
      </p:sp>
      <p:sp>
        <p:nvSpPr>
          <p:cNvPr id="30" name="WhyCard"/>
          <p:cNvSpPr/>
          <p:nvPr/>
        </p:nvSpPr>
        <p:spPr>
          <a:xfrm>
            <a:off x="6426200" y="1016000"/>
            <a:ext cx="5080000" cy="4572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31" name="WhyHeader"/>
          <p:cNvSpPr/>
          <p:nvPr/>
        </p:nvSpPr>
        <p:spPr>
          <a:xfrm>
            <a:off x="6680200" y="1193800"/>
            <a:ext cx="457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700" b="1" dirty="0">
                <a:solidFill>
                  <a:srgbClr val="D97757"/>
                </a:solidFill>
                <a:latin typeface="Hiragino Sans"/>
              </a:rPr>
              <a:t>なぜ計画から始めるのか</a:t>
            </a:r>
          </a:p>
        </p:txBody>
      </p:sp>
      <p:sp>
        <p:nvSpPr>
          <p:cNvPr id="32" name="Dot0"/>
          <p:cNvSpPr/>
          <p:nvPr/>
        </p:nvSpPr>
        <p:spPr>
          <a:xfrm>
            <a:off x="6680200" y="1778000"/>
            <a:ext cx="127000" cy="127000"/>
          </a:xfrm>
          <a:prstGeom prst="ellipse">
            <a:avLst/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33" name="RTitle0"/>
          <p:cNvSpPr/>
          <p:nvPr/>
        </p:nvSpPr>
        <p:spPr>
          <a:xfrm>
            <a:off x="6934200" y="16764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認識のズレに早く気づける</a:t>
            </a:r>
          </a:p>
        </p:txBody>
      </p:sp>
      <p:sp>
        <p:nvSpPr>
          <p:cNvPr id="34" name="RDesc0"/>
          <p:cNvSpPr/>
          <p:nvPr/>
        </p:nvSpPr>
        <p:spPr>
          <a:xfrm>
            <a:off x="6934200" y="2057400"/>
            <a:ext cx="431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計画段階で認識のズレに気づける</a:t>
            </a:r>
          </a:p>
        </p:txBody>
      </p:sp>
      <p:sp>
        <p:nvSpPr>
          <p:cNvPr id="35" name="Dot1"/>
          <p:cNvSpPr/>
          <p:nvPr/>
        </p:nvSpPr>
        <p:spPr>
          <a:xfrm>
            <a:off x="6680200" y="2946400"/>
            <a:ext cx="127000" cy="12700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36" name="RTitle1"/>
          <p:cNvSpPr/>
          <p:nvPr/>
        </p:nvSpPr>
        <p:spPr>
          <a:xfrm>
            <a:off x="6934200" y="28448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コードを壊すリスクがゼロ</a:t>
            </a:r>
          </a:p>
        </p:txBody>
      </p:sp>
      <p:sp>
        <p:nvSpPr>
          <p:cNvPr id="37" name="RDesc1"/>
          <p:cNvSpPr/>
          <p:nvPr/>
        </p:nvSpPr>
        <p:spPr>
          <a:xfrm>
            <a:off x="6934200" y="3225800"/>
            <a:ext cx="431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読み取り専用なので安全に試行錯誤できる</a:t>
            </a:r>
          </a:p>
        </p:txBody>
      </p:sp>
      <p:sp>
        <p:nvSpPr>
          <p:cNvPr id="38" name="Dot2"/>
          <p:cNvSpPr/>
          <p:nvPr/>
        </p:nvSpPr>
        <p:spPr>
          <a:xfrm>
            <a:off x="6680200" y="4114800"/>
            <a:ext cx="127000" cy="127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39" name="RTitle2"/>
          <p:cNvSpPr/>
          <p:nvPr/>
        </p:nvSpPr>
        <p:spPr>
          <a:xfrm>
            <a:off x="6934200" y="4013200"/>
            <a:ext cx="431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600" b="1" dirty="0">
                <a:solidFill>
                  <a:srgbClr val="FAF9F5"/>
                </a:solidFill>
                <a:latin typeface="Hiragino Sans"/>
              </a:rPr>
              <a:t>手戻りを最小限にできる</a:t>
            </a:r>
          </a:p>
        </p:txBody>
      </p:sp>
      <p:sp>
        <p:nvSpPr>
          <p:cNvPr id="40" name="RDesc2"/>
          <p:cNvSpPr/>
          <p:nvPr/>
        </p:nvSpPr>
        <p:spPr>
          <a:xfrm>
            <a:off x="6934200" y="4394200"/>
            <a:ext cx="431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手戻りを最小限にしてから実装に入れる</a:t>
            </a:r>
          </a:p>
        </p:txBody>
      </p:sp>
      <p:sp>
        <p:nvSpPr>
          <p:cNvPr id="50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2317680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Label"/>
          <p:cNvSpPr/>
          <p:nvPr/>
        </p:nvSpPr>
        <p:spPr>
          <a:xfrm>
            <a:off x="736600" y="457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1400" b="1" dirty="0">
                <a:solidFill>
                  <a:srgbClr val="FAF9F5"/>
                </a:solidFill>
                <a:latin typeface="Helvetica Neue"/>
              </a:rPr>
              <a:t>PART 3</a:t>
            </a:r>
          </a:p>
        </p:txBody>
      </p:sp>
      <p:sp>
        <p:nvSpPr>
          <p:cNvPr id="3" name="Title"/>
          <p:cNvSpPr/>
          <p:nvPr/>
        </p:nvSpPr>
        <p:spPr>
          <a:xfrm>
            <a:off x="2197100" y="4318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400" b="1" dirty="0">
                <a:solidFill>
                  <a:srgbClr val="FAF9F5"/>
                </a:solidFill>
                <a:latin typeface="Hiragino Sans"/>
              </a:rPr>
              <a:t>Plan Mode の実践ワークフロー</a:t>
            </a:r>
          </a:p>
        </p:txBody>
      </p:sp>
      <p:sp>
        <p:nvSpPr>
          <p:cNvPr id="10" name="StepCard0"/>
          <p:cNvSpPr/>
          <p:nvPr/>
        </p:nvSpPr>
        <p:spPr>
          <a:xfrm>
            <a:off x="736600" y="965200"/>
            <a:ext cx="2641600" cy="2921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11" name="StepBar0"/>
          <p:cNvSpPr/>
          <p:nvPr/>
        </p:nvSpPr>
        <p:spPr>
          <a:xfrm>
            <a:off x="736600" y="965200"/>
            <a:ext cx="2641600" cy="50800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12" name="StepLbl0"/>
          <p:cNvSpPr/>
          <p:nvPr/>
        </p:nvSpPr>
        <p:spPr>
          <a:xfrm>
            <a:off x="889000" y="1117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7BC9A0"/>
                </a:solidFill>
                <a:latin typeface="Helvetica Neue"/>
              </a:rPr>
              <a:t>Step 1</a:t>
            </a:r>
          </a:p>
        </p:txBody>
      </p:sp>
      <p:sp>
        <p:nvSpPr>
          <p:cNvPr id="13" name="StepTitle0"/>
          <p:cNvSpPr/>
          <p:nvPr/>
        </p:nvSpPr>
        <p:spPr>
          <a:xfrm>
            <a:off x="889000" y="1447800"/>
            <a:ext cx="2349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</a:pPr>
            <a:r>
              <a:rPr lang="ja-JP" sz="1500" b="1" dirty="0">
                <a:solidFill>
                  <a:srgbClr val="FAF9F5"/>
                </a:solidFill>
                <a:latin typeface="Hiragino Sans"/>
              </a:rPr>
              <a:t>Plan Mode で</a:t>
            </a:r>
          </a:p>
          <a:p>
            <a:pPr algn="l">
              <a:lnSpc>
                <a:spcPts val="2200"/>
              </a:lnSpc>
            </a:pPr>
            <a:r>
              <a:rPr lang="ja-JP" sz="1500" b="1" dirty="0">
                <a:solidFill>
                  <a:srgbClr val="FAF9F5"/>
                </a:solidFill>
                <a:latin typeface="Hiragino Sans"/>
              </a:rPr>
              <a:t>調査・計画</a:t>
            </a:r>
          </a:p>
        </p:txBody>
      </p:sp>
      <p:sp>
        <p:nvSpPr>
          <p:cNvPr id="14" name="StepCmd0"/>
          <p:cNvSpPr/>
          <p:nvPr/>
        </p:nvSpPr>
        <p:spPr>
          <a:xfrm>
            <a:off x="889000" y="22352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「計画を立てて。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実装はまだしないで。」</a:t>
            </a:r>
          </a:p>
        </p:txBody>
      </p:sp>
      <p:sp>
        <p:nvSpPr>
          <p:cNvPr id="15" name="StepDesc0"/>
          <p:cNvSpPr/>
          <p:nvPr/>
        </p:nvSpPr>
        <p:spPr>
          <a:xfrm>
            <a:off x="889000" y="30607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Claudeがコードを読み、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方針を提案する</a:t>
            </a:r>
          </a:p>
        </p:txBody>
      </p:sp>
      <p:sp>
        <p:nvSpPr>
          <p:cNvPr id="20" name="StepCard1"/>
          <p:cNvSpPr/>
          <p:nvPr/>
        </p:nvSpPr>
        <p:spPr>
          <a:xfrm>
            <a:off x="3530600" y="965200"/>
            <a:ext cx="2641600" cy="2921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21" name="StepBar1"/>
          <p:cNvSpPr/>
          <p:nvPr/>
        </p:nvSpPr>
        <p:spPr>
          <a:xfrm>
            <a:off x="3530600" y="965200"/>
            <a:ext cx="2641600" cy="508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22" name="StepLbl1"/>
          <p:cNvSpPr/>
          <p:nvPr/>
        </p:nvSpPr>
        <p:spPr>
          <a:xfrm>
            <a:off x="3683000" y="1117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6A9BCC"/>
                </a:solidFill>
                <a:latin typeface="Helvetica Neue"/>
              </a:rPr>
              <a:t>Step 2</a:t>
            </a:r>
          </a:p>
        </p:txBody>
      </p:sp>
      <p:sp>
        <p:nvSpPr>
          <p:cNvPr id="23" name="StepTitle1"/>
          <p:cNvSpPr/>
          <p:nvPr/>
        </p:nvSpPr>
        <p:spPr>
          <a:xfrm>
            <a:off x="3683000" y="1447800"/>
            <a:ext cx="2349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</a:pPr>
            <a:r>
              <a:rPr lang="ja-JP" sz="1500" b="1" dirty="0">
                <a:solidFill>
                  <a:srgbClr val="FAF9F5"/>
                </a:solidFill>
                <a:latin typeface="Hiragino Sans"/>
              </a:rPr>
              <a:t>計画をレビュー</a:t>
            </a:r>
          </a:p>
        </p:txBody>
      </p:sp>
      <p:sp>
        <p:nvSpPr>
          <p:cNvPr id="24" name="StepCmd1"/>
          <p:cNvSpPr/>
          <p:nvPr/>
        </p:nvSpPr>
        <p:spPr>
          <a:xfrm>
            <a:off x="3683000" y="22352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「後方互換性は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どうする？」「テストは？」</a:t>
            </a:r>
          </a:p>
        </p:txBody>
      </p:sp>
      <p:sp>
        <p:nvSpPr>
          <p:cNvPr id="25" name="StepDesc1"/>
          <p:cNvSpPr/>
          <p:nvPr/>
        </p:nvSpPr>
        <p:spPr>
          <a:xfrm>
            <a:off x="3683000" y="30607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不明点をつぶし、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計画を確定する</a:t>
            </a:r>
          </a:p>
        </p:txBody>
      </p:sp>
      <p:sp>
        <p:nvSpPr>
          <p:cNvPr id="30" name="StepCard2"/>
          <p:cNvSpPr/>
          <p:nvPr/>
        </p:nvSpPr>
        <p:spPr>
          <a:xfrm>
            <a:off x="6324600" y="965200"/>
            <a:ext cx="2641600" cy="2921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31" name="StepBar2"/>
          <p:cNvSpPr/>
          <p:nvPr/>
        </p:nvSpPr>
        <p:spPr>
          <a:xfrm>
            <a:off x="6324600" y="965200"/>
            <a:ext cx="2641600" cy="508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32" name="StepLbl2"/>
          <p:cNvSpPr/>
          <p:nvPr/>
        </p:nvSpPr>
        <p:spPr>
          <a:xfrm>
            <a:off x="6477000" y="1117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D97757"/>
                </a:solidFill>
                <a:latin typeface="Helvetica Neue"/>
              </a:rPr>
              <a:t>Step 3</a:t>
            </a:r>
          </a:p>
        </p:txBody>
      </p:sp>
      <p:sp>
        <p:nvSpPr>
          <p:cNvPr id="33" name="StepTitle2"/>
          <p:cNvSpPr/>
          <p:nvPr/>
        </p:nvSpPr>
        <p:spPr>
          <a:xfrm>
            <a:off x="6477000" y="1447800"/>
            <a:ext cx="2349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</a:pPr>
            <a:r>
              <a:rPr lang="ja-JP" sz="1500" b="1" dirty="0">
                <a:solidFill>
                  <a:srgbClr val="FAF9F5"/>
                </a:solidFill>
                <a:latin typeface="Hiragino Sans"/>
              </a:rPr>
              <a:t>実装を許可</a:t>
            </a:r>
          </a:p>
        </p:txBody>
      </p:sp>
      <p:sp>
        <p:nvSpPr>
          <p:cNvPr id="34" name="StepCmd2"/>
          <p:cNvSpPr/>
          <p:nvPr/>
        </p:nvSpPr>
        <p:spPr>
          <a:xfrm>
            <a:off x="6477000" y="22352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「OK、実装して」/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調査だけならここで完了</a:t>
            </a:r>
          </a:p>
        </p:txBody>
      </p:sp>
      <p:sp>
        <p:nvSpPr>
          <p:cNvPr id="35" name="StepDesc2"/>
          <p:cNvSpPr/>
          <p:nvPr/>
        </p:nvSpPr>
        <p:spPr>
          <a:xfrm>
            <a:off x="6477000" y="30607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計画に沿って実装、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または調査結果を活用</a:t>
            </a:r>
          </a:p>
        </p:txBody>
      </p:sp>
      <p:sp>
        <p:nvSpPr>
          <p:cNvPr id="40" name="StepCard3"/>
          <p:cNvSpPr/>
          <p:nvPr/>
        </p:nvSpPr>
        <p:spPr>
          <a:xfrm>
            <a:off x="9118600" y="965200"/>
            <a:ext cx="2641600" cy="2921000"/>
          </a:xfrm>
          <a:prstGeom prst="roundRect">
            <a:avLst>
              <a:gd name="adj" fmla="val 3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41" name="StepBar3"/>
          <p:cNvSpPr/>
          <p:nvPr/>
        </p:nvSpPr>
        <p:spPr>
          <a:xfrm>
            <a:off x="9118600" y="965200"/>
            <a:ext cx="2641600" cy="508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42" name="StepLbl3"/>
          <p:cNvSpPr/>
          <p:nvPr/>
        </p:nvSpPr>
        <p:spPr>
          <a:xfrm>
            <a:off x="9271000" y="1117600"/>
            <a:ext cx="228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FAF9F5"/>
                </a:solidFill>
                <a:latin typeface="Helvetica Neue"/>
              </a:rPr>
              <a:t>Step 4</a:t>
            </a:r>
          </a:p>
        </p:txBody>
      </p:sp>
      <p:sp>
        <p:nvSpPr>
          <p:cNvPr id="43" name="StepTitle3"/>
          <p:cNvSpPr/>
          <p:nvPr/>
        </p:nvSpPr>
        <p:spPr>
          <a:xfrm>
            <a:off x="9271000" y="1447800"/>
            <a:ext cx="2349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</a:pPr>
            <a:r>
              <a:rPr lang="ja-JP" sz="1500" b="1" dirty="0">
                <a:solidFill>
                  <a:srgbClr val="FAF9F5"/>
                </a:solidFill>
                <a:latin typeface="Hiragino Sans"/>
              </a:rPr>
              <a:t>結果を確認</a:t>
            </a:r>
          </a:p>
        </p:txBody>
      </p:sp>
      <p:sp>
        <p:nvSpPr>
          <p:cNvPr id="44" name="StepCmd3"/>
          <p:cNvSpPr/>
          <p:nvPr/>
        </p:nvSpPr>
        <p:spPr>
          <a:xfrm>
            <a:off x="9271000" y="22352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6A9BCC"/>
                </a:solidFill>
                <a:latin typeface="SF Mono"/>
              </a:rPr>
              <a:t>テスト実行 → PR作成</a:t>
            </a:r>
          </a:p>
        </p:txBody>
      </p:sp>
      <p:sp>
        <p:nvSpPr>
          <p:cNvPr id="45" name="StepDesc3"/>
          <p:cNvSpPr/>
          <p:nvPr/>
        </p:nvSpPr>
        <p:spPr>
          <a:xfrm>
            <a:off x="9271000" y="3060700"/>
            <a:ext cx="2349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変更内容を取りまとめて</a:t>
            </a:r>
          </a:p>
          <a:p>
            <a:pPr algn="l">
              <a:lnSpc>
                <a:spcPts val="1800"/>
              </a:lnSpc>
            </a:pPr>
            <a:r>
              <a:rPr lang="ja-JP" sz="1200" dirty="0">
                <a:solidFill>
                  <a:srgbClr val="B0AEA5"/>
                </a:solidFill>
                <a:latin typeface="Hiragino Sans"/>
              </a:rPr>
              <a:t>完了</a:t>
            </a:r>
          </a:p>
        </p:txBody>
      </p:sp>
      <p:sp>
        <p:nvSpPr>
          <p:cNvPr id="60" name="TipsHeader"/>
          <p:cNvSpPr/>
          <p:nvPr/>
        </p:nvSpPr>
        <p:spPr>
          <a:xfrm>
            <a:off x="736600" y="4064000"/>
            <a:ext cx="508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500" b="1" dirty="0">
                <a:solidFill>
                  <a:srgbClr val="D97757"/>
                </a:solidFill>
                <a:latin typeface="Hiragino Sans"/>
              </a:rPr>
              <a:t>Step 1で伝えておくと良いこと</a:t>
            </a:r>
          </a:p>
        </p:txBody>
      </p:sp>
      <p:sp>
        <p:nvSpPr>
          <p:cNvPr id="61" name="TipCard0"/>
          <p:cNvSpPr/>
          <p:nvPr/>
        </p:nvSpPr>
        <p:spPr>
          <a:xfrm>
            <a:off x="736600" y="4521200"/>
            <a:ext cx="3632200" cy="1651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62" name="TipBar0"/>
          <p:cNvSpPr/>
          <p:nvPr/>
        </p:nvSpPr>
        <p:spPr>
          <a:xfrm>
            <a:off x="736600" y="4521200"/>
            <a:ext cx="50800" cy="1651000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63" name="TipText0"/>
          <p:cNvSpPr/>
          <p:nvPr/>
        </p:nvSpPr>
        <p:spPr>
          <a:xfrm>
            <a:off x="965200" y="4699000"/>
            <a:ext cx="32512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Aft>
                <a:spcPts val="400"/>
              </a:spcAft>
            </a:pPr>
            <a:r>
              <a:rPr lang="ja-JP" sz="1500" b="1" dirty="0">
                <a:solidFill>
                  <a:srgbClr val="7BC9A0"/>
                </a:solidFill>
                <a:latin typeface="Hiragino Sans"/>
              </a:rPr>
              <a:t>受け入れ基準</a:t>
            </a:r>
          </a:p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どうなったら完了か</a:t>
            </a:r>
          </a:p>
        </p:txBody>
      </p:sp>
      <p:sp>
        <p:nvSpPr>
          <p:cNvPr id="64" name="TipCard1"/>
          <p:cNvSpPr/>
          <p:nvPr/>
        </p:nvSpPr>
        <p:spPr>
          <a:xfrm>
            <a:off x="4521200" y="4521200"/>
            <a:ext cx="3632200" cy="1651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65" name="TipBar1"/>
          <p:cNvSpPr/>
          <p:nvPr/>
        </p:nvSpPr>
        <p:spPr>
          <a:xfrm>
            <a:off x="4521200" y="4521200"/>
            <a:ext cx="50800" cy="16510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66" name="TipText1"/>
          <p:cNvSpPr/>
          <p:nvPr/>
        </p:nvSpPr>
        <p:spPr>
          <a:xfrm>
            <a:off x="4749800" y="4699000"/>
            <a:ext cx="32512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Aft>
                <a:spcPts val="400"/>
              </a:spcAft>
            </a:pPr>
            <a:r>
              <a:rPr lang="ja-JP" sz="1500" b="1" dirty="0">
                <a:solidFill>
                  <a:srgbClr val="D97757"/>
                </a:solidFill>
                <a:latin typeface="Hiragino Sans"/>
              </a:rPr>
              <a:t>禁止事項</a:t>
            </a:r>
          </a:p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絶対にやってはいけない変更</a:t>
            </a:r>
          </a:p>
        </p:txBody>
      </p:sp>
      <p:sp>
        <p:nvSpPr>
          <p:cNvPr id="67" name="TipCard2"/>
          <p:cNvSpPr/>
          <p:nvPr/>
        </p:nvSpPr>
        <p:spPr>
          <a:xfrm>
            <a:off x="8305800" y="4521200"/>
            <a:ext cx="3632200" cy="1651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68" name="TipBar2"/>
          <p:cNvSpPr/>
          <p:nvPr/>
        </p:nvSpPr>
        <p:spPr>
          <a:xfrm>
            <a:off x="8305800" y="4521200"/>
            <a:ext cx="50800" cy="16510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69" name="TipText2"/>
          <p:cNvSpPr/>
          <p:nvPr/>
        </p:nvSpPr>
        <p:spPr>
          <a:xfrm>
            <a:off x="8534400" y="4699000"/>
            <a:ext cx="3251200" cy="1346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200"/>
              </a:lnSpc>
              <a:spcAft>
                <a:spcPts val="400"/>
              </a:spcAft>
            </a:pPr>
            <a:r>
              <a:rPr lang="ja-JP" sz="1500" b="1" dirty="0">
                <a:solidFill>
                  <a:srgbClr val="6A9BCC"/>
                </a:solidFill>
                <a:latin typeface="Hiragino Sans"/>
              </a:rPr>
              <a:t>想定外の扱い</a:t>
            </a:r>
          </a:p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計画にない問題を見つけたら</a:t>
            </a:r>
          </a:p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どうするか</a:t>
            </a:r>
          </a:p>
        </p:txBody>
      </p:sp>
      <p:sp>
        <p:nvSpPr>
          <p:cNvPr id="80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3060954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9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736600" y="457200"/>
            <a:ext cx="762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5400"/>
              </a:lnSpc>
            </a:pPr>
            <a:r>
              <a:rPr lang="ja-JP" sz="3600" b="1" dirty="0">
                <a:solidFill>
                  <a:srgbClr val="FAF9F5"/>
                </a:solidFill>
                <a:latin typeface="Hiragino Sans"/>
              </a:rPr>
              <a:t>まとめ / 次回予告</a:t>
            </a:r>
          </a:p>
        </p:txBody>
      </p:sp>
      <p:sp>
        <p:nvSpPr>
          <p:cNvPr id="10" name="Card0"/>
          <p:cNvSpPr/>
          <p:nvPr/>
        </p:nvSpPr>
        <p:spPr>
          <a:xfrm>
            <a:off x="736600" y="1270000"/>
            <a:ext cx="10515600" cy="1270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11" name="Bar0"/>
          <p:cNvSpPr/>
          <p:nvPr/>
        </p:nvSpPr>
        <p:spPr>
          <a:xfrm>
            <a:off x="736600" y="1270000"/>
            <a:ext cx="63500" cy="12700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12" name="Num0"/>
          <p:cNvSpPr/>
          <p:nvPr/>
        </p:nvSpPr>
        <p:spPr>
          <a:xfrm>
            <a:off x="1041400" y="1638300"/>
            <a:ext cx="533400" cy="5334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1</a:t>
            </a:r>
          </a:p>
        </p:txBody>
      </p:sp>
      <p:sp>
        <p:nvSpPr>
          <p:cNvPr id="13" name="Text0"/>
          <p:cNvSpPr/>
          <p:nvPr/>
        </p:nvSpPr>
        <p:spPr>
          <a:xfrm>
            <a:off x="1752600" y="1397000"/>
            <a:ext cx="914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600"/>
              </a:lnSpc>
            </a:pPr>
            <a:r>
              <a:rPr lang="ja-JP" sz="1700" b="1" dirty="0">
                <a:solidFill>
                  <a:srgbClr val="FAF9F5"/>
                </a:solidFill>
                <a:latin typeface="Hiragino Sans"/>
              </a:rPr>
              <a:t>Claude Code はコード補完ではなく</a:t>
            </a:r>
          </a:p>
          <a:p>
            <a:pPr algn="l">
              <a:lnSpc>
                <a:spcPts val="2600"/>
              </a:lnSpc>
            </a:pPr>
            <a:r>
              <a:rPr lang="ja-JP" sz="1700" b="1" dirty="0">
                <a:solidFill>
                  <a:srgbClr val="FAF9F5"/>
                </a:solidFill>
                <a:latin typeface="Hiragino Sans"/>
              </a:rPr>
              <a:t>「作業を進める」ツール</a:t>
            </a:r>
          </a:p>
        </p:txBody>
      </p:sp>
      <p:sp>
        <p:nvSpPr>
          <p:cNvPr id="14" name="Desc0"/>
          <p:cNvSpPr/>
          <p:nvPr/>
        </p:nvSpPr>
        <p:spPr>
          <a:xfrm>
            <a:off x="1752600" y="20828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調査→計画→実装→検証→取りまとめの一連フロー</a:t>
            </a:r>
          </a:p>
        </p:txBody>
      </p:sp>
      <p:sp>
        <p:nvSpPr>
          <p:cNvPr id="15" name="Card1"/>
          <p:cNvSpPr/>
          <p:nvPr/>
        </p:nvSpPr>
        <p:spPr>
          <a:xfrm>
            <a:off x="736600" y="2717800"/>
            <a:ext cx="10515600" cy="1270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16" name="Bar1"/>
          <p:cNvSpPr/>
          <p:nvPr/>
        </p:nvSpPr>
        <p:spPr>
          <a:xfrm>
            <a:off x="736600" y="2717800"/>
            <a:ext cx="63500" cy="127000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17" name="Num1"/>
          <p:cNvSpPr/>
          <p:nvPr/>
        </p:nvSpPr>
        <p:spPr>
          <a:xfrm>
            <a:off x="1041400" y="3086100"/>
            <a:ext cx="533400" cy="533400"/>
          </a:xfrm>
          <a:prstGeom prst="ellipse">
            <a:avLst/>
          </a:prstGeom>
          <a:solidFill>
            <a:srgbClr val="6A9BCC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2</a:t>
            </a:r>
          </a:p>
        </p:txBody>
      </p:sp>
      <p:sp>
        <p:nvSpPr>
          <p:cNvPr id="18" name="Text1"/>
          <p:cNvSpPr/>
          <p:nvPr/>
        </p:nvSpPr>
        <p:spPr>
          <a:xfrm>
            <a:off x="1752600" y="2844800"/>
            <a:ext cx="914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600"/>
              </a:lnSpc>
            </a:pPr>
            <a:r>
              <a:rPr lang="ja-JP" sz="1700" b="1" dirty="0">
                <a:solidFill>
                  <a:srgbClr val="FAF9F5"/>
                </a:solidFill>
                <a:latin typeface="Hiragino Sans"/>
              </a:rPr>
              <a:t>伝え方で結果が変わる</a:t>
            </a:r>
          </a:p>
        </p:txBody>
      </p:sp>
      <p:sp>
        <p:nvSpPr>
          <p:cNvPr id="19" name="Desc1"/>
          <p:cNvSpPr/>
          <p:nvPr/>
        </p:nvSpPr>
        <p:spPr>
          <a:xfrm>
            <a:off x="1752600" y="35306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目標・背景・現状・期待出力を伝え、たたき台→改善ループで進める</a:t>
            </a:r>
          </a:p>
        </p:txBody>
      </p:sp>
      <p:sp>
        <p:nvSpPr>
          <p:cNvPr id="20" name="Card2"/>
          <p:cNvSpPr/>
          <p:nvPr/>
        </p:nvSpPr>
        <p:spPr>
          <a:xfrm>
            <a:off x="736600" y="4165600"/>
            <a:ext cx="10515600" cy="1270000"/>
          </a:xfrm>
          <a:prstGeom prst="roundRect">
            <a:avLst>
              <a:gd name="adj" fmla="val 4000"/>
            </a:avLst>
          </a:prstGeom>
          <a:solidFill>
            <a:srgbClr val="302D29"/>
          </a:solidFill>
          <a:ln w="12700">
            <a:solidFill>
              <a:srgbClr val="3A3632"/>
            </a:solidFill>
          </a:ln>
        </p:spPr>
        <p:txBody>
          <a:bodyPr/>
          <a:lstStyle/>
          <a:p>
            <a:endParaRPr lang="ja-JP" dirty="0"/>
          </a:p>
        </p:txBody>
      </p:sp>
      <p:sp>
        <p:nvSpPr>
          <p:cNvPr id="21" name="Bar2"/>
          <p:cNvSpPr/>
          <p:nvPr/>
        </p:nvSpPr>
        <p:spPr>
          <a:xfrm>
            <a:off x="736600" y="4165600"/>
            <a:ext cx="63500" cy="1270000"/>
          </a:xfrm>
          <a:prstGeom prst="rect">
            <a:avLst/>
          </a:prstGeom>
          <a:solidFill>
            <a:srgbClr val="7BC9A0"/>
          </a:solidFill>
          <a:ln>
            <a:noFill/>
          </a:ln>
        </p:spPr>
        <p:txBody>
          <a:bodyPr/>
          <a:lstStyle/>
          <a:p>
            <a:endParaRPr lang="ja-JP" dirty="0"/>
          </a:p>
        </p:txBody>
      </p:sp>
      <p:sp>
        <p:nvSpPr>
          <p:cNvPr id="22" name="Num2"/>
          <p:cNvSpPr/>
          <p:nvPr/>
        </p:nvSpPr>
        <p:spPr>
          <a:xfrm>
            <a:off x="1041400" y="4533900"/>
            <a:ext cx="533400" cy="533400"/>
          </a:xfrm>
          <a:prstGeom prst="ellipse">
            <a:avLst/>
          </a:prstGeom>
          <a:solidFill>
            <a:srgbClr val="7BC9A0"/>
          </a:solidFill>
          <a:ln>
            <a:noFill/>
          </a:ln>
        </p:spPr>
        <p:txBody>
          <a:bodyPr wrap="none" lIns="0" tIns="0" rIns="0" bIns="0" anchor="ctr" anchorCtr="1"/>
          <a:lstStyle/>
          <a:p>
            <a:pPr algn="ctr"/>
            <a:r>
              <a:rPr lang="en-US" sz="2000" b="1" dirty="0">
                <a:solidFill>
                  <a:srgbClr val="FAF9F5"/>
                </a:solidFill>
                <a:latin typeface="Helvetica Neue"/>
              </a:rPr>
              <a:t>3</a:t>
            </a:r>
          </a:p>
        </p:txBody>
      </p:sp>
      <p:sp>
        <p:nvSpPr>
          <p:cNvPr id="23" name="Text2"/>
          <p:cNvSpPr/>
          <p:nvPr/>
        </p:nvSpPr>
        <p:spPr>
          <a:xfrm>
            <a:off x="1752600" y="4292600"/>
            <a:ext cx="914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600"/>
              </a:lnSpc>
            </a:pPr>
            <a:r>
              <a:rPr lang="ja-JP" sz="1700" b="1" dirty="0">
                <a:solidFill>
                  <a:srgbClr val="FAF9F5"/>
                </a:solidFill>
                <a:latin typeface="Hiragino Sans"/>
              </a:rPr>
              <a:t>いきなりコードを書かせない</a:t>
            </a:r>
          </a:p>
        </p:txBody>
      </p:sp>
      <p:sp>
        <p:nvSpPr>
          <p:cNvPr id="24" name="Desc2"/>
          <p:cNvSpPr/>
          <p:nvPr/>
        </p:nvSpPr>
        <p:spPr>
          <a:xfrm>
            <a:off x="1752600" y="4978400"/>
            <a:ext cx="9144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ts val="2000"/>
              </a:lnSpc>
            </a:pPr>
            <a:r>
              <a:rPr lang="ja-JP" sz="1400" dirty="0">
                <a:solidFill>
                  <a:srgbClr val="B0AEA5"/>
                </a:solidFill>
                <a:latin typeface="Hiragino Sans"/>
              </a:rPr>
              <a:t>Plan Modeで方針を固めてから実装に入る</a:t>
            </a:r>
          </a:p>
        </p:txBody>
      </p:sp>
      <p:sp>
        <p:nvSpPr>
          <p:cNvPr id="40" name="CTA"/>
          <p:cNvSpPr/>
          <p:nvPr/>
        </p:nvSpPr>
        <p:spPr>
          <a:xfrm>
            <a:off x="736600" y="5689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800" b="1" dirty="0">
                <a:solidFill>
                  <a:srgbClr val="D97757"/>
                </a:solidFill>
                <a:latin typeface="Hiragino Sans"/>
              </a:rPr>
              <a:t>日常業務の一部を、Claude Codeに任せてみてください</a:t>
            </a:r>
          </a:p>
        </p:txBody>
      </p:sp>
      <p:sp>
        <p:nvSpPr>
          <p:cNvPr id="41" name="PageNum"/>
          <p:cNvSpPr/>
          <p:nvPr/>
        </p:nvSpPr>
        <p:spPr>
          <a:xfrm>
            <a:off x="11277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400" dirty="0">
                <a:solidFill>
                  <a:srgbClr val="6B6963"/>
                </a:solidFill>
                <a:latin typeface="Helvetica Neue"/>
              </a:rP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2620544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F5B6496-13AF-DB41-B010-35B6937DBD56}">
  <we:reference id="wa200010001" version="1.0.0.0" store="ja-JP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2245</Words>
  <Application>Microsoft Macintosh PowerPoint</Application>
  <PresentationFormat>ワイド画面</PresentationFormat>
  <Paragraphs>339</Paragraphs>
  <Slides>16</Slides>
  <Notes>16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Hiragino Sans</vt:lpstr>
      <vt:lpstr>SF Mono</vt:lpstr>
      <vt:lpstr>Arial</vt:lpstr>
      <vt:lpstr>Calibri</vt:lpstr>
      <vt:lpstr>Helvetica Neue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watanabeshota</cp:lastModifiedBy>
  <cp:revision>2</cp:revision>
  <dcterms:created xsi:type="dcterms:W3CDTF">2013-01-27T09:14:16Z</dcterms:created>
  <dcterms:modified xsi:type="dcterms:W3CDTF">2026-02-24T07:19:02Z</dcterms:modified>
  <cp:category/>
</cp:coreProperties>
</file>