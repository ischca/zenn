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オープニング。自己紹介は軽く。</a:t>
            </a:r>
          </a:p>
          <a:p>
            <a:r>
              <a:t>Claude Codeの社内勉強会、全3回の第1回。</a:t>
            </a:r>
          </a:p>
          <a:p>
            <a:r>
              <a:t>今日は「理解する」がテーマ。基本と対話の心得を扱う。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3回シリーズの構成を説明。</a:t>
            </a:r>
          </a:p>
          <a:p>
            <a:r>
              <a:t>第1回は「理解する」。Claude Codeとは何か、どう使うかの基本。</a:t>
            </a:r>
          </a:p>
          <a:p>
            <a:r>
              <a:t>第2回は「カスタマイズする」。チームに合わせた設定。</a:t>
            </a:r>
          </a:p>
          <a:p>
            <a:r>
              <a:t>第3回は「スケールさせる」。自動化と並列化。</a:t>
            </a:r>
          </a:p>
          <a:p>
            <a:r>
              <a:t>同じメンバーが3回とも参加する前提。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まず「業務の一部だけ任せる」という現実的な入口を示す。</a:t>
            </a:r>
          </a:p>
          <a:p>
            <a:r>
              <a:t>調査・影響範囲の把握は時間が溶けやすい。ここが最初の狙いどころ。</a:t>
            </a:r>
          </a:p>
          <a:p>
            <a:r>
              <a:t>最初の小さな成果が「3分で影響範囲が出る」などの即効性。</a:t>
            </a:r>
          </a:p>
          <a:p>
            <a:r>
              <a:t>いきなり実装させるのではなく、調査・要約・差分整理に限定する。</a:t>
            </a:r>
          </a:p>
          <a:p>
            <a:r>
              <a:t>この範囲なら既存業務と直結し、リスクも低い。</a:t>
            </a:r>
          </a:p>
          <a:p>
            <a:r>
              <a:t>この感覚を持ってもらった上で、もう少し詳しく見ていく。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 Codeはターミナルベースのエージェント型開発支援ツール。</a:t>
            </a:r>
          </a:p>
          <a:p>
            <a:r>
              <a:t>GitHub Copilotのような単発のコード補完とは違い、</a:t>
            </a:r>
          </a:p>
          <a:p>
            <a:r>
              <a:t>調査・修正・検証・変更内容の取りまとめを、</a:t>
            </a:r>
          </a:p>
          <a:p>
            <a:r>
              <a:t>ひとつのセッション内で連続して扱える。</a:t>
            </a:r>
          </a:p>
          <a:p>
            <a:r>
              <a:t>安全面：デフォルトは読み取り専用で、ファイル編集やコマンド実行には都度許可が必要。勝手に何か壊す心配はない。</a:t>
            </a:r>
          </a:p>
          <a:p>
            <a:r>
              <a:t>デモGIFがあれば見せる。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3つのツールは競合ではなく補完的。得意領域が異なる。</a:t>
            </a:r>
          </a:p>
          <a:p>
            <a:r>
              <a:t>ChatGPTは設計議論や仕様の言語化が得意。</a:t>
            </a:r>
          </a:p>
          <a:p>
            <a:r>
              <a:t>Copilotはコードを書くことが得意。</a:t>
            </a:r>
          </a:p>
          <a:p>
            <a:r>
              <a:t>Claude Codeは一連の作業を進めることが得意。</a:t>
            </a:r>
          </a:p>
          <a:p>
            <a:r>
              <a:t>IDEで記述し、ターミナル側で調査・実行・差分整理を担当する分担が自然。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通常の開発では全工程を自分で回す。</a:t>
            </a:r>
          </a:p>
          <a:p>
            <a:r>
              <a:t>Claude Codeを使うと、開発者の仕事は「何をしたいか伝える」と「要所でレビューする」に変わる。</a:t>
            </a:r>
          </a:p>
          <a:p>
            <a:r>
              <a:t>ターミナルだけの話ではない。設計→実装→検証のワークフロー全体が変わる。</a:t>
            </a:r>
          </a:p>
          <a:p>
            <a:r>
              <a:t>これが「コード補完」と「エージェント」の本質的な違い。</a:t>
            </a:r>
          </a:p>
          <a:p>
            <a:r>
              <a:t>次のスライドで、具体的なタスクを例に、この流れを見てみる。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具体的なタスクで流れを見てみる。</a:t>
            </a:r>
          </a:p>
          <a:p>
            <a:r>
              <a:t>「ビルド失敗ログの要約」という課題をClaude Codeで進める場合。</a:t>
            </a:r>
          </a:p>
          <a:p>
            <a:r>
              <a:t>開発者がやるのは、目標を伝えること（30秒）と、計画をレビューすること（1分）。</a:t>
            </a:r>
          </a:p>
          <a:p>
            <a:r>
              <a:t>Claudeが調査・計画提案と結果の取りまとめを担当する。</a:t>
            </a:r>
          </a:p>
          <a:p>
            <a:r>
              <a:t>ここで気づいてほしいのは、開発者の介入ポイントが2箇所あること。</a:t>
            </a:r>
          </a:p>
          <a:p>
            <a:r>
              <a:t>「丸投げ」ではなく「要所で判断する」。この感覚が大事。</a:t>
            </a:r>
          </a:p>
          <a:p>
            <a:r>
              <a:t>原因調査に30分かかるところが、5分で俯瞰できるイメージ。</a:t>
            </a:r>
          </a:p>
          <a:p>
            <a:r>
              <a:t>PART 2で「伝え方」を、PART 3で「計画の立て方」を詳しく見ていく。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先ほどの例で、開発者の発話は2回だけだった。短いが、伝え方で結果は大きく変わる。</a:t>
            </a:r>
          </a:p>
          <a:p>
            <a:r>
              <a:t>ここからPart 2。コミュニケーションの話。</a:t>
            </a:r>
          </a:p>
          <a:p>
            <a:r>
              <a:t>Claude Codeは自然言語で指示を出せるが「何でも伝わる」わけではない。</a:t>
            </a:r>
          </a:p>
          <a:p>
            <a:r>
              <a:t>人間相手と同じで、伝え方によって結果が変わる。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チャットボットとエージェントの根本的な違い。</a:t>
            </a:r>
          </a:p>
          <a:p>
            <a:r>
              <a:t>チャットボット：ユーザーが1ステップずつ指示する。受動的。</a:t>
            </a:r>
          </a:p>
          <a:p>
            <a:r>
              <a:t>エージェント：ゴールを伝えたら、自分で探索・計画・実行する。自律的。</a:t>
            </a:r>
          </a:p>
          <a:p>
            <a:r>
              <a:t>アナロジー：チャットボットは電話サポート、エージェントは仕事を任せた同僚。</a:t>
            </a:r>
          </a:p>
          <a:p>
            <a:r>
              <a:t>同僚に仕事を任せるとき、1行ずつ何をするか指示しない。</a:t>
            </a:r>
          </a:p>
          <a:p>
            <a:r>
              <a:t>ゴールと背景を伝えて、やり方は任せる。</a:t>
            </a:r>
          </a:p>
          <a:p>
            <a:r>
              <a:t>この「委任」の感覚がClaude Codeでは重要。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指示の4要素：目標、背景・制約、現状、期待する出力。</a:t>
            </a:r>
          </a:p>
          <a:p>
            <a:r>
              <a:t>全部揃っている必要はないが、目標は必須。</a:t>
            </a:r>
          </a:p>
          <a:p>
            <a:r>
              <a:t>悪い例：「この機能を改善して」→ 何を改善？どう改善？が不明。</a:t>
            </a:r>
          </a:p>
          <a:p>
            <a:r>
              <a:t>良い例：現状・目標・制約が明確。</a:t>
            </a:r>
          </a:p>
          <a:p>
            <a:r>
              <a:t>ポイント：指示が具体的であるほど、結果も具体的になる。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コンテキストを渡す方法はいくつかある。</a:t>
            </a:r>
          </a:p>
          <a:p>
            <a:r>
              <a:t>画像やURLなど、非CLIでも渡せる方法から始めるのが安全。</a:t>
            </a:r>
          </a:p>
          <a:p>
            <a:r>
              <a:t>ファイル名を伝えて対象を明示する方法は基本的。VS Code拡張なら@記法も使える。</a:t>
            </a:r>
          </a:p>
          <a:p>
            <a:r>
              <a:t>画像もコピー＆ペーストで渡せる。エラー画面やデザインカンプなど。</a:t>
            </a:r>
          </a:p>
          <a:p>
            <a:r>
              <a:t>URLを渡してWebページを読ませることもできる。</a:t>
            </a:r>
          </a:p>
          <a:p>
            <a:r>
              <a:t>パイプでコマンド出力を渡す方法は上級者向け。ログ分析などに便利。-p フラグでプロンプトも一緒に渡せる。</a:t>
            </a:r>
          </a:p>
          <a:p>
            <a:r>
              <a:t>ディレクトリ指定でClaude自身に探索させることも可能。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最初から完璧を求めず、たたき台→改善のループで進める。</a:t>
            </a:r>
          </a:p>
          <a:p>
            <a:r>
              <a:t>テクニック：</a:t>
            </a:r>
          </a:p>
          <a:p>
            <a:r>
              <a:t>- 「なぜそうしたのか」と聞くと、自分の指示の問題が見えることがある</a:t>
            </a:r>
          </a:p>
          <a:p>
            <a:r>
              <a:t>- 提案形式で伝えると、Claudeが別の選択肢を出してくれる</a:t>
            </a:r>
          </a:p>
          <a:p>
            <a:r>
              <a:t>- 自分で直接コードを編集したら、その旨を伝える。伝えないと古い状態を前提に動く</a:t>
            </a:r>
          </a:p>
          <a:p>
            <a:r>
              <a:t>- 「全然違う」と言うより「この部分は良い、この部分は変えて」と具体的に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3。Plan Modeの話。</a:t>
            </a:r>
          </a:p>
          <a:p>
            <a:r>
              <a:t>「いきなりコードを書かせない」が合言葉。</a:t>
            </a:r>
          </a:p>
          <a:p>
            <a:r>
              <a:t>計画から始めることで手戻りを減らせる。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Modeは読み取り専用のモード。</a:t>
            </a:r>
          </a:p>
          <a:p>
            <a:r>
              <a:t>まずPlan Modeで方針を固め、実装はレビュー後に許可する。</a:t>
            </a:r>
          </a:p>
          <a:p>
            <a:r>
              <a:t>最初はPlan Mode固定で始めると失敗しにくい。</a:t>
            </a:r>
          </a:p>
          <a:p>
            <a:r>
              <a:t>切替はShift+TabかAlt+Mで。起動時に --permission-mode plan で指定もできる。</a:t>
            </a:r>
          </a:p>
          <a:p>
            <a:r>
              <a:t>Extended Thinkingとは別の概念。</a:t>
            </a:r>
          </a:p>
          <a:p>
            <a:r>
              <a:t>Extended Thinking = 深く考えさせる（think, think hard）</a:t>
            </a:r>
          </a:p>
          <a:p>
            <a:r>
              <a:t>Plan Mode = 使えるツールを制限する</a:t>
            </a:r>
          </a:p>
          <a:p>
            <a:r>
              <a:t>両者の併用も可能。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計画 → レビュー → 実装 → 確認の4ステップ。</a:t>
            </a:r>
          </a:p>
          <a:p>
            <a:r>
              <a:t>ポイント：</a:t>
            </a:r>
          </a:p>
          <a:p>
            <a:r>
              <a:t>- 「まだコードを書かないで」と明示的に伝える</a:t>
            </a:r>
          </a:p>
          <a:p>
            <a:r>
              <a:t>- 計画段階で疑問点をつぶす。「後方互換性は？」「テストは？」</a:t>
            </a:r>
          </a:p>
          <a:p>
            <a:r>
              <a:t>- 計画に納得したらモード切替で実装を許可</a:t>
            </a:r>
          </a:p>
          <a:p>
            <a:r>
              <a:t>- 小さな修正でもこの流れを習慣にすると手戻りが減る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計画段階で確認すべき5つの項目。</a:t>
            </a:r>
          </a:p>
          <a:p>
            <a:r>
              <a:t>ゴール：何を達成したいか。最も重要。</a:t>
            </a:r>
          </a:p>
          <a:p>
            <a:r>
              <a:t>背景・制約：なぜ必要か。技術的な制約も含む。</a:t>
            </a:r>
          </a:p>
          <a:p>
            <a:r>
              <a:t>受け入れ基準：どうなったら完了か。テストが通る、レビューOKなど。</a:t>
            </a:r>
          </a:p>
          <a:p>
            <a:r>
              <a:t>禁止事項：既存APIの破壊、特定ファイルの変更禁止など。</a:t>
            </a:r>
          </a:p>
          <a:p>
            <a:r>
              <a:t>想定外の扱い：計画外の問題は報告して止まる、自己判断で対処、など。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まとめの3つの要点を読み上げ。</a:t>
            </a:r>
          </a:p>
          <a:p>
            <a:r>
              <a:t>今日の持ち帰りは「面倒な調査を、まず任せる」。</a:t>
            </a:r>
          </a:p>
          <a:p>
            <a:r>
              <a:t>次回は「カスタマイズする」がテーマ。</a:t>
            </a:r>
          </a:p>
          <a:p>
            <a:r>
              <a:t>コンテキスト管理、Skills、サブエージェント、Plan Modeの深掘りを扱う。</a:t>
            </a:r>
          </a:p>
          <a:p>
            <a:r>
              <a:t>質疑応答の時間へ。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7200"/>
              </a:lnSpc>
              <a:spcAft>
                <a:spcPts val="0"/>
              </a:spcAft>
              <a:defRPr sz="4800" b="1">
                <a:solidFill>
                  <a:srgbClr val="FAF9F5"/>
                </a:solidFill>
                <a:latin typeface="Hiragino Sans"/>
              </a:defRPr>
            </a:pPr>
            <a:r>
              <a:t>Claude Code ことはじめ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200"/>
              </a:lnSpc>
              <a:spcAft>
                <a:spcPts val="0"/>
              </a:spcAft>
              <a:defRPr sz="2800" b="0">
                <a:solidFill>
                  <a:srgbClr val="D97757"/>
                </a:solidFill>
                <a:latin typeface="Hiragino Sans"/>
              </a:defRPr>
            </a:pPr>
            <a:r>
              <a:t>〜基本と対話の心得〜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572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B0AEA5"/>
                </a:solidFill>
                <a:latin typeface="Helvetica Neue"/>
              </a:defRPr>
            </a:pPr>
            <a:r>
              <a:t>社内勉強会  |  第1回 / 全3回  |  20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全3回のロードマップ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515600" cy="1371600"/>
          </a:xfrm>
          <a:prstGeom prst="roundRect">
            <a:avLst>
              <a:gd name="adj" fmla="val 2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00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E8956F"/>
                </a:solidFill>
                <a:latin typeface="Hiragino Sans"/>
              </a:defRPr>
            </a:pPr>
            <a:r>
              <a:t>第1回（今日）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57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Aft>
                <a:spcPts val="0"/>
              </a:spcAft>
              <a:defRPr sz="2400" b="1">
                <a:solidFill>
                  <a:srgbClr val="FAF9F5"/>
                </a:solidFill>
                <a:latin typeface="Hiragino Sans"/>
              </a:defRPr>
            </a:pPr>
            <a:r>
              <a:t>理解する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8745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基本 / コミュニケーション / Plan Mode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10515600" cy="137160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B0AEA5"/>
                </a:solidFill>
                <a:latin typeface="Hiragino Sans"/>
              </a:defRPr>
            </a:pPr>
            <a:r>
              <a:t>第2回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Aft>
                <a:spcPts val="0"/>
              </a:spcAft>
              <a:defRPr sz="2400" b="1">
                <a:solidFill>
                  <a:srgbClr val="FAF9F5"/>
                </a:solidFill>
                <a:latin typeface="Hiragino Sans"/>
              </a:defRPr>
            </a:pPr>
            <a:r>
              <a:t>カスタマイズする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52044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コンテキスト管理 / Skills / サブエージェント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54880"/>
            <a:ext cx="10515600" cy="137160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892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B0AEA5"/>
                </a:solidFill>
                <a:latin typeface="Hiragino Sans"/>
              </a:defRPr>
            </a:pPr>
            <a:r>
              <a:t>第3回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349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Aft>
                <a:spcPts val="0"/>
              </a:spcAft>
              <a:defRPr sz="2400" b="1">
                <a:solidFill>
                  <a:srgbClr val="FAF9F5"/>
                </a:solidFill>
                <a:latin typeface="Hiragino Sans"/>
              </a:defRPr>
            </a:pPr>
            <a:r>
              <a:t>スケールさせる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16636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Hooks / MCP / worktree / /insights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1 — Claude Code とは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最初の1歩は「業務の一部だけ任せる」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最初の一歩の例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既存チケット1件の「調査・要約・差分整理」だけ任せる</a:t>
            </a:r>
          </a:p>
          <a:p>
            <a:pPr>
              <a:lnSpc>
                <a:spcPts val="306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影響範囲の洗い出しや、ログの要点整理に限定する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4846320" cy="914400"/>
          </a:xfrm>
          <a:prstGeom prst="roundRect">
            <a:avLst>
              <a:gd name="adj" fmla="val 3000"/>
            </a:avLst>
          </a:prstGeom>
          <a:solidFill>
            <a:srgbClr val="2D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9319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E07070"/>
                </a:solidFill>
                <a:latin typeface="Hiragino Sans"/>
              </a:defRPr>
            </a:pPr>
            <a:r>
              <a:t>よくある痛み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976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0">
                <a:solidFill>
                  <a:srgbClr val="C5C3BB"/>
                </a:solidFill>
                <a:latin typeface="Hiragino Sans"/>
              </a:defRPr>
            </a:pPr>
            <a:r>
              <a:t>調査・影響範囲の把握で時間が溶ける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3840480"/>
            <a:ext cx="5029200" cy="914400"/>
          </a:xfrm>
          <a:prstGeom prst="roundRect">
            <a:avLst>
              <a:gd name="adj" fmla="val 3000"/>
            </a:avLst>
          </a:prstGeom>
          <a:solidFill>
            <a:srgbClr val="1E2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7BC9A0"/>
                </a:solidFill>
                <a:latin typeface="Hiragino Sans"/>
              </a:defRPr>
            </a:pPr>
            <a:r>
              <a:t>小さな成果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0">
                <a:solidFill>
                  <a:srgbClr val="C5C3BB"/>
                </a:solidFill>
                <a:latin typeface="Hiragino Sans"/>
              </a:defRPr>
            </a:pPr>
            <a:r>
              <a:t>PRの影響範囲が3分で出る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iragino Sans"/>
              </a:defRPr>
            </a:pPr>
            <a:r>
              <a:t>→ いきなり実装させず、業務の一部から始めるのが安全で現実的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1 — Claude Code とは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Claude Code とは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ターミナル上で動くAIエージェント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調査 → 修正 → 検証 → 取りまとめを一連で扱う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ファイルの読み書き、コマンド実行を自律的に行う</a:t>
            </a:r>
            <a:br/>
            <a:r>
              <a:t>  （都度許可 or 自動承認を選べる）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デフォルトは読み取り専用</a:t>
            </a:r>
            <a:br/>
            <a:r>
              <a:t>  編集やコマンド実行には明示的な許可が必要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「コードを書く」ではなく「作業を進める」ツール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0" y="201168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21031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調査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292608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30175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→ 修正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84048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→ 検証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75488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4846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→ 要約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他ツールとの役割分担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B0AEA5"/>
                </a:solidFill>
                <a:latin typeface="Helvetica Neue"/>
              </a:defRPr>
            </a:pPr>
            <a:r>
              <a:t>得意領域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515600" cy="12801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74AA9C"/>
                </a:solidFill>
                <a:latin typeface="Hiragino Sans"/>
              </a:defRPr>
            </a:pPr>
            <a:r>
              <a:t>ChatGPT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286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設計議論・仕様の言語化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9202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4AA9C"/>
                </a:solidFill>
                <a:latin typeface="Hiragino Sans"/>
              </a:defRPr>
            </a:pPr>
            <a:r>
              <a:t>設計・壁打ち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00400"/>
            <a:ext cx="10515600" cy="12801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3375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79B8FF"/>
                </a:solidFill>
                <a:latin typeface="Hiragino Sans"/>
              </a:defRPr>
            </a:pPr>
            <a:r>
              <a:t>GitHub Copilot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840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IDE内のコード補完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4747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9B8FF"/>
                </a:solidFill>
                <a:latin typeface="Hiragino Sans"/>
              </a:defRPr>
            </a:pPr>
            <a:r>
              <a:t>コードを書く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10515600" cy="12801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92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D97757"/>
                </a:solidFill>
                <a:latin typeface="Hiragino Sans"/>
              </a:defRPr>
            </a:pPr>
            <a:r>
              <a:t>Claude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394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リポジトリ全体の作業フロー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50292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作業を進める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B0AEA5"/>
                </a:solidFill>
                <a:latin typeface="Hiragino Sans"/>
              </a:defRPr>
            </a:pPr>
            <a:r>
              <a:t>→ 排他的ではなく補完的。それぞれの得意領域で使い分けるのがおすすめ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開発フローの変化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通常の開発フロー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6A9BCC"/>
                </a:solidFill>
                <a:latin typeface="Hiragino Sans"/>
              </a:defRPr>
            </a:pPr>
            <a:r>
              <a:t>Claude Code を使った開発フロー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コードを読む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828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231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方針を考える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5146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1089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コードを書く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2004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947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886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テスト実行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886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572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デバッグ・修正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5720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1663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257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差分整理・PR作成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5257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1828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目標・背景を伝える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1828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4231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コード調査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25146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108960"/>
            <a:ext cx="310896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3200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計画提案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2004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32004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B0AEA5"/>
                </a:solidFill>
                <a:latin typeface="Helvetica Neue"/>
              </a:defRPr>
            </a:pPr>
            <a: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92640" y="3108960"/>
            <a:ext cx="201168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0" y="3200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レビュー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7947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3886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実装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3886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480560"/>
            <a:ext cx="310896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4572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テスト・検証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45720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0" y="4572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B0AEA5"/>
                </a:solidFill>
                <a:latin typeface="Helvetica Neue"/>
              </a:defRPr>
            </a:pPr>
            <a: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92640" y="4480560"/>
            <a:ext cx="201168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75520" y="4572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確認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51663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5257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差分整理・PR作成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5257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iragino Sans"/>
              </a:defRPr>
            </a:pPr>
            <a:r>
              <a:t>→ 開発者の役割が「実行者」から「方向づけ + レビュー」に変わる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6217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B0AEA5"/>
                </a:solidFill>
                <a:latin typeface="Hiragino Sans"/>
              </a:defRPr>
            </a:pPr>
            <a:r>
              <a:t>→ 介入ポイントは2回だけ（方向づけ / 判断）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実際のタスクで見てみよう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0">
                <a:solidFill>
                  <a:srgbClr val="B0AEA5"/>
                </a:solidFill>
                <a:latin typeface="Hiragino Sans"/>
              </a:defRPr>
            </a:pPr>
            <a:r>
              <a:t>例：「ビルド失敗ログを要約し、原因候補を整理する」場合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88920"/>
            <a:ext cx="10972800" cy="36576"/>
          </a:xfrm>
          <a:prstGeom prst="roundRect">
            <a:avLst>
              <a:gd name="adj" fmla="val 0"/>
            </a:avLst>
          </a:prstGeom>
          <a:solidFill>
            <a:srgbClr val="3A3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E8956F"/>
                </a:solidFill>
                <a:latin typeface="Hiragino Sans"/>
              </a:defRPr>
            </a:pPr>
            <a:r>
              <a:t>方向づけ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SF Mono"/>
              </a:defRPr>
            </a:pPr>
            <a:r>
              <a:t>"ビルドが失敗した。</a:t>
            </a:r>
            <a:br/>
            <a:r>
              <a:t> ログを要約して</a:t>
            </a:r>
            <a:br/>
            <a:r>
              <a:t> 原因候補を</a:t>
            </a:r>
            <a:br/>
            <a:r>
              <a:t> 3つ挙げて"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00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6A9BCC"/>
                </a:solidFill>
                <a:latin typeface="Hiragino Sans"/>
              </a:defRPr>
            </a:pPr>
            <a:r>
              <a:t>調査 → 計画提案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SF Mono"/>
              </a:defRPr>
            </a:pPr>
            <a:r>
              <a:t>"失敗箇所はX。</a:t>
            </a:r>
            <a:br/>
            <a:r>
              <a:t> 依存関係の不整合</a:t>
            </a:r>
            <a:br/>
            <a:r>
              <a:t> が濃厚。原因候補</a:t>
            </a:r>
            <a:br/>
            <a:r>
              <a:t> を3つ提示します"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E8956F"/>
                </a:solidFill>
                <a:latin typeface="Hiragino Sans"/>
              </a:defRPr>
            </a:pPr>
            <a:r>
              <a:t>判断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SF Mono"/>
              </a:defRPr>
            </a:pPr>
            <a:r>
              <a:t>"候補2を深掘り</a:t>
            </a:r>
            <a:br/>
            <a:r>
              <a:t> して。既存仕様は</a:t>
            </a:r>
            <a:br/>
            <a:r>
              <a:t> 変えない"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6A9BCC"/>
                </a:solidFill>
                <a:latin typeface="Hiragino Sans"/>
              </a:defRPr>
            </a:pPr>
            <a:r>
              <a:t>実行 → 取りまとめ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SF Mono"/>
              </a:defRPr>
            </a:pPr>
            <a:r>
              <a:t>"根拠と次の確認</a:t>
            </a:r>
            <a:br/>
            <a:r>
              <a:t> 手順を整理。</a:t>
            </a:r>
            <a:br/>
            <a:r>
              <a:t> 修正案も添付。"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iragino Sans"/>
              </a:defRPr>
            </a:pPr>
            <a:r>
              <a:t>→ 開発者は「何をしたいか」と「判断」に集中する。このあと、その具体的な方法を見ていく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1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elvetica Neue"/>
              </a:defRPr>
            </a:pPr>
            <a:r>
              <a:t>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000"/>
              </a:lnSpc>
              <a:spcAft>
                <a:spcPts val="0"/>
              </a:spcAft>
              <a:defRPr sz="4000" b="1">
                <a:solidFill>
                  <a:srgbClr val="FAF9F5"/>
                </a:solidFill>
                <a:latin typeface="Hiragino Sans"/>
              </a:defRPr>
            </a:pPr>
            <a:r>
              <a:t>コミュニケーションの心得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  <a:defRPr sz="2400" b="0">
                <a:solidFill>
                  <a:srgbClr val="C5C3BB"/>
                </a:solidFill>
                <a:latin typeface="Hiragino Sans"/>
              </a:defRPr>
            </a:pPr>
            <a:r>
              <a:t>伝え方によって結果が変わるのは、</a:t>
            </a:r>
            <a:br/>
            <a:r>
              <a:t>人間相手と同じ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2 — コミュニケーション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チャットボット vs エージェント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4754880" cy="411480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E07070"/>
                </a:solidFill>
                <a:latin typeface="Hiragino Sans"/>
              </a:defRPr>
            </a:pPr>
            <a:r>
              <a:t>チャットボット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質問 → 回答 → 質問 → 回答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ピンポン型のやりとり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1回のやりとりが完結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ユーザーが手順を管理する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4754880" cy="4114800"/>
          </a:xfrm>
          <a:prstGeom prst="roundRect">
            <a:avLst>
              <a:gd name="adj" fmla="val 2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7BC9A0"/>
                </a:solidFill>
                <a:latin typeface="Hiragino Sans"/>
              </a:defRPr>
            </a:pPr>
            <a:r>
              <a:t>エージェント（Claude Code）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65176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目標を委任 → 自律的に実行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ファイル読み書き・コマンド実行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調査 → 計画 → 実装を一連で行う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エージェントが手順を判断する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D97757"/>
                </a:solidFill>
                <a:latin typeface="Hiragino Sans"/>
              </a:defRPr>
            </a:pPr>
            <a:r>
              <a:t>→ コミュニケーションの方法も変わる。「指示」ではなく「委任」の意識が重要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2 — コミュニケーション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効果的な指示の4要素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488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何を達成したいか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9748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7432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6A9BCC"/>
                </a:solidFill>
                <a:latin typeface="Hiragino Sans"/>
              </a:defRPr>
            </a:pPr>
            <a:r>
              <a:t>背景・制約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なぜ必要か / やってはいけないこと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BC9A0"/>
                </a:solidFill>
                <a:latin typeface="Hiragino Sans"/>
              </a:defRPr>
            </a:pPr>
            <a:r>
              <a:t>現状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0690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今どうなっているか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1772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6634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B88AD0"/>
                </a:solidFill>
                <a:latin typeface="Hiragino Sans"/>
              </a:defRPr>
            </a:pPr>
            <a:r>
              <a:t>期待する出力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292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どういう形式で結果がほしいか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B0AEA5"/>
                </a:solidFill>
                <a:latin typeface="SF Mono"/>
              </a:defRPr>
            </a:pPr>
            <a:r>
              <a:t>テンプレ: 目標 / 背景・制約 / 現状 / 期待する出力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1737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E07070"/>
                </a:solidFill>
                <a:latin typeface="Hiragino Sans"/>
              </a:defRPr>
            </a:pPr>
            <a:r>
              <a:t>Bad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2194560"/>
            <a:ext cx="5303520" cy="640080"/>
          </a:xfrm>
          <a:prstGeom prst="roundRect">
            <a:avLst>
              <a:gd name="adj" fmla="val 3000"/>
            </a:avLst>
          </a:prstGeom>
          <a:solidFill>
            <a:srgbClr val="141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23774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A9BCC"/>
                </a:solidFill>
                <a:latin typeface="SF Mono"/>
              </a:defRPr>
            </a:pPr>
            <a:r>
              <a:t>この機能を改善して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7BC9A0"/>
                </a:solidFill>
                <a:latin typeface="Hiragino Sans"/>
              </a:defRPr>
            </a:pPr>
            <a:r>
              <a:t>Good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3657600"/>
            <a:ext cx="5303520" cy="2377440"/>
          </a:xfrm>
          <a:prstGeom prst="roundRect">
            <a:avLst>
              <a:gd name="adj" fmla="val 3000"/>
            </a:avLst>
          </a:prstGeom>
          <a:solidFill>
            <a:srgbClr val="141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8404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CIでtests/authのテストが3件落ちている。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現状：昨日のリファクタ以降失敗するように。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目標：テストを全件通す。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原因を調査して、修正案を提案して。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既存の振る舞いは変えないこと。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2 — コミュニケーション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コンテキストの渡し方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515600" cy="7772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965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6A9BCC"/>
                </a:solidFill>
                <a:latin typeface="Hiragino Sans"/>
              </a:defRPr>
            </a:pPr>
            <a:r>
              <a:t>画像ペースト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1965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スクショやデザインを共有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965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B0AEA5"/>
                </a:solidFill>
                <a:latin typeface="SF Mono"/>
              </a:defRPr>
            </a:pPr>
            <a:r>
              <a:t>エラー画面のキャプチャを貼る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97480"/>
            <a:ext cx="10515600" cy="7772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834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6A9BCC"/>
                </a:solidFill>
                <a:latin typeface="Hiragino Sans"/>
              </a:defRPr>
            </a:pPr>
            <a:r>
              <a:t>URL指定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834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Webページを読ませる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8346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B0AEA5"/>
                </a:solidFill>
                <a:latin typeface="SF Mono"/>
              </a:defRPr>
            </a:pPr>
            <a:r>
              <a:t>このドキュメントを読んで: https://...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66160"/>
            <a:ext cx="10515600" cy="7772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703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6A9BCC"/>
                </a:solidFill>
                <a:latin typeface="Hiragino Sans"/>
              </a:defRPr>
            </a:pPr>
            <a:r>
              <a:t>ファイル名を伝える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703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対象ファイルを明示する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7033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B0AEA5"/>
                </a:solidFill>
                <a:latin typeface="SF Mono"/>
              </a:defRPr>
            </a:pPr>
            <a:r>
              <a:t>src/auth.ts を見て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434840"/>
            <a:ext cx="10515600" cy="7772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572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6A9BCC"/>
                </a:solidFill>
                <a:latin typeface="Hiragino Sans"/>
              </a:defRPr>
            </a:pPr>
            <a:r>
              <a:t>ディレクトリ指定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Claudeに探索させる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5720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B0AEA5"/>
                </a:solidFill>
                <a:latin typeface="SF Mono"/>
              </a:defRPr>
            </a:pPr>
            <a:r>
              <a:t>このディレクトリを調べて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303520"/>
            <a:ext cx="10515600" cy="7772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5440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6A9BCC"/>
                </a:solidFill>
                <a:latin typeface="Hiragino Sans"/>
              </a:defRPr>
            </a:pPr>
            <a:r>
              <a:t>パイプ（上級者向け）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5440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コマンド出力を渡す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5440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B0AEA5"/>
                </a:solidFill>
                <a:latin typeface="SF Mono"/>
              </a:defRPr>
            </a:pPr>
            <a:r>
              <a:t>cat error.log | claude -p "原因を教えて"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355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B0AEA5"/>
                </a:solidFill>
                <a:latin typeface="Hiragino Sans"/>
              </a:defRPr>
            </a:pPr>
            <a:r>
              <a:t>※ VS Code拡張では @ファイル名 でファイルを参照できる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2 — コミュニケーション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たたき台 → 改善ループ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D97757"/>
                </a:solidFill>
                <a:latin typeface="Hiragino Sans"/>
              </a:defRPr>
            </a:pPr>
            <a:r>
              <a:t>1. 指示を出す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FAF9F5"/>
                </a:solidFill>
                <a:latin typeface="Hiragino Sans"/>
              </a:defRPr>
            </a:pPr>
            <a:r>
              <a:t>2. 出力を確認する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7BC9A0"/>
                </a:solidFill>
                <a:latin typeface="Hiragino Sans"/>
              </a:defRPr>
            </a:pPr>
            <a:r>
              <a:t>3. 具体的にフィードバック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FAF9F5"/>
                </a:solidFill>
                <a:latin typeface="Hiragino Sans"/>
              </a:defRPr>
            </a:pPr>
            <a:r>
              <a:t>4. 改善版を受け取る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FAF9F5"/>
                </a:solidFill>
                <a:latin typeface="Hiragino Sans"/>
              </a:defRPr>
            </a:pPr>
            <a:r>
              <a:t>実践テクニック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0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6A9BCC"/>
                </a:solidFill>
                <a:latin typeface="Hiragino Sans"/>
              </a:defRPr>
            </a:pPr>
            <a:r>
              <a:t>「なぜ」を聞く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8404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期待と違う動きをしたら、すぐ修正を指示する前に理由を聞く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805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6A9BCC"/>
                </a:solidFill>
                <a:latin typeface="Hiragino Sans"/>
              </a:defRPr>
            </a:pPr>
            <a:r>
              <a:t>提案形式で伝える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4805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「Xをして」より「Xを考えているが、どう思うか」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120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6A9BCC"/>
                </a:solidFill>
                <a:latin typeface="Hiragino Sans"/>
              </a:defRPr>
            </a:pPr>
            <a:r>
              <a:t>手直ししたら伝える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1206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自分で編集した場合はClaudeに共有する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760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6A9BCC"/>
                </a:solidFill>
                <a:latin typeface="Hiragino Sans"/>
              </a:defRPr>
            </a:pPr>
            <a:r>
              <a:t>初回で完璧を求めない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57607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「全然違う」より「この部分は良い、ここを変えて」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1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elvetica Neue"/>
              </a:defRPr>
            </a:pPr>
            <a:r>
              <a:t>PART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600"/>
              </a:lnSpc>
              <a:spcAft>
                <a:spcPts val="0"/>
              </a:spcAft>
              <a:defRPr sz="4400" b="1">
                <a:solidFill>
                  <a:srgbClr val="FAF9F5"/>
                </a:solidFill>
                <a:latin typeface="Helvetica Neue"/>
              </a:defRPr>
            </a:pPr>
            <a:r>
              <a:t>Plan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  <a:defRPr sz="2400" b="0">
                <a:solidFill>
                  <a:srgbClr val="C5C3BB"/>
                </a:solidFill>
                <a:latin typeface="Hiragino Sans"/>
              </a:defRPr>
            </a:pPr>
            <a:r>
              <a:t>いきなりコードを書かせない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3 — Plan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Plan Mode とは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読み取り専用の実行モード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ファイル閲覧・検索は可能</a:t>
            </a:r>
            <a:br/>
            <a:r>
              <a:t>  Webアクセスは権限設定次第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ファイル編集・コマンド実行は不可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調査と計画立案に集中するためのモード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ポイント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468880"/>
            <a:ext cx="4572000" cy="73152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26060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まずPlan Modeで調査・計画を固める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337560"/>
            <a:ext cx="4572000" cy="73152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34747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実装はレビュー後に許可する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206240"/>
            <a:ext cx="4572000" cy="73152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43434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最初はPlan Mode固定にする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754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操作方法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303520"/>
            <a:ext cx="5029200" cy="1188720"/>
          </a:xfrm>
          <a:prstGeom prst="roundRect">
            <a:avLst>
              <a:gd name="adj" fmla="val 3000"/>
            </a:avLst>
          </a:prstGeom>
          <a:solidFill>
            <a:srgbClr val="141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48640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A9BCC"/>
                </a:solidFill>
                <a:latin typeface="SF Mono"/>
              </a:defRPr>
            </a:pPr>
            <a:r>
              <a:t># セッション中の切替</a:t>
            </a:r>
          </a:p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A9BCC"/>
                </a:solidFill>
                <a:latin typeface="SF Mono"/>
              </a:defRPr>
            </a:pPr>
            <a:r>
              <a:t>Shift+Tab または Alt+M</a:t>
            </a:r>
          </a:p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A9BCC"/>
                </a:solidFill>
                <a:latin typeface="SF Mono"/>
              </a:defRPr>
            </a:pPr>
          </a:p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A9BCC"/>
                </a:solidFill>
                <a:latin typeface="SF Mono"/>
              </a:defRPr>
            </a:pPr>
            <a:r>
              <a:t># 起動時に指定</a:t>
            </a:r>
          </a:p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A9BCC"/>
                </a:solidFill>
                <a:latin typeface="SF Mono"/>
              </a:defRPr>
            </a:pPr>
            <a:r>
              <a:t>claude --permission-mode 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3 — Plan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実践ワークフロー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515600" cy="10058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0195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7BC9A0"/>
                </a:solidFill>
                <a:latin typeface="Helvetica Neue"/>
              </a:defRPr>
            </a:pPr>
            <a:r>
              <a:t>Step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9019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FAF9F5"/>
                </a:solidFill>
                <a:latin typeface="Hiragino Sans"/>
              </a:defRPr>
            </a:pPr>
            <a:r>
              <a:t>Plan Mode で調査・計画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6A9BCC"/>
                </a:solidFill>
                <a:latin typeface="SF Mono"/>
              </a:defRPr>
            </a:pPr>
            <a:r>
              <a:t>「計画を立てて。実装はまだしないで。」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Claudeがコードを読み、方針を提案する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71800"/>
            <a:ext cx="10515600" cy="10058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04495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6A9BCC"/>
                </a:solidFill>
                <a:latin typeface="Helvetica Neue"/>
              </a:defRPr>
            </a:pPr>
            <a:r>
              <a:t>Step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30449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FAF9F5"/>
                </a:solidFill>
                <a:latin typeface="Hiragino Sans"/>
              </a:defRPr>
            </a:pPr>
            <a:r>
              <a:t>計画をレビュー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474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6A9BCC"/>
                </a:solidFill>
                <a:latin typeface="SF Mono"/>
              </a:defRPr>
            </a:pPr>
            <a:r>
              <a:t>「後方互換性はどうする？」「テストは？」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246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不明点をつぶし、計画を確定する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14800"/>
            <a:ext cx="10515600" cy="10058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18795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D97757"/>
                </a:solidFill>
                <a:latin typeface="Helvetica Neue"/>
              </a:defRPr>
            </a:pPr>
            <a:r>
              <a:t>Step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1879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FAF9F5"/>
                </a:solidFill>
                <a:latin typeface="Hiragino Sans"/>
              </a:defRPr>
            </a:pPr>
            <a:r>
              <a:t>実装を許可して進める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617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6A9BCC"/>
                </a:solidFill>
                <a:latin typeface="SF Mono"/>
              </a:defRPr>
            </a:pPr>
            <a:r>
              <a:t>「OK、実装して」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389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計画に沿って実装が進む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57800"/>
            <a:ext cx="10515600" cy="10058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33095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FAF9F5"/>
                </a:solidFill>
                <a:latin typeface="Helvetica Neue"/>
              </a:defRPr>
            </a:pPr>
            <a:r>
              <a:t>Step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53309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FAF9F5"/>
                </a:solidFill>
                <a:latin typeface="Hiragino Sans"/>
              </a:defRPr>
            </a:pPr>
            <a:r>
              <a:t>結果を確認・コミット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760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6A9BCC"/>
                </a:solidFill>
                <a:latin typeface="SF Mono"/>
              </a:defRPr>
            </a:pPr>
            <a:r>
              <a:t>テスト実行 → PR作成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532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変更内容を取りまとめて完了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3 — Plan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計画段階のチェックリスト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9933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BC9A0"/>
                </a:solidFill>
                <a:latin typeface="Hiragino Sans"/>
              </a:defRPr>
            </a:pPr>
            <a:r>
              <a:t>ゴール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99339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0">
                <a:solidFill>
                  <a:srgbClr val="C5C3BB"/>
                </a:solidFill>
                <a:latin typeface="Hiragino Sans"/>
              </a:defRPr>
            </a:pPr>
            <a:r>
              <a:t>何を達成したいか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9077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BC9A0"/>
                </a:solidFill>
                <a:latin typeface="Hiragino Sans"/>
              </a:defRPr>
            </a:pPr>
            <a:r>
              <a:t>背景・制約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90779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0">
                <a:solidFill>
                  <a:srgbClr val="C5C3BB"/>
                </a:solidFill>
                <a:latin typeface="Hiragino Sans"/>
              </a:defRPr>
            </a:pPr>
            <a:r>
              <a:t>なぜ必要か / やってはいけないこと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8221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BC9A0"/>
                </a:solidFill>
                <a:latin typeface="Hiragino Sans"/>
              </a:defRPr>
            </a:pPr>
            <a:r>
              <a:t>受け入れ基準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82219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0">
                <a:solidFill>
                  <a:srgbClr val="C5C3BB"/>
                </a:solidFill>
                <a:latin typeface="Hiragino Sans"/>
              </a:defRPr>
            </a:pPr>
            <a:r>
              <a:t>どうなったら完了か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7200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736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BC9A0"/>
                </a:solidFill>
                <a:latin typeface="Hiragino Sans"/>
              </a:defRPr>
            </a:pPr>
            <a:r>
              <a:t>禁止事項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73659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0">
                <a:solidFill>
                  <a:srgbClr val="C5C3BB"/>
                </a:solidFill>
                <a:latin typeface="Hiragino Sans"/>
              </a:defRPr>
            </a:pPr>
            <a:r>
              <a:t>絶対にやってはいけない変更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48640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56509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BC9A0"/>
                </a:solidFill>
                <a:latin typeface="Hiragino Sans"/>
              </a:defRPr>
            </a:pPr>
            <a:r>
              <a:t>想定外の扱い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65099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0">
                <a:solidFill>
                  <a:srgbClr val="C5C3BB"/>
                </a:solidFill>
                <a:latin typeface="Hiragino Sans"/>
              </a:defRPr>
            </a:pPr>
            <a:r>
              <a:t>計画外の問題が見つかったらどうするか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217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D97757"/>
                </a:solidFill>
                <a:latin typeface="Hiragino Sans"/>
              </a:defRPr>
            </a:pPr>
            <a:r>
              <a:t>→ これらが曖昧なまま実装に入ると、後から認識のズレが表面化する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400"/>
              </a:lnSpc>
              <a:spcAft>
                <a:spcPts val="0"/>
              </a:spcAft>
              <a:defRPr sz="3600" b="1">
                <a:solidFill>
                  <a:srgbClr val="FAF9F5"/>
                </a:solidFill>
                <a:latin typeface="Hiragino Sans"/>
              </a:defRPr>
            </a:pPr>
            <a:r>
              <a:t>まとめ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515600" cy="109728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200"/>
              </a:lnSpc>
              <a:spcAft>
                <a:spcPts val="0"/>
              </a:spcAft>
              <a:defRPr sz="2800" b="1">
                <a:solidFill>
                  <a:srgbClr val="D97757"/>
                </a:solidFill>
                <a:latin typeface="Helvetica Neue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5544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Claude Code は「作業を進める」ツール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0116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コード補完ではなく、調査→修正→検証→取りまとめの一連フロー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10515600" cy="109728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200"/>
              </a:lnSpc>
              <a:spcAft>
                <a:spcPts val="0"/>
              </a:spcAft>
              <a:defRPr sz="2800" b="1">
                <a:solidFill>
                  <a:srgbClr val="D97757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8346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伝え方が結果を左右する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2918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目標・背景・現状・期待出力を明確にし、たたき台→改善ループで進める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10515600" cy="109728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200"/>
              </a:lnSpc>
              <a:spcAft>
                <a:spcPts val="0"/>
              </a:spcAft>
              <a:defRPr sz="2800" b="1">
                <a:solidFill>
                  <a:srgbClr val="D97757"/>
                </a:solidFill>
                <a:latin typeface="Helvetica Neue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1148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計画から始める習慣をつける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5720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Plan Mode で方針を固めてから実装に入ると手戻りが減る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