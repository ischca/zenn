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オープニング。自己紹介は軽く。</a:t>
            </a:r>
          </a:p>
          <a:p>
            <a:r>
              <a:t>Claude Codeの社内勉強会、全3回の第1回。</a:t>
            </a:r>
          </a:p>
          <a:p>
            <a:r>
              <a:t>今日は「理解する」がテーマ。基本と対話の心得を扱う。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3回シリーズの構成を説明。</a:t>
            </a:r>
          </a:p>
          <a:p>
            <a:r>
              <a:t>第1回は「理解する」。Claude Codeとは何か、どう使うかの基本。</a:t>
            </a:r>
          </a:p>
          <a:p>
            <a:r>
              <a:t>第2回は「プロジェクトに合わせたカスタマイズ」。CLAUDE.md、Skills、Hooks。</a:t>
            </a:r>
          </a:p>
          <a:p>
            <a:r>
              <a:t>第3回は「外部連携と並列開発」。MCP、worktree、サブエージェント。</a:t>
            </a:r>
          </a:p>
          <a:p>
            <a:r>
              <a:t>同じメンバーが3回とも参加する前提。</a:t>
            </a:r>
          </a:p>
          <a:p>
            <a:r>
              <a:t>今日のゴールは「日常業務の一部を任せられる」ようになること。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調査・影響範囲の把握は時間が溶けやすい。ここが最初の狙いどころ。</a:t>
            </a:r>
          </a:p>
          <a:p>
            <a:r>
              <a:t>いきなり実装を任せる必要はない。読み取り専用で始められるのでリスクも低い。</a:t>
            </a:r>
          </a:p>
          <a:p>
            <a:r>
              <a:t>Before/Afterは体感の話。人やリポジトリによって差はある。</a:t>
            </a:r>
          </a:p>
          <a:p>
            <a:r>
              <a:t>ただ「調査の時間が減る」のは共通して体感しやすいポイント。</a:t>
            </a:r>
          </a:p>
          <a:p>
            <a:r>
              <a:t>この感覚を持ってもらった上で、もう少し詳しく見ていく。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Codeはターミナルベースのエージェント型開発支援ツール。</a:t>
            </a:r>
          </a:p>
          <a:p>
            <a:r>
              <a:t>「AIにコードを書かせるツールでしょ？」と思われがちだが、コード生成はできることの一部。</a:t>
            </a:r>
          </a:p>
          <a:p>
            <a:r>
              <a:t>調査、計画、実装、検証、取りまとめを一つのセッションで連続的に扱える。</a:t>
            </a:r>
          </a:p>
          <a:p>
            <a:r>
              <a:t>安全面：デフォルトは読み取り専用で、ファイル編集やコマンド実行には都度許可が必要。勝手に壊す心配はない。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Codeが使えるツールを見てみる。</a:t>
            </a:r>
          </a:p>
          <a:p>
            <a:r>
              <a:t>基本ツール：ファイルの読み書き・検索、Web検索、サブエージェント。これらはClaude Codeの内蔵ツール。</a:t>
            </a:r>
          </a:p>
          <a:p>
            <a:r>
              <a:t>注目はBash。文字通り「あらゆるコマンド」を実行できる。</a:t>
            </a:r>
          </a:p>
          <a:p>
            <a:r>
              <a:t>テストやビルドはもちろん、たとえば音声で通知を鳴らす、Pythonスクリプトでスライドを生成する、ffmpegで動画を変換する。こういったことも全部Bashツールの守備範囲。</a:t>
            </a:r>
          </a:p>
          <a:p>
            <a:r>
              <a:t>つまり「ターミナルでコマンドを叩けばできること」は、原理的にすべてClaude Codeに任せられる。</a:t>
            </a:r>
          </a:p>
          <a:p>
            <a:r>
              <a:t>どのツールを使うかは指定不要。指示に応じてClaude Codeが自動で組み合わせる。</a:t>
            </a:r>
          </a:p>
          <a:p>
            <a:r>
              <a:t>ちなみにスライド上ではgitを例にしているが、PerforceやSVNなど、コマンドラインから操作できるツールなら同じように使える。普段の開発環境がそのまま活きる。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3つのツールは競合ではなく補完的。得意領域が異なる。</a:t>
            </a:r>
          </a:p>
          <a:p>
            <a:r>
              <a:t>ChatGPTは壁打ちに強い。設計議論、仕様の言語化、アプローチ比較。</a:t>
            </a:r>
          </a:p>
          <a:p>
            <a:r>
              <a:t>Copilotはコードを書くことに強い。IDEから離れずに入力を補助。</a:t>
            </a:r>
          </a:p>
          <a:p>
            <a:r>
              <a:t>Claude Codeは一連の作業フローを進めることに強い。</a:t>
            </a:r>
          </a:p>
          <a:p>
            <a:r>
              <a:t>IDEで記述し、ターミナル側で調査・実行・差分整理という分担が自然。</a:t>
            </a:r>
          </a:p>
          <a:p>
            <a:r>
              <a:t>大事なのは「どれか1つ」ではなく使い分けること。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従来の開発では全工程を自分で回す。6ステップすべてが自分の作業。</a:t>
            </a:r>
          </a:p>
          <a:p>
            <a:r>
              <a:t>Claude Codeを使うと、開発者の出番は2箇所に絞られる。最初の方向づけと、途中の判断。</a:t>
            </a:r>
          </a:p>
          <a:p>
            <a:r>
              <a:t>これは「サボる」ではなく「判断に集中する」ということ。</a:t>
            </a:r>
          </a:p>
          <a:p>
            <a:r>
              <a:t>「コード補完」と「エージェント」の本質的な違いはここにある。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具体的なタスクで流れを見てみる。</a:t>
            </a:r>
          </a:p>
          <a:p>
            <a:r>
              <a:t>「CIが落ちた」という日常的なシナリオ。</a:t>
            </a:r>
          </a:p>
          <a:p>
            <a:r>
              <a:t>開発者がやるのは、目標を伝えること（30秒）と、計画をレビューすること（1分）。</a:t>
            </a:r>
          </a:p>
          <a:p>
            <a:r>
              <a:t>Claudeが調査・計画提案と結果の取りまとめを担当する。</a:t>
            </a:r>
          </a:p>
          <a:p>
            <a:r>
              <a:t>開発者の介入は2回。方向づけと判断。</a:t>
            </a:r>
          </a:p>
          <a:p>
            <a:r>
              <a:t>「丸投げ」ではない。要所で判断を入れるから品質を保てる。</a:t>
            </a:r>
          </a:p>
          <a:p>
            <a:r>
              <a:t>原因調査に30分かかるところが、5分で俯瞰できるイメージ。</a:t>
            </a:r>
          </a:p>
          <a:p>
            <a:r>
              <a:t>ここからPART 2で「伝え方のコツ」を見ていく。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2。コミュニケーションの話。</a:t>
            </a:r>
          </a:p>
          <a:p>
            <a:r>
              <a:t>先ほどの例で、開発者の発話は2回だけだった。短い。でも、伝え方で結果は大きく変わる。</a:t>
            </a:r>
          </a:p>
          <a:p>
            <a:r>
              <a:t>Anthropicのベストプラクティスにも明記されている。</a:t>
            </a:r>
          </a:p>
          <a:p>
            <a:r>
              <a:t>「Claude Codeとの通信方法は、結果の質に大きく影響します」と。</a:t>
            </a:r>
          </a:p>
          <a:p>
            <a:r>
              <a:t>人間相手と同じ。何をしてほしいか明確に伝えないと、期待通りの結果は返ってこない。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チャットボットとエージェントは根本的に違う。</a:t>
            </a:r>
          </a:p>
          <a:p>
            <a:r>
              <a:t>チャットボットは電話サポートに近い。こちらが1ステップずつ指示して、その都度答えが返ってくる。</a:t>
            </a:r>
          </a:p>
          <a:p>
            <a:r>
              <a:t>エージェントは仕事を任せた同僚に近い。ゴールと背景を伝えたら、やり方は本人が判断する。</a:t>
            </a:r>
          </a:p>
          <a:p>
            <a:r>
              <a:t>同僚に仕事を任せるとき、1行ずつ「次はこのファイルを開いて、次はこの関数を見て」と指示しない。</a:t>
            </a:r>
          </a:p>
          <a:p>
            <a:r>
              <a:t>「CIが落ちてるから原因を調べて」と伝えて、やり方は任せる。</a:t>
            </a:r>
          </a:p>
          <a:p>
            <a:r>
              <a:t>この「委任」の感覚が、Claude Codeではとても重要。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指示の4要素：目標、背景・制約、現状、期待する出力。</a:t>
            </a:r>
          </a:p>
          <a:p>
            <a:r>
              <a:t>全部揃っている必要はない。しかし、目標は必須。</a:t>
            </a:r>
          </a:p>
          <a:p>
            <a:r>
              <a:t>悪い例：「この機能を改善して」。何を？どう？がまったく不明。</a:t>
            </a:r>
          </a:p>
          <a:p>
            <a:r>
              <a:t>良い例：Slide 08と同じCIのシナリオ。現状・目標・制約・出力形式が明確。</a:t>
            </a:r>
          </a:p>
          <a:p>
            <a:r>
              <a:t>「コードの変更はまだしないこと」が地味に大事。やってほしくないことを書くと暴走を防げる。</a:t>
            </a:r>
          </a:p>
          <a:p>
            <a:r>
              <a:t>ポイント：指示が具体的であるほど、結果も具体的になる。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最初から完璧を求めない。これが一番大事なマインドセット。</a:t>
            </a:r>
          </a:p>
          <a:p>
            <a:r>
              <a:t>まず出力を見て、良い点と悪い点を具体的にフィードバックし、改善版を出してもらう。</a:t>
            </a:r>
          </a:p>
          <a:p>
            <a:r>
              <a:t>テクニック3つ。</a:t>
            </a:r>
          </a:p>
          <a:p>
            <a:r>
              <a:t>1つ目：「なぜそうしたのか」と聞く。自分の指示に問題があったケースも多い。</a:t>
            </a:r>
          </a:p>
          <a:p>
            <a:r>
              <a:t>2つ目：命令ではなく提案。「Xを考えているが、どう思うか」と聞くと、自分では気づかなかった選択肢が出てくる。</a:t>
            </a:r>
          </a:p>
          <a:p>
            <a:r>
              <a:t>3つ目：自分でコードを直接編集したら、必ずClaudeに伝える。伝えないと古い状態を前提に動いてしまう。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3。Plan Modeの話。</a:t>
            </a:r>
          </a:p>
          <a:p>
            <a:r>
              <a:t>「いきなりコードを書かせない」。これが合言葉。</a:t>
            </a:r>
          </a:p>
          <a:p>
            <a:r>
              <a:t>ここまでのPART 1-2で「何ができるか」と「どう伝えるか」を見てきた。</a:t>
            </a:r>
          </a:p>
          <a:p>
            <a:r>
              <a:t>PART 3は「どう進めるか」。ワークフローの話。</a:t>
            </a:r>
          </a:p>
          <a:p>
            <a:r>
              <a:t>計画から始めることで手戻りを大幅に減らせる。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Modeは読み取り専用。ファイルを見たり検索はできるが、編集やコマンド実行はできない。</a:t>
            </a:r>
          </a:p>
          <a:p>
            <a:r>
              <a:t>なぜ計画から始めるのか。Anthropicのベストプラクティスにも明記されている。</a:t>
            </a:r>
          </a:p>
          <a:p>
            <a:r>
              <a:t>「ステップ1-2は重要。これがないと、Claudeは直接コーディングに飛び込む傾向がある」と。</a:t>
            </a:r>
          </a:p>
          <a:p>
            <a:r>
              <a:t>計画なしで実装を始めると、前提の認識ズレで根本から作り直しになることがある。</a:t>
            </a:r>
          </a:p>
          <a:p>
            <a:r>
              <a:t>Plan Modeなら壊すリスクはゼロ。安心して調査・計画できる。</a:t>
            </a:r>
          </a:p>
          <a:p>
            <a:r>
              <a:t>操作はShift+Tabで切替。起動時に --permission-mode plan で指定もできる。</a:t>
            </a:r>
          </a:p>
          <a:p>
            <a:r>
              <a:t>Extended Thinkingとは別の概念。</a:t>
            </a:r>
          </a:p>
          <a:p>
            <a:r>
              <a:t>Extended Thinking = 深く考えさせる（think, think hard）。Plan Mode = ツール制限。</a:t>
            </a:r>
          </a:p>
          <a:p>
            <a:r>
              <a:t>両者の併用も可能。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4ステップのワークフロー。</a:t>
            </a:r>
          </a:p>
          <a:p>
            <a:r>
              <a:t>Step 1：「計画を立てて。実装はまだしないで。」この一言が鍵。</a:t>
            </a:r>
          </a:p>
          <a:p>
            <a:r>
              <a:t>このとき、受け入れ基準・禁止事項・想定外の扱いも伝えておくとブレない。</a:t>
            </a:r>
          </a:p>
          <a:p>
            <a:r>
              <a:t>例えば「既存APIは壊さない」「計画にない問題を見つけたら報告して止まって」など。</a:t>
            </a:r>
          </a:p>
          <a:p>
            <a:r>
              <a:t>Step 2：計画が返ってきたらレビューする。「後方互換性は？」「テストは？」と聞く。</a:t>
            </a:r>
          </a:p>
          <a:p>
            <a:r>
              <a:t>Step 3：計画に納得したら「OK、実装して」。調査だけが目的ならここで完了。</a:t>
            </a:r>
          </a:p>
          <a:p>
            <a:r>
              <a:t>Step 4：テストを実行し、結果を確認してコミット。</a:t>
            </a:r>
          </a:p>
          <a:p>
            <a:r>
              <a:t>小さな修正でもこの流れを習慣にすると手戻りが劇的に減る。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まとめ。今日の持ち帰りは3つ。</a:t>
            </a:r>
          </a:p>
          <a:p>
            <a:r>
              <a:t>1つ目：Claude Codeはコード補完ではなく「作業を進める」ツール。</a:t>
            </a:r>
          </a:p>
          <a:p>
            <a:r>
              <a:t>2つ目：伝え方で結果が変わる。目標・背景・現状・期待出力を伝える。</a:t>
            </a:r>
          </a:p>
          <a:p>
            <a:r>
              <a:t>3つ目：いきなりコードを書かせない。Plan Modeで方針を固めてから実装に入る。</a:t>
            </a:r>
          </a:p>
          <a:p>
            <a:r>
              <a:t>日常業務の一部を、まず任せてみてほしい。</a:t>
            </a:r>
          </a:p>
          <a:p>
            <a:r>
              <a:t>次回は「プロジェクトに合わせたカスタマイズ」。CLAUDE.md、Skills、Hooks。</a:t>
            </a:r>
          </a:p>
          <a:p>
            <a:r>
              <a:t>質疑応答の時間へ。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Aft>
                <a:spcPts val="0"/>
              </a:spcAft>
              <a:defRPr sz="4800" b="1">
                <a:solidFill>
                  <a:srgbClr val="FAF9F5"/>
                </a:solidFill>
                <a:latin typeface="Hiragino Sans"/>
              </a:defRPr>
            </a:pPr>
            <a:r>
              <a:t>Claude Code ことはじめ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0"/>
              </a:spcAft>
              <a:defRPr sz="2800" b="0">
                <a:solidFill>
                  <a:srgbClr val="D97757"/>
                </a:solidFill>
                <a:latin typeface="Hiragino Sans"/>
              </a:defRPr>
            </a:pPr>
            <a:r>
              <a:t>〜基本と対話の心得〜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B0AEA5"/>
                </a:solidFill>
                <a:latin typeface="Helvetica Neue"/>
              </a:defRPr>
            </a:pPr>
            <a:r>
              <a:t>社内勉強会  |  第1回 / 全3回  |  20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全3回のロードマップ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371600"/>
          </a:xfrm>
          <a:prstGeom prst="roundRect">
            <a:avLst>
              <a:gd name="adj" fmla="val 2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E8956F"/>
                </a:solidFill>
                <a:latin typeface="Hiragino Sans"/>
              </a:defRPr>
            </a:pPr>
            <a:r>
              <a:t>第1回（今日）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2400" b="1">
                <a:solidFill>
                  <a:srgbClr val="FAF9F5"/>
                </a:solidFill>
                <a:latin typeface="Hiragino Sans"/>
              </a:defRPr>
            </a:pPr>
            <a:r>
              <a:t>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74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基本 / コミュニケーション / Plan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515600" cy="137160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B0AEA5"/>
                </a:solidFill>
                <a:latin typeface="Hiragino Sans"/>
              </a:defRPr>
            </a:pPr>
            <a:r>
              <a:t>第2回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2400" b="1">
                <a:solidFill>
                  <a:srgbClr val="FAF9F5"/>
                </a:solidFill>
                <a:latin typeface="Hiragino Sans"/>
              </a:defRPr>
            </a:pPr>
            <a:r>
              <a:t>プロジェクトに合わせた</a:t>
            </a:r>
            <a:br/>
            <a:r>
              <a:t>カスタマイズ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520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CLAUDE.md / Skills / 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B0AEA5"/>
                </a:solidFill>
                <a:latin typeface="Hiragino Sans"/>
              </a:defRPr>
            </a:pPr>
            <a:r>
              <a:t>第3回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2400" b="1">
                <a:solidFill>
                  <a:srgbClr val="FAF9F5"/>
                </a:solidFill>
                <a:latin typeface="Hiragino Sans"/>
              </a:defRPr>
            </a:pPr>
            <a:r>
              <a:t>外部連携と並列開発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166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MCP / worktree / サブエージェント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D97757"/>
                </a:solidFill>
                <a:latin typeface="Hiragino Sans"/>
              </a:defRPr>
            </a:pPr>
            <a:r>
              <a:t>今日のゴール: 日常業務の一部をClaude Codeに任せられるようになる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1 — Claude Code 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まずは調査だけ任せてみる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B0AEA5"/>
                </a:solidFill>
                <a:latin typeface="Hiragino Sans"/>
              </a:defRPr>
            </a:pPr>
            <a:r>
              <a:t>よくある痛み: 調査・影響範囲の把握で時間が溶ける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2D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E07070"/>
                </a:solidFill>
                <a:latin typeface="Helvetica Neue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チケット1件の調査に30分。</a:t>
            </a:r>
            <a:br/>
            <a:r>
              <a:t>ログを追い、参照箇所を探し、</a:t>
            </a:r>
            <a:br/>
            <a:r>
              <a:t>影響範囲を整理する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56032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1E2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7BC9A0"/>
                </a:solidFill>
                <a:latin typeface="Helvetica Neue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08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Claude Codeに任せると数分で返ってくる。</a:t>
            </a:r>
            <a:br/>
            <a:r>
              <a:t>調査結果・原因候補・影響範囲が</a:t>
            </a:r>
            <a:br/>
            <a:r>
              <a:t>まとまる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C5C3BB"/>
                </a:solidFill>
                <a:latin typeface="Hiragino Sans"/>
              </a:defRPr>
            </a:pPr>
            <a:r>
              <a:t>入口: 最初は実装ではなく「調査・要約・差分整理」だけ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iragino Sans"/>
              </a:defRPr>
            </a:pPr>
            <a:r>
              <a:t>→ いきなり実装させず、業務の一部から始める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1 — Claude Code 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Claude Code 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ターミナルで動くAIエージェント</a:t>
            </a:r>
            <a:br/>
            <a:r>
              <a:t>  指示は自然言語でOK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調査 → 計画 → 実装 → 検証 → 取りまとめ</a:t>
            </a:r>
            <a:br/>
            <a:r>
              <a:t>  を一連で扱う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デフォルトは読み取り専用</a:t>
            </a:r>
            <a:br/>
            <a:r>
              <a:t>  ファイル編集やコマンド実行は許可制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コード補完ではなく「作業を進める」ツール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調査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5176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→ 計画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7472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→ 実装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29768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→ 検証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12064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2D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→ 要約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1 — Claude Code 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Claude Code のツール群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12801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A9BCC"/>
                </a:solidFill>
                <a:latin typeface="SF Mono"/>
              </a:defRPr>
            </a:pPr>
            <a:r>
              <a:t>Read / Grep / Glob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Hiragino Sans"/>
              </a:defRPr>
            </a:pPr>
            <a:r>
              <a:t>ファイルの閲覧</a:t>
            </a:r>
            <a:br/>
            <a:r>
              <a:t>コード検索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468880" cy="12801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A9BCC"/>
                </a:solidFill>
                <a:latin typeface="SF Mono"/>
              </a:defRPr>
            </a:pPr>
            <a:r>
              <a:t>Edit /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31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Hiragino Sans"/>
              </a:defRPr>
            </a:pPr>
            <a:r>
              <a:t>ファイルの編集</a:t>
            </a:r>
            <a:br/>
            <a:r>
              <a:t>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37360"/>
            <a:ext cx="2468880" cy="12801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A9BCC"/>
                </a:solidFill>
                <a:latin typeface="SF Mono"/>
              </a:defRPr>
            </a:pPr>
            <a:r>
              <a:t>WebSearch /</a:t>
            </a:r>
            <a:br/>
            <a:r>
              <a:t>WebFetch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Hiragino Sans"/>
              </a:defRPr>
            </a:pPr>
            <a:r>
              <a:t>Web検索</a:t>
            </a:r>
            <a:br/>
            <a:r>
              <a:t>ページ取得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737360"/>
            <a:ext cx="2468880" cy="12801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A9BCC"/>
                </a:solidFill>
                <a:latin typeface="SF Mono"/>
              </a:defRPr>
            </a:pPr>
            <a: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31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Hiragino Sans"/>
              </a:defRPr>
            </a:pPr>
            <a:r>
              <a:t>サブエージェント</a:t>
            </a:r>
            <a:br/>
            <a:r>
              <a:t>による並列探索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40"/>
            <a:ext cx="10515600" cy="2743200"/>
          </a:xfrm>
          <a:prstGeom prst="roundRect">
            <a:avLst>
              <a:gd name="adj" fmla="val 3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D97757"/>
                </a:solidFill>
                <a:latin typeface="Hiragino Sans"/>
              </a:defRPr>
            </a:pPr>
            <a:r>
              <a:t>Bash — あらゆるコマンドを実行できる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31920"/>
            <a:ext cx="9601200" cy="1920240"/>
          </a:xfrm>
          <a:prstGeom prst="roundRect">
            <a:avLst>
              <a:gd name="adj" fmla="val 3000"/>
            </a:avLst>
          </a:prstGeom>
          <a:solidFill>
            <a:srgbClr val="14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114800"/>
            <a:ext cx="9052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say "完了しました"           # 音声で通知</a:t>
            </a:r>
          </a:p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marp slides.md --pptx        # スライド生成</a:t>
            </a:r>
          </a:p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ffmpeg -i video.mp4 out.gif  # 動画をGIFに変換</a:t>
            </a:r>
          </a:p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git log --oneline -10        # 直近のコミットを確認</a:t>
            </a:r>
          </a:p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npm test                     # テスト実行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D97757"/>
                </a:solidFill>
                <a:latin typeface="Hiragino Sans"/>
              </a:defRPr>
            </a:pPr>
            <a:r>
              <a:t>→ 開発作業に限らない。コマンドで実現できることは、何でも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ChatGPT・Copilotとの使い分け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B0AEA5"/>
                </a:solidFill>
                <a:latin typeface="Helvetica Neue"/>
              </a:defRPr>
            </a:pPr>
            <a:r>
              <a:t>得意領域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2801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74AA9C"/>
                </a:solidFill>
                <a:latin typeface="Hiragino Sans"/>
              </a:defRPr>
            </a:pPr>
            <a:r>
              <a:t>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設計議論・仕様の言語化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74AA9C"/>
                </a:solidFill>
                <a:latin typeface="Hiragino Sans"/>
              </a:defRPr>
            </a:pPr>
            <a:r>
              <a:t>壁打ち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12801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79B8FF"/>
                </a:solidFill>
                <a:latin typeface="Hiragino Sans"/>
              </a:defRPr>
            </a:pPr>
            <a:r>
              <a:t>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IDE内のコード補完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74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79B8FF"/>
                </a:solidFill>
                <a:latin typeface="Hiragino Sans"/>
              </a:defRPr>
            </a:pPr>
            <a:r>
              <a:t>書く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515600" cy="12801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D97757"/>
                </a:solidFill>
                <a:latin typeface="Hiragino Sans"/>
              </a:defRPr>
            </a:pPr>
            <a: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リポジトリ全体の作業フロー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29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進める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B0AEA5"/>
                </a:solidFill>
                <a:latin typeface="Hiragino Sans"/>
              </a:defRPr>
            </a:pPr>
            <a:r>
              <a:t>→ 排他的ではなく補完的。併用するのがおすすめ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開発フローがどう変わるか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従来の開発フロー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6A9BCC"/>
                </a:solidFill>
                <a:latin typeface="Hiragino Sans"/>
              </a:defRPr>
            </a:pPr>
            <a:r>
              <a:t>Claude Code を使った開発フロー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コードを読む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方針を考える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コードを書く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947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テスト実行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デバッグ・修正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6636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差分整理・PR作成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257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目標・背景を伝える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42316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6A9BCC"/>
                </a:solidFill>
                <a:latin typeface="Hiragino Sans"/>
              </a:defRPr>
            </a:pPr>
            <a:r>
              <a:t>コード調査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14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08960"/>
            <a:ext cx="3108960" cy="548640"/>
          </a:xfrm>
          <a:prstGeom prst="roundRect">
            <a:avLst>
              <a:gd name="adj" fmla="val 4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6A9BCC"/>
                </a:solidFill>
                <a:latin typeface="Hiragino Sans"/>
              </a:defRPr>
            </a:pPr>
            <a:r>
              <a:t>計画提案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200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B0AEA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108960"/>
            <a:ext cx="201168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レビュー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79476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6A9BCC"/>
                </a:solidFill>
                <a:latin typeface="Hiragino Sans"/>
              </a:defRPr>
            </a:pPr>
            <a:r>
              <a:t>実装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886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480560"/>
            <a:ext cx="3108960" cy="548640"/>
          </a:xfrm>
          <a:prstGeom prst="roundRect">
            <a:avLst>
              <a:gd name="adj" fmla="val 4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6A9BCC"/>
                </a:solidFill>
                <a:latin typeface="Hiragino Sans"/>
              </a:defRPr>
            </a:pPr>
            <a:r>
              <a:t>テスト・検証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B0AEA5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4480560"/>
            <a:ext cx="2011680" cy="548640"/>
          </a:xfrm>
          <a:prstGeom prst="roundRect">
            <a:avLst>
              <a:gd name="adj" fmla="val 4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956F"/>
                </a:solidFill>
                <a:latin typeface="Hiragino Sans"/>
              </a:defRPr>
            </a:pPr>
            <a:r>
              <a:t>確認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16636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6A9BCC"/>
                </a:solidFill>
                <a:latin typeface="Hiragino Sans"/>
              </a:defRPr>
            </a:pPr>
            <a:r>
              <a:t>差分整理・PR作成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257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iragino Sans"/>
              </a:defRPr>
            </a:pPr>
            <a:r>
              <a:t>→ 開発者の出番は「方向づけ」と「判断」の2回だけになる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具体例で見てみる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0">
                <a:solidFill>
                  <a:srgbClr val="B0AEA5"/>
                </a:solidFill>
                <a:latin typeface="Hiragino Sans"/>
              </a:defRPr>
            </a:pPr>
            <a:r>
              <a:t>例：「CIが落ちた。原因を調査して修正案を出して」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88920"/>
            <a:ext cx="10972800" cy="36576"/>
          </a:xfrm>
          <a:prstGeom prst="roundRect">
            <a:avLst>
              <a:gd name="adj" fmla="val 0"/>
            </a:avLst>
          </a:prstGeom>
          <a:solidFill>
            <a:srgbClr val="3A3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E8956F"/>
                </a:solidFill>
                <a:latin typeface="Hiragino Sans"/>
              </a:defRPr>
            </a:pPr>
            <a:r>
              <a:t>方向づけ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SF Mono"/>
              </a:defRPr>
            </a:pPr>
            <a:r>
              <a:t>"CIが落ちた。</a:t>
            </a:r>
            <a:br/>
            <a:r>
              <a:t> ログを要約して</a:t>
            </a:r>
            <a:br/>
            <a:r>
              <a:t> 原因候補を</a:t>
            </a:r>
            <a:br/>
            <a:r>
              <a:t> 3つ挙げて"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3736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74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6A9BCC"/>
                </a:solidFill>
                <a:latin typeface="Hiragino Sans"/>
              </a:defRPr>
            </a:pPr>
            <a:r>
              <a:t>調査 → 計画提案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432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SF Mono"/>
              </a:defRPr>
            </a:pPr>
            <a:r>
              <a:t>"失敗箇所はX。</a:t>
            </a:r>
            <a:br/>
            <a:r>
              <a:t> 依存関係の不整合</a:t>
            </a:r>
            <a:br/>
            <a:r>
              <a:t> が濃厚。原因候補</a:t>
            </a:r>
            <a:br/>
            <a:r>
              <a:t> を3つ提示します"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73736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35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D97757"/>
                </a:solidFill>
                <a:latin typeface="Helvetica Neue"/>
              </a:defRPr>
            </a:pPr>
            <a:r>
              <a:t>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E8956F"/>
                </a:solidFill>
                <a:latin typeface="Hiragino Sans"/>
              </a:defRPr>
            </a:pPr>
            <a:r>
              <a:t>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432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SF Mono"/>
              </a:defRPr>
            </a:pPr>
            <a:r>
              <a:t>"候補2を深掘り</a:t>
            </a:r>
            <a:br/>
            <a:r>
              <a:t> して。既存仕様は</a:t>
            </a:r>
            <a:br/>
            <a:r>
              <a:t> 変えないで"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73736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874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6A9BCC"/>
                </a:solidFill>
                <a:latin typeface="Helvetica Neue"/>
              </a:defRPr>
            </a:pPr>
            <a: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6A9BCC"/>
                </a:solidFill>
                <a:latin typeface="Hiragino Sans"/>
              </a:defRPr>
            </a:pPr>
            <a:r>
              <a:t>実行 → 取りまとめ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7432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5C3BB"/>
                </a:solidFill>
                <a:latin typeface="SF Mono"/>
              </a:defRPr>
            </a:pPr>
            <a:r>
              <a:t>"根拠と修正案を</a:t>
            </a:r>
            <a:br/>
            <a:r>
              <a:t> 整理。テストも</a:t>
            </a:r>
            <a:br/>
            <a:r>
              <a:t> 追加済み。"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iragino Sans"/>
              </a:defRPr>
            </a:pPr>
            <a:r>
              <a:t>→ 「丸投げ」ではなく「要所で判断する」。この感覚が重要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elvetica Neue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spcAft>
                <a:spcPts val="0"/>
              </a:spcAft>
              <a:defRPr sz="4000" b="1">
                <a:solidFill>
                  <a:srgbClr val="FAF9F5"/>
                </a:solidFill>
                <a:latin typeface="Hiragino Sans"/>
              </a:defRPr>
            </a:pPr>
            <a:r>
              <a:t>コミュニケーションの心得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2400" b="0">
                <a:solidFill>
                  <a:srgbClr val="C5C3BB"/>
                </a:solidFill>
                <a:latin typeface="Hiragino Sans"/>
              </a:defRPr>
            </a:pPr>
            <a:r>
              <a:t>伝え方で結果が変わるのは、</a:t>
            </a:r>
            <a:br/>
            <a:r>
              <a:t>人間相手と同じ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2 — コミュニケーション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チャットボットとエージェントの違い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411480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E07070"/>
                </a:solidFill>
                <a:latin typeface="Hiragino Sans"/>
              </a:defRPr>
            </a:pPr>
            <a:r>
              <a:t>チャットボット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B0AEA5"/>
                </a:solidFill>
                <a:latin typeface="Hiragino Sans"/>
              </a:defRPr>
            </a:pPr>
            <a:r>
              <a:t>電話サポートに近い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質問 → 回答 → 質問 → 回答</a:t>
            </a:r>
          </a:p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1回のやりとりが完結</a:t>
            </a:r>
          </a:p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ユーザーが手順を考え、</a:t>
            </a:r>
            <a:br/>
            <a:r>
              <a:t>  1ステップずつ指示する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754880" cy="4114800"/>
          </a:xfrm>
          <a:prstGeom prst="roundRect">
            <a:avLst>
              <a:gd name="adj" fmla="val 2000"/>
            </a:avLst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7BC9A0"/>
                </a:solidFill>
                <a:latin typeface="Hiragino Sans"/>
              </a:defRPr>
            </a:pPr>
            <a:r>
              <a:t>エージェント（Claude Code）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B0AEA5"/>
                </a:solidFill>
                <a:latin typeface="Hiragino Sans"/>
              </a:defRPr>
            </a:pPr>
            <a:r>
              <a:t>仕事を任せた同僚に近い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0175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ゴールを伝えたら自律的に実行</a:t>
            </a:r>
          </a:p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ファイル読み書き・コマンド実行・</a:t>
            </a:r>
            <a:br/>
            <a:r>
              <a:t>  Web検索</a:t>
            </a:r>
          </a:p>
          <a:p>
            <a:pPr>
              <a:lnSpc>
                <a:spcPts val="2720"/>
              </a:lnSpc>
              <a:spcAft>
                <a:spcPts val="800"/>
              </a:spcAft>
              <a:defRPr sz="1600">
                <a:solidFill>
                  <a:srgbClr val="C5C3BB"/>
                </a:solidFill>
                <a:latin typeface="Hiragino Sans"/>
              </a:defRPr>
            </a:pPr>
            <a:r>
              <a:t>• 調査 → 計画 → 実装を</a:t>
            </a:r>
            <a:br/>
            <a:r>
              <a:t>  一連で判断・実行する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D97757"/>
                </a:solidFill>
                <a:latin typeface="Hiragino Sans"/>
              </a:defRPr>
            </a:pPr>
            <a:r>
              <a:t>→ 「1行ずつ指示する」のではなく「ゴールと背景を伝えて任せる」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2 — コミュニケーション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指示の出し方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457200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何を達成したいか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457200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6A9BCC"/>
                </a:solidFill>
                <a:latin typeface="Hiragino Sans"/>
              </a:defRPr>
            </a:pPr>
            <a:r>
              <a:t>背景・制約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なぜ必要か / やってはいけないこと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457200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7BC9A0"/>
                </a:solidFill>
                <a:latin typeface="Hiragino Sans"/>
              </a:defRPr>
            </a:pPr>
            <a:r>
              <a:t>現状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今どうなっているか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457200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B88AD0"/>
                </a:solidFill>
                <a:latin typeface="Hiragino Sans"/>
              </a:defRPr>
            </a:pPr>
            <a:r>
              <a:t>期待する出力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どういう形式で結果がほしいか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E07070"/>
                </a:solidFill>
                <a:latin typeface="Hiragino Sans"/>
              </a:defRPr>
            </a:pPr>
            <a:r>
              <a:t>Bad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194560"/>
            <a:ext cx="5303520" cy="640080"/>
          </a:xfrm>
          <a:prstGeom prst="roundRect">
            <a:avLst>
              <a:gd name="adj" fmla="val 3000"/>
            </a:avLst>
          </a:prstGeom>
          <a:solidFill>
            <a:srgbClr val="14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200"/>
              </a:spcAft>
              <a:defRPr sz="1400">
                <a:solidFill>
                  <a:srgbClr val="6A9BCC"/>
                </a:solidFill>
                <a:latin typeface="SF Mono"/>
              </a:defRPr>
            </a:pPr>
            <a:r>
              <a:t>この機能を改善して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7BC9A0"/>
                </a:solidFill>
                <a:latin typeface="Hiragino Sans"/>
              </a:defRPr>
            </a:pPr>
            <a:r>
              <a:t>Good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5303520" cy="2377440"/>
          </a:xfrm>
          <a:prstGeom prst="roundRect">
            <a:avLst>
              <a:gd name="adj" fmla="val 3000"/>
            </a:avLst>
          </a:prstGeom>
          <a:solidFill>
            <a:srgbClr val="14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200"/>
              </a:spcAft>
              <a:defRPr sz="1300">
                <a:solidFill>
                  <a:srgbClr val="6A9BCC"/>
                </a:solidFill>
                <a:latin typeface="SF Mono"/>
              </a:defRPr>
            </a:pPr>
            <a:r>
              <a:t>CIが落ちている。</a:t>
            </a:r>
          </a:p>
          <a:p>
            <a:pPr>
              <a:lnSpc>
                <a:spcPts val="2080"/>
              </a:lnSpc>
              <a:spcAft>
                <a:spcPts val="200"/>
              </a:spcAft>
              <a:defRPr sz="1300">
                <a:solidFill>
                  <a:srgbClr val="6A9BCC"/>
                </a:solidFill>
                <a:latin typeface="SF Mono"/>
              </a:defRPr>
            </a:pPr>
            <a:r>
              <a:t>現状：昨日のリファクタ以降失敗するようになった。</a:t>
            </a:r>
          </a:p>
          <a:p>
            <a:pPr>
              <a:lnSpc>
                <a:spcPts val="2080"/>
              </a:lnSpc>
              <a:spcAft>
                <a:spcPts val="200"/>
              </a:spcAft>
              <a:defRPr sz="1300">
                <a:solidFill>
                  <a:srgbClr val="6A9BCC"/>
                </a:solidFill>
                <a:latin typeface="SF Mono"/>
              </a:defRPr>
            </a:pPr>
            <a:r>
              <a:t>目標：ログを要約し、原因候補を3つ挙げて。</a:t>
            </a:r>
          </a:p>
          <a:p>
            <a:pPr>
              <a:lnSpc>
                <a:spcPts val="2080"/>
              </a:lnSpc>
              <a:spcAft>
                <a:spcPts val="200"/>
              </a:spcAft>
              <a:defRPr sz="1300">
                <a:solidFill>
                  <a:srgbClr val="6A9BCC"/>
                </a:solidFill>
                <a:latin typeface="SF Mono"/>
              </a:defRPr>
            </a:pPr>
            <a:r>
              <a:t>調査結果は箇条書きでまとめて。</a:t>
            </a:r>
          </a:p>
          <a:p>
            <a:pPr>
              <a:lnSpc>
                <a:spcPts val="2080"/>
              </a:lnSpc>
              <a:spcAft>
                <a:spcPts val="200"/>
              </a:spcAft>
              <a:defRPr sz="1300">
                <a:solidFill>
                  <a:srgbClr val="6A9BCC"/>
                </a:solidFill>
                <a:latin typeface="SF Mono"/>
              </a:defRPr>
            </a:pPr>
            <a:r>
              <a:t>コードの変更はまだしないこと。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2 — コミュニケーション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たたき台から始める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D97757"/>
                </a:solidFill>
                <a:latin typeface="Hiragino Sans"/>
              </a:defRPr>
            </a:pPr>
            <a:r>
              <a:t>1. 指示を出す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FAF9F5"/>
                </a:solidFill>
                <a:latin typeface="Hiragino Sans"/>
              </a:defRPr>
            </a:pPr>
            <a:r>
              <a:t>2. 出力を確認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7BC9A0"/>
                </a:solidFill>
                <a:latin typeface="Hiragino Sans"/>
              </a:defRPr>
            </a:pPr>
            <a:r>
              <a:t>3. フィードバック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1600" b="1">
                <a:solidFill>
                  <a:srgbClr val="FAF9F5"/>
                </a:solidFill>
                <a:latin typeface="Hiragino Sans"/>
              </a:defRPr>
            </a:pPr>
            <a:r>
              <a:t>4. 改善版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0"/>
              </a:spcAft>
              <a:defRPr sz="2200" b="1">
                <a:solidFill>
                  <a:srgbClr val="FAF9F5"/>
                </a:solidFill>
                <a:latin typeface="Hiragino Sans"/>
              </a:defRPr>
            </a:pPr>
            <a:r>
              <a:t>3つのテクニック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6A9BCC"/>
                </a:solidFill>
                <a:latin typeface="Hiragino Sans"/>
              </a:defRPr>
            </a:pPr>
            <a:r>
              <a:t>「なぜ」を聞く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319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期待と違ったら、修正指示の前に理由を聞く。</a:t>
            </a:r>
            <a:br/>
            <a:r>
              <a:t>自分の指示の問題が見えることがある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6A9BCC"/>
                </a:solidFill>
                <a:latin typeface="Hiragino Sans"/>
              </a:defRPr>
            </a:pPr>
            <a:r>
              <a:t>提案形式で伝える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0292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「Xをして」より「Xを考えているが、どう思うか」。</a:t>
            </a:r>
            <a:br/>
            <a:r>
              <a:t>別の選択肢が出てくる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35040"/>
            <a:ext cx="10515600" cy="100584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6126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6A9BCC"/>
                </a:solidFill>
                <a:latin typeface="Hiragino Sans"/>
              </a:defRPr>
            </a:pPr>
            <a:r>
              <a:t>手直ししたら伝える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1264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自分で編集した場合はClaudeに共有する。</a:t>
            </a:r>
            <a:br/>
            <a:r>
              <a:t>伝えないと古い状態で動き続ける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D97757"/>
                </a:solidFill>
                <a:latin typeface="Hiragino Sans"/>
              </a:defRPr>
            </a:pPr>
            <a:r>
              <a:t>→ 「全然違う」より「この部分は良い、ここを変えて」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elvetica Neue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  <a:spcAft>
                <a:spcPts val="0"/>
              </a:spcAft>
              <a:defRPr sz="4400" b="1">
                <a:solidFill>
                  <a:srgbClr val="FAF9F5"/>
                </a:solidFill>
                <a:latin typeface="Helvetica Neue"/>
              </a:defRPr>
            </a:pPr>
            <a:r>
              <a:t>Plan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2400" b="0">
                <a:solidFill>
                  <a:srgbClr val="C5C3BB"/>
                </a:solidFill>
                <a:latin typeface="Hiragino Sans"/>
              </a:defRPr>
            </a:pPr>
            <a:r>
              <a:t>いきなりコードを書かせない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3 —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Plan Mode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読み取り専用のモード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ファイル閲覧・検索・Web検索は可能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ファイル編集・コマンド実行は不可</a:t>
            </a:r>
          </a:p>
          <a:p>
            <a:pPr>
              <a:lnSpc>
                <a:spcPts val="2880"/>
              </a:lnSpc>
              <a:spcAft>
                <a:spcPts val="800"/>
              </a:spcAft>
              <a:defRPr sz="1800">
                <a:solidFill>
                  <a:srgbClr val="FAF9F5"/>
                </a:solidFill>
                <a:latin typeface="Hiragino Sans"/>
              </a:defRPr>
            </a:pPr>
            <a:r>
              <a:t>• 調査と計画立案に集中するためのモード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なぜ計画から始めるのか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68880"/>
            <a:ext cx="4572000" cy="73152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計画段階で認識のズレに気づける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37560"/>
            <a:ext cx="4572000" cy="73152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コードを壊すリスクがゼロ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4572000" cy="73152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343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1600" b="0">
                <a:solidFill>
                  <a:srgbClr val="C5C3BB"/>
                </a:solidFill>
                <a:latin typeface="Hiragino Sans"/>
              </a:defRPr>
            </a:pPr>
            <a:r>
              <a:t>手戻りを最小限にしてから実装に入れる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D97757"/>
                </a:solidFill>
                <a:latin typeface="Hiragino Sans"/>
              </a:defRPr>
            </a:pPr>
            <a:r>
              <a:t>操作方法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800"/>
              </a:spcAft>
              <a:defRPr sz="1600">
                <a:solidFill>
                  <a:srgbClr val="FAF9F5"/>
                </a:solidFill>
                <a:latin typeface="Hiragino Sans"/>
              </a:defRPr>
            </a:pPr>
            <a:r>
              <a:t>• Shift+Tab で切替（Normal → Auto Accept → Plan）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600">
                <a:solidFill>
                  <a:srgbClr val="FAF9F5"/>
                </a:solidFill>
                <a:latin typeface="Hiragino Sans"/>
              </a:defRPr>
            </a:pPr>
            <a:r>
              <a:t>• claude --permission-mode plan で起動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1">
                <a:solidFill>
                  <a:srgbClr val="D97757"/>
                </a:solidFill>
                <a:latin typeface="Helvetica Neue"/>
              </a:defRPr>
            </a:pPr>
            <a:r>
              <a:t>PART 3 — Plan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  <a:defRPr sz="3200" b="1">
                <a:solidFill>
                  <a:srgbClr val="FAF9F5"/>
                </a:solidFill>
                <a:latin typeface="Hiragino Sans"/>
              </a:defRPr>
            </a:pPr>
            <a:r>
              <a:t>Plan Mode の実践ワークフロー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7BC9A0"/>
                </a:solidFill>
                <a:latin typeface="Helvetica Neue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FAF9F5"/>
                </a:solidFill>
                <a:latin typeface="Hiragino Sans"/>
              </a:defRPr>
            </a:pPr>
            <a:r>
              <a:t>Plan Mode で調査・計画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A9BCC"/>
                </a:solidFill>
                <a:latin typeface="SF Mono"/>
              </a:defRPr>
            </a:pPr>
            <a:r>
              <a:t>「計画を立てて。実装はまだしないで。」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Claudeがコードを読み、方針を提案する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6A9BCC"/>
                </a:solidFill>
                <a:latin typeface="Helvetica Neue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FAF9F5"/>
                </a:solidFill>
                <a:latin typeface="Hiragino Sans"/>
              </a:defRPr>
            </a:pPr>
            <a:r>
              <a:t>計画をレビュー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36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A9BCC"/>
                </a:solidFill>
                <a:latin typeface="SF Mono"/>
              </a:defRPr>
            </a:pPr>
            <a:r>
              <a:t>「後方互換性はどうする？」「テストは？」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不明点をつぶし、計画を確定する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D97757"/>
                </a:solidFill>
                <a:latin typeface="Helvetica Neue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FAF9F5"/>
                </a:solidFill>
                <a:latin typeface="Hiragino Sans"/>
              </a:defRPr>
            </a:pPr>
            <a:r>
              <a:t>実装を許可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A9BCC"/>
                </a:solidFill>
                <a:latin typeface="SF Mono"/>
              </a:defRPr>
            </a:pPr>
            <a:r>
              <a:t>「OK、実装して」/ 調査だけならここで完了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計画に沿って実装、または調査結果を活用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10515600" cy="82296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1">
                <a:solidFill>
                  <a:srgbClr val="FAF9F5"/>
                </a:solidFill>
                <a:latin typeface="Helvetica Neue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0"/>
              </a:spcAft>
              <a:defRPr sz="1700" b="1">
                <a:solidFill>
                  <a:srgbClr val="FAF9F5"/>
                </a:solidFill>
                <a:latin typeface="Hiragino Sans"/>
              </a:defRPr>
            </a:pPr>
            <a:r>
              <a:t>結果を確認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56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A9BCC"/>
                </a:solidFill>
                <a:latin typeface="SF Mono"/>
              </a:defRPr>
            </a:pPr>
            <a:r>
              <a:t>テスト実行 → PR作成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0"/>
              </a:spcAft>
              <a:defRPr sz="1400" b="0">
                <a:solidFill>
                  <a:srgbClr val="C5C3BB"/>
                </a:solidFill>
                <a:latin typeface="Hiragino Sans"/>
              </a:defRPr>
            </a:pPr>
            <a:r>
              <a:t>変更内容を取りまとめて完了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D97757"/>
                </a:solidFill>
                <a:latin typeface="Hiragino Sans"/>
              </a:defRPr>
            </a:pPr>
            <a:r>
              <a:t>Step 1で伝えておくと良いこと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3291840" cy="64008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971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7BC9A0"/>
                </a:solidFill>
                <a:latin typeface="Hiragino Sans"/>
              </a:defRPr>
            </a:pPr>
            <a:r>
              <a:t>受け入れ基準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B0AEA5"/>
                </a:solidFill>
                <a:latin typeface="Hiragino Sans"/>
              </a:defRPr>
            </a:pPr>
            <a:r>
              <a:t>どうなったら完了か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5943600"/>
            <a:ext cx="3291840" cy="64008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5971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7BC9A0"/>
                </a:solidFill>
                <a:latin typeface="Hiragino Sans"/>
              </a:defRPr>
            </a:pPr>
            <a:r>
              <a:t>禁止事項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B0AEA5"/>
                </a:solidFill>
                <a:latin typeface="Hiragino Sans"/>
              </a:defRPr>
            </a:pPr>
            <a:r>
              <a:t>絶対にやってはいけない変更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5943600"/>
            <a:ext cx="3291840" cy="640080"/>
          </a:xfrm>
          <a:prstGeom prst="roundRect">
            <a:avLst>
              <a:gd name="adj" fmla="val 3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5971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1">
                <a:solidFill>
                  <a:srgbClr val="7BC9A0"/>
                </a:solidFill>
                <a:latin typeface="Hiragino Sans"/>
              </a:defRPr>
            </a:pPr>
            <a:r>
              <a:t>想定外の扱い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6263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B0AEA5"/>
                </a:solidFill>
                <a:latin typeface="Hiragino Sans"/>
              </a:defRPr>
            </a:pPr>
            <a:r>
              <a:t>計画にない問題を見つけたらどうするか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spcAft>
                <a:spcPts val="0"/>
              </a:spcAft>
              <a:defRPr sz="3600" b="1">
                <a:solidFill>
                  <a:srgbClr val="FAF9F5"/>
                </a:solidFill>
                <a:latin typeface="Hiragino Sans"/>
              </a:defRPr>
            </a:pPr>
            <a:r>
              <a:t>まとめ / 次回予告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0"/>
              </a:spcAft>
              <a:defRPr sz="2800" b="1">
                <a:solidFill>
                  <a:srgbClr val="D97757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Claude Code はコード補完ではなく</a:t>
            </a:r>
            <a:br/>
            <a:r>
              <a:t>「作業を進める」ツール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C5C3BB"/>
                </a:solidFill>
                <a:latin typeface="Hiragino Sans"/>
              </a:defRPr>
            </a:pPr>
            <a:r>
              <a:t>調査→計画→実装→検証→取りまとめの一連フロー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0"/>
              </a:spcAft>
              <a:defRPr sz="2800" b="1">
                <a:solidFill>
                  <a:srgbClr val="D97757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伝え方で結果が変わる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37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C5C3BB"/>
                </a:solidFill>
                <a:latin typeface="Hiragino Sans"/>
              </a:defRPr>
            </a:pPr>
            <a:r>
              <a:t>目標・背景・現状・期待出力を伝え、たたき台→改善ループで進める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25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Aft>
                <a:spcPts val="0"/>
              </a:spcAft>
              <a:defRPr sz="2800" b="1">
                <a:solidFill>
                  <a:srgbClr val="D97757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14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  <a:defRPr sz="2000" b="1">
                <a:solidFill>
                  <a:srgbClr val="FAF9F5"/>
                </a:solidFill>
                <a:latin typeface="Hiragino Sans"/>
              </a:defRPr>
            </a:pPr>
            <a:r>
              <a:t>いきなりコードを書かせない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17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0">
                <a:solidFill>
                  <a:srgbClr val="C5C3BB"/>
                </a:solidFill>
                <a:latin typeface="Hiragino Sans"/>
              </a:defRPr>
            </a:pPr>
            <a:r>
              <a:t>Plan Modeで方針を固めてから実装に入る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  <a:defRPr sz="1800" b="1">
                <a:solidFill>
                  <a:srgbClr val="D97757"/>
                </a:solidFill>
                <a:latin typeface="Hiragino Sans"/>
              </a:defRPr>
            </a:pPr>
            <a:r>
              <a:t>日常業務の一部を、Claude Codeに任せてみてください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B0AEA5"/>
                </a:solidFill>
                <a:latin typeface="Helvetica Neue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